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82" r:id="rId15"/>
    <p:sldId id="270" r:id="rId16"/>
    <p:sldId id="286" r:id="rId17"/>
    <p:sldId id="266" r:id="rId18"/>
    <p:sldId id="280" r:id="rId19"/>
    <p:sldId id="275" r:id="rId20"/>
    <p:sldId id="276" r:id="rId21"/>
    <p:sldId id="285" r:id="rId22"/>
    <p:sldId id="277" r:id="rId23"/>
  </p:sldIdLst>
  <p:sldSz cx="12192000" cy="6858000"/>
  <p:notesSz cx="6858000" cy="9144000"/>
  <p:embeddedFontLst>
    <p:embeddedFont>
      <p:font typeface="Calibri" panose="020F0502020204030204" pitchFamily="34" charset="0"/>
      <p:regular r:id="rId25"/>
      <p:bold r:id="rId26"/>
      <p:italic r:id="rId27"/>
      <p:boldItalic r:id="rId28"/>
    </p:embeddedFont>
    <p:embeddedFont>
      <p:font typeface="Garamond" panose="02020404030301010803" pitchFamily="18"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5" roundtripDataSignature="AMtx7mjoKSKhQtrFziL8iO4AvVqJMPPlS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678" y="102"/>
      </p:cViewPr>
      <p:guideLst>
        <p:guide orient="horz" pos="2160"/>
        <p:guide pos="384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21" Type="http://schemas.openxmlformats.org/officeDocument/2006/relationships/slide" Target="slides/slide20.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45"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 name="Google Shape;8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b6e027a1db_8_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 name="Google Shape;125;g2b6e027a1db_8_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5" name="Google Shape;13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6" name="Google Shape;15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Both from Bloomberg</a:t>
            </a:r>
            <a:endParaRPr/>
          </a:p>
        </p:txBody>
      </p:sp>
      <p:sp>
        <p:nvSpPr>
          <p:cNvPr id="176" name="Google Shape;17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b6e027a1db_8_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4" name="Google Shape;194;g2b6e027a1db_8_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7" name="Google Shape;22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 name="Google Shape;24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2b6e027a1db_8_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3" name="Google Shape;293;g2b6e027a1db_8_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1f01911d161_1_39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3" name="Google Shape;303;g1f01911d161_1_3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400"/>
              <a:buFont typeface="Arial"/>
              <a:buNone/>
            </a:pPr>
            <a:r>
              <a:rPr lang="en-US"/>
              <a:t>Selling Ships:</a:t>
            </a:r>
            <a:endParaRPr/>
          </a:p>
          <a:p>
            <a:pPr marL="0" lvl="0" indent="0" algn="l" rtl="0">
              <a:spcBef>
                <a:spcPts val="0"/>
              </a:spcBef>
              <a:spcAft>
                <a:spcPts val="0"/>
              </a:spcAft>
              <a:buClr>
                <a:schemeClr val="dk1"/>
              </a:buClr>
              <a:buSzPts val="1400"/>
              <a:buFont typeface="Arial"/>
              <a:buNone/>
            </a:pPr>
            <a:r>
              <a:rPr lang="en-US"/>
              <a:t>Capsize ships (175k DWT)</a:t>
            </a:r>
            <a:endParaRPr/>
          </a:p>
          <a:p>
            <a:pPr marL="0" lvl="0" indent="0" algn="l" rtl="0">
              <a:spcBef>
                <a:spcPts val="0"/>
              </a:spcBef>
              <a:spcAft>
                <a:spcPts val="0"/>
              </a:spcAft>
              <a:buClr>
                <a:schemeClr val="dk1"/>
              </a:buClr>
              <a:buSzPts val="1100"/>
              <a:buFont typeface="Arial"/>
              <a:buNone/>
            </a:pPr>
            <a:r>
              <a:rPr lang="en-US"/>
              <a:t>ACHIEVEMENT</a:t>
            </a:r>
            <a:endParaRPr/>
          </a:p>
          <a:p>
            <a:pPr marL="0" lvl="0" indent="0" algn="l" rtl="0">
              <a:spcBef>
                <a:spcPts val="0"/>
              </a:spcBef>
              <a:spcAft>
                <a:spcPts val="0"/>
              </a:spcAft>
              <a:buClr>
                <a:schemeClr val="dk1"/>
              </a:buClr>
              <a:buSzPts val="1100"/>
              <a:buFont typeface="Arial"/>
              <a:buNone/>
            </a:pPr>
            <a:r>
              <a:rPr lang="en-US"/>
              <a:t>GENIUS</a:t>
            </a:r>
            <a:endParaRPr/>
          </a:p>
          <a:p>
            <a:pPr marL="0" lvl="0" indent="0" algn="l" rtl="0">
              <a:spcBef>
                <a:spcPts val="0"/>
              </a:spcBef>
              <a:spcAft>
                <a:spcPts val="0"/>
              </a:spcAft>
              <a:buClr>
                <a:schemeClr val="dk1"/>
              </a:buClr>
              <a:buSzPts val="1100"/>
              <a:buFont typeface="Arial"/>
              <a:buNone/>
            </a:pPr>
            <a:r>
              <a:rPr lang="en-US"/>
              <a:t>INTEGRITY</a:t>
            </a:r>
            <a:endParaRPr/>
          </a:p>
          <a:p>
            <a:pPr marL="0" lvl="0" indent="0" algn="l" rtl="0">
              <a:spcBef>
                <a:spcPts val="0"/>
              </a:spcBef>
              <a:spcAft>
                <a:spcPts val="0"/>
              </a:spcAft>
              <a:buClr>
                <a:schemeClr val="dk1"/>
              </a:buClr>
              <a:buSzPts val="1100"/>
              <a:buFont typeface="Arial"/>
              <a:buNone/>
            </a:pPr>
            <a:r>
              <a:rPr lang="en-US"/>
              <a:t>INGENUITY</a:t>
            </a:r>
            <a:endParaRPr/>
          </a:p>
          <a:p>
            <a:pPr marL="0" lvl="0" indent="0" algn="l" rtl="0">
              <a:spcBef>
                <a:spcPts val="0"/>
              </a:spcBef>
              <a:spcAft>
                <a:spcPts val="0"/>
              </a:spcAft>
              <a:buClr>
                <a:schemeClr val="dk1"/>
              </a:buClr>
              <a:buSzPts val="1100"/>
              <a:buFont typeface="Arial"/>
              <a:buNone/>
            </a:pPr>
            <a:r>
              <a:rPr lang="en-US"/>
              <a:t>PEACE</a:t>
            </a:r>
            <a:endParaRPr/>
          </a:p>
          <a:p>
            <a:pPr marL="0" lvl="0" indent="0" algn="l" rtl="0">
              <a:spcBef>
                <a:spcPts val="0"/>
              </a:spcBef>
              <a:spcAft>
                <a:spcPts val="0"/>
              </a:spcAft>
              <a:buClr>
                <a:schemeClr val="dk1"/>
              </a:buClr>
              <a:buSzPts val="1100"/>
              <a:buFont typeface="Arial"/>
              <a:buNone/>
            </a:pPr>
            <a:r>
              <a:rPr lang="en-US"/>
              <a:t>E TRADER</a:t>
            </a:r>
            <a:endParaRPr/>
          </a:p>
          <a:p>
            <a:pPr marL="0" lvl="0" indent="0" algn="l" rtl="0">
              <a:spcBef>
                <a:spcPts val="0"/>
              </a:spcBef>
              <a:spcAft>
                <a:spcPts val="0"/>
              </a:spcAft>
              <a:buClr>
                <a:schemeClr val="dk1"/>
              </a:buClr>
              <a:buSzPts val="1100"/>
              <a:buFont typeface="Arial"/>
              <a:buNone/>
            </a:pPr>
            <a:r>
              <a:rPr lang="en-US"/>
              <a:t>W TRADER</a:t>
            </a:r>
            <a:endParaRPr/>
          </a:p>
          <a:p>
            <a:pPr marL="0" lvl="0" indent="0" algn="l" rtl="0">
              <a:spcBef>
                <a:spcPts val="0"/>
              </a:spcBef>
              <a:spcAft>
                <a:spcPts val="0"/>
              </a:spcAft>
              <a:buClr>
                <a:schemeClr val="dk1"/>
              </a:buClr>
              <a:buSzPts val="1400"/>
              <a:buFont typeface="Arial"/>
              <a:buNone/>
            </a:pPr>
            <a:endParaRPr/>
          </a:p>
          <a:p>
            <a:pPr marL="0" lvl="0" indent="0" algn="l" rtl="0">
              <a:spcBef>
                <a:spcPts val="0"/>
              </a:spcBef>
              <a:spcAft>
                <a:spcPts val="0"/>
              </a:spcAft>
              <a:buClr>
                <a:schemeClr val="dk1"/>
              </a:buClr>
              <a:buSzPts val="1400"/>
              <a:buFont typeface="Arial"/>
              <a:buNone/>
            </a:pPr>
            <a:r>
              <a:rPr lang="en-US"/>
              <a:t>5 yr ship for 45.5M</a:t>
            </a:r>
            <a:endParaRPr/>
          </a:p>
          <a:p>
            <a:pPr marL="0" lvl="0" indent="0" algn="l" rtl="0">
              <a:spcBef>
                <a:spcPts val="0"/>
              </a:spcBef>
              <a:spcAft>
                <a:spcPts val="0"/>
              </a:spcAft>
              <a:buClr>
                <a:schemeClr val="dk1"/>
              </a:buClr>
              <a:buSzPts val="1400"/>
              <a:buFont typeface="Arial"/>
              <a:buNone/>
            </a:pPr>
            <a:r>
              <a:rPr lang="en-US"/>
              <a:t>15 yr ship for 23 M</a:t>
            </a:r>
            <a:endParaRPr/>
          </a:p>
          <a:p>
            <a:pPr marL="0" lvl="0" indent="0" algn="l" rtl="0">
              <a:spcBef>
                <a:spcPts val="0"/>
              </a:spcBef>
              <a:spcAft>
                <a:spcPts val="0"/>
              </a:spcAft>
              <a:buClr>
                <a:schemeClr val="dk1"/>
              </a:buClr>
              <a:buSzPts val="1400"/>
              <a:buFont typeface="Arial"/>
              <a:buNone/>
            </a:pPr>
            <a:r>
              <a:rPr lang="en-US"/>
              <a:t>https://www.hellenicshippingnews.com/capesize-values-for-older-vessels-rise-in-october/</a:t>
            </a:r>
            <a:endParaRPr/>
          </a:p>
          <a:p>
            <a:pPr marL="0" lvl="0" indent="0" algn="l" rtl="0">
              <a:spcBef>
                <a:spcPts val="0"/>
              </a:spcBef>
              <a:spcAft>
                <a:spcPts val="0"/>
              </a:spcAft>
              <a:buClr>
                <a:schemeClr val="dk1"/>
              </a:buClr>
              <a:buSzPts val="1400"/>
              <a:buFont typeface="Arial"/>
              <a:buNone/>
            </a:pPr>
            <a:endParaRPr b="1"/>
          </a:p>
          <a:p>
            <a:pPr marL="0" lvl="0" indent="0" algn="l" rtl="0">
              <a:lnSpc>
                <a:spcPct val="100000"/>
              </a:lnSpc>
              <a:spcBef>
                <a:spcPts val="0"/>
              </a:spcBef>
              <a:spcAft>
                <a:spcPts val="0"/>
              </a:spcAft>
              <a:buSzPts val="1400"/>
              <a:buNone/>
            </a:pPr>
            <a:br>
              <a:rPr lang="en-US"/>
            </a:br>
            <a:br>
              <a:rPr lang="en-US"/>
            </a:br>
            <a:endParaRPr/>
          </a:p>
          <a:p>
            <a:pPr marL="0" lvl="0" indent="0" algn="l" rtl="0">
              <a:spcBef>
                <a:spcPts val="0"/>
              </a:spcBef>
              <a:spcAft>
                <a:spcPts val="0"/>
              </a:spcAft>
              <a:buClr>
                <a:schemeClr val="dk1"/>
              </a:buClr>
              <a:buSzPts val="1100"/>
              <a:buFont typeface="Arial"/>
              <a:buNone/>
            </a:pPr>
            <a:r>
              <a:rPr lang="en-US"/>
              <a:t>Using their underperforming ships as collateral, just as they are presently doing with 24 ships for their revolving credit facility, can enable them to access a larger amount of capital at more favorable interest rates, specifically at S+400.</a:t>
            </a:r>
            <a:br>
              <a:rPr lang="en-US"/>
            </a:br>
            <a:br>
              <a:rPr lang="en-US"/>
            </a:br>
            <a:r>
              <a:rPr lang="en-US"/>
              <a:t>By using their underperforming ships as collateral - just as they are doing with 24 ships for their revolver - Danaos can access a larger amount of capital at more favorable interest rates, specifically at a SOFR+400.</a:t>
            </a:r>
            <a:endParaRPr/>
          </a:p>
          <a:p>
            <a:pPr marL="0" lvl="0" indent="0" algn="l" rtl="0">
              <a:lnSpc>
                <a:spcPct val="100000"/>
              </a:lnSpc>
              <a:spcBef>
                <a:spcPts val="0"/>
              </a:spcBef>
              <a:spcAft>
                <a:spcPts val="0"/>
              </a:spcAft>
              <a:buSzPts val="1400"/>
              <a:buNone/>
            </a:pPr>
            <a:endParaRPr/>
          </a:p>
        </p:txBody>
      </p:sp>
      <p:sp>
        <p:nvSpPr>
          <p:cNvPr id="320" name="Google Shape;32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400"/>
              <a:buFont typeface="Arial"/>
              <a:buNone/>
            </a:pPr>
            <a:r>
              <a:rPr lang="en-US"/>
              <a:t>Selling Ships:</a:t>
            </a:r>
            <a:endParaRPr/>
          </a:p>
          <a:p>
            <a:pPr marL="0" lvl="0" indent="0" algn="l" rtl="0">
              <a:spcBef>
                <a:spcPts val="0"/>
              </a:spcBef>
              <a:spcAft>
                <a:spcPts val="0"/>
              </a:spcAft>
              <a:buClr>
                <a:schemeClr val="dk1"/>
              </a:buClr>
              <a:buSzPts val="1400"/>
              <a:buFont typeface="Arial"/>
              <a:buNone/>
            </a:pPr>
            <a:r>
              <a:rPr lang="en-US"/>
              <a:t>Capsize ships (175k DWT)</a:t>
            </a:r>
            <a:endParaRPr/>
          </a:p>
          <a:p>
            <a:pPr marL="0" lvl="0" indent="0" algn="l" rtl="0">
              <a:spcBef>
                <a:spcPts val="0"/>
              </a:spcBef>
              <a:spcAft>
                <a:spcPts val="0"/>
              </a:spcAft>
              <a:buClr>
                <a:schemeClr val="dk1"/>
              </a:buClr>
              <a:buSzPts val="1100"/>
              <a:buFont typeface="Arial"/>
              <a:buNone/>
            </a:pPr>
            <a:r>
              <a:rPr lang="en-US"/>
              <a:t>ACHIEVEMENT</a:t>
            </a:r>
            <a:endParaRPr/>
          </a:p>
          <a:p>
            <a:pPr marL="0" lvl="0" indent="0" algn="l" rtl="0">
              <a:spcBef>
                <a:spcPts val="0"/>
              </a:spcBef>
              <a:spcAft>
                <a:spcPts val="0"/>
              </a:spcAft>
              <a:buClr>
                <a:schemeClr val="dk1"/>
              </a:buClr>
              <a:buSzPts val="1100"/>
              <a:buFont typeface="Arial"/>
              <a:buNone/>
            </a:pPr>
            <a:r>
              <a:rPr lang="en-US"/>
              <a:t>GENIUS</a:t>
            </a:r>
            <a:endParaRPr/>
          </a:p>
          <a:p>
            <a:pPr marL="0" lvl="0" indent="0" algn="l" rtl="0">
              <a:spcBef>
                <a:spcPts val="0"/>
              </a:spcBef>
              <a:spcAft>
                <a:spcPts val="0"/>
              </a:spcAft>
              <a:buClr>
                <a:schemeClr val="dk1"/>
              </a:buClr>
              <a:buSzPts val="1100"/>
              <a:buFont typeface="Arial"/>
              <a:buNone/>
            </a:pPr>
            <a:r>
              <a:rPr lang="en-US"/>
              <a:t>INTEGRITY</a:t>
            </a:r>
            <a:endParaRPr/>
          </a:p>
          <a:p>
            <a:pPr marL="0" lvl="0" indent="0" algn="l" rtl="0">
              <a:spcBef>
                <a:spcPts val="0"/>
              </a:spcBef>
              <a:spcAft>
                <a:spcPts val="0"/>
              </a:spcAft>
              <a:buClr>
                <a:schemeClr val="dk1"/>
              </a:buClr>
              <a:buSzPts val="1100"/>
              <a:buFont typeface="Arial"/>
              <a:buNone/>
            </a:pPr>
            <a:r>
              <a:rPr lang="en-US"/>
              <a:t>INGENUITY</a:t>
            </a:r>
            <a:endParaRPr/>
          </a:p>
          <a:p>
            <a:pPr marL="0" lvl="0" indent="0" algn="l" rtl="0">
              <a:spcBef>
                <a:spcPts val="0"/>
              </a:spcBef>
              <a:spcAft>
                <a:spcPts val="0"/>
              </a:spcAft>
              <a:buClr>
                <a:schemeClr val="dk1"/>
              </a:buClr>
              <a:buSzPts val="1100"/>
              <a:buFont typeface="Arial"/>
              <a:buNone/>
            </a:pPr>
            <a:r>
              <a:rPr lang="en-US"/>
              <a:t>PEACE</a:t>
            </a:r>
            <a:endParaRPr/>
          </a:p>
          <a:p>
            <a:pPr marL="0" lvl="0" indent="0" algn="l" rtl="0">
              <a:spcBef>
                <a:spcPts val="0"/>
              </a:spcBef>
              <a:spcAft>
                <a:spcPts val="0"/>
              </a:spcAft>
              <a:buClr>
                <a:schemeClr val="dk1"/>
              </a:buClr>
              <a:buSzPts val="1100"/>
              <a:buFont typeface="Arial"/>
              <a:buNone/>
            </a:pPr>
            <a:r>
              <a:rPr lang="en-US"/>
              <a:t>E TRADER</a:t>
            </a:r>
            <a:endParaRPr/>
          </a:p>
          <a:p>
            <a:pPr marL="0" lvl="0" indent="0" algn="l" rtl="0">
              <a:spcBef>
                <a:spcPts val="0"/>
              </a:spcBef>
              <a:spcAft>
                <a:spcPts val="0"/>
              </a:spcAft>
              <a:buClr>
                <a:schemeClr val="dk1"/>
              </a:buClr>
              <a:buSzPts val="1100"/>
              <a:buFont typeface="Arial"/>
              <a:buNone/>
            </a:pPr>
            <a:r>
              <a:rPr lang="en-US"/>
              <a:t>W TRADER</a:t>
            </a:r>
            <a:endParaRPr/>
          </a:p>
          <a:p>
            <a:pPr marL="0" lvl="0" indent="0" algn="l" rtl="0">
              <a:spcBef>
                <a:spcPts val="0"/>
              </a:spcBef>
              <a:spcAft>
                <a:spcPts val="0"/>
              </a:spcAft>
              <a:buClr>
                <a:schemeClr val="dk1"/>
              </a:buClr>
              <a:buSzPts val="1400"/>
              <a:buFont typeface="Arial"/>
              <a:buNone/>
            </a:pPr>
            <a:endParaRPr/>
          </a:p>
          <a:p>
            <a:pPr marL="0" lvl="0" indent="0" algn="l" rtl="0">
              <a:spcBef>
                <a:spcPts val="0"/>
              </a:spcBef>
              <a:spcAft>
                <a:spcPts val="0"/>
              </a:spcAft>
              <a:buClr>
                <a:schemeClr val="dk1"/>
              </a:buClr>
              <a:buSzPts val="1400"/>
              <a:buFont typeface="Arial"/>
              <a:buNone/>
            </a:pPr>
            <a:r>
              <a:rPr lang="en-US"/>
              <a:t>5 yr ship for 45.5M</a:t>
            </a:r>
            <a:endParaRPr/>
          </a:p>
          <a:p>
            <a:pPr marL="0" lvl="0" indent="0" algn="l" rtl="0">
              <a:spcBef>
                <a:spcPts val="0"/>
              </a:spcBef>
              <a:spcAft>
                <a:spcPts val="0"/>
              </a:spcAft>
              <a:buClr>
                <a:schemeClr val="dk1"/>
              </a:buClr>
              <a:buSzPts val="1400"/>
              <a:buFont typeface="Arial"/>
              <a:buNone/>
            </a:pPr>
            <a:r>
              <a:rPr lang="en-US"/>
              <a:t>15 yr ship for 23 M</a:t>
            </a:r>
            <a:endParaRPr/>
          </a:p>
          <a:p>
            <a:pPr marL="0" lvl="0" indent="0" algn="l" rtl="0">
              <a:spcBef>
                <a:spcPts val="0"/>
              </a:spcBef>
              <a:spcAft>
                <a:spcPts val="0"/>
              </a:spcAft>
              <a:buClr>
                <a:schemeClr val="dk1"/>
              </a:buClr>
              <a:buSzPts val="1400"/>
              <a:buFont typeface="Arial"/>
              <a:buNone/>
            </a:pPr>
            <a:r>
              <a:rPr lang="en-US"/>
              <a:t>https://www.hellenicshippingnews.com/capesize-values-for-older-vessels-rise-in-october/</a:t>
            </a:r>
            <a:endParaRPr/>
          </a:p>
          <a:p>
            <a:pPr marL="0" lvl="0" indent="0" algn="l" rtl="0">
              <a:spcBef>
                <a:spcPts val="0"/>
              </a:spcBef>
              <a:spcAft>
                <a:spcPts val="0"/>
              </a:spcAft>
              <a:buClr>
                <a:schemeClr val="dk1"/>
              </a:buClr>
              <a:buSzPts val="1400"/>
              <a:buFont typeface="Arial"/>
              <a:buNone/>
            </a:pPr>
            <a:endParaRPr b="1"/>
          </a:p>
          <a:p>
            <a:pPr marL="0" lvl="0" indent="0" algn="l" rtl="0">
              <a:lnSpc>
                <a:spcPct val="100000"/>
              </a:lnSpc>
              <a:spcBef>
                <a:spcPts val="0"/>
              </a:spcBef>
              <a:spcAft>
                <a:spcPts val="0"/>
              </a:spcAft>
              <a:buSzPts val="1400"/>
              <a:buNone/>
            </a:pPr>
            <a:br>
              <a:rPr lang="en-US"/>
            </a:br>
            <a:br>
              <a:rPr lang="en-US"/>
            </a:br>
            <a:endParaRPr/>
          </a:p>
          <a:p>
            <a:pPr marL="0" lvl="0" indent="0" algn="l" rtl="0">
              <a:spcBef>
                <a:spcPts val="0"/>
              </a:spcBef>
              <a:spcAft>
                <a:spcPts val="0"/>
              </a:spcAft>
              <a:buClr>
                <a:schemeClr val="dk1"/>
              </a:buClr>
              <a:buSzPts val="1100"/>
              <a:buFont typeface="Arial"/>
              <a:buNone/>
            </a:pPr>
            <a:r>
              <a:rPr lang="en-US"/>
              <a:t>Using their underperforming ships as collateral, just as they are presently doing with 24 ships for their revolving credit facility, can enable them to access a larger amount of capital at more favorable interest rates, specifically at S+400.</a:t>
            </a:r>
            <a:br>
              <a:rPr lang="en-US"/>
            </a:br>
            <a:br>
              <a:rPr lang="en-US"/>
            </a:br>
            <a:r>
              <a:rPr lang="en-US"/>
              <a:t>By using their underperforming ships as collateral - just as they are doing with 24 ships for their revolver - Danaos can access a larger amount of capital at more favorable interest rates, specifically at a SOFR+400.</a:t>
            </a:r>
            <a:endParaRPr/>
          </a:p>
          <a:p>
            <a:pPr marL="0" lvl="0" indent="0" algn="l" rtl="0">
              <a:lnSpc>
                <a:spcPct val="100000"/>
              </a:lnSpc>
              <a:spcBef>
                <a:spcPts val="0"/>
              </a:spcBef>
              <a:spcAft>
                <a:spcPts val="0"/>
              </a:spcAft>
              <a:buSzPts val="1400"/>
              <a:buNone/>
            </a:pPr>
            <a:endParaRPr/>
          </a:p>
        </p:txBody>
      </p:sp>
      <p:sp>
        <p:nvSpPr>
          <p:cNvPr id="320" name="Google Shape;32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576147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2b6e027a1db_8_6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0" name="Google Shape;340;g2b6e027a1db_8_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2b6e027a1db_6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8" name="Google Shape;268;g2b6e027a1db_6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417486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2b6e027a1db_6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8" name="Google Shape;268;g2b6e027a1db_6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337493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g2b6e027a1db_8_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3" name="Google Shape;413;g2b6e027a1db_8_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3" name="Google Shape;423;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3" name="Google Shape;423;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896702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7" name="Google Shape;47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5"/>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5"/>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21" name="Google Shape;21;p15"/>
          <p:cNvPicPr preferRelativeResize="0"/>
          <p:nvPr/>
        </p:nvPicPr>
        <p:blipFill rotWithShape="1">
          <a:blip r:embed="rId2">
            <a:alphaModFix/>
          </a:blip>
          <a:srcRect t="42068" b="42057"/>
          <a:stretch/>
        </p:blipFill>
        <p:spPr>
          <a:xfrm>
            <a:off x="10228280" y="6523254"/>
            <a:ext cx="1369549" cy="199496"/>
          </a:xfrm>
          <a:prstGeom prst="rect">
            <a:avLst/>
          </a:prstGeom>
          <a:noFill/>
          <a:ln>
            <a:noFill/>
          </a:ln>
        </p:spPr>
      </p:pic>
      <p:pic>
        <p:nvPicPr>
          <p:cNvPr id="22" name="Google Shape;22;p15"/>
          <p:cNvPicPr preferRelativeResize="0"/>
          <p:nvPr/>
        </p:nvPicPr>
        <p:blipFill rotWithShape="1">
          <a:blip r:embed="rId3">
            <a:alphaModFix/>
          </a:blip>
          <a:srcRect/>
          <a:stretch/>
        </p:blipFill>
        <p:spPr>
          <a:xfrm>
            <a:off x="10541172" y="219098"/>
            <a:ext cx="1369549" cy="28019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2" name="Google Shape;32;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42" name="Google Shape;42;p18"/>
          <p:cNvSpPr txBox="1"/>
          <p:nvPr/>
        </p:nvSpPr>
        <p:spPr>
          <a:xfrm>
            <a:off x="3319250" y="296475"/>
            <a:ext cx="3059100" cy="68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3"/>
        <p:cNvGrpSpPr/>
        <p:nvPr/>
      </p:nvGrpSpPr>
      <p:grpSpPr>
        <a:xfrm>
          <a:off x="0" y="0"/>
          <a:ext cx="0" cy="0"/>
          <a:chOff x="0" y="0"/>
          <a:chExt cx="0" cy="0"/>
        </a:xfrm>
      </p:grpSpPr>
      <p:sp>
        <p:nvSpPr>
          <p:cNvPr id="44" name="Google Shape;44;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8" name="Google Shape;48;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2"/>
        <p:cNvGrpSpPr/>
        <p:nvPr/>
      </p:nvGrpSpPr>
      <p:grpSpPr>
        <a:xfrm>
          <a:off x="0" y="0"/>
          <a:ext cx="0" cy="0"/>
          <a:chOff x="0" y="0"/>
          <a:chExt cx="0" cy="0"/>
        </a:xfrm>
      </p:grpSpPr>
      <p:sp>
        <p:nvSpPr>
          <p:cNvPr id="53" name="Google Shape;53;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1"/>
        <p:cNvGrpSpPr/>
        <p:nvPr/>
      </p:nvGrpSpPr>
      <p:grpSpPr>
        <a:xfrm>
          <a:off x="0" y="0"/>
          <a:ext cx="0" cy="0"/>
          <a:chOff x="0" y="0"/>
          <a:chExt cx="0" cy="0"/>
        </a:xfrm>
      </p:grpSpPr>
      <p:sp>
        <p:nvSpPr>
          <p:cNvPr id="62" name="Google Shape;62;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4" name="Google Shape;64;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8"/>
        <p:cNvGrpSpPr/>
        <p:nvPr/>
      </p:nvGrpSpPr>
      <p:grpSpPr>
        <a:xfrm>
          <a:off x="0" y="0"/>
          <a:ext cx="0" cy="0"/>
          <a:chOff x="0" y="0"/>
          <a:chExt cx="0" cy="0"/>
        </a:xfrm>
      </p:grpSpPr>
      <p:sp>
        <p:nvSpPr>
          <p:cNvPr id="69" name="Google Shape;69;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3"/>
          <p:cNvSpPr>
            <a:spLocks noGrp="1"/>
          </p:cNvSpPr>
          <p:nvPr>
            <p:ph type="pic" idx="2"/>
          </p:nvPr>
        </p:nvSpPr>
        <p:spPr>
          <a:xfrm>
            <a:off x="5183188" y="987425"/>
            <a:ext cx="6172200" cy="4873625"/>
          </a:xfrm>
          <a:prstGeom prst="rect">
            <a:avLst/>
          </a:prstGeom>
          <a:noFill/>
          <a:ln>
            <a:noFill/>
          </a:ln>
        </p:spPr>
      </p:sp>
      <p:sp>
        <p:nvSpPr>
          <p:cNvPr id="71" name="Google Shape;71;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2" name="Google Shape;72;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5"/>
        <p:cNvGrpSpPr/>
        <p:nvPr/>
      </p:nvGrpSpPr>
      <p:grpSpPr>
        <a:xfrm>
          <a:off x="0" y="0"/>
          <a:ext cx="0" cy="0"/>
          <a:chOff x="0" y="0"/>
          <a:chExt cx="0" cy="0"/>
        </a:xfrm>
      </p:grpSpPr>
      <p:sp>
        <p:nvSpPr>
          <p:cNvPr id="76" name="Google Shape;76;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1"/>
        <p:cNvGrpSpPr/>
        <p:nvPr/>
      </p:nvGrpSpPr>
      <p:grpSpPr>
        <a:xfrm>
          <a:off x="0" y="0"/>
          <a:ext cx="0" cy="0"/>
          <a:chOff x="0" y="0"/>
          <a:chExt cx="0" cy="0"/>
        </a:xfrm>
      </p:grpSpPr>
      <p:sp>
        <p:nvSpPr>
          <p:cNvPr id="82" name="Google Shape;82;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6.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0"/>
        <p:cNvGrpSpPr/>
        <p:nvPr/>
      </p:nvGrpSpPr>
      <p:grpSpPr>
        <a:xfrm>
          <a:off x="0" y="0"/>
          <a:ext cx="0" cy="0"/>
          <a:chOff x="0" y="0"/>
          <a:chExt cx="0" cy="0"/>
        </a:xfrm>
      </p:grpSpPr>
      <p:sp>
        <p:nvSpPr>
          <p:cNvPr id="91" name="Google Shape;91;p1"/>
          <p:cNvSpPr txBox="1"/>
          <p:nvPr/>
        </p:nvSpPr>
        <p:spPr>
          <a:xfrm>
            <a:off x="91440" y="6474365"/>
            <a:ext cx="1888954"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small">
                <a:solidFill>
                  <a:schemeClr val="lt1"/>
                </a:solidFill>
                <a:latin typeface="Garamond"/>
                <a:ea typeface="Garamond"/>
                <a:cs typeface="Garamond"/>
                <a:sym typeface="Garamond"/>
              </a:rPr>
              <a:t>month.day.year</a:t>
            </a:r>
            <a:endParaRPr sz="1500" b="0" i="0" u="none" strike="noStrike" cap="none">
              <a:solidFill>
                <a:schemeClr val="lt1"/>
              </a:solidFill>
              <a:latin typeface="Calibri"/>
              <a:ea typeface="Calibri"/>
              <a:cs typeface="Calibri"/>
              <a:sym typeface="Calibri"/>
            </a:endParaRPr>
          </a:p>
        </p:txBody>
      </p:sp>
      <p:sp>
        <p:nvSpPr>
          <p:cNvPr id="92" name="Google Shape;92;p1"/>
          <p:cNvSpPr txBox="1">
            <a:spLocks noGrp="1"/>
          </p:cNvSpPr>
          <p:nvPr>
            <p:ph type="sldNum" idx="12"/>
          </p:nvPr>
        </p:nvSpPr>
        <p:spPr>
          <a:xfrm>
            <a:off x="11769025" y="6466818"/>
            <a:ext cx="269100" cy="323100"/>
          </a:xfrm>
          <a:prstGeom prst="rect">
            <a:avLst/>
          </a:prstGeom>
          <a:noFill/>
          <a:ln>
            <a:noFill/>
          </a:ln>
        </p:spPr>
        <p:txBody>
          <a:bodyPr spcFirstLastPara="1" wrap="square" lIns="91425" tIns="45700" rIns="91425" bIns="45700" anchor="ctr" anchorCtr="0">
            <a:spAutoFit/>
          </a:bodyPr>
          <a:lstStyle/>
          <a:p>
            <a:pPr marL="0" lvl="0" indent="0" algn="l" rtl="0">
              <a:lnSpc>
                <a:spcPct val="100000"/>
              </a:lnSpc>
              <a:spcBef>
                <a:spcPts val="0"/>
              </a:spcBef>
              <a:spcAft>
                <a:spcPts val="0"/>
              </a:spcAft>
              <a:buSzPts val="1500"/>
              <a:buNone/>
            </a:pPr>
            <a:fld id="{00000000-1234-1234-1234-123412341234}" type="slidenum">
              <a:rPr lang="en-US" sz="1500" cap="small">
                <a:solidFill>
                  <a:schemeClr val="lt1"/>
                </a:solidFill>
                <a:latin typeface="Garamond"/>
                <a:ea typeface="Garamond"/>
                <a:cs typeface="Garamond"/>
                <a:sym typeface="Garamond"/>
              </a:rPr>
              <a:t>1</a:t>
            </a:fld>
            <a:endParaRPr sz="1500" cap="small">
              <a:solidFill>
                <a:schemeClr val="lt1"/>
              </a:solidFill>
              <a:latin typeface="Garamond"/>
              <a:ea typeface="Garamond"/>
              <a:cs typeface="Garamond"/>
              <a:sym typeface="Garamond"/>
            </a:endParaRPr>
          </a:p>
        </p:txBody>
      </p:sp>
      <p:cxnSp>
        <p:nvCxnSpPr>
          <p:cNvPr id="93" name="Google Shape;93;p1"/>
          <p:cNvCxnSpPr/>
          <p:nvPr/>
        </p:nvCxnSpPr>
        <p:spPr>
          <a:xfrm>
            <a:off x="11767332" y="6510866"/>
            <a:ext cx="0" cy="232550"/>
          </a:xfrm>
          <a:prstGeom prst="straightConnector1">
            <a:avLst/>
          </a:prstGeom>
          <a:noFill/>
          <a:ln w="9525" cap="flat" cmpd="sng">
            <a:solidFill>
              <a:schemeClr val="lt1"/>
            </a:solidFill>
            <a:prstDash val="solid"/>
            <a:miter lim="800000"/>
            <a:headEnd type="none" w="sm" len="sm"/>
            <a:tailEnd type="none" w="sm" len="sm"/>
          </a:ln>
        </p:spPr>
      </p:cxnSp>
      <p:sp>
        <p:nvSpPr>
          <p:cNvPr id="94" name="Google Shape;94;p1"/>
          <p:cNvSpPr txBox="1"/>
          <p:nvPr/>
        </p:nvSpPr>
        <p:spPr>
          <a:xfrm>
            <a:off x="3967350" y="2434800"/>
            <a:ext cx="4205700" cy="5172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000000"/>
              </a:buClr>
              <a:buSzPts val="3900"/>
              <a:buFont typeface="Arial"/>
              <a:buNone/>
            </a:pPr>
            <a:r>
              <a:rPr lang="en-US" sz="3900" b="1" cap="small" dirty="0">
                <a:solidFill>
                  <a:srgbClr val="3F3F3F"/>
                </a:solidFill>
                <a:latin typeface="Garamond"/>
                <a:ea typeface="Garamond"/>
                <a:cs typeface="Garamond"/>
                <a:sym typeface="Garamond"/>
              </a:rPr>
              <a:t>NASDAQ</a:t>
            </a:r>
            <a:r>
              <a:rPr lang="en-US" sz="3900" b="1" i="0" u="none" strike="noStrike" cap="small" dirty="0">
                <a:solidFill>
                  <a:srgbClr val="3F3F3F"/>
                </a:solidFill>
                <a:latin typeface="Garamond"/>
                <a:ea typeface="Garamond"/>
                <a:cs typeface="Garamond"/>
                <a:sym typeface="Garamond"/>
              </a:rPr>
              <a:t>: SMCI</a:t>
            </a:r>
          </a:p>
        </p:txBody>
      </p:sp>
      <p:sp>
        <p:nvSpPr>
          <p:cNvPr id="95" name="Google Shape;95;p1"/>
          <p:cNvSpPr txBox="1"/>
          <p:nvPr/>
        </p:nvSpPr>
        <p:spPr>
          <a:xfrm>
            <a:off x="1150620" y="5606567"/>
            <a:ext cx="9890760" cy="4368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3F3F3F"/>
              </a:buClr>
              <a:buSzPts val="3200"/>
              <a:buFont typeface="Garamond"/>
              <a:buNone/>
            </a:pPr>
            <a:r>
              <a:rPr lang="en-US" sz="2000" b="0" i="0" u="none" strike="noStrike" cap="none" dirty="0">
                <a:solidFill>
                  <a:srgbClr val="000000"/>
                </a:solidFill>
                <a:latin typeface="Garamond"/>
                <a:ea typeface="Garamond"/>
                <a:cs typeface="Garamond"/>
                <a:sym typeface="Garamond"/>
              </a:rPr>
              <a:t>Johnson Chen (johnsonchen2026@gmail.com), Jacob Liu (jliufc18@gmail.com)</a:t>
            </a:r>
            <a:endParaRPr sz="2000" b="0" i="0" u="none" strike="noStrike" cap="none" dirty="0">
              <a:solidFill>
                <a:srgbClr val="000000"/>
              </a:solidFill>
              <a:latin typeface="Garamond"/>
              <a:ea typeface="Garamond"/>
              <a:cs typeface="Garamond"/>
              <a:sym typeface="Garamond"/>
            </a:endParaRPr>
          </a:p>
        </p:txBody>
      </p:sp>
      <p:sp>
        <p:nvSpPr>
          <p:cNvPr id="96" name="Google Shape;96;p1"/>
          <p:cNvSpPr txBox="1"/>
          <p:nvPr/>
        </p:nvSpPr>
        <p:spPr>
          <a:xfrm>
            <a:off x="3569459" y="3428999"/>
            <a:ext cx="5053082" cy="1977501"/>
          </a:xfrm>
          <a:prstGeom prst="rect">
            <a:avLst/>
          </a:prstGeom>
          <a:noFill/>
          <a:ln w="19050" cap="flat" cmpd="sng">
            <a:solidFill>
              <a:srgbClr val="192F63"/>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50000"/>
              </a:lnSpc>
              <a:spcBef>
                <a:spcPts val="0"/>
              </a:spcBef>
              <a:spcAft>
                <a:spcPts val="0"/>
              </a:spcAft>
              <a:buClr>
                <a:srgbClr val="000000"/>
              </a:buClr>
              <a:buSzPts val="2700"/>
              <a:buFont typeface="Arial"/>
              <a:buNone/>
            </a:pPr>
            <a:r>
              <a:rPr lang="en-US" sz="2700" b="0" i="0" u="none" strike="noStrike" cap="small" dirty="0">
                <a:solidFill>
                  <a:srgbClr val="192F63"/>
                </a:solidFill>
                <a:latin typeface="Garamond"/>
                <a:ea typeface="Garamond"/>
                <a:cs typeface="Garamond"/>
                <a:sym typeface="Garamond"/>
              </a:rPr>
              <a:t>Current Price: $30.54</a:t>
            </a:r>
            <a:endParaRPr sz="2700" b="0" i="0" u="none" strike="noStrike" cap="small" dirty="0">
              <a:solidFill>
                <a:srgbClr val="192F63"/>
              </a:solidFill>
              <a:latin typeface="Garamond"/>
              <a:ea typeface="Garamond"/>
              <a:cs typeface="Garamond"/>
              <a:sym typeface="Garamond"/>
            </a:endParaRPr>
          </a:p>
          <a:p>
            <a:pPr marL="0" lvl="0" indent="0" algn="ctr" rtl="0">
              <a:lnSpc>
                <a:spcPct val="150000"/>
              </a:lnSpc>
              <a:spcBef>
                <a:spcPts val="0"/>
              </a:spcBef>
              <a:spcAft>
                <a:spcPts val="0"/>
              </a:spcAft>
              <a:buClr>
                <a:schemeClr val="dk1"/>
              </a:buClr>
              <a:buSzPts val="2700"/>
              <a:buFont typeface="Arial"/>
              <a:buNone/>
            </a:pPr>
            <a:r>
              <a:rPr lang="en-US" sz="2700" cap="small" dirty="0">
                <a:solidFill>
                  <a:srgbClr val="192F63"/>
                </a:solidFill>
                <a:latin typeface="Garamond"/>
                <a:ea typeface="Garamond"/>
                <a:cs typeface="Garamond"/>
                <a:sym typeface="Garamond"/>
              </a:rPr>
              <a:t>Target: $47.00 (54% upside) </a:t>
            </a:r>
            <a:endParaRPr sz="2700" cap="small" dirty="0">
              <a:solidFill>
                <a:srgbClr val="192F63"/>
              </a:solidFill>
              <a:latin typeface="Garamond"/>
              <a:ea typeface="Garamond"/>
              <a:cs typeface="Garamond"/>
              <a:sym typeface="Garamond"/>
            </a:endParaRPr>
          </a:p>
          <a:p>
            <a:pPr marL="0" marR="0" lvl="0" indent="0" algn="ctr" rtl="0">
              <a:lnSpc>
                <a:spcPct val="150000"/>
              </a:lnSpc>
              <a:spcBef>
                <a:spcPts val="0"/>
              </a:spcBef>
              <a:spcAft>
                <a:spcPts val="0"/>
              </a:spcAft>
              <a:buClr>
                <a:srgbClr val="000000"/>
              </a:buClr>
              <a:buSzPts val="2700"/>
              <a:buFont typeface="Arial"/>
              <a:buNone/>
            </a:pPr>
            <a:r>
              <a:rPr lang="en-US" sz="2700" cap="small" dirty="0">
                <a:solidFill>
                  <a:srgbClr val="192F63"/>
                </a:solidFill>
                <a:latin typeface="Garamond"/>
                <a:ea typeface="Garamond"/>
                <a:cs typeface="Garamond"/>
                <a:sym typeface="Garamond"/>
              </a:rPr>
              <a:t>Consensus: Buy To Hold</a:t>
            </a:r>
            <a:endParaRPr sz="2700" b="0" i="0" u="none" strike="noStrike" cap="small" dirty="0">
              <a:solidFill>
                <a:srgbClr val="192F63"/>
              </a:solidFill>
              <a:latin typeface="Garamond"/>
              <a:ea typeface="Garamond"/>
              <a:cs typeface="Garamond"/>
              <a:sym typeface="Garamond"/>
            </a:endParaRPr>
          </a:p>
        </p:txBody>
      </p:sp>
      <p:sp>
        <p:nvSpPr>
          <p:cNvPr id="97" name="Google Shape;97;p1"/>
          <p:cNvSpPr txBox="1">
            <a:spLocks noGrp="1"/>
          </p:cNvSpPr>
          <p:nvPr>
            <p:ph type="sldNum" idx="4294967295"/>
          </p:nvPr>
        </p:nvSpPr>
        <p:spPr>
          <a:xfrm>
            <a:off x="11520419" y="6466832"/>
            <a:ext cx="521100" cy="323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200"/>
              <a:buFont typeface="Arial"/>
              <a:buNone/>
            </a:pPr>
            <a:r>
              <a:rPr lang="en-US"/>
              <a:t>|  </a:t>
            </a:r>
            <a:fld id="{00000000-1234-1234-1234-123412341234}" type="slidenum">
              <a:rPr lang="en-US"/>
              <a:t>1</a:t>
            </a:fld>
            <a:endParaRPr/>
          </a:p>
        </p:txBody>
      </p:sp>
      <p:sp>
        <p:nvSpPr>
          <p:cNvPr id="99" name="Google Shape;99;p1"/>
          <p:cNvSpPr/>
          <p:nvPr/>
        </p:nvSpPr>
        <p:spPr>
          <a:xfrm>
            <a:off x="9625075" y="61425"/>
            <a:ext cx="2484000" cy="7302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pic>
        <p:nvPicPr>
          <p:cNvPr id="1026" name="Picture 2" descr="Supermicro - Wikipedia">
            <a:extLst>
              <a:ext uri="{FF2B5EF4-FFF2-40B4-BE49-F238E27FC236}">
                <a16:creationId xmlns:a16="http://schemas.microsoft.com/office/drawing/2014/main" id="{545D5F5E-F737-4B56-B022-9C81950816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1256" y="303491"/>
            <a:ext cx="3649488" cy="1925134"/>
          </a:xfrm>
          <a:prstGeom prst="rect">
            <a:avLst/>
          </a:prstGeom>
          <a:noFill/>
          <a:extLst>
            <a:ext uri="{909E8E84-426E-40DD-AFC4-6F175D3DCCD1}">
              <a14:hiddenFill xmlns:a14="http://schemas.microsoft.com/office/drawing/2010/main">
                <a:solidFill>
                  <a:srgbClr val="FFFFFF"/>
                </a:solidFill>
              </a14:hiddenFill>
            </a:ext>
          </a:extLst>
        </p:spPr>
      </p:pic>
      <p:sp>
        <p:nvSpPr>
          <p:cNvPr id="12" name="Google Shape;95;p1">
            <a:extLst>
              <a:ext uri="{FF2B5EF4-FFF2-40B4-BE49-F238E27FC236}">
                <a16:creationId xmlns:a16="http://schemas.microsoft.com/office/drawing/2014/main" id="{7047D4BF-0704-468B-9E7D-911999BAE997}"/>
              </a:ext>
            </a:extLst>
          </p:cNvPr>
          <p:cNvSpPr txBox="1"/>
          <p:nvPr/>
        </p:nvSpPr>
        <p:spPr>
          <a:xfrm>
            <a:off x="2184000" y="5928926"/>
            <a:ext cx="7772400" cy="436800"/>
          </a:xfrm>
          <a:prstGeom prst="rect">
            <a:avLst/>
          </a:prstGeom>
          <a:noFill/>
          <a:ln>
            <a:noFill/>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3F3F3F"/>
              </a:buClr>
              <a:buSzPts val="3200"/>
              <a:buFont typeface="Garamond"/>
              <a:buNone/>
            </a:pPr>
            <a:r>
              <a:rPr lang="en-US" sz="1800" dirty="0">
                <a:latin typeface="Garamond"/>
                <a:ea typeface="Garamond"/>
                <a:cs typeface="Garamond"/>
                <a:sym typeface="Garamond"/>
              </a:rPr>
              <a:t>Rochester Adams High School, Troy High School (Michigan)</a:t>
            </a:r>
            <a:endParaRPr sz="1800" b="0" i="0" u="none" strike="noStrike" cap="none" dirty="0">
              <a:solidFill>
                <a:srgbClr val="000000"/>
              </a:solidFill>
              <a:latin typeface="Garamond"/>
              <a:ea typeface="Garamond"/>
              <a:cs typeface="Garamond"/>
              <a:sym typeface="Garamond"/>
            </a:endParaRPr>
          </a:p>
        </p:txBody>
      </p:sp>
      <p:pic>
        <p:nvPicPr>
          <p:cNvPr id="7" name="Picture 6">
            <a:extLst>
              <a:ext uri="{FF2B5EF4-FFF2-40B4-BE49-F238E27FC236}">
                <a16:creationId xmlns:a16="http://schemas.microsoft.com/office/drawing/2014/main" id="{D6FBDF8D-2A5B-43FF-A68C-77E0428F9D83}"/>
              </a:ext>
            </a:extLst>
          </p:cNvPr>
          <p:cNvPicPr>
            <a:picLocks noChangeAspect="1"/>
          </p:cNvPicPr>
          <p:nvPr/>
        </p:nvPicPr>
        <p:blipFill>
          <a:blip r:embed="rId4"/>
          <a:stretch>
            <a:fillRect/>
          </a:stretch>
        </p:blipFill>
        <p:spPr>
          <a:xfrm>
            <a:off x="10160006" y="6379320"/>
            <a:ext cx="1422710" cy="46484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
          <p:cNvSpPr/>
          <p:nvPr/>
        </p:nvSpPr>
        <p:spPr>
          <a:xfrm>
            <a:off x="853925" y="1075650"/>
            <a:ext cx="534300" cy="547500"/>
          </a:xfrm>
          <a:prstGeom prst="ellipse">
            <a:avLst/>
          </a:prstGeom>
          <a:solidFill>
            <a:srgbClr val="001746"/>
          </a:solidFill>
          <a:ln w="19050" cap="flat" cmpd="sng">
            <a:solidFill>
              <a:srgbClr val="FFC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Calibri"/>
                <a:ea typeface="Calibri"/>
                <a:cs typeface="Calibri"/>
                <a:sym typeface="Calibri"/>
              </a:rPr>
              <a:t>1</a:t>
            </a:r>
            <a:endParaRPr sz="1400" b="0" i="0" u="none" strike="noStrike" cap="none">
              <a:solidFill>
                <a:srgbClr val="FFFFFF"/>
              </a:solidFill>
              <a:latin typeface="Calibri"/>
              <a:ea typeface="Calibri"/>
              <a:cs typeface="Calibri"/>
              <a:sym typeface="Calibri"/>
            </a:endParaRPr>
          </a:p>
        </p:txBody>
      </p:sp>
      <p:sp>
        <p:nvSpPr>
          <p:cNvPr id="105" name="Google Shape;105;p2"/>
          <p:cNvSpPr/>
          <p:nvPr/>
        </p:nvSpPr>
        <p:spPr>
          <a:xfrm>
            <a:off x="853925" y="1839208"/>
            <a:ext cx="534300" cy="547500"/>
          </a:xfrm>
          <a:prstGeom prst="ellipse">
            <a:avLst/>
          </a:prstGeom>
          <a:solidFill>
            <a:srgbClr val="001746"/>
          </a:solidFill>
          <a:ln w="19050" cap="flat" cmpd="sng">
            <a:solidFill>
              <a:srgbClr val="FFC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Calibri"/>
                <a:ea typeface="Calibri"/>
                <a:cs typeface="Calibri"/>
                <a:sym typeface="Calibri"/>
              </a:rPr>
              <a:t>2</a:t>
            </a:r>
            <a:endParaRPr sz="1400" b="0" i="0" u="none" strike="noStrike" cap="none">
              <a:solidFill>
                <a:srgbClr val="FFFFFF"/>
              </a:solidFill>
              <a:latin typeface="Calibri"/>
              <a:ea typeface="Calibri"/>
              <a:cs typeface="Calibri"/>
              <a:sym typeface="Calibri"/>
            </a:endParaRPr>
          </a:p>
        </p:txBody>
      </p:sp>
      <p:sp>
        <p:nvSpPr>
          <p:cNvPr id="106" name="Google Shape;106;p2"/>
          <p:cNvSpPr/>
          <p:nvPr/>
        </p:nvSpPr>
        <p:spPr>
          <a:xfrm>
            <a:off x="853925" y="2602756"/>
            <a:ext cx="534300" cy="547500"/>
          </a:xfrm>
          <a:prstGeom prst="ellipse">
            <a:avLst/>
          </a:prstGeom>
          <a:solidFill>
            <a:srgbClr val="001746"/>
          </a:solidFill>
          <a:ln w="19050" cap="flat" cmpd="sng">
            <a:solidFill>
              <a:srgbClr val="FFC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Calibri"/>
                <a:ea typeface="Calibri"/>
                <a:cs typeface="Calibri"/>
                <a:sym typeface="Calibri"/>
              </a:rPr>
              <a:t>3</a:t>
            </a:r>
            <a:endParaRPr sz="1400" b="0" i="0" u="none" strike="noStrike" cap="none">
              <a:solidFill>
                <a:srgbClr val="FFFFFF"/>
              </a:solidFill>
              <a:latin typeface="Calibri"/>
              <a:ea typeface="Calibri"/>
              <a:cs typeface="Calibri"/>
              <a:sym typeface="Calibri"/>
            </a:endParaRPr>
          </a:p>
        </p:txBody>
      </p:sp>
      <p:sp>
        <p:nvSpPr>
          <p:cNvPr id="107" name="Google Shape;107;p2"/>
          <p:cNvSpPr/>
          <p:nvPr/>
        </p:nvSpPr>
        <p:spPr>
          <a:xfrm>
            <a:off x="853925" y="3401630"/>
            <a:ext cx="534300" cy="547500"/>
          </a:xfrm>
          <a:prstGeom prst="ellipse">
            <a:avLst/>
          </a:prstGeom>
          <a:solidFill>
            <a:srgbClr val="001746"/>
          </a:solidFill>
          <a:ln w="19050" cap="flat" cmpd="sng">
            <a:solidFill>
              <a:srgbClr val="FFC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Calibri"/>
                <a:ea typeface="Calibri"/>
                <a:cs typeface="Calibri"/>
                <a:sym typeface="Calibri"/>
              </a:rPr>
              <a:t>4</a:t>
            </a:r>
            <a:endParaRPr sz="1400" b="0" i="0" u="none" strike="noStrike" cap="none">
              <a:solidFill>
                <a:srgbClr val="FFFFFF"/>
              </a:solidFill>
              <a:latin typeface="Calibri"/>
              <a:ea typeface="Calibri"/>
              <a:cs typeface="Calibri"/>
              <a:sym typeface="Calibri"/>
            </a:endParaRPr>
          </a:p>
        </p:txBody>
      </p:sp>
      <p:sp>
        <p:nvSpPr>
          <p:cNvPr id="108" name="Google Shape;108;p2"/>
          <p:cNvSpPr/>
          <p:nvPr/>
        </p:nvSpPr>
        <p:spPr>
          <a:xfrm>
            <a:off x="853925" y="4176970"/>
            <a:ext cx="534300" cy="547500"/>
          </a:xfrm>
          <a:prstGeom prst="ellipse">
            <a:avLst/>
          </a:prstGeom>
          <a:solidFill>
            <a:srgbClr val="001746"/>
          </a:solidFill>
          <a:ln w="19050" cap="flat" cmpd="sng">
            <a:solidFill>
              <a:srgbClr val="FFC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Calibri"/>
                <a:ea typeface="Calibri"/>
                <a:cs typeface="Calibri"/>
                <a:sym typeface="Calibri"/>
              </a:rPr>
              <a:t>5</a:t>
            </a:r>
            <a:endParaRPr sz="1400" b="0" i="0" u="none" strike="noStrike" cap="none">
              <a:solidFill>
                <a:srgbClr val="FFFFFF"/>
              </a:solidFill>
              <a:latin typeface="Calibri"/>
              <a:ea typeface="Calibri"/>
              <a:cs typeface="Calibri"/>
              <a:sym typeface="Calibri"/>
            </a:endParaRPr>
          </a:p>
        </p:txBody>
      </p:sp>
      <p:sp>
        <p:nvSpPr>
          <p:cNvPr id="109" name="Google Shape;109;p2"/>
          <p:cNvSpPr/>
          <p:nvPr/>
        </p:nvSpPr>
        <p:spPr>
          <a:xfrm>
            <a:off x="853925" y="5727649"/>
            <a:ext cx="534300" cy="547500"/>
          </a:xfrm>
          <a:prstGeom prst="ellipse">
            <a:avLst/>
          </a:prstGeom>
          <a:solidFill>
            <a:srgbClr val="001746"/>
          </a:solidFill>
          <a:ln w="19050" cap="flat" cmpd="sng">
            <a:solidFill>
              <a:srgbClr val="FFC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Calibri"/>
                <a:ea typeface="Calibri"/>
                <a:cs typeface="Calibri"/>
                <a:sym typeface="Calibri"/>
              </a:rPr>
              <a:t>7</a:t>
            </a:r>
            <a:endParaRPr sz="1400" b="0" i="0" u="none" strike="noStrike" cap="none">
              <a:solidFill>
                <a:srgbClr val="FFFFFF"/>
              </a:solidFill>
              <a:latin typeface="Calibri"/>
              <a:ea typeface="Calibri"/>
              <a:cs typeface="Calibri"/>
              <a:sym typeface="Calibri"/>
            </a:endParaRPr>
          </a:p>
        </p:txBody>
      </p:sp>
      <p:sp>
        <p:nvSpPr>
          <p:cNvPr id="110" name="Google Shape;110;p2"/>
          <p:cNvSpPr/>
          <p:nvPr/>
        </p:nvSpPr>
        <p:spPr>
          <a:xfrm>
            <a:off x="853925" y="4952316"/>
            <a:ext cx="534300" cy="547500"/>
          </a:xfrm>
          <a:prstGeom prst="ellipse">
            <a:avLst/>
          </a:prstGeom>
          <a:solidFill>
            <a:srgbClr val="001746"/>
          </a:solidFill>
          <a:ln w="19050" cap="flat" cmpd="sng">
            <a:solidFill>
              <a:srgbClr val="FFC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Calibri"/>
                <a:ea typeface="Calibri"/>
                <a:cs typeface="Calibri"/>
                <a:sym typeface="Calibri"/>
              </a:rPr>
              <a:t>6</a:t>
            </a:r>
            <a:endParaRPr sz="1400" b="0" i="0" u="none" strike="noStrike" cap="none">
              <a:solidFill>
                <a:srgbClr val="FFFFFF"/>
              </a:solidFill>
              <a:latin typeface="Calibri"/>
              <a:ea typeface="Calibri"/>
              <a:cs typeface="Calibri"/>
              <a:sym typeface="Calibri"/>
            </a:endParaRPr>
          </a:p>
        </p:txBody>
      </p:sp>
      <p:sp>
        <p:nvSpPr>
          <p:cNvPr id="111" name="Google Shape;111;p2"/>
          <p:cNvSpPr txBox="1"/>
          <p:nvPr/>
        </p:nvSpPr>
        <p:spPr>
          <a:xfrm>
            <a:off x="1627295" y="1084474"/>
            <a:ext cx="6364500" cy="4926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4000"/>
              <a:buFont typeface="Arial"/>
              <a:buNone/>
            </a:pPr>
            <a:r>
              <a:rPr lang="en-US" sz="2600" b="1" i="0" u="none" strike="noStrike" cap="small">
                <a:solidFill>
                  <a:srgbClr val="3F3F3F"/>
                </a:solidFill>
                <a:latin typeface="Garamond"/>
                <a:ea typeface="Garamond"/>
                <a:cs typeface="Garamond"/>
                <a:sym typeface="Garamond"/>
              </a:rPr>
              <a:t>Target Overview</a:t>
            </a:r>
            <a:endParaRPr sz="2600" b="0" i="0" u="none" strike="noStrike" cap="none">
              <a:solidFill>
                <a:srgbClr val="000000"/>
              </a:solidFill>
              <a:latin typeface="Calibri"/>
              <a:ea typeface="Calibri"/>
              <a:cs typeface="Calibri"/>
              <a:sym typeface="Calibri"/>
            </a:endParaRPr>
          </a:p>
        </p:txBody>
      </p:sp>
      <p:sp>
        <p:nvSpPr>
          <p:cNvPr id="112" name="Google Shape;112;p2"/>
          <p:cNvSpPr txBox="1"/>
          <p:nvPr/>
        </p:nvSpPr>
        <p:spPr>
          <a:xfrm>
            <a:off x="1627295" y="1887306"/>
            <a:ext cx="6364500" cy="4926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4000"/>
              <a:buFont typeface="Arial"/>
              <a:buNone/>
            </a:pPr>
            <a:r>
              <a:rPr lang="en-US" sz="2600" b="1" i="0" u="none" strike="noStrike" cap="small" dirty="0">
                <a:solidFill>
                  <a:srgbClr val="3F3F3F"/>
                </a:solidFill>
                <a:latin typeface="Garamond"/>
                <a:ea typeface="Garamond"/>
                <a:cs typeface="Garamond"/>
                <a:sym typeface="Garamond"/>
              </a:rPr>
              <a:t>Industry Overview</a:t>
            </a:r>
            <a:endParaRPr sz="2600" b="0" i="0" u="none" strike="noStrike" cap="none" dirty="0">
              <a:solidFill>
                <a:srgbClr val="000000"/>
              </a:solidFill>
              <a:latin typeface="Calibri"/>
              <a:ea typeface="Calibri"/>
              <a:cs typeface="Calibri"/>
              <a:sym typeface="Calibri"/>
            </a:endParaRPr>
          </a:p>
        </p:txBody>
      </p:sp>
      <p:sp>
        <p:nvSpPr>
          <p:cNvPr id="113" name="Google Shape;113;p2"/>
          <p:cNvSpPr txBox="1"/>
          <p:nvPr/>
        </p:nvSpPr>
        <p:spPr>
          <a:xfrm>
            <a:off x="1627295" y="3369416"/>
            <a:ext cx="6364500" cy="692457"/>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4000"/>
              <a:buFont typeface="Arial"/>
              <a:buNone/>
            </a:pPr>
            <a:r>
              <a:rPr lang="en-US" sz="2600" b="1" i="0" u="none" strike="noStrike" cap="small" dirty="0">
                <a:solidFill>
                  <a:srgbClr val="3F3F3F"/>
                </a:solidFill>
                <a:latin typeface="Garamond"/>
                <a:ea typeface="Garamond"/>
                <a:cs typeface="Garamond"/>
                <a:sym typeface="Garamond"/>
              </a:rPr>
              <a:t>Valuation</a:t>
            </a:r>
            <a:endParaRPr lang="en-US" sz="2600" b="0" i="0" u="none" strike="noStrike" cap="none" dirty="0">
              <a:solidFill>
                <a:srgbClr val="000000"/>
              </a:solidFill>
              <a:latin typeface="Calibri"/>
              <a:ea typeface="Calibri"/>
              <a:cs typeface="Calibri"/>
              <a:sym typeface="Calibri"/>
            </a:endParaRPr>
          </a:p>
        </p:txBody>
      </p:sp>
      <p:sp>
        <p:nvSpPr>
          <p:cNvPr id="114" name="Google Shape;114;p2"/>
          <p:cNvSpPr txBox="1"/>
          <p:nvPr/>
        </p:nvSpPr>
        <p:spPr>
          <a:xfrm>
            <a:off x="1627295" y="2590014"/>
            <a:ext cx="6364500" cy="4926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4000"/>
              <a:buFont typeface="Arial"/>
              <a:buNone/>
            </a:pPr>
            <a:r>
              <a:rPr lang="en-US" sz="2600" b="1" i="0" u="none" strike="noStrike" cap="small" dirty="0">
                <a:solidFill>
                  <a:srgbClr val="3F3F3F"/>
                </a:solidFill>
                <a:latin typeface="Garamond"/>
                <a:ea typeface="Garamond"/>
                <a:cs typeface="Garamond"/>
                <a:sym typeface="Garamond"/>
              </a:rPr>
              <a:t>Theses</a:t>
            </a:r>
            <a:endParaRPr sz="2600" b="0" i="0" u="none" strike="noStrike" cap="none" dirty="0">
              <a:solidFill>
                <a:srgbClr val="000000"/>
              </a:solidFill>
              <a:latin typeface="Calibri"/>
              <a:ea typeface="Calibri"/>
              <a:cs typeface="Calibri"/>
              <a:sym typeface="Calibri"/>
            </a:endParaRPr>
          </a:p>
        </p:txBody>
      </p:sp>
      <p:sp>
        <p:nvSpPr>
          <p:cNvPr id="115" name="Google Shape;115;p2"/>
          <p:cNvSpPr txBox="1"/>
          <p:nvPr/>
        </p:nvSpPr>
        <p:spPr>
          <a:xfrm>
            <a:off x="1627295" y="4125873"/>
            <a:ext cx="6364500" cy="692457"/>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4000"/>
              <a:buFont typeface="Arial"/>
              <a:buNone/>
            </a:pPr>
            <a:r>
              <a:rPr lang="en-US" sz="2600" b="1" cap="small" dirty="0">
                <a:solidFill>
                  <a:srgbClr val="3F3F3F"/>
                </a:solidFill>
                <a:latin typeface="Garamond"/>
                <a:ea typeface="Calibri"/>
                <a:cs typeface="Calibri"/>
                <a:sym typeface="Garamond"/>
              </a:rPr>
              <a:t>ESG/Overview Consideration</a:t>
            </a:r>
            <a:endParaRPr sz="2600" b="0" i="0" u="none" strike="noStrike" cap="none" dirty="0">
              <a:solidFill>
                <a:srgbClr val="000000"/>
              </a:solidFill>
              <a:latin typeface="Calibri"/>
              <a:ea typeface="Calibri"/>
              <a:cs typeface="Calibri"/>
              <a:sym typeface="Calibri"/>
            </a:endParaRPr>
          </a:p>
        </p:txBody>
      </p:sp>
      <p:sp>
        <p:nvSpPr>
          <p:cNvPr id="116" name="Google Shape;116;p2"/>
          <p:cNvSpPr txBox="1"/>
          <p:nvPr/>
        </p:nvSpPr>
        <p:spPr>
          <a:xfrm>
            <a:off x="1627295" y="4963093"/>
            <a:ext cx="6364500" cy="4926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4000"/>
              <a:buFont typeface="Arial"/>
              <a:buNone/>
            </a:pPr>
            <a:r>
              <a:rPr lang="en-US" sz="2600" b="1" i="0" u="none" strike="noStrike" cap="small">
                <a:solidFill>
                  <a:srgbClr val="3F3F3F"/>
                </a:solidFill>
                <a:latin typeface="Garamond"/>
                <a:ea typeface="Garamond"/>
                <a:cs typeface="Garamond"/>
                <a:sym typeface="Garamond"/>
              </a:rPr>
              <a:t>Risks &amp; Mitigants</a:t>
            </a:r>
            <a:endParaRPr sz="2600" b="1" i="0" u="none" strike="noStrike" cap="small">
              <a:solidFill>
                <a:srgbClr val="3F3F3F"/>
              </a:solidFill>
              <a:latin typeface="Garamond"/>
              <a:ea typeface="Garamond"/>
              <a:cs typeface="Garamond"/>
              <a:sym typeface="Garamond"/>
            </a:endParaRPr>
          </a:p>
        </p:txBody>
      </p:sp>
      <p:sp>
        <p:nvSpPr>
          <p:cNvPr id="117" name="Google Shape;117;p2"/>
          <p:cNvSpPr txBox="1"/>
          <p:nvPr/>
        </p:nvSpPr>
        <p:spPr>
          <a:xfrm>
            <a:off x="1627295" y="5738426"/>
            <a:ext cx="6364500" cy="692457"/>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4000"/>
              <a:buFont typeface="Arial"/>
              <a:buNone/>
            </a:pPr>
            <a:r>
              <a:rPr lang="en-US" sz="2600" b="1" cap="small" dirty="0">
                <a:solidFill>
                  <a:srgbClr val="3F3F3F"/>
                </a:solidFill>
                <a:latin typeface="Garamond"/>
                <a:ea typeface="Garamond"/>
                <a:cs typeface="Garamond"/>
                <a:sym typeface="Garamond"/>
              </a:rPr>
              <a:t>F</a:t>
            </a:r>
            <a:r>
              <a:rPr lang="en-US" sz="2600" b="1" i="0" u="none" strike="noStrike" cap="small" dirty="0">
                <a:solidFill>
                  <a:srgbClr val="3F3F3F"/>
                </a:solidFill>
                <a:latin typeface="Garamond"/>
                <a:ea typeface="Garamond"/>
                <a:cs typeface="Garamond"/>
                <a:sym typeface="Garamond"/>
              </a:rPr>
              <a:t>inal Recommendation</a:t>
            </a:r>
            <a:endParaRPr sz="2600" b="0" i="0" u="none" strike="noStrike" cap="none" dirty="0">
              <a:solidFill>
                <a:srgbClr val="000000"/>
              </a:solidFill>
              <a:latin typeface="Calibri"/>
              <a:ea typeface="Calibri"/>
              <a:cs typeface="Calibri"/>
              <a:sym typeface="Calibri"/>
            </a:endParaRPr>
          </a:p>
        </p:txBody>
      </p:sp>
      <p:sp>
        <p:nvSpPr>
          <p:cNvPr id="118" name="Google Shape;118;p2"/>
          <p:cNvSpPr txBox="1">
            <a:spLocks noGrp="1"/>
          </p:cNvSpPr>
          <p:nvPr>
            <p:ph type="sldNum" idx="12"/>
          </p:nvPr>
        </p:nvSpPr>
        <p:spPr>
          <a:xfrm>
            <a:off x="11748073" y="6466825"/>
            <a:ext cx="293400" cy="323100"/>
          </a:xfrm>
          <a:prstGeom prst="rect">
            <a:avLst/>
          </a:prstGeom>
          <a:noFill/>
          <a:ln>
            <a:noFill/>
          </a:ln>
        </p:spPr>
        <p:txBody>
          <a:bodyPr spcFirstLastPara="1" wrap="square" lIns="91425" tIns="45700" rIns="91425" bIns="45700" anchor="ctr" anchorCtr="0">
            <a:spAutoFit/>
          </a:bodyPr>
          <a:lstStyle/>
          <a:p>
            <a:pPr marL="0" lvl="0" indent="0" algn="l" rtl="0">
              <a:lnSpc>
                <a:spcPct val="100000"/>
              </a:lnSpc>
              <a:spcBef>
                <a:spcPts val="0"/>
              </a:spcBef>
              <a:spcAft>
                <a:spcPts val="0"/>
              </a:spcAft>
              <a:buSzPts val="1500"/>
              <a:buNone/>
            </a:pPr>
            <a:fld id="{00000000-1234-1234-1234-123412341234}" type="slidenum">
              <a:rPr lang="en-US" sz="1500" cap="small">
                <a:solidFill>
                  <a:schemeClr val="lt1"/>
                </a:solidFill>
                <a:latin typeface="Garamond"/>
                <a:ea typeface="Garamond"/>
                <a:cs typeface="Garamond"/>
                <a:sym typeface="Garamond"/>
              </a:rPr>
              <a:t>2</a:t>
            </a:fld>
            <a:endParaRPr sz="1500" cap="small">
              <a:solidFill>
                <a:schemeClr val="lt1"/>
              </a:solidFill>
              <a:latin typeface="Garamond"/>
              <a:ea typeface="Garamond"/>
              <a:cs typeface="Garamond"/>
              <a:sym typeface="Garamond"/>
            </a:endParaRPr>
          </a:p>
        </p:txBody>
      </p:sp>
      <p:cxnSp>
        <p:nvCxnSpPr>
          <p:cNvPr id="119" name="Google Shape;119;p2"/>
          <p:cNvCxnSpPr/>
          <p:nvPr/>
        </p:nvCxnSpPr>
        <p:spPr>
          <a:xfrm>
            <a:off x="11746228" y="6510872"/>
            <a:ext cx="0" cy="232500"/>
          </a:xfrm>
          <a:prstGeom prst="straightConnector1">
            <a:avLst/>
          </a:prstGeom>
          <a:noFill/>
          <a:ln w="9525" cap="flat" cmpd="sng">
            <a:solidFill>
              <a:schemeClr val="lt1"/>
            </a:solidFill>
            <a:prstDash val="solid"/>
            <a:miter lim="800000"/>
            <a:headEnd type="none" w="sm" len="sm"/>
            <a:tailEnd type="none" w="sm" len="sm"/>
          </a:ln>
        </p:spPr>
      </p:cxnSp>
      <p:sp>
        <p:nvSpPr>
          <p:cNvPr id="120" name="Google Shape;120;p2"/>
          <p:cNvSpPr txBox="1">
            <a:spLocks noGrp="1"/>
          </p:cNvSpPr>
          <p:nvPr>
            <p:ph type="sldNum" idx="4294967295"/>
          </p:nvPr>
        </p:nvSpPr>
        <p:spPr>
          <a:xfrm>
            <a:off x="11520419" y="6466832"/>
            <a:ext cx="521100" cy="323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200"/>
              <a:buFont typeface="Arial"/>
              <a:buNone/>
            </a:pPr>
            <a:r>
              <a:rPr lang="en-US"/>
              <a:t>|  </a:t>
            </a:r>
            <a:fld id="{00000000-1234-1234-1234-123412341234}" type="slidenum">
              <a:rPr lang="en-US"/>
              <a:t>2</a:t>
            </a:fld>
            <a:endParaRPr/>
          </a:p>
        </p:txBody>
      </p:sp>
      <p:cxnSp>
        <p:nvCxnSpPr>
          <p:cNvPr id="121" name="Google Shape;121;p2"/>
          <p:cNvCxnSpPr/>
          <p:nvPr/>
        </p:nvCxnSpPr>
        <p:spPr>
          <a:xfrm>
            <a:off x="270932" y="711202"/>
            <a:ext cx="11633100" cy="0"/>
          </a:xfrm>
          <a:prstGeom prst="straightConnector1">
            <a:avLst/>
          </a:prstGeom>
          <a:noFill/>
          <a:ln w="9525" cap="flat" cmpd="sng">
            <a:solidFill>
              <a:srgbClr val="001746"/>
            </a:solidFill>
            <a:prstDash val="solid"/>
            <a:miter lim="800000"/>
            <a:headEnd type="none" w="sm" len="sm"/>
            <a:tailEnd type="none" w="sm" len="sm"/>
          </a:ln>
        </p:spPr>
      </p:cxnSp>
      <p:sp>
        <p:nvSpPr>
          <p:cNvPr id="122" name="Google Shape;122;p2"/>
          <p:cNvSpPr txBox="1"/>
          <p:nvPr/>
        </p:nvSpPr>
        <p:spPr>
          <a:xfrm>
            <a:off x="228600" y="76200"/>
            <a:ext cx="3000000" cy="646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3000" b="1" i="0" u="none" strike="noStrike" cap="small">
                <a:solidFill>
                  <a:srgbClr val="3F3F3F"/>
                </a:solidFill>
                <a:latin typeface="Garamond"/>
                <a:ea typeface="Garamond"/>
                <a:cs typeface="Garamond"/>
                <a:sym typeface="Garamond"/>
              </a:rPr>
              <a:t>Agenda</a:t>
            </a:r>
            <a:endParaRPr sz="3000" b="1" i="0" u="none" strike="noStrike" cap="small">
              <a:solidFill>
                <a:srgbClr val="3F3F3F"/>
              </a:solidFill>
              <a:latin typeface="Garamond"/>
              <a:ea typeface="Garamond"/>
              <a:cs typeface="Garamond"/>
              <a:sym typeface="Garamond"/>
            </a:endParaRPr>
          </a:p>
        </p:txBody>
      </p:sp>
      <p:pic>
        <p:nvPicPr>
          <p:cNvPr id="2052" name="Picture 4" descr="SMCI - Super Micro Computer, Inc. Trademark Registration">
            <a:extLst>
              <a:ext uri="{FF2B5EF4-FFF2-40B4-BE49-F238E27FC236}">
                <a16:creationId xmlns:a16="http://schemas.microsoft.com/office/drawing/2014/main" id="{FA41A2C0-9B7B-4261-A9C3-4E385C12327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001" b="17593"/>
          <a:stretch/>
        </p:blipFill>
        <p:spPr bwMode="auto">
          <a:xfrm>
            <a:off x="10032470" y="64180"/>
            <a:ext cx="2009003" cy="547501"/>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a:extLst>
              <a:ext uri="{FF2B5EF4-FFF2-40B4-BE49-F238E27FC236}">
                <a16:creationId xmlns:a16="http://schemas.microsoft.com/office/drawing/2014/main" id="{AD7E7F8E-0B58-4F85-B23F-C4044098E669}"/>
              </a:ext>
            </a:extLst>
          </p:cNvPr>
          <p:cNvPicPr>
            <a:picLocks noChangeAspect="1"/>
          </p:cNvPicPr>
          <p:nvPr/>
        </p:nvPicPr>
        <p:blipFill>
          <a:blip r:embed="rId4"/>
          <a:stretch>
            <a:fillRect/>
          </a:stretch>
        </p:blipFill>
        <p:spPr>
          <a:xfrm>
            <a:off x="10160006" y="6379320"/>
            <a:ext cx="1422710" cy="46484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g2b6e027a1db_8_19"/>
          <p:cNvSpPr txBox="1">
            <a:spLocks noGrp="1"/>
          </p:cNvSpPr>
          <p:nvPr>
            <p:ph type="sldNum" idx="12"/>
          </p:nvPr>
        </p:nvSpPr>
        <p:spPr>
          <a:xfrm>
            <a:off x="11748073" y="6466825"/>
            <a:ext cx="293400" cy="323100"/>
          </a:xfrm>
          <a:prstGeom prst="rect">
            <a:avLst/>
          </a:prstGeom>
          <a:noFill/>
          <a:ln>
            <a:noFill/>
          </a:ln>
        </p:spPr>
        <p:txBody>
          <a:bodyPr spcFirstLastPara="1" wrap="square" lIns="91425" tIns="45700" rIns="91425" bIns="45700" anchor="ctr" anchorCtr="0">
            <a:spAutoFit/>
          </a:bodyPr>
          <a:lstStyle/>
          <a:p>
            <a:pPr marL="0" lvl="0" indent="0" algn="l" rtl="0">
              <a:lnSpc>
                <a:spcPct val="100000"/>
              </a:lnSpc>
              <a:spcBef>
                <a:spcPts val="0"/>
              </a:spcBef>
              <a:spcAft>
                <a:spcPts val="0"/>
              </a:spcAft>
              <a:buSzPts val="1500"/>
              <a:buNone/>
            </a:pPr>
            <a:fld id="{00000000-1234-1234-1234-123412341234}" type="slidenum">
              <a:rPr lang="en-US" sz="1500" cap="small">
                <a:solidFill>
                  <a:schemeClr val="lt1"/>
                </a:solidFill>
                <a:latin typeface="Garamond"/>
                <a:ea typeface="Garamond"/>
                <a:cs typeface="Garamond"/>
                <a:sym typeface="Garamond"/>
              </a:rPr>
              <a:t>3</a:t>
            </a:fld>
            <a:endParaRPr sz="1500" cap="small">
              <a:solidFill>
                <a:schemeClr val="lt1"/>
              </a:solidFill>
              <a:latin typeface="Garamond"/>
              <a:ea typeface="Garamond"/>
              <a:cs typeface="Garamond"/>
              <a:sym typeface="Garamond"/>
            </a:endParaRPr>
          </a:p>
        </p:txBody>
      </p:sp>
      <p:cxnSp>
        <p:nvCxnSpPr>
          <p:cNvPr id="128" name="Google Shape;128;g2b6e027a1db_8_19"/>
          <p:cNvCxnSpPr/>
          <p:nvPr/>
        </p:nvCxnSpPr>
        <p:spPr>
          <a:xfrm>
            <a:off x="11746228" y="6510872"/>
            <a:ext cx="0" cy="232500"/>
          </a:xfrm>
          <a:prstGeom prst="straightConnector1">
            <a:avLst/>
          </a:prstGeom>
          <a:noFill/>
          <a:ln w="9525" cap="flat" cmpd="sng">
            <a:solidFill>
              <a:schemeClr val="lt1"/>
            </a:solidFill>
            <a:prstDash val="solid"/>
            <a:miter lim="800000"/>
            <a:headEnd type="none" w="sm" len="sm"/>
            <a:tailEnd type="none" w="sm" len="sm"/>
          </a:ln>
        </p:spPr>
      </p:cxnSp>
      <p:sp>
        <p:nvSpPr>
          <p:cNvPr id="129" name="Google Shape;129;g2b6e027a1db_8_19"/>
          <p:cNvSpPr txBox="1">
            <a:spLocks noGrp="1"/>
          </p:cNvSpPr>
          <p:nvPr>
            <p:ph type="sldNum" idx="4294967295"/>
          </p:nvPr>
        </p:nvSpPr>
        <p:spPr>
          <a:xfrm>
            <a:off x="11520419" y="6466832"/>
            <a:ext cx="521100" cy="323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200"/>
              <a:buFont typeface="Arial"/>
              <a:buNone/>
            </a:pPr>
            <a:r>
              <a:rPr lang="en-US"/>
              <a:t>|  </a:t>
            </a:r>
            <a:fld id="{00000000-1234-1234-1234-123412341234}" type="slidenum">
              <a:rPr lang="en-US"/>
              <a:t>3</a:t>
            </a:fld>
            <a:endParaRPr/>
          </a:p>
        </p:txBody>
      </p:sp>
      <p:sp>
        <p:nvSpPr>
          <p:cNvPr id="130" name="Google Shape;130;g2b6e027a1db_8_19"/>
          <p:cNvSpPr/>
          <p:nvPr/>
        </p:nvSpPr>
        <p:spPr>
          <a:xfrm>
            <a:off x="-37950" y="3908122"/>
            <a:ext cx="12267900" cy="61500"/>
          </a:xfrm>
          <a:prstGeom prst="rect">
            <a:avLst/>
          </a:prstGeom>
          <a:solidFill>
            <a:srgbClr val="FFC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g2b6e027a1db_8_19"/>
          <p:cNvSpPr/>
          <p:nvPr/>
        </p:nvSpPr>
        <p:spPr>
          <a:xfrm>
            <a:off x="-37950" y="2888251"/>
            <a:ext cx="12267900" cy="1020000"/>
          </a:xfrm>
          <a:prstGeom prst="rect">
            <a:avLst/>
          </a:prstGeom>
          <a:solidFill>
            <a:srgbClr val="002060"/>
          </a:solidFill>
          <a:ln w="9525" cap="flat" cmpd="sng">
            <a:solidFill>
              <a:srgbClr val="233A4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 name="Google Shape;132;g2b6e027a1db_8_19"/>
          <p:cNvSpPr txBox="1"/>
          <p:nvPr/>
        </p:nvSpPr>
        <p:spPr>
          <a:xfrm>
            <a:off x="718260" y="2995299"/>
            <a:ext cx="8952000" cy="745500"/>
          </a:xfrm>
          <a:prstGeom prst="rect">
            <a:avLst/>
          </a:prstGeom>
          <a:noFill/>
          <a:ln>
            <a:noFill/>
          </a:ln>
        </p:spPr>
        <p:txBody>
          <a:bodyPr spcFirstLastPara="1" wrap="square" lIns="91425" tIns="91425" rIns="91425" bIns="91425" anchor="t" anchorCtr="0">
            <a:noAutofit/>
          </a:bodyPr>
          <a:lstStyle/>
          <a:p>
            <a:pPr marL="457200" marR="0" lvl="0" indent="-450850" algn="l" rtl="0">
              <a:lnSpc>
                <a:spcPct val="100000"/>
              </a:lnSpc>
              <a:spcBef>
                <a:spcPts val="0"/>
              </a:spcBef>
              <a:spcAft>
                <a:spcPts val="0"/>
              </a:spcAft>
              <a:buClr>
                <a:srgbClr val="FFFFFF"/>
              </a:buClr>
              <a:buSzPts val="3500"/>
              <a:buFont typeface="Garamond"/>
              <a:buAutoNum type="romanUcPeriod"/>
            </a:pPr>
            <a:r>
              <a:rPr lang="en-US" sz="3500" b="1" dirty="0">
                <a:solidFill>
                  <a:srgbClr val="FFFFFF"/>
                </a:solidFill>
                <a:latin typeface="Garamond"/>
                <a:ea typeface="Garamond"/>
                <a:cs typeface="Garamond"/>
                <a:sym typeface="Garamond"/>
              </a:rPr>
              <a:t> Target &amp; Industry Overviews</a:t>
            </a:r>
            <a:endParaRPr sz="3500" b="1" i="0" u="none" strike="noStrike" cap="none" dirty="0">
              <a:solidFill>
                <a:srgbClr val="FFFFFF"/>
              </a:solidFill>
              <a:latin typeface="Garamond"/>
              <a:ea typeface="Garamond"/>
              <a:cs typeface="Garamond"/>
              <a:sym typeface="Garamond"/>
            </a:endParaRPr>
          </a:p>
        </p:txBody>
      </p:sp>
      <p:pic>
        <p:nvPicPr>
          <p:cNvPr id="8" name="Picture 4" descr="SMCI - Super Micro Computer, Inc. Trademark Registration">
            <a:extLst>
              <a:ext uri="{FF2B5EF4-FFF2-40B4-BE49-F238E27FC236}">
                <a16:creationId xmlns:a16="http://schemas.microsoft.com/office/drawing/2014/main" id="{C8F3D625-C915-475F-9B18-2DB0BF26234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001" b="17593"/>
          <a:stretch/>
        </p:blipFill>
        <p:spPr bwMode="auto">
          <a:xfrm>
            <a:off x="10032470" y="64180"/>
            <a:ext cx="2009003" cy="54750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07EAEDA1-325A-45FE-B6A7-5DB640A93483}"/>
              </a:ext>
            </a:extLst>
          </p:cNvPr>
          <p:cNvPicPr>
            <a:picLocks noChangeAspect="1"/>
          </p:cNvPicPr>
          <p:nvPr/>
        </p:nvPicPr>
        <p:blipFill>
          <a:blip r:embed="rId4"/>
          <a:stretch>
            <a:fillRect/>
          </a:stretch>
        </p:blipFill>
        <p:spPr>
          <a:xfrm>
            <a:off x="10160006" y="6379320"/>
            <a:ext cx="1422710" cy="46484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3"/>
          <p:cNvSpPr/>
          <p:nvPr/>
        </p:nvSpPr>
        <p:spPr>
          <a:xfrm>
            <a:off x="1145042" y="6486133"/>
            <a:ext cx="1270500" cy="282000"/>
          </a:xfrm>
          <a:prstGeom prst="rect">
            <a:avLst/>
          </a:prstGeom>
          <a:solidFill>
            <a:srgbClr val="001746"/>
          </a:solidFill>
          <a:ln w="12700" cap="flat" cmpd="sng">
            <a:solidFill>
              <a:srgbClr val="00174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Company</a:t>
            </a:r>
            <a:endParaRPr sz="1400" b="0" i="0" u="none" strike="noStrike" cap="none">
              <a:solidFill>
                <a:schemeClr val="lt1"/>
              </a:solidFill>
              <a:latin typeface="Garamond"/>
              <a:ea typeface="Garamond"/>
              <a:cs typeface="Garamond"/>
              <a:sym typeface="Garamond"/>
            </a:endParaRPr>
          </a:p>
        </p:txBody>
      </p:sp>
      <p:sp>
        <p:nvSpPr>
          <p:cNvPr id="138" name="Google Shape;138;p3"/>
          <p:cNvSpPr/>
          <p:nvPr/>
        </p:nvSpPr>
        <p:spPr>
          <a:xfrm>
            <a:off x="2664119"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Industry</a:t>
            </a:r>
            <a:endParaRPr sz="1400" b="0" i="0" u="none" strike="noStrike" cap="none">
              <a:solidFill>
                <a:schemeClr val="lt1"/>
              </a:solidFill>
              <a:latin typeface="Garamond"/>
              <a:ea typeface="Garamond"/>
              <a:cs typeface="Garamond"/>
              <a:sym typeface="Garamond"/>
            </a:endParaRPr>
          </a:p>
        </p:txBody>
      </p:sp>
      <p:sp>
        <p:nvSpPr>
          <p:cNvPr id="139" name="Google Shape;139;p3"/>
          <p:cNvSpPr/>
          <p:nvPr/>
        </p:nvSpPr>
        <p:spPr>
          <a:xfrm>
            <a:off x="4183196"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Theses</a:t>
            </a:r>
            <a:endParaRPr sz="1400" b="0" i="0" u="none" strike="noStrike" cap="none">
              <a:solidFill>
                <a:schemeClr val="lt1"/>
              </a:solidFill>
              <a:latin typeface="Garamond"/>
              <a:ea typeface="Garamond"/>
              <a:cs typeface="Garamond"/>
              <a:sym typeface="Garamond"/>
            </a:endParaRPr>
          </a:p>
        </p:txBody>
      </p:sp>
      <p:sp>
        <p:nvSpPr>
          <p:cNvPr id="140" name="Google Shape;140;p3"/>
          <p:cNvSpPr/>
          <p:nvPr/>
        </p:nvSpPr>
        <p:spPr>
          <a:xfrm>
            <a:off x="7221349"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lt1"/>
                </a:solidFill>
                <a:latin typeface="Garamond"/>
                <a:ea typeface="Garamond"/>
                <a:cs typeface="Garamond"/>
                <a:sym typeface="Garamond"/>
              </a:rPr>
              <a:t>ESG</a:t>
            </a:r>
            <a:endParaRPr sz="1400" b="0" i="0" u="none" strike="noStrike" cap="none" dirty="0">
              <a:solidFill>
                <a:schemeClr val="lt1"/>
              </a:solidFill>
              <a:latin typeface="Garamond"/>
              <a:ea typeface="Garamond"/>
              <a:cs typeface="Garamond"/>
              <a:sym typeface="Garamond"/>
            </a:endParaRPr>
          </a:p>
        </p:txBody>
      </p:sp>
      <p:sp>
        <p:nvSpPr>
          <p:cNvPr id="141" name="Google Shape;141;p3"/>
          <p:cNvSpPr/>
          <p:nvPr/>
        </p:nvSpPr>
        <p:spPr>
          <a:xfrm>
            <a:off x="8740461"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Risks</a:t>
            </a:r>
            <a:endParaRPr sz="1400" b="0" i="0" u="none" strike="noStrike" cap="none">
              <a:solidFill>
                <a:schemeClr val="lt1"/>
              </a:solidFill>
              <a:latin typeface="Garamond"/>
              <a:ea typeface="Garamond"/>
              <a:cs typeface="Garamond"/>
              <a:sym typeface="Garamond"/>
            </a:endParaRPr>
          </a:p>
        </p:txBody>
      </p:sp>
      <p:sp>
        <p:nvSpPr>
          <p:cNvPr id="142" name="Google Shape;142;p3"/>
          <p:cNvSpPr txBox="1"/>
          <p:nvPr/>
        </p:nvSpPr>
        <p:spPr>
          <a:xfrm>
            <a:off x="194725" y="340138"/>
            <a:ext cx="8686800" cy="3657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3000"/>
              <a:buFont typeface="Arial"/>
              <a:buNone/>
            </a:pPr>
            <a:r>
              <a:rPr lang="en-US" sz="3000" b="1" cap="small" dirty="0">
                <a:solidFill>
                  <a:srgbClr val="3F3F3F"/>
                </a:solidFill>
                <a:latin typeface="Garamond"/>
                <a:ea typeface="Garamond"/>
                <a:cs typeface="Garamond"/>
                <a:sym typeface="Garamond"/>
              </a:rPr>
              <a:t>Company </a:t>
            </a:r>
            <a:r>
              <a:rPr lang="en-US" sz="3000" b="1" i="0" u="none" strike="noStrike" cap="small" dirty="0">
                <a:solidFill>
                  <a:srgbClr val="3F3F3F"/>
                </a:solidFill>
                <a:latin typeface="Garamond"/>
                <a:ea typeface="Garamond"/>
                <a:cs typeface="Garamond"/>
                <a:sym typeface="Garamond"/>
              </a:rPr>
              <a:t>Overview  </a:t>
            </a:r>
            <a:endParaRPr sz="3000" b="1" i="0" u="none" strike="noStrike" cap="small" dirty="0">
              <a:solidFill>
                <a:srgbClr val="3F3F3F"/>
              </a:solidFill>
              <a:latin typeface="Garamond"/>
              <a:ea typeface="Garamond"/>
              <a:cs typeface="Garamond"/>
              <a:sym typeface="Garamond"/>
            </a:endParaRPr>
          </a:p>
        </p:txBody>
      </p:sp>
      <p:sp>
        <p:nvSpPr>
          <p:cNvPr id="143" name="Google Shape;143;p3"/>
          <p:cNvSpPr txBox="1"/>
          <p:nvPr/>
        </p:nvSpPr>
        <p:spPr>
          <a:xfrm>
            <a:off x="121225" y="1535700"/>
            <a:ext cx="3757500" cy="1429500"/>
          </a:xfrm>
          <a:prstGeom prst="rect">
            <a:avLst/>
          </a:prstGeom>
          <a:noFill/>
          <a:ln>
            <a:noFill/>
          </a:ln>
        </p:spPr>
        <p:txBody>
          <a:bodyPr spcFirstLastPara="1" wrap="square" lIns="91425" tIns="45700" rIns="91425" bIns="45700" anchor="t" anchorCtr="0">
            <a:noAutofit/>
          </a:bodyPr>
          <a:lstStyle/>
          <a:p>
            <a:pPr marL="342900" indent="-342900">
              <a:spcAft>
                <a:spcPts val="600"/>
              </a:spcAft>
              <a:buSzPct val="100000"/>
              <a:buChar char="•"/>
            </a:pPr>
            <a:r>
              <a:rPr lang="en-US" dirty="0">
                <a:solidFill>
                  <a:srgbClr val="1D2939"/>
                </a:solidFill>
                <a:latin typeface="Garamond" pitchFamily="34" charset="0"/>
                <a:ea typeface="Garamond" pitchFamily="34" charset="-122"/>
                <a:cs typeface="Garamond" pitchFamily="34" charset="-120"/>
              </a:rPr>
              <a:t>Super Micro Computer (NASDAQ: SMCI) designs, manufactures, and sells high-performance server and storage solutions for AI/ML, cloud, enterprise, and edge workloads</a:t>
            </a:r>
            <a:endParaRPr lang="en-US" dirty="0"/>
          </a:p>
          <a:p>
            <a:pPr marL="342900" indent="-342900">
              <a:spcAft>
                <a:spcPts val="600"/>
              </a:spcAft>
              <a:buSzPct val="100000"/>
              <a:buChar char="•"/>
            </a:pPr>
            <a:r>
              <a:rPr lang="en-US" dirty="0">
                <a:solidFill>
                  <a:srgbClr val="1D2939"/>
                </a:solidFill>
                <a:latin typeface="Garamond" pitchFamily="34" charset="0"/>
                <a:ea typeface="Garamond" pitchFamily="34" charset="-122"/>
                <a:cs typeface="Garamond" pitchFamily="34" charset="-120"/>
              </a:rPr>
              <a:t>Founded in 1993 by Charles Liang (current CEO/Chairman) in San Jose, CA; vertically integrated with in-house motherboard design, chassis manufacturing, and system assembly</a:t>
            </a:r>
            <a:endParaRPr lang="en-US" dirty="0"/>
          </a:p>
          <a:p>
            <a:pPr marL="342900" indent="-342900">
              <a:spcAft>
                <a:spcPts val="600"/>
              </a:spcAft>
              <a:buSzPct val="100000"/>
              <a:buChar char="•"/>
            </a:pPr>
            <a:r>
              <a:rPr lang="en-US" dirty="0">
                <a:solidFill>
                  <a:srgbClr val="1D2939"/>
                </a:solidFill>
                <a:latin typeface="Garamond" pitchFamily="34" charset="0"/>
                <a:ea typeface="Garamond" pitchFamily="34" charset="-122"/>
                <a:cs typeface="Garamond" pitchFamily="34" charset="-120"/>
              </a:rPr>
              <a:t>Fastest-growing server OEM globally, riding unprecedented AI infrastructure demand to $40B+ in projected FY2026 revenue</a:t>
            </a:r>
            <a:endParaRPr lang="en-US" dirty="0"/>
          </a:p>
          <a:p>
            <a:pPr marL="342900" indent="-342900">
              <a:spcAft>
                <a:spcPts val="600"/>
              </a:spcAft>
              <a:buSzPct val="100000"/>
              <a:buChar char="•"/>
            </a:pPr>
            <a:r>
              <a:rPr lang="en-US" dirty="0">
                <a:solidFill>
                  <a:srgbClr val="1D2939"/>
                </a:solidFill>
                <a:latin typeface="Garamond" pitchFamily="34" charset="0"/>
                <a:ea typeface="Garamond" pitchFamily="34" charset="-122"/>
                <a:cs typeface="Garamond" pitchFamily="34" charset="-120"/>
              </a:rPr>
              <a:t>"Building Block Solutions" modular architecture enables rapid customization at scale with 6-12 week time-to-market vs. 6-12 months for Dell/HPE</a:t>
            </a:r>
            <a:endParaRPr lang="en-US" dirty="0"/>
          </a:p>
          <a:p>
            <a:pPr marL="342900" indent="-342900">
              <a:spcAft>
                <a:spcPts val="600"/>
              </a:spcAft>
              <a:buSzPct val="100000"/>
              <a:buChar char="•"/>
            </a:pPr>
            <a:r>
              <a:rPr lang="en-US" dirty="0">
                <a:solidFill>
                  <a:srgbClr val="1D2939"/>
                </a:solidFill>
                <a:latin typeface="Garamond" pitchFamily="34" charset="0"/>
                <a:ea typeface="Garamond" pitchFamily="34" charset="-122"/>
                <a:cs typeface="Garamond" pitchFamily="34" charset="-120"/>
              </a:rPr>
              <a:t>Industry leader in Direct Liquid Cooling (DLC) rack-scale solutions, the fastest-growing product line as GPU power densities make air cooling inadequate</a:t>
            </a:r>
            <a:endParaRPr lang="en-US" dirty="0"/>
          </a:p>
        </p:txBody>
      </p:sp>
      <p:sp>
        <p:nvSpPr>
          <p:cNvPr id="144" name="Google Shape;144;p3"/>
          <p:cNvSpPr txBox="1"/>
          <p:nvPr/>
        </p:nvSpPr>
        <p:spPr>
          <a:xfrm>
            <a:off x="7018932" y="3568050"/>
            <a:ext cx="23478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200" b="0" i="0" u="none" strike="noStrike" cap="none">
              <a:solidFill>
                <a:srgbClr val="000000"/>
              </a:solidFill>
              <a:latin typeface="Garamond"/>
              <a:ea typeface="Garamond"/>
              <a:cs typeface="Garamond"/>
              <a:sym typeface="Garamond"/>
            </a:endParaRPr>
          </a:p>
        </p:txBody>
      </p:sp>
      <p:sp>
        <p:nvSpPr>
          <p:cNvPr id="145" name="Google Shape;145;p3"/>
          <p:cNvSpPr txBox="1"/>
          <p:nvPr/>
        </p:nvSpPr>
        <p:spPr>
          <a:xfrm>
            <a:off x="7902025" y="1535700"/>
            <a:ext cx="3757500" cy="2427300"/>
          </a:xfrm>
          <a:prstGeom prst="rect">
            <a:avLst/>
          </a:prstGeom>
          <a:noFill/>
          <a:ln>
            <a:noFill/>
          </a:ln>
        </p:spPr>
        <p:txBody>
          <a:bodyPr spcFirstLastPara="1" wrap="square" lIns="91425" tIns="45700" rIns="91425" bIns="45700" anchor="t" anchorCtr="0">
            <a:noAutofit/>
          </a:bodyPr>
          <a:lstStyle/>
          <a:p>
            <a:pPr marL="342900" indent="-342900">
              <a:spcAft>
                <a:spcPts val="600"/>
              </a:spcAft>
              <a:buSzPct val="100000"/>
              <a:buChar char="•"/>
            </a:pPr>
            <a:r>
              <a:rPr lang="en-US" b="1" dirty="0">
                <a:solidFill>
                  <a:srgbClr val="1D2939"/>
                </a:solidFill>
                <a:latin typeface="Garamond" pitchFamily="34" charset="0"/>
                <a:ea typeface="Garamond" pitchFamily="34" charset="-122"/>
                <a:cs typeface="Garamond" pitchFamily="34" charset="-120"/>
              </a:rPr>
              <a:t>Server &amp; Storage Systems: ~80% of revenue</a:t>
            </a:r>
            <a:endParaRPr lang="en-US" dirty="0"/>
          </a:p>
          <a:p>
            <a:pPr marL="342900" indent="-342900">
              <a:spcAft>
                <a:spcPts val="600"/>
              </a:spcAft>
              <a:buSzPct val="100000"/>
              <a:buChar char="•"/>
            </a:pPr>
            <a:r>
              <a:rPr lang="en-US" b="1" dirty="0">
                <a:solidFill>
                  <a:srgbClr val="1D2939"/>
                </a:solidFill>
                <a:latin typeface="Garamond" pitchFamily="34" charset="0"/>
                <a:ea typeface="Garamond" pitchFamily="34" charset="-122"/>
                <a:cs typeface="Garamond" pitchFamily="34" charset="-120"/>
              </a:rPr>
              <a:t>Subsystems &amp; Accessories: ~12%</a:t>
            </a:r>
            <a:endParaRPr lang="en-US" dirty="0"/>
          </a:p>
          <a:p>
            <a:pPr marL="342900" indent="-342900">
              <a:spcAft>
                <a:spcPts val="600"/>
              </a:spcAft>
              <a:buSzPct val="100000"/>
              <a:buChar char="•"/>
            </a:pPr>
            <a:r>
              <a:rPr lang="en-US" b="1" dirty="0">
                <a:solidFill>
                  <a:srgbClr val="1D2939"/>
                </a:solidFill>
                <a:latin typeface="Garamond" pitchFamily="34" charset="0"/>
                <a:ea typeface="Garamond" pitchFamily="34" charset="-122"/>
                <a:cs typeface="Garamond" pitchFamily="34" charset="-120"/>
              </a:rPr>
              <a:t>Services &amp; Other: ~8%</a:t>
            </a:r>
            <a:endParaRPr lang="en-US" dirty="0"/>
          </a:p>
          <a:p>
            <a:pPr marL="342900" indent="-342900">
              <a:spcAft>
                <a:spcPts val="600"/>
              </a:spcAft>
              <a:buSzPct val="100000"/>
              <a:buChar char="•"/>
            </a:pPr>
            <a:r>
              <a:rPr lang="en-US" dirty="0">
                <a:solidFill>
                  <a:srgbClr val="1D2939"/>
                </a:solidFill>
                <a:latin typeface="Garamond" pitchFamily="34" charset="0"/>
                <a:ea typeface="Garamond" pitchFamily="34" charset="-122"/>
                <a:cs typeface="Garamond" pitchFamily="34" charset="-120"/>
              </a:rPr>
              <a:t>Geography: ~50% US, ~33% APAC, ~13% Europe, ~4% </a:t>
            </a:r>
            <a:r>
              <a:rPr lang="en-US" dirty="0" err="1">
                <a:solidFill>
                  <a:srgbClr val="1D2939"/>
                </a:solidFill>
                <a:latin typeface="Garamond" pitchFamily="34" charset="0"/>
                <a:ea typeface="Garamond" pitchFamily="34" charset="-122"/>
                <a:cs typeface="Garamond" pitchFamily="34" charset="-120"/>
              </a:rPr>
              <a:t>RoW</a:t>
            </a:r>
            <a:endParaRPr lang="en-US" dirty="0"/>
          </a:p>
          <a:p>
            <a:pPr marL="342900" indent="-342900">
              <a:spcAft>
                <a:spcPts val="600"/>
              </a:spcAft>
              <a:buSzPct val="100000"/>
              <a:buChar char="•"/>
            </a:pPr>
            <a:r>
              <a:rPr lang="en-US" dirty="0">
                <a:solidFill>
                  <a:schemeClr val="tx1"/>
                </a:solidFill>
                <a:latin typeface="Garamond" pitchFamily="34" charset="0"/>
                <a:ea typeface="Garamond" pitchFamily="34" charset="-122"/>
                <a:cs typeface="Garamond" pitchFamily="34" charset="-120"/>
              </a:rPr>
              <a:t>Customer mix: ~55-65% Hyperscale/Cloud, ~25-30% Enterprise, ~5-10% Government</a:t>
            </a:r>
            <a:endParaRPr lang="en-US" dirty="0">
              <a:solidFill>
                <a:schemeClr val="tx1"/>
              </a:solidFill>
            </a:endParaRPr>
          </a:p>
          <a:p>
            <a:pPr marL="342900" indent="-342900">
              <a:spcAft>
                <a:spcPts val="600"/>
              </a:spcAft>
              <a:buSzPct val="100000"/>
              <a:buChar char="•"/>
            </a:pPr>
            <a:r>
              <a:rPr lang="en-US" b="1" dirty="0">
                <a:solidFill>
                  <a:schemeClr val="tx1"/>
                </a:solidFill>
                <a:latin typeface="Garamond" pitchFamily="34" charset="0"/>
                <a:ea typeface="Garamond" pitchFamily="34" charset="-122"/>
                <a:cs typeface="Garamond" pitchFamily="34" charset="-120"/>
              </a:rPr>
              <a:t>Critical: One customer = ~63% of Q2 FY2026 revenue, indicating extreme concentration risk</a:t>
            </a:r>
            <a:endParaRPr lang="en-US" dirty="0">
              <a:solidFill>
                <a:schemeClr val="tx1"/>
              </a:solidFill>
            </a:endParaRPr>
          </a:p>
        </p:txBody>
      </p:sp>
      <p:sp>
        <p:nvSpPr>
          <p:cNvPr id="146" name="Google Shape;146;p3"/>
          <p:cNvSpPr txBox="1"/>
          <p:nvPr/>
        </p:nvSpPr>
        <p:spPr>
          <a:xfrm>
            <a:off x="3960475" y="1533875"/>
            <a:ext cx="3757500" cy="4308842"/>
          </a:xfrm>
          <a:prstGeom prst="rect">
            <a:avLst/>
          </a:prstGeom>
          <a:noFill/>
          <a:ln>
            <a:noFill/>
          </a:ln>
        </p:spPr>
        <p:txBody>
          <a:bodyPr spcFirstLastPara="1" wrap="square" lIns="91425" tIns="91425" rIns="91425" bIns="91425" anchor="t" anchorCtr="0">
            <a:spAutoFit/>
          </a:bodyPr>
          <a:lstStyle/>
          <a:p>
            <a:pPr marL="342900" indent="-342900">
              <a:spcAft>
                <a:spcPts val="600"/>
              </a:spcAft>
              <a:buSzPct val="100000"/>
              <a:buChar char="•"/>
            </a:pPr>
            <a:r>
              <a:rPr lang="en-US" b="1" dirty="0">
                <a:solidFill>
                  <a:srgbClr val="1D2939"/>
                </a:solidFill>
                <a:latin typeface="Garamond" pitchFamily="34" charset="0"/>
                <a:ea typeface="Garamond" pitchFamily="34" charset="-122"/>
                <a:cs typeface="Garamond" pitchFamily="34" charset="-120"/>
              </a:rPr>
              <a:t>Current EV: ~$19.1B | Market Cap: ~$18.3B</a:t>
            </a:r>
            <a:endParaRPr lang="en-US" dirty="0"/>
          </a:p>
          <a:p>
            <a:pPr marL="342900" indent="-342900">
              <a:spcAft>
                <a:spcPts val="600"/>
              </a:spcAft>
              <a:buSzPct val="100000"/>
              <a:buChar char="•"/>
            </a:pPr>
            <a:r>
              <a:rPr lang="en-US" dirty="0">
                <a:solidFill>
                  <a:srgbClr val="1D2939"/>
                </a:solidFill>
                <a:latin typeface="Garamond" pitchFamily="34" charset="0"/>
                <a:ea typeface="Garamond" pitchFamily="34" charset="-122"/>
                <a:cs typeface="Garamond" pitchFamily="34" charset="-120"/>
              </a:rPr>
              <a:t>Q2 FY2026: Record $12.7B quarterly revenue (+123% YoY); FY2026 guidance raised to $40B+</a:t>
            </a:r>
            <a:endParaRPr lang="en-US" dirty="0"/>
          </a:p>
          <a:p>
            <a:pPr marL="342900" indent="-342900">
              <a:spcAft>
                <a:spcPts val="600"/>
              </a:spcAft>
              <a:buSzPct val="100000"/>
              <a:buChar char="•"/>
            </a:pPr>
            <a:r>
              <a:rPr lang="en-US" dirty="0">
                <a:solidFill>
                  <a:srgbClr val="1D2939"/>
                </a:solidFill>
                <a:latin typeface="Garamond" pitchFamily="34" charset="0"/>
                <a:ea typeface="Garamond" pitchFamily="34" charset="-122"/>
                <a:cs typeface="Garamond" pitchFamily="34" charset="-120"/>
              </a:rPr>
              <a:t>$13B+ Blackwell Ultra backlog provides 3+ quarters of forward revenue visibility</a:t>
            </a:r>
            <a:endParaRPr lang="en-US" dirty="0"/>
          </a:p>
          <a:p>
            <a:pPr marL="342900" indent="-342900">
              <a:spcAft>
                <a:spcPts val="600"/>
              </a:spcAft>
              <a:buSzPct val="100000"/>
              <a:buChar char="•"/>
            </a:pPr>
            <a:r>
              <a:rPr lang="en-US" dirty="0">
                <a:solidFill>
                  <a:srgbClr val="1D2939"/>
                </a:solidFill>
                <a:latin typeface="Garamond" pitchFamily="34" charset="0"/>
                <a:ea typeface="Garamond" pitchFamily="34" charset="-122"/>
                <a:cs typeface="Garamond" pitchFamily="34" charset="-120"/>
              </a:rPr>
              <a:t>Gross margin concern: Collapsed from 18.0% (FY2023) to 6.3% (Q2 FY2026), approaching ODM-level profitability</a:t>
            </a:r>
            <a:endParaRPr lang="en-US" dirty="0"/>
          </a:p>
          <a:p>
            <a:pPr marL="342900" indent="-342900">
              <a:spcAft>
                <a:spcPts val="600"/>
              </a:spcAft>
              <a:buSzPct val="100000"/>
              <a:buChar char="•"/>
            </a:pPr>
            <a:r>
              <a:rPr lang="en-US" dirty="0">
                <a:solidFill>
                  <a:srgbClr val="1D2939"/>
                </a:solidFill>
                <a:latin typeface="Garamond" pitchFamily="34" charset="0"/>
                <a:ea typeface="Garamond" pitchFamily="34" charset="-122"/>
                <a:cs typeface="Garamond" pitchFamily="34" charset="-120"/>
              </a:rPr>
              <a:t>Governance overhang: EY auditor resigned Oct 2024; BDO issued adverse opinion on internal controls; DOJ/SEC investigations ongoing</a:t>
            </a:r>
            <a:endParaRPr lang="en-US" dirty="0"/>
          </a:p>
          <a:p>
            <a:pPr marL="342900" indent="-342900">
              <a:spcAft>
                <a:spcPts val="600"/>
              </a:spcAft>
              <a:buSzPct val="100000"/>
              <a:buChar char="•"/>
            </a:pPr>
            <a:r>
              <a:rPr lang="en-US" dirty="0">
                <a:solidFill>
                  <a:srgbClr val="1D2939"/>
                </a:solidFill>
                <a:latin typeface="Garamond" pitchFamily="34" charset="0"/>
                <a:ea typeface="Garamond" pitchFamily="34" charset="-122"/>
                <a:cs typeface="Garamond" pitchFamily="34" charset="-120"/>
              </a:rPr>
              <a:t>FCF turned negative (-$950M in Q1 FY2026) due to $6B+ inventory buildup to support backlog</a:t>
            </a:r>
            <a:endParaRPr lang="en-US" dirty="0"/>
          </a:p>
        </p:txBody>
      </p:sp>
      <p:cxnSp>
        <p:nvCxnSpPr>
          <p:cNvPr id="148" name="Google Shape;148;p3"/>
          <p:cNvCxnSpPr/>
          <p:nvPr/>
        </p:nvCxnSpPr>
        <p:spPr>
          <a:xfrm>
            <a:off x="270932" y="711202"/>
            <a:ext cx="11633100" cy="0"/>
          </a:xfrm>
          <a:prstGeom prst="straightConnector1">
            <a:avLst/>
          </a:prstGeom>
          <a:noFill/>
          <a:ln w="9525" cap="flat" cmpd="sng">
            <a:solidFill>
              <a:srgbClr val="001746"/>
            </a:solidFill>
            <a:prstDash val="solid"/>
            <a:miter lim="800000"/>
            <a:headEnd type="none" w="sm" len="sm"/>
            <a:tailEnd type="none" w="sm" len="sm"/>
          </a:ln>
        </p:spPr>
      </p:cxnSp>
      <p:sp>
        <p:nvSpPr>
          <p:cNvPr id="149" name="Google Shape;149;p3"/>
          <p:cNvSpPr/>
          <p:nvPr/>
        </p:nvSpPr>
        <p:spPr>
          <a:xfrm>
            <a:off x="5702272"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lt1"/>
                </a:solidFill>
                <a:latin typeface="Garamond"/>
                <a:ea typeface="Garamond"/>
                <a:cs typeface="Garamond"/>
                <a:sym typeface="Garamond"/>
              </a:rPr>
              <a:t>Valuation</a:t>
            </a:r>
            <a:endParaRPr sz="1400" b="0" i="0" u="none" strike="noStrike" cap="none" dirty="0">
              <a:solidFill>
                <a:schemeClr val="lt1"/>
              </a:solidFill>
              <a:latin typeface="Garamond"/>
              <a:ea typeface="Garamond"/>
              <a:cs typeface="Garamond"/>
              <a:sym typeface="Garamond"/>
            </a:endParaRPr>
          </a:p>
        </p:txBody>
      </p:sp>
      <p:sp>
        <p:nvSpPr>
          <p:cNvPr id="150" name="Google Shape;150;p3"/>
          <p:cNvSpPr txBox="1">
            <a:spLocks noGrp="1"/>
          </p:cNvSpPr>
          <p:nvPr>
            <p:ph type="sldNum" idx="4294967295"/>
          </p:nvPr>
        </p:nvSpPr>
        <p:spPr>
          <a:xfrm>
            <a:off x="11520419" y="6466832"/>
            <a:ext cx="521100" cy="323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200"/>
              <a:buFont typeface="Arial"/>
              <a:buNone/>
            </a:pPr>
            <a:r>
              <a:rPr lang="en-US"/>
              <a:t>|  </a:t>
            </a:r>
            <a:fld id="{00000000-1234-1234-1234-123412341234}" type="slidenum">
              <a:rPr lang="en-US"/>
              <a:t>4</a:t>
            </a:fld>
            <a:endParaRPr/>
          </a:p>
        </p:txBody>
      </p:sp>
      <p:sp>
        <p:nvSpPr>
          <p:cNvPr id="151" name="Google Shape;151;p3"/>
          <p:cNvSpPr txBox="1"/>
          <p:nvPr/>
        </p:nvSpPr>
        <p:spPr>
          <a:xfrm>
            <a:off x="270925" y="992675"/>
            <a:ext cx="3564000" cy="365700"/>
          </a:xfrm>
          <a:prstGeom prst="rect">
            <a:avLst/>
          </a:prstGeom>
          <a:solidFill>
            <a:srgbClr val="002060"/>
          </a:solidFill>
          <a:ln w="9525" cap="flat" cmpd="sng">
            <a:solidFill>
              <a:srgbClr val="041E4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1">
                <a:solidFill>
                  <a:srgbClr val="FFFFFF"/>
                </a:solidFill>
                <a:latin typeface="Garamond"/>
                <a:ea typeface="Garamond"/>
                <a:cs typeface="Garamond"/>
                <a:sym typeface="Garamond"/>
              </a:rPr>
              <a:t>Background</a:t>
            </a:r>
            <a:endParaRPr sz="1600" b="1">
              <a:solidFill>
                <a:srgbClr val="FFFFFF"/>
              </a:solidFill>
              <a:latin typeface="Garamond"/>
              <a:ea typeface="Garamond"/>
              <a:cs typeface="Garamond"/>
              <a:sym typeface="Garamond"/>
            </a:endParaRPr>
          </a:p>
        </p:txBody>
      </p:sp>
      <p:sp>
        <p:nvSpPr>
          <p:cNvPr id="152" name="Google Shape;152;p3"/>
          <p:cNvSpPr txBox="1"/>
          <p:nvPr/>
        </p:nvSpPr>
        <p:spPr>
          <a:xfrm>
            <a:off x="4183200" y="992675"/>
            <a:ext cx="3564000" cy="365700"/>
          </a:xfrm>
          <a:prstGeom prst="rect">
            <a:avLst/>
          </a:prstGeom>
          <a:solidFill>
            <a:srgbClr val="002060"/>
          </a:solidFill>
          <a:ln w="9525" cap="flat" cmpd="sng">
            <a:solidFill>
              <a:srgbClr val="041E4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1">
                <a:solidFill>
                  <a:srgbClr val="FFFFFF"/>
                </a:solidFill>
                <a:latin typeface="Garamond"/>
                <a:ea typeface="Garamond"/>
                <a:cs typeface="Garamond"/>
                <a:sym typeface="Garamond"/>
              </a:rPr>
              <a:t>Company Health</a:t>
            </a:r>
            <a:endParaRPr sz="1600" b="1">
              <a:solidFill>
                <a:srgbClr val="FFFFFF"/>
              </a:solidFill>
              <a:latin typeface="Garamond"/>
              <a:ea typeface="Garamond"/>
              <a:cs typeface="Garamond"/>
              <a:sym typeface="Garamond"/>
            </a:endParaRPr>
          </a:p>
        </p:txBody>
      </p:sp>
      <p:sp>
        <p:nvSpPr>
          <p:cNvPr id="153" name="Google Shape;153;p3"/>
          <p:cNvSpPr txBox="1"/>
          <p:nvPr/>
        </p:nvSpPr>
        <p:spPr>
          <a:xfrm>
            <a:off x="8095475" y="992675"/>
            <a:ext cx="3564000" cy="365700"/>
          </a:xfrm>
          <a:prstGeom prst="rect">
            <a:avLst/>
          </a:prstGeom>
          <a:solidFill>
            <a:srgbClr val="002060"/>
          </a:solidFill>
          <a:ln w="9525" cap="flat" cmpd="sng">
            <a:solidFill>
              <a:srgbClr val="041E4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1">
                <a:solidFill>
                  <a:srgbClr val="FFFFFF"/>
                </a:solidFill>
                <a:latin typeface="Garamond"/>
                <a:ea typeface="Garamond"/>
                <a:cs typeface="Garamond"/>
                <a:sym typeface="Garamond"/>
              </a:rPr>
              <a:t>Revenue Streams</a:t>
            </a:r>
            <a:endParaRPr sz="1600" b="1">
              <a:solidFill>
                <a:srgbClr val="FFFFFF"/>
              </a:solidFill>
              <a:latin typeface="Garamond"/>
              <a:ea typeface="Garamond"/>
              <a:cs typeface="Garamond"/>
              <a:sym typeface="Garamond"/>
            </a:endParaRPr>
          </a:p>
        </p:txBody>
      </p:sp>
      <p:pic>
        <p:nvPicPr>
          <p:cNvPr id="19" name="Picture 4" descr="SMCI - Super Micro Computer, Inc. Trademark Registration">
            <a:extLst>
              <a:ext uri="{FF2B5EF4-FFF2-40B4-BE49-F238E27FC236}">
                <a16:creationId xmlns:a16="http://schemas.microsoft.com/office/drawing/2014/main" id="{804F6BC1-7981-41AB-B00C-EF268C96D0B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001" b="17593"/>
          <a:stretch/>
        </p:blipFill>
        <p:spPr bwMode="auto">
          <a:xfrm>
            <a:off x="10032470" y="64180"/>
            <a:ext cx="2009003" cy="547501"/>
          </a:xfrm>
          <a:prstGeom prst="rect">
            <a:avLst/>
          </a:prstGeom>
          <a:noFill/>
          <a:extLst>
            <a:ext uri="{909E8E84-426E-40DD-AFC4-6F175D3DCCD1}">
              <a14:hiddenFill xmlns:a14="http://schemas.microsoft.com/office/drawing/2010/main">
                <a:solidFill>
                  <a:srgbClr val="FFFFFF"/>
                </a:solidFill>
              </a14:hiddenFill>
            </a:ext>
          </a:extLst>
        </p:spPr>
      </p:pic>
      <p:pic>
        <p:nvPicPr>
          <p:cNvPr id="21506" name="Picture 2">
            <a:extLst>
              <a:ext uri="{FF2B5EF4-FFF2-40B4-BE49-F238E27FC236}">
                <a16:creationId xmlns:a16="http://schemas.microsoft.com/office/drawing/2014/main" id="{75C14E42-EA71-4201-A842-92FE9DB2E2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14431" y="4406485"/>
            <a:ext cx="2726087" cy="1740313"/>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28761D3F-E893-4166-A264-2CB30B0A78DD}"/>
              </a:ext>
            </a:extLst>
          </p:cNvPr>
          <p:cNvPicPr>
            <a:picLocks noChangeAspect="1"/>
          </p:cNvPicPr>
          <p:nvPr/>
        </p:nvPicPr>
        <p:blipFill>
          <a:blip r:embed="rId5"/>
          <a:stretch>
            <a:fillRect/>
          </a:stretch>
        </p:blipFill>
        <p:spPr>
          <a:xfrm>
            <a:off x="10160006" y="6379320"/>
            <a:ext cx="1422710" cy="46484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5"/>
          <p:cNvSpPr txBox="1"/>
          <p:nvPr/>
        </p:nvSpPr>
        <p:spPr>
          <a:xfrm>
            <a:off x="228600" y="350838"/>
            <a:ext cx="8686800" cy="3657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3000"/>
              <a:buFont typeface="Arial"/>
              <a:buNone/>
            </a:pPr>
            <a:r>
              <a:rPr lang="en-US" sz="3000" b="1" i="0" u="none" strike="noStrike" cap="small" dirty="0">
                <a:solidFill>
                  <a:srgbClr val="3F3F3F"/>
                </a:solidFill>
                <a:latin typeface="Garamond"/>
                <a:ea typeface="Garamond"/>
                <a:cs typeface="Garamond"/>
                <a:sym typeface="Garamond"/>
              </a:rPr>
              <a:t>Industry Overview  </a:t>
            </a:r>
            <a:endParaRPr sz="3000" b="1" i="0" u="none" strike="noStrike" cap="small" dirty="0">
              <a:solidFill>
                <a:srgbClr val="3F3F3F"/>
              </a:solidFill>
              <a:latin typeface="Garamond"/>
              <a:ea typeface="Garamond"/>
              <a:cs typeface="Garamond"/>
              <a:sym typeface="Garamond"/>
            </a:endParaRPr>
          </a:p>
        </p:txBody>
      </p:sp>
      <p:sp>
        <p:nvSpPr>
          <p:cNvPr id="160" name="Google Shape;160;p5"/>
          <p:cNvSpPr txBox="1"/>
          <p:nvPr/>
        </p:nvSpPr>
        <p:spPr>
          <a:xfrm>
            <a:off x="1030275" y="1433826"/>
            <a:ext cx="4926000" cy="4755118"/>
          </a:xfrm>
          <a:prstGeom prst="rect">
            <a:avLst/>
          </a:prstGeom>
          <a:noFill/>
          <a:ln>
            <a:noFill/>
          </a:ln>
        </p:spPr>
        <p:txBody>
          <a:bodyPr spcFirstLastPara="1" wrap="square" lIns="91425" tIns="91425" rIns="91425" bIns="91425" anchor="t" anchorCtr="0">
            <a:spAutoFit/>
          </a:bodyPr>
          <a:lstStyle/>
          <a:p>
            <a:pPr marL="342900" indent="-342900">
              <a:spcAft>
                <a:spcPts val="600"/>
              </a:spcAft>
              <a:buSzPct val="100000"/>
              <a:buChar char="•"/>
            </a:pPr>
            <a:r>
              <a:rPr lang="en-US" sz="1600" dirty="0">
                <a:solidFill>
                  <a:srgbClr val="1D2939"/>
                </a:solidFill>
                <a:latin typeface="Garamond" pitchFamily="34" charset="0"/>
                <a:ea typeface="Garamond" pitchFamily="34" charset="-122"/>
                <a:cs typeface="Garamond" pitchFamily="34" charset="-120"/>
              </a:rPr>
              <a:t>Global AI server TAM projected to grow from ~$125B (2024) to $400B+ (2028) at ~34% CAGR, driven by LLM training, enterprise AI deployment, and sovereign AI initiatives</a:t>
            </a:r>
            <a:endParaRPr lang="en-US" sz="1600" dirty="0"/>
          </a:p>
          <a:p>
            <a:pPr marL="342900" indent="-342900">
              <a:spcAft>
                <a:spcPts val="600"/>
              </a:spcAft>
              <a:buSzPct val="100000"/>
              <a:buChar char="•"/>
            </a:pPr>
            <a:r>
              <a:rPr lang="en-US" sz="1600" dirty="0">
                <a:solidFill>
                  <a:srgbClr val="1D2939"/>
                </a:solidFill>
                <a:latin typeface="Garamond" pitchFamily="34" charset="0"/>
                <a:ea typeface="Garamond" pitchFamily="34" charset="-122"/>
                <a:cs typeface="Garamond" pitchFamily="34" charset="-120"/>
              </a:rPr>
              <a:t>Liquid cooling solutions are the fastest-growing sub-segment: ~$5B (2024) to ~$25B (2028) at ~50% CAGR as power densities exceed 100kW/rack</a:t>
            </a:r>
            <a:endParaRPr lang="en-US" sz="1600" dirty="0"/>
          </a:p>
          <a:p>
            <a:pPr marL="342900" indent="-342900">
              <a:spcAft>
                <a:spcPts val="600"/>
              </a:spcAft>
              <a:buSzPct val="100000"/>
              <a:buChar char="•"/>
            </a:pPr>
            <a:r>
              <a:rPr lang="en-US" sz="1600" dirty="0">
                <a:solidFill>
                  <a:srgbClr val="1D2939"/>
                </a:solidFill>
                <a:latin typeface="Garamond" pitchFamily="34" charset="0"/>
                <a:ea typeface="Garamond" pitchFamily="34" charset="-122"/>
                <a:cs typeface="Garamond" pitchFamily="34" charset="-120"/>
              </a:rPr>
              <a:t>NVIDIA GPU roadmap (H100 to H200 to B200 to GB200 NVL72) drives sustained upgrade demand; each generation increases rack power from ~40kW to ~120kW</a:t>
            </a:r>
            <a:endParaRPr lang="en-US" sz="1600" dirty="0"/>
          </a:p>
          <a:p>
            <a:pPr marL="342900" indent="-342900">
              <a:spcAft>
                <a:spcPts val="600"/>
              </a:spcAft>
              <a:buSzPct val="100000"/>
              <a:buChar char="•"/>
            </a:pPr>
            <a:r>
              <a:rPr lang="en-US" sz="1600" dirty="0">
                <a:solidFill>
                  <a:srgbClr val="1D2939"/>
                </a:solidFill>
                <a:latin typeface="Garamond" pitchFamily="34" charset="0"/>
                <a:ea typeface="Garamond" pitchFamily="34" charset="-122"/>
                <a:cs typeface="Garamond" pitchFamily="34" charset="-120"/>
              </a:rPr>
              <a:t>AI server market set to grow 55% in 2025 alone to ~$252B (Bloomberg Intelligence); </a:t>
            </a:r>
            <a:r>
              <a:rPr lang="en-US" sz="1600" dirty="0" err="1">
                <a:solidFill>
                  <a:srgbClr val="1D2939"/>
                </a:solidFill>
                <a:latin typeface="Garamond" pitchFamily="34" charset="0"/>
                <a:ea typeface="Garamond" pitchFamily="34" charset="-122"/>
                <a:cs typeface="Garamond" pitchFamily="34" charset="-120"/>
              </a:rPr>
              <a:t>hyperscaler</a:t>
            </a:r>
            <a:r>
              <a:rPr lang="en-US" sz="1600" dirty="0">
                <a:solidFill>
                  <a:srgbClr val="1D2939"/>
                </a:solidFill>
                <a:latin typeface="Garamond" pitchFamily="34" charset="0"/>
                <a:ea typeface="Garamond" pitchFamily="34" charset="-122"/>
                <a:cs typeface="Garamond" pitchFamily="34" charset="-120"/>
              </a:rPr>
              <a:t> capex budgets continuing to expand</a:t>
            </a:r>
            <a:endParaRPr lang="en-US" sz="1600" dirty="0"/>
          </a:p>
          <a:p>
            <a:pPr marL="342900" indent="-342900">
              <a:spcAft>
                <a:spcPts val="600"/>
              </a:spcAft>
              <a:buSzPct val="100000"/>
              <a:buChar char="•"/>
            </a:pPr>
            <a:r>
              <a:rPr lang="en-US" sz="1600" dirty="0">
                <a:solidFill>
                  <a:srgbClr val="1D2939"/>
                </a:solidFill>
                <a:latin typeface="Garamond" pitchFamily="34" charset="0"/>
                <a:ea typeface="Garamond" pitchFamily="34" charset="-122"/>
                <a:cs typeface="Garamond" pitchFamily="34" charset="-120"/>
              </a:rPr>
              <a:t>GPT-5 class models require 10x+ the compute of GPT-4; AI inference workloads projected to exceed training by 2027</a:t>
            </a:r>
            <a:endParaRPr lang="en-US" sz="1600" dirty="0"/>
          </a:p>
        </p:txBody>
      </p:sp>
      <p:sp>
        <p:nvSpPr>
          <p:cNvPr id="161" name="Google Shape;161;p5"/>
          <p:cNvSpPr txBox="1"/>
          <p:nvPr/>
        </p:nvSpPr>
        <p:spPr>
          <a:xfrm>
            <a:off x="6201624" y="1428463"/>
            <a:ext cx="4926000" cy="2903329"/>
          </a:xfrm>
          <a:prstGeom prst="rect">
            <a:avLst/>
          </a:prstGeom>
          <a:noFill/>
          <a:ln>
            <a:noFill/>
          </a:ln>
        </p:spPr>
        <p:txBody>
          <a:bodyPr spcFirstLastPara="1" wrap="square" lIns="91425" tIns="91425" rIns="91425" bIns="91425" anchor="t" anchorCtr="0">
            <a:spAutoFit/>
          </a:bodyPr>
          <a:lstStyle/>
          <a:p>
            <a:pPr marL="342900" indent="-342900">
              <a:spcAft>
                <a:spcPts val="400"/>
              </a:spcAft>
              <a:buSzPct val="100000"/>
              <a:buChar char="•"/>
            </a:pPr>
            <a:r>
              <a:rPr lang="en-US" sz="1600" dirty="0">
                <a:solidFill>
                  <a:srgbClr val="1D2939"/>
                </a:solidFill>
                <a:latin typeface="Garamond" pitchFamily="34" charset="0"/>
                <a:ea typeface="Garamond" pitchFamily="34" charset="-122"/>
                <a:cs typeface="Garamond" pitchFamily="34" charset="-120"/>
              </a:rPr>
              <a:t>Generative AI training compute scaling 10x+ per generation</a:t>
            </a:r>
            <a:endParaRPr lang="en-US" sz="1600" dirty="0"/>
          </a:p>
          <a:p>
            <a:pPr marL="342900" indent="-342900">
              <a:spcAft>
                <a:spcPts val="400"/>
              </a:spcAft>
              <a:buSzPct val="100000"/>
              <a:buChar char="•"/>
            </a:pPr>
            <a:r>
              <a:rPr lang="en-US" sz="1600" dirty="0">
                <a:solidFill>
                  <a:srgbClr val="1D2939"/>
                </a:solidFill>
                <a:latin typeface="Garamond" pitchFamily="34" charset="0"/>
                <a:ea typeface="Garamond" pitchFamily="34" charset="-122"/>
                <a:cs typeface="Garamond" pitchFamily="34" charset="-120"/>
              </a:rPr>
              <a:t>Enterprise AI inference deployment at scale (exceeds training by 2027)</a:t>
            </a:r>
            <a:endParaRPr lang="en-US" sz="1600" dirty="0"/>
          </a:p>
          <a:p>
            <a:pPr marL="342900" indent="-342900">
              <a:spcAft>
                <a:spcPts val="400"/>
              </a:spcAft>
              <a:buSzPct val="100000"/>
              <a:buChar char="•"/>
            </a:pPr>
            <a:r>
              <a:rPr lang="en-US" sz="1600" dirty="0">
                <a:solidFill>
                  <a:srgbClr val="1D2939"/>
                </a:solidFill>
                <a:latin typeface="Garamond" pitchFamily="34" charset="0"/>
                <a:ea typeface="Garamond" pitchFamily="34" charset="-122"/>
                <a:cs typeface="Garamond" pitchFamily="34" charset="-120"/>
              </a:rPr>
              <a:t>Data center power/cooling constraints (&gt;100kW/rack = liquid cooling required)</a:t>
            </a:r>
            <a:endParaRPr lang="en-US" sz="1600" dirty="0"/>
          </a:p>
          <a:p>
            <a:pPr marL="342900" indent="-342900">
              <a:spcAft>
                <a:spcPts val="400"/>
              </a:spcAft>
              <a:buSzPct val="100000"/>
              <a:buChar char="•"/>
            </a:pPr>
            <a:r>
              <a:rPr lang="en-US" sz="1600" dirty="0">
                <a:solidFill>
                  <a:srgbClr val="1D2939"/>
                </a:solidFill>
                <a:latin typeface="Garamond" pitchFamily="34" charset="0"/>
                <a:ea typeface="Garamond" pitchFamily="34" charset="-122"/>
                <a:cs typeface="Garamond" pitchFamily="34" charset="-120"/>
              </a:rPr>
              <a:t>Sovereign AI: Governments investing in domestic AI compute infrastructure</a:t>
            </a:r>
            <a:endParaRPr lang="en-US" sz="1600" dirty="0"/>
          </a:p>
          <a:p>
            <a:pPr marL="342900" indent="-342900">
              <a:spcAft>
                <a:spcPts val="400"/>
              </a:spcAft>
              <a:buSzPct val="100000"/>
              <a:buChar char="•"/>
            </a:pPr>
            <a:r>
              <a:rPr lang="en-US" sz="1600" dirty="0">
                <a:solidFill>
                  <a:srgbClr val="1D2939"/>
                </a:solidFill>
                <a:latin typeface="Garamond" pitchFamily="34" charset="0"/>
                <a:ea typeface="Garamond" pitchFamily="34" charset="-122"/>
                <a:cs typeface="Garamond" pitchFamily="34" charset="-120"/>
              </a:rPr>
              <a:t>Edge AI expansion for latency-sensitive inference applications</a:t>
            </a:r>
            <a:endParaRPr lang="en-US" sz="1600" dirty="0"/>
          </a:p>
        </p:txBody>
      </p:sp>
      <p:cxnSp>
        <p:nvCxnSpPr>
          <p:cNvPr id="164" name="Google Shape;164;p5"/>
          <p:cNvCxnSpPr/>
          <p:nvPr/>
        </p:nvCxnSpPr>
        <p:spPr>
          <a:xfrm>
            <a:off x="270932" y="711202"/>
            <a:ext cx="11633100" cy="0"/>
          </a:xfrm>
          <a:prstGeom prst="straightConnector1">
            <a:avLst/>
          </a:prstGeom>
          <a:noFill/>
          <a:ln w="9525" cap="flat" cmpd="sng">
            <a:solidFill>
              <a:srgbClr val="001746"/>
            </a:solidFill>
            <a:prstDash val="solid"/>
            <a:miter lim="800000"/>
            <a:headEnd type="none" w="sm" len="sm"/>
            <a:tailEnd type="none" w="sm" len="sm"/>
          </a:ln>
        </p:spPr>
      </p:cxnSp>
      <p:sp>
        <p:nvSpPr>
          <p:cNvPr id="165" name="Google Shape;165;p5"/>
          <p:cNvSpPr/>
          <p:nvPr/>
        </p:nvSpPr>
        <p:spPr>
          <a:xfrm>
            <a:off x="1145042" y="6486133"/>
            <a:ext cx="1270500" cy="2820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Company</a:t>
            </a:r>
            <a:endParaRPr sz="1400" b="0" i="0" u="none" strike="noStrike" cap="none">
              <a:solidFill>
                <a:schemeClr val="lt1"/>
              </a:solidFill>
              <a:latin typeface="Garamond"/>
              <a:ea typeface="Garamond"/>
              <a:cs typeface="Garamond"/>
              <a:sym typeface="Garamond"/>
            </a:endParaRPr>
          </a:p>
        </p:txBody>
      </p:sp>
      <p:sp>
        <p:nvSpPr>
          <p:cNvPr id="166" name="Google Shape;166;p5"/>
          <p:cNvSpPr/>
          <p:nvPr/>
        </p:nvSpPr>
        <p:spPr>
          <a:xfrm>
            <a:off x="2664119" y="6486133"/>
            <a:ext cx="1270500" cy="282000"/>
          </a:xfrm>
          <a:prstGeom prst="rect">
            <a:avLst/>
          </a:prstGeom>
          <a:solidFill>
            <a:srgbClr val="041E4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Industry</a:t>
            </a:r>
            <a:endParaRPr sz="1400" b="0" i="0" u="none" strike="noStrike" cap="none">
              <a:solidFill>
                <a:schemeClr val="lt1"/>
              </a:solidFill>
              <a:latin typeface="Garamond"/>
              <a:ea typeface="Garamond"/>
              <a:cs typeface="Garamond"/>
              <a:sym typeface="Garamond"/>
            </a:endParaRPr>
          </a:p>
        </p:txBody>
      </p:sp>
      <p:sp>
        <p:nvSpPr>
          <p:cNvPr id="167" name="Google Shape;167;p5"/>
          <p:cNvSpPr/>
          <p:nvPr/>
        </p:nvSpPr>
        <p:spPr>
          <a:xfrm>
            <a:off x="4183196"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Theses</a:t>
            </a:r>
            <a:endParaRPr sz="1400" b="0" i="0" u="none" strike="noStrike" cap="none">
              <a:solidFill>
                <a:schemeClr val="lt1"/>
              </a:solidFill>
              <a:latin typeface="Garamond"/>
              <a:ea typeface="Garamond"/>
              <a:cs typeface="Garamond"/>
              <a:sym typeface="Garamond"/>
            </a:endParaRPr>
          </a:p>
        </p:txBody>
      </p:sp>
      <p:sp>
        <p:nvSpPr>
          <p:cNvPr id="168" name="Google Shape;168;p5"/>
          <p:cNvSpPr/>
          <p:nvPr/>
        </p:nvSpPr>
        <p:spPr>
          <a:xfrm>
            <a:off x="7221349"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lt1"/>
                </a:solidFill>
                <a:latin typeface="Garamond"/>
                <a:ea typeface="Garamond"/>
                <a:cs typeface="Garamond"/>
                <a:sym typeface="Garamond"/>
              </a:rPr>
              <a:t>ESG</a:t>
            </a:r>
            <a:endParaRPr sz="1400" b="0" i="0" u="none" strike="noStrike" cap="none" dirty="0">
              <a:solidFill>
                <a:schemeClr val="lt1"/>
              </a:solidFill>
              <a:latin typeface="Garamond"/>
              <a:ea typeface="Garamond"/>
              <a:cs typeface="Garamond"/>
              <a:sym typeface="Garamond"/>
            </a:endParaRPr>
          </a:p>
        </p:txBody>
      </p:sp>
      <p:sp>
        <p:nvSpPr>
          <p:cNvPr id="169" name="Google Shape;169;p5"/>
          <p:cNvSpPr/>
          <p:nvPr/>
        </p:nvSpPr>
        <p:spPr>
          <a:xfrm>
            <a:off x="8740461"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Risks</a:t>
            </a:r>
            <a:endParaRPr sz="1400" b="0" i="0" u="none" strike="noStrike" cap="none">
              <a:solidFill>
                <a:schemeClr val="lt1"/>
              </a:solidFill>
              <a:latin typeface="Garamond"/>
              <a:ea typeface="Garamond"/>
              <a:cs typeface="Garamond"/>
              <a:sym typeface="Garamond"/>
            </a:endParaRPr>
          </a:p>
        </p:txBody>
      </p:sp>
      <p:sp>
        <p:nvSpPr>
          <p:cNvPr id="170" name="Google Shape;170;p5"/>
          <p:cNvSpPr/>
          <p:nvPr/>
        </p:nvSpPr>
        <p:spPr>
          <a:xfrm>
            <a:off x="5702272"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lt1"/>
                </a:solidFill>
                <a:latin typeface="Garamond"/>
                <a:ea typeface="Garamond"/>
                <a:cs typeface="Garamond"/>
                <a:sym typeface="Garamond"/>
              </a:rPr>
              <a:t>Valuation</a:t>
            </a:r>
            <a:endParaRPr sz="1400" b="0" i="0" u="none" strike="noStrike" cap="none" dirty="0">
              <a:solidFill>
                <a:schemeClr val="lt1"/>
              </a:solidFill>
              <a:latin typeface="Garamond"/>
              <a:ea typeface="Garamond"/>
              <a:cs typeface="Garamond"/>
              <a:sym typeface="Garamond"/>
            </a:endParaRPr>
          </a:p>
        </p:txBody>
      </p:sp>
      <p:sp>
        <p:nvSpPr>
          <p:cNvPr id="171" name="Google Shape;171;p5"/>
          <p:cNvSpPr txBox="1">
            <a:spLocks noGrp="1"/>
          </p:cNvSpPr>
          <p:nvPr>
            <p:ph type="sldNum" idx="4294967295"/>
          </p:nvPr>
        </p:nvSpPr>
        <p:spPr>
          <a:xfrm>
            <a:off x="11520419" y="6466832"/>
            <a:ext cx="521100" cy="323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200"/>
              <a:buFont typeface="Arial"/>
              <a:buNone/>
            </a:pPr>
            <a:r>
              <a:rPr lang="en-US"/>
              <a:t>|  </a:t>
            </a:r>
            <a:fld id="{00000000-1234-1234-1234-123412341234}" type="slidenum">
              <a:rPr lang="en-US"/>
              <a:t>5</a:t>
            </a:fld>
            <a:endParaRPr/>
          </a:p>
        </p:txBody>
      </p:sp>
      <p:sp>
        <p:nvSpPr>
          <p:cNvPr id="172" name="Google Shape;172;p5"/>
          <p:cNvSpPr txBox="1"/>
          <p:nvPr/>
        </p:nvSpPr>
        <p:spPr>
          <a:xfrm>
            <a:off x="990163" y="965919"/>
            <a:ext cx="4963800" cy="365700"/>
          </a:xfrm>
          <a:prstGeom prst="rect">
            <a:avLst/>
          </a:prstGeom>
          <a:solidFill>
            <a:srgbClr val="002060"/>
          </a:solidFill>
          <a:ln w="9525" cap="flat" cmpd="sng">
            <a:solidFill>
              <a:srgbClr val="041E4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1" dirty="0">
                <a:solidFill>
                  <a:srgbClr val="FFFFFF"/>
                </a:solidFill>
                <a:latin typeface="Garamond"/>
                <a:ea typeface="Garamond"/>
                <a:cs typeface="Garamond"/>
                <a:sym typeface="Garamond"/>
              </a:rPr>
              <a:t>AI Infrastructure Market</a:t>
            </a:r>
            <a:endParaRPr sz="1600" b="1" dirty="0">
              <a:solidFill>
                <a:srgbClr val="FFFFFF"/>
              </a:solidFill>
              <a:latin typeface="Garamond"/>
              <a:ea typeface="Garamond"/>
              <a:cs typeface="Garamond"/>
              <a:sym typeface="Garamond"/>
            </a:endParaRPr>
          </a:p>
        </p:txBody>
      </p:sp>
      <p:sp>
        <p:nvSpPr>
          <p:cNvPr id="173" name="Google Shape;173;p5"/>
          <p:cNvSpPr txBox="1"/>
          <p:nvPr/>
        </p:nvSpPr>
        <p:spPr>
          <a:xfrm>
            <a:off x="6220965" y="965900"/>
            <a:ext cx="4963800" cy="365700"/>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a:solidFill>
                  <a:srgbClr val="FFFFFF"/>
                </a:solidFill>
                <a:latin typeface="Garamond"/>
                <a:ea typeface="Garamond"/>
                <a:cs typeface="Garamond"/>
                <a:sym typeface="Garamond"/>
              </a:rPr>
              <a:t>Key Growth Catalysts</a:t>
            </a:r>
          </a:p>
        </p:txBody>
      </p:sp>
      <p:pic>
        <p:nvPicPr>
          <p:cNvPr id="18" name="Picture 4" descr="SMCI - Super Micro Computer, Inc. Trademark Registration">
            <a:extLst>
              <a:ext uri="{FF2B5EF4-FFF2-40B4-BE49-F238E27FC236}">
                <a16:creationId xmlns:a16="http://schemas.microsoft.com/office/drawing/2014/main" id="{720F57C7-3320-4575-A398-122C53EA9E5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001" b="17593"/>
          <a:stretch/>
        </p:blipFill>
        <p:spPr bwMode="auto">
          <a:xfrm>
            <a:off x="10032470" y="64180"/>
            <a:ext cx="2009003" cy="54750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9" name="Table 0">
            <a:extLst>
              <a:ext uri="{FF2B5EF4-FFF2-40B4-BE49-F238E27FC236}">
                <a16:creationId xmlns:a16="http://schemas.microsoft.com/office/drawing/2014/main" id="{DC2B300C-C027-4B65-B97F-8916639E6143}"/>
              </a:ext>
            </a:extLst>
          </p:cNvPr>
          <p:cNvGraphicFramePr>
            <a:graphicFrameLocks noGrp="1"/>
          </p:cNvGraphicFramePr>
          <p:nvPr>
            <p:extLst>
              <p:ext uri="{D42A27DB-BD31-4B8C-83A1-F6EECF244321}">
                <p14:modId xmlns:p14="http://schemas.microsoft.com/office/powerpoint/2010/main" val="2526692942"/>
              </p:ext>
            </p:extLst>
          </p:nvPr>
        </p:nvGraphicFramePr>
        <p:xfrm>
          <a:off x="6258765" y="4224605"/>
          <a:ext cx="4926000" cy="1762030"/>
        </p:xfrm>
        <a:graphic>
          <a:graphicData uri="http://schemas.openxmlformats.org/drawingml/2006/table">
            <a:tbl>
              <a:tblPr/>
              <a:tblGrid>
                <a:gridCol w="1423066">
                  <a:extLst>
                    <a:ext uri="{9D8B030D-6E8A-4147-A177-3AD203B41FA5}">
                      <a16:colId xmlns:a16="http://schemas.microsoft.com/office/drawing/2014/main" val="20000"/>
                    </a:ext>
                  </a:extLst>
                </a:gridCol>
                <a:gridCol w="1094667">
                  <a:extLst>
                    <a:ext uri="{9D8B030D-6E8A-4147-A177-3AD203B41FA5}">
                      <a16:colId xmlns:a16="http://schemas.microsoft.com/office/drawing/2014/main" val="20001"/>
                    </a:ext>
                  </a:extLst>
                </a:gridCol>
                <a:gridCol w="1094667">
                  <a:extLst>
                    <a:ext uri="{9D8B030D-6E8A-4147-A177-3AD203B41FA5}">
                      <a16:colId xmlns:a16="http://schemas.microsoft.com/office/drawing/2014/main" val="20002"/>
                    </a:ext>
                  </a:extLst>
                </a:gridCol>
                <a:gridCol w="1313600">
                  <a:extLst>
                    <a:ext uri="{9D8B030D-6E8A-4147-A177-3AD203B41FA5}">
                      <a16:colId xmlns:a16="http://schemas.microsoft.com/office/drawing/2014/main" val="20003"/>
                    </a:ext>
                  </a:extLst>
                </a:gridCol>
              </a:tblGrid>
              <a:tr h="352406">
                <a:tc>
                  <a:txBody>
                    <a:bodyPr/>
                    <a:lstStyle/>
                    <a:p>
                      <a:pPr marL="0" indent="0">
                        <a:buNone/>
                      </a:pPr>
                      <a:r>
                        <a:rPr lang="en-US" sz="1200" b="1" dirty="0">
                          <a:solidFill>
                            <a:srgbClr val="FFFFFF"/>
                          </a:solidFill>
                          <a:latin typeface="Garamond" pitchFamily="34" charset="0"/>
                          <a:ea typeface="Garamond" pitchFamily="34" charset="-122"/>
                          <a:cs typeface="Garamond" pitchFamily="34" charset="-120"/>
                        </a:rPr>
                        <a:t>Segment</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2744"/>
                    </a:solidFill>
                  </a:tcPr>
                </a:tc>
                <a:tc>
                  <a:txBody>
                    <a:bodyPr/>
                    <a:lstStyle/>
                    <a:p>
                      <a:pPr marL="0" indent="0">
                        <a:buNone/>
                      </a:pPr>
                      <a:r>
                        <a:rPr lang="en-US" sz="1200" b="1" dirty="0">
                          <a:solidFill>
                            <a:srgbClr val="FFFFFF"/>
                          </a:solidFill>
                          <a:latin typeface="Garamond" pitchFamily="34" charset="0"/>
                          <a:ea typeface="Garamond" pitchFamily="34" charset="-122"/>
                          <a:cs typeface="Garamond" pitchFamily="34" charset="-120"/>
                        </a:rPr>
                        <a:t>2024E</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2744"/>
                    </a:solidFill>
                  </a:tcPr>
                </a:tc>
                <a:tc>
                  <a:txBody>
                    <a:bodyPr/>
                    <a:lstStyle/>
                    <a:p>
                      <a:pPr marL="0" indent="0">
                        <a:buNone/>
                      </a:pPr>
                      <a:r>
                        <a:rPr lang="en-US" sz="1200" b="1" dirty="0">
                          <a:solidFill>
                            <a:srgbClr val="FFFFFF"/>
                          </a:solidFill>
                          <a:latin typeface="Garamond" pitchFamily="34" charset="0"/>
                          <a:ea typeface="Garamond" pitchFamily="34" charset="-122"/>
                          <a:cs typeface="Garamond" pitchFamily="34" charset="-120"/>
                        </a:rPr>
                        <a:t>2028P</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2744"/>
                    </a:solidFill>
                  </a:tcPr>
                </a:tc>
                <a:tc>
                  <a:txBody>
                    <a:bodyPr/>
                    <a:lstStyle/>
                    <a:p>
                      <a:pPr marL="0" indent="0">
                        <a:buNone/>
                      </a:pPr>
                      <a:r>
                        <a:rPr lang="en-US" sz="1200" b="1" dirty="0">
                          <a:solidFill>
                            <a:srgbClr val="FFFFFF"/>
                          </a:solidFill>
                          <a:latin typeface="Garamond" pitchFamily="34" charset="0"/>
                          <a:ea typeface="Garamond" pitchFamily="34" charset="-122"/>
                          <a:cs typeface="Garamond" pitchFamily="34" charset="-120"/>
                        </a:rPr>
                        <a:t>CAGR</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352406">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AI Servers</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~$125B</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~$400B</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b="1" dirty="0">
                          <a:solidFill>
                            <a:srgbClr val="12B76A"/>
                          </a:solidFill>
                          <a:latin typeface="Garamond" pitchFamily="34" charset="0"/>
                          <a:ea typeface="Garamond" pitchFamily="34" charset="-122"/>
                          <a:cs typeface="Garamond" pitchFamily="34" charset="-120"/>
                        </a:rPr>
                        <a:t>~34%</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1"/>
                  </a:ext>
                </a:extLst>
              </a:tr>
              <a:tr h="352406">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Liquid Cooling</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~$5B</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~$25B</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b="1" dirty="0">
                          <a:solidFill>
                            <a:srgbClr val="12B76A"/>
                          </a:solidFill>
                          <a:latin typeface="Garamond" pitchFamily="34" charset="0"/>
                          <a:ea typeface="Garamond" pitchFamily="34" charset="-122"/>
                          <a:cs typeface="Garamond" pitchFamily="34" charset="-120"/>
                        </a:rPr>
                        <a:t>~50%</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2"/>
                  </a:ext>
                </a:extLst>
              </a:tr>
              <a:tr h="352406">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HPC</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~$45B</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~$75B</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~14%</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3"/>
                  </a:ext>
                </a:extLst>
              </a:tr>
              <a:tr h="352406">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Total DC Infra</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~$350B</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~$600B</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~15%</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pic>
        <p:nvPicPr>
          <p:cNvPr id="20" name="Picture 19">
            <a:extLst>
              <a:ext uri="{FF2B5EF4-FFF2-40B4-BE49-F238E27FC236}">
                <a16:creationId xmlns:a16="http://schemas.microsoft.com/office/drawing/2014/main" id="{993C0580-19C6-4726-A9AC-53FE87848CDA}"/>
              </a:ext>
            </a:extLst>
          </p:cNvPr>
          <p:cNvPicPr>
            <a:picLocks noChangeAspect="1"/>
          </p:cNvPicPr>
          <p:nvPr/>
        </p:nvPicPr>
        <p:blipFill>
          <a:blip r:embed="rId4"/>
          <a:stretch>
            <a:fillRect/>
          </a:stretch>
        </p:blipFill>
        <p:spPr>
          <a:xfrm>
            <a:off x="10160006" y="6379320"/>
            <a:ext cx="1422710" cy="46484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6"/>
          <p:cNvSpPr txBox="1"/>
          <p:nvPr/>
        </p:nvSpPr>
        <p:spPr>
          <a:xfrm>
            <a:off x="228600" y="350838"/>
            <a:ext cx="8686800" cy="3657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3000"/>
              <a:buFont typeface="Arial"/>
              <a:buNone/>
            </a:pPr>
            <a:r>
              <a:rPr lang="en-US" sz="3000" b="1" i="0" u="none" strike="noStrike" cap="small" dirty="0">
                <a:solidFill>
                  <a:srgbClr val="3F3F3F"/>
                </a:solidFill>
                <a:latin typeface="Garamond"/>
                <a:ea typeface="Garamond"/>
                <a:cs typeface="Garamond"/>
                <a:sym typeface="Garamond"/>
              </a:rPr>
              <a:t>Industry Overview </a:t>
            </a:r>
            <a:endParaRPr sz="3000" b="1" i="0" u="none" strike="noStrike" cap="small" dirty="0">
              <a:solidFill>
                <a:srgbClr val="3F3F3F"/>
              </a:solidFill>
              <a:latin typeface="Garamond"/>
              <a:ea typeface="Garamond"/>
              <a:cs typeface="Garamond"/>
              <a:sym typeface="Garamond"/>
            </a:endParaRPr>
          </a:p>
        </p:txBody>
      </p:sp>
      <p:sp>
        <p:nvSpPr>
          <p:cNvPr id="179" name="Google Shape;179;p6"/>
          <p:cNvSpPr txBox="1"/>
          <p:nvPr/>
        </p:nvSpPr>
        <p:spPr>
          <a:xfrm>
            <a:off x="260325" y="998800"/>
            <a:ext cx="11633100" cy="401700"/>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a:solidFill>
                  <a:srgbClr val="FFFFFF"/>
                </a:solidFill>
                <a:latin typeface="Garamond"/>
                <a:ea typeface="Garamond"/>
                <a:cs typeface="Garamond"/>
                <a:sym typeface="Garamond"/>
              </a:rPr>
              <a:t>Competitive Edge in Industry</a:t>
            </a:r>
            <a:endParaRPr sz="1600" b="1" i="0" u="none" strike="noStrike" cap="none" dirty="0">
              <a:solidFill>
                <a:srgbClr val="FFFFFF"/>
              </a:solidFill>
              <a:latin typeface="Garamond"/>
              <a:ea typeface="Garamond"/>
              <a:cs typeface="Garamond"/>
              <a:sym typeface="Garamond"/>
            </a:endParaRPr>
          </a:p>
        </p:txBody>
      </p:sp>
      <p:cxnSp>
        <p:nvCxnSpPr>
          <p:cNvPr id="180" name="Google Shape;180;p6"/>
          <p:cNvCxnSpPr/>
          <p:nvPr/>
        </p:nvCxnSpPr>
        <p:spPr>
          <a:xfrm>
            <a:off x="270932" y="711202"/>
            <a:ext cx="11633100" cy="0"/>
          </a:xfrm>
          <a:prstGeom prst="straightConnector1">
            <a:avLst/>
          </a:prstGeom>
          <a:noFill/>
          <a:ln w="9525" cap="flat" cmpd="sng">
            <a:solidFill>
              <a:srgbClr val="001746"/>
            </a:solidFill>
            <a:prstDash val="solid"/>
            <a:miter lim="800000"/>
            <a:headEnd type="none" w="sm" len="sm"/>
            <a:tailEnd type="none" w="sm" len="sm"/>
          </a:ln>
        </p:spPr>
      </p:cxnSp>
      <p:sp>
        <p:nvSpPr>
          <p:cNvPr id="181" name="Google Shape;181;p6"/>
          <p:cNvSpPr/>
          <p:nvPr/>
        </p:nvSpPr>
        <p:spPr>
          <a:xfrm>
            <a:off x="1145042" y="6486133"/>
            <a:ext cx="1270500" cy="2820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Company</a:t>
            </a:r>
            <a:endParaRPr sz="1400" b="0" i="0" u="none" strike="noStrike" cap="none">
              <a:solidFill>
                <a:schemeClr val="lt1"/>
              </a:solidFill>
              <a:latin typeface="Garamond"/>
              <a:ea typeface="Garamond"/>
              <a:cs typeface="Garamond"/>
              <a:sym typeface="Garamond"/>
            </a:endParaRPr>
          </a:p>
        </p:txBody>
      </p:sp>
      <p:sp>
        <p:nvSpPr>
          <p:cNvPr id="182" name="Google Shape;182;p6"/>
          <p:cNvSpPr/>
          <p:nvPr/>
        </p:nvSpPr>
        <p:spPr>
          <a:xfrm>
            <a:off x="2664119" y="6486133"/>
            <a:ext cx="1270500" cy="282000"/>
          </a:xfrm>
          <a:prstGeom prst="rect">
            <a:avLst/>
          </a:prstGeom>
          <a:solidFill>
            <a:srgbClr val="041E4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Industry</a:t>
            </a:r>
            <a:endParaRPr sz="1400" b="0" i="0" u="none" strike="noStrike" cap="none">
              <a:solidFill>
                <a:schemeClr val="lt1"/>
              </a:solidFill>
              <a:latin typeface="Garamond"/>
              <a:ea typeface="Garamond"/>
              <a:cs typeface="Garamond"/>
              <a:sym typeface="Garamond"/>
            </a:endParaRPr>
          </a:p>
        </p:txBody>
      </p:sp>
      <p:sp>
        <p:nvSpPr>
          <p:cNvPr id="183" name="Google Shape;183;p6"/>
          <p:cNvSpPr/>
          <p:nvPr/>
        </p:nvSpPr>
        <p:spPr>
          <a:xfrm>
            <a:off x="4183196"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Theses</a:t>
            </a:r>
            <a:endParaRPr sz="1400" b="0" i="0" u="none" strike="noStrike" cap="none">
              <a:solidFill>
                <a:schemeClr val="lt1"/>
              </a:solidFill>
              <a:latin typeface="Garamond"/>
              <a:ea typeface="Garamond"/>
              <a:cs typeface="Garamond"/>
              <a:sym typeface="Garamond"/>
            </a:endParaRPr>
          </a:p>
        </p:txBody>
      </p:sp>
      <p:sp>
        <p:nvSpPr>
          <p:cNvPr id="184" name="Google Shape;184;p6"/>
          <p:cNvSpPr/>
          <p:nvPr/>
        </p:nvSpPr>
        <p:spPr>
          <a:xfrm>
            <a:off x="7221349"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dirty="0">
                <a:solidFill>
                  <a:schemeClr val="lt1"/>
                </a:solidFill>
                <a:latin typeface="Garamond"/>
                <a:ea typeface="Garamond"/>
                <a:cs typeface="Garamond"/>
                <a:sym typeface="Garamond"/>
              </a:rPr>
              <a:t>ESG</a:t>
            </a:r>
            <a:endParaRPr sz="1400" b="0" i="0" u="none" strike="noStrike" cap="none" dirty="0">
              <a:solidFill>
                <a:schemeClr val="lt1"/>
              </a:solidFill>
              <a:latin typeface="Garamond"/>
              <a:ea typeface="Garamond"/>
              <a:cs typeface="Garamond"/>
              <a:sym typeface="Garamond"/>
            </a:endParaRPr>
          </a:p>
        </p:txBody>
      </p:sp>
      <p:sp>
        <p:nvSpPr>
          <p:cNvPr id="185" name="Google Shape;185;p6"/>
          <p:cNvSpPr/>
          <p:nvPr/>
        </p:nvSpPr>
        <p:spPr>
          <a:xfrm>
            <a:off x="8740461"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Risks</a:t>
            </a:r>
            <a:endParaRPr sz="1400" b="0" i="0" u="none" strike="noStrike" cap="none">
              <a:solidFill>
                <a:schemeClr val="lt1"/>
              </a:solidFill>
              <a:latin typeface="Garamond"/>
              <a:ea typeface="Garamond"/>
              <a:cs typeface="Garamond"/>
              <a:sym typeface="Garamond"/>
            </a:endParaRPr>
          </a:p>
        </p:txBody>
      </p:sp>
      <p:sp>
        <p:nvSpPr>
          <p:cNvPr id="186" name="Google Shape;186;p6"/>
          <p:cNvSpPr/>
          <p:nvPr/>
        </p:nvSpPr>
        <p:spPr>
          <a:xfrm>
            <a:off x="5702272"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lt1"/>
                </a:solidFill>
                <a:latin typeface="Garamond"/>
                <a:ea typeface="Garamond"/>
                <a:cs typeface="Garamond"/>
                <a:sym typeface="Garamond"/>
              </a:rPr>
              <a:t>Valuation</a:t>
            </a:r>
            <a:endParaRPr sz="1400" b="0" i="0" u="none" strike="noStrike" cap="none" dirty="0">
              <a:solidFill>
                <a:schemeClr val="lt1"/>
              </a:solidFill>
              <a:latin typeface="Garamond"/>
              <a:ea typeface="Garamond"/>
              <a:cs typeface="Garamond"/>
              <a:sym typeface="Garamond"/>
            </a:endParaRPr>
          </a:p>
        </p:txBody>
      </p:sp>
      <p:sp>
        <p:nvSpPr>
          <p:cNvPr id="187" name="Google Shape;187;p6"/>
          <p:cNvSpPr txBox="1">
            <a:spLocks noGrp="1"/>
          </p:cNvSpPr>
          <p:nvPr>
            <p:ph type="sldNum" idx="4294967295"/>
          </p:nvPr>
        </p:nvSpPr>
        <p:spPr>
          <a:xfrm>
            <a:off x="11520419" y="6466832"/>
            <a:ext cx="521100" cy="323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200"/>
              <a:buFont typeface="Arial"/>
              <a:buNone/>
            </a:pPr>
            <a:r>
              <a:rPr lang="en-US"/>
              <a:t>|  </a:t>
            </a:r>
            <a:fld id="{00000000-1234-1234-1234-123412341234}" type="slidenum">
              <a:rPr lang="en-US"/>
              <a:t>6</a:t>
            </a:fld>
            <a:endParaRPr/>
          </a:p>
        </p:txBody>
      </p:sp>
      <p:pic>
        <p:nvPicPr>
          <p:cNvPr id="16" name="Picture 4" descr="SMCI - Super Micro Computer, Inc. Trademark Registration">
            <a:extLst>
              <a:ext uri="{FF2B5EF4-FFF2-40B4-BE49-F238E27FC236}">
                <a16:creationId xmlns:a16="http://schemas.microsoft.com/office/drawing/2014/main" id="{059891F1-52BC-4AF7-A2B1-571FF02D8B6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001" b="17593"/>
          <a:stretch/>
        </p:blipFill>
        <p:spPr bwMode="auto">
          <a:xfrm>
            <a:off x="10032470" y="64180"/>
            <a:ext cx="2009003" cy="547501"/>
          </a:xfrm>
          <a:prstGeom prst="rect">
            <a:avLst/>
          </a:prstGeom>
          <a:noFill/>
          <a:extLst>
            <a:ext uri="{909E8E84-426E-40DD-AFC4-6F175D3DCCD1}">
              <a14:hiddenFill xmlns:a14="http://schemas.microsoft.com/office/drawing/2010/main">
                <a:solidFill>
                  <a:srgbClr val="FFFFFF"/>
                </a:solidFill>
              </a14:hiddenFill>
            </a:ext>
          </a:extLst>
        </p:spPr>
      </p:pic>
      <p:sp>
        <p:nvSpPr>
          <p:cNvPr id="20" name="Shape 2">
            <a:extLst>
              <a:ext uri="{FF2B5EF4-FFF2-40B4-BE49-F238E27FC236}">
                <a16:creationId xmlns:a16="http://schemas.microsoft.com/office/drawing/2014/main" id="{62552387-EE0F-4827-B60C-81A2AE5B5106}"/>
              </a:ext>
            </a:extLst>
          </p:cNvPr>
          <p:cNvSpPr/>
          <p:nvPr/>
        </p:nvSpPr>
        <p:spPr>
          <a:xfrm>
            <a:off x="1889760" y="1536794"/>
            <a:ext cx="8412480" cy="0"/>
          </a:xfrm>
          <a:prstGeom prst="line">
            <a:avLst/>
          </a:prstGeom>
          <a:noFill/>
          <a:ln w="6350">
            <a:solidFill>
              <a:srgbClr val="D0D5DD"/>
            </a:solidFill>
            <a:prstDash val="solid"/>
          </a:ln>
        </p:spPr>
      </p:sp>
      <p:graphicFrame>
        <p:nvGraphicFramePr>
          <p:cNvPr id="21" name="Table 0">
            <a:extLst>
              <a:ext uri="{FF2B5EF4-FFF2-40B4-BE49-F238E27FC236}">
                <a16:creationId xmlns:a16="http://schemas.microsoft.com/office/drawing/2014/main" id="{205019C7-107A-46C9-BA5E-541598348FE1}"/>
              </a:ext>
            </a:extLst>
          </p:cNvPr>
          <p:cNvGraphicFramePr>
            <a:graphicFrameLocks noGrp="1"/>
          </p:cNvGraphicFramePr>
          <p:nvPr>
            <p:extLst>
              <p:ext uri="{D42A27DB-BD31-4B8C-83A1-F6EECF244321}">
                <p14:modId xmlns:p14="http://schemas.microsoft.com/office/powerpoint/2010/main" val="2451455690"/>
              </p:ext>
            </p:extLst>
          </p:nvPr>
        </p:nvGraphicFramePr>
        <p:xfrm>
          <a:off x="1889760" y="1628234"/>
          <a:ext cx="8412480" cy="2194560"/>
        </p:xfrm>
        <a:graphic>
          <a:graphicData uri="http://schemas.openxmlformats.org/drawingml/2006/table">
            <a:tbl>
              <a:tblPr/>
              <a:tblGrid>
                <a:gridCol w="13716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274320">
                <a:tc>
                  <a:txBody>
                    <a:bodyPr/>
                    <a:lstStyle/>
                    <a:p>
                      <a:pPr marL="0" indent="0">
                        <a:buNone/>
                      </a:pPr>
                      <a:r>
                        <a:rPr lang="en-US" sz="1200" b="1" dirty="0">
                          <a:solidFill>
                            <a:srgbClr val="FFFFFF"/>
                          </a:solidFill>
                          <a:latin typeface="Garamond" pitchFamily="34" charset="0"/>
                          <a:ea typeface="Garamond" pitchFamily="34" charset="-122"/>
                          <a:cs typeface="Garamond" pitchFamily="34" charset="-120"/>
                        </a:rPr>
                        <a:t>Factor</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2744"/>
                    </a:solidFill>
                  </a:tcPr>
                </a:tc>
                <a:tc>
                  <a:txBody>
                    <a:bodyPr/>
                    <a:lstStyle/>
                    <a:p>
                      <a:pPr marL="0" indent="0">
                        <a:buNone/>
                      </a:pPr>
                      <a:r>
                        <a:rPr lang="en-US" sz="1200" b="1" dirty="0">
                          <a:solidFill>
                            <a:srgbClr val="FFFFFF"/>
                          </a:solidFill>
                          <a:latin typeface="Garamond" pitchFamily="34" charset="0"/>
                          <a:ea typeface="Garamond" pitchFamily="34" charset="-122"/>
                          <a:cs typeface="Garamond" pitchFamily="34" charset="-120"/>
                        </a:rPr>
                        <a:t>SMCI</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2744"/>
                    </a:solidFill>
                  </a:tcPr>
                </a:tc>
                <a:tc>
                  <a:txBody>
                    <a:bodyPr/>
                    <a:lstStyle/>
                    <a:p>
                      <a:pPr marL="0" indent="0">
                        <a:buNone/>
                      </a:pPr>
                      <a:r>
                        <a:rPr lang="en-US" sz="1200" b="1" dirty="0">
                          <a:solidFill>
                            <a:srgbClr val="FFFFFF"/>
                          </a:solidFill>
                          <a:latin typeface="Garamond" pitchFamily="34" charset="0"/>
                          <a:ea typeface="Garamond" pitchFamily="34" charset="-122"/>
                          <a:cs typeface="Garamond" pitchFamily="34" charset="-120"/>
                        </a:rPr>
                        <a:t>Dell</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2744"/>
                    </a:solidFill>
                  </a:tcPr>
                </a:tc>
                <a:tc>
                  <a:txBody>
                    <a:bodyPr/>
                    <a:lstStyle/>
                    <a:p>
                      <a:pPr marL="0" indent="0">
                        <a:buNone/>
                      </a:pPr>
                      <a:r>
                        <a:rPr lang="en-US" sz="1200" b="1" dirty="0">
                          <a:solidFill>
                            <a:srgbClr val="FFFFFF"/>
                          </a:solidFill>
                          <a:latin typeface="Garamond" pitchFamily="34" charset="0"/>
                          <a:ea typeface="Garamond" pitchFamily="34" charset="-122"/>
                          <a:cs typeface="Garamond" pitchFamily="34" charset="-120"/>
                        </a:rPr>
                        <a:t>HPE</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2744"/>
                    </a:solidFill>
                  </a:tcPr>
                </a:tc>
                <a:tc>
                  <a:txBody>
                    <a:bodyPr/>
                    <a:lstStyle/>
                    <a:p>
                      <a:pPr marL="0" indent="0">
                        <a:buNone/>
                      </a:pPr>
                      <a:r>
                        <a:rPr lang="en-US" sz="1200" b="1" dirty="0">
                          <a:solidFill>
                            <a:srgbClr val="FFFFFF"/>
                          </a:solidFill>
                          <a:latin typeface="Garamond" pitchFamily="34" charset="0"/>
                          <a:ea typeface="Garamond" pitchFamily="34" charset="-122"/>
                          <a:cs typeface="Garamond" pitchFamily="34" charset="-120"/>
                        </a:rPr>
                        <a:t>ODMs</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256032">
                <a:tc>
                  <a:txBody>
                    <a:bodyPr/>
                    <a:lstStyle/>
                    <a:p>
                      <a:pPr marL="0" indent="0">
                        <a:buNone/>
                      </a:pPr>
                      <a:r>
                        <a:rPr lang="en-US" sz="1200" b="1" dirty="0">
                          <a:solidFill>
                            <a:srgbClr val="000000"/>
                          </a:solidFill>
                          <a:latin typeface="Garamond" pitchFamily="34" charset="0"/>
                          <a:ea typeface="Garamond" pitchFamily="34" charset="-122"/>
                          <a:cs typeface="Garamond" pitchFamily="34" charset="-120"/>
                        </a:rPr>
                        <a:t>Time-to-Market</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b="1" dirty="0">
                          <a:solidFill>
                            <a:srgbClr val="12B76A"/>
                          </a:solidFill>
                          <a:latin typeface="Garamond" pitchFamily="34" charset="0"/>
                          <a:ea typeface="Garamond" pitchFamily="34" charset="-122"/>
                          <a:cs typeface="Garamond" pitchFamily="34" charset="-120"/>
                        </a:rPr>
                        <a:t>6-12 weeks</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6-12 months</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6-12 months</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3-6 months</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buNone/>
                      </a:pPr>
                      <a:r>
                        <a:rPr lang="en-US" sz="1200" b="1" dirty="0">
                          <a:solidFill>
                            <a:srgbClr val="000000"/>
                          </a:solidFill>
                          <a:latin typeface="Garamond" pitchFamily="34" charset="0"/>
                          <a:ea typeface="Garamond" pitchFamily="34" charset="-122"/>
                          <a:cs typeface="Garamond" pitchFamily="34" charset="-120"/>
                        </a:rPr>
                        <a:t>Customization</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12B76A"/>
                          </a:solidFill>
                          <a:latin typeface="Garamond" pitchFamily="34" charset="0"/>
                          <a:ea typeface="Garamond" pitchFamily="34" charset="-122"/>
                          <a:cs typeface="Garamond" pitchFamily="34" charset="-120"/>
                        </a:rPr>
                        <a:t>Very High</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Medium</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Medium</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High</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buNone/>
                      </a:pPr>
                      <a:r>
                        <a:rPr lang="en-US" sz="1200" b="1" dirty="0">
                          <a:solidFill>
                            <a:srgbClr val="000000"/>
                          </a:solidFill>
                          <a:latin typeface="Garamond" pitchFamily="34" charset="0"/>
                          <a:ea typeface="Garamond" pitchFamily="34" charset="-122"/>
                          <a:cs typeface="Garamond" pitchFamily="34" charset="-120"/>
                        </a:rPr>
                        <a:t>Liquid Cooling</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b="1" dirty="0">
                          <a:solidFill>
                            <a:srgbClr val="12B76A"/>
                          </a:solidFill>
                          <a:latin typeface="Garamond" pitchFamily="34" charset="0"/>
                          <a:ea typeface="Garamond" pitchFamily="34" charset="-122"/>
                          <a:cs typeface="Garamond" pitchFamily="34" charset="-120"/>
                        </a:rPr>
                        <a:t>Leader</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Developing</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Developing</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Limited</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3"/>
                  </a:ext>
                </a:extLst>
              </a:tr>
              <a:tr h="256032">
                <a:tc>
                  <a:txBody>
                    <a:bodyPr/>
                    <a:lstStyle/>
                    <a:p>
                      <a:pPr marL="0" indent="0">
                        <a:buNone/>
                      </a:pPr>
                      <a:r>
                        <a:rPr lang="en-US" sz="1200" b="1" dirty="0">
                          <a:solidFill>
                            <a:srgbClr val="000000"/>
                          </a:solidFill>
                          <a:latin typeface="Garamond" pitchFamily="34" charset="0"/>
                          <a:ea typeface="Garamond" pitchFamily="34" charset="-122"/>
                          <a:cs typeface="Garamond" pitchFamily="34" charset="-120"/>
                        </a:rPr>
                        <a:t>Gross Margin</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F04438"/>
                          </a:solidFill>
                          <a:latin typeface="Garamond" pitchFamily="34" charset="0"/>
                          <a:ea typeface="Garamond" pitchFamily="34" charset="-122"/>
                          <a:cs typeface="Garamond" pitchFamily="34" charset="-120"/>
                        </a:rPr>
                        <a:t>6-11%</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20-21%</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30-32%</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4-6%</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4"/>
                  </a:ext>
                </a:extLst>
              </a:tr>
              <a:tr h="256032">
                <a:tc>
                  <a:txBody>
                    <a:bodyPr/>
                    <a:lstStyle/>
                    <a:p>
                      <a:pPr marL="0" indent="0">
                        <a:buNone/>
                      </a:pPr>
                      <a:r>
                        <a:rPr lang="en-US" sz="1200" b="1" dirty="0">
                          <a:solidFill>
                            <a:srgbClr val="000000"/>
                          </a:solidFill>
                          <a:latin typeface="Garamond" pitchFamily="34" charset="0"/>
                          <a:ea typeface="Garamond" pitchFamily="34" charset="-122"/>
                          <a:cs typeface="Garamond" pitchFamily="34" charset="-120"/>
                        </a:rPr>
                        <a:t>AI Server Focus</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b="1" dirty="0">
                          <a:solidFill>
                            <a:srgbClr val="000000"/>
                          </a:solidFill>
                          <a:latin typeface="Garamond" pitchFamily="34" charset="0"/>
                          <a:ea typeface="Garamond" pitchFamily="34" charset="-122"/>
                          <a:cs typeface="Garamond" pitchFamily="34" charset="-120"/>
                        </a:rPr>
                        <a:t>Primary</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~15% of rev</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~20% of rev</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Contract-based</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5"/>
                  </a:ext>
                </a:extLst>
              </a:tr>
              <a:tr h="256032">
                <a:tc>
                  <a:txBody>
                    <a:bodyPr/>
                    <a:lstStyle/>
                    <a:p>
                      <a:pPr marL="0" indent="0">
                        <a:buNone/>
                      </a:pPr>
                      <a:r>
                        <a:rPr lang="en-US" sz="1200" b="1" dirty="0">
                          <a:solidFill>
                            <a:srgbClr val="000000"/>
                          </a:solidFill>
                          <a:latin typeface="Garamond" pitchFamily="34" charset="0"/>
                          <a:ea typeface="Garamond" pitchFamily="34" charset="-122"/>
                          <a:cs typeface="Garamond" pitchFamily="34" charset="-120"/>
                        </a:rPr>
                        <a:t>Mkt Share (AI)</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~15-20%</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#1</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#3-4</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Varies</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6"/>
                  </a:ext>
                </a:extLst>
              </a:tr>
              <a:tr h="256032">
                <a:tc>
                  <a:txBody>
                    <a:bodyPr/>
                    <a:lstStyle/>
                    <a:p>
                      <a:pPr marL="0" indent="0">
                        <a:buNone/>
                      </a:pPr>
                      <a:r>
                        <a:rPr lang="en-US" sz="1200" b="1" dirty="0">
                          <a:solidFill>
                            <a:srgbClr val="000000"/>
                          </a:solidFill>
                          <a:latin typeface="Garamond" pitchFamily="34" charset="0"/>
                          <a:ea typeface="Garamond" pitchFamily="34" charset="-122"/>
                          <a:cs typeface="Garamond" pitchFamily="34" charset="-120"/>
                        </a:rPr>
                        <a:t>Services/SW</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F04438"/>
                          </a:solidFill>
                          <a:latin typeface="Garamond" pitchFamily="34" charset="0"/>
                          <a:ea typeface="Garamond" pitchFamily="34" charset="-122"/>
                          <a:cs typeface="Garamond" pitchFamily="34" charset="-120"/>
                        </a:rPr>
                        <a:t>Limited</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Extensive</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Extensive</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None</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22" name="Text 11">
            <a:extLst>
              <a:ext uri="{FF2B5EF4-FFF2-40B4-BE49-F238E27FC236}">
                <a16:creationId xmlns:a16="http://schemas.microsoft.com/office/drawing/2014/main" id="{10A0D1EB-921F-4E63-A41E-50B982DF311C}"/>
              </a:ext>
            </a:extLst>
          </p:cNvPr>
          <p:cNvSpPr/>
          <p:nvPr/>
        </p:nvSpPr>
        <p:spPr>
          <a:xfrm>
            <a:off x="1889760" y="4005674"/>
            <a:ext cx="8412480" cy="256032"/>
          </a:xfrm>
          <a:prstGeom prst="rect">
            <a:avLst/>
          </a:prstGeom>
          <a:noFill/>
          <a:ln/>
        </p:spPr>
        <p:txBody>
          <a:bodyPr wrap="square" rtlCol="0" anchor="ctr"/>
          <a:lstStyle/>
          <a:p>
            <a:pPr marL="0" indent="0">
              <a:buNone/>
            </a:pPr>
            <a:r>
              <a:rPr lang="en-US" sz="1000" b="1" dirty="0">
                <a:solidFill>
                  <a:srgbClr val="1D2939"/>
                </a:solidFill>
                <a:latin typeface="Garamond" pitchFamily="34" charset="0"/>
                <a:ea typeface="Garamond" pitchFamily="34" charset="-122"/>
                <a:cs typeface="Garamond" pitchFamily="34" charset="-120"/>
              </a:rPr>
              <a:t>Key Competitive Dynamics:</a:t>
            </a:r>
            <a:endParaRPr lang="en-US" sz="1000" dirty="0"/>
          </a:p>
        </p:txBody>
      </p:sp>
      <p:sp>
        <p:nvSpPr>
          <p:cNvPr id="23" name="Text 12">
            <a:extLst>
              <a:ext uri="{FF2B5EF4-FFF2-40B4-BE49-F238E27FC236}">
                <a16:creationId xmlns:a16="http://schemas.microsoft.com/office/drawing/2014/main" id="{02AD7BAB-9464-4C9C-8E02-CCBFA6231ACE}"/>
              </a:ext>
            </a:extLst>
          </p:cNvPr>
          <p:cNvSpPr/>
          <p:nvPr/>
        </p:nvSpPr>
        <p:spPr>
          <a:xfrm>
            <a:off x="1889760" y="4279994"/>
            <a:ext cx="8412480" cy="1417320"/>
          </a:xfrm>
          <a:prstGeom prst="rect">
            <a:avLst/>
          </a:prstGeom>
          <a:noFill/>
          <a:ln/>
        </p:spPr>
        <p:txBody>
          <a:bodyPr wrap="square" rtlCol="0" anchor="t"/>
          <a:lstStyle/>
          <a:p>
            <a:pPr marL="342900" indent="-342900">
              <a:spcAft>
                <a:spcPts val="400"/>
              </a:spcAft>
              <a:buSzPct val="100000"/>
              <a:buChar char="•"/>
            </a:pPr>
            <a:r>
              <a:rPr lang="en-US" sz="1200" dirty="0">
                <a:solidFill>
                  <a:srgbClr val="1D2939"/>
                </a:solidFill>
                <a:latin typeface="Garamond" pitchFamily="34" charset="0"/>
                <a:ea typeface="Garamond" pitchFamily="34" charset="-122"/>
                <a:cs typeface="Garamond" pitchFamily="34" charset="-120"/>
              </a:rPr>
              <a:t>Speed is the core differentiator: When NVIDIA launches a new GPU, SMCI has validated designs within weeks vs. 6-12 months for Dell/HPE. In a market where every quarter of delay = lost AI training revenue, this speed premium is substantial</a:t>
            </a:r>
            <a:endParaRPr lang="en-US" sz="1200" dirty="0"/>
          </a:p>
          <a:p>
            <a:pPr marL="342900" indent="-342900">
              <a:spcAft>
                <a:spcPts val="400"/>
              </a:spcAft>
              <a:buSzPct val="100000"/>
              <a:buChar char="•"/>
            </a:pPr>
            <a:r>
              <a:rPr lang="en-US" sz="1200" dirty="0">
                <a:solidFill>
                  <a:srgbClr val="1D2939"/>
                </a:solidFill>
                <a:latin typeface="Garamond" pitchFamily="34" charset="0"/>
                <a:ea typeface="Garamond" pitchFamily="34" charset="-122"/>
                <a:cs typeface="Garamond" pitchFamily="34" charset="-120"/>
              </a:rPr>
              <a:t>Dell ($104B TTM rev) has a massive enterprise sales force and full-stack solutions; HPE ($34B) has strong gov't relationships and GreenLake as-a-service. Both are investing aggressively in liquid cooling.</a:t>
            </a:r>
            <a:endParaRPr lang="en-US" sz="1200" dirty="0"/>
          </a:p>
          <a:p>
            <a:pPr marL="342900" indent="-342900">
              <a:spcAft>
                <a:spcPts val="400"/>
              </a:spcAft>
              <a:buSzPct val="100000"/>
              <a:buChar char="•"/>
            </a:pPr>
            <a:r>
              <a:rPr lang="en-US" sz="1200" dirty="0">
                <a:solidFill>
                  <a:srgbClr val="1D2939"/>
                </a:solidFill>
                <a:latin typeface="Garamond" pitchFamily="34" charset="0"/>
                <a:ea typeface="Garamond" pitchFamily="34" charset="-122"/>
                <a:cs typeface="Garamond" pitchFamily="34" charset="-120"/>
              </a:rPr>
              <a:t>ODMs (Quanta, Wistron, Foxconn) build custom hyperscaler designs at 4-6% margins with no brand/IP; in-house designs (Google TPU, Amazon Trainium) are a long-term structural threat to all OEMs</a:t>
            </a:r>
            <a:endParaRPr lang="en-US" sz="1200" dirty="0"/>
          </a:p>
          <a:p>
            <a:pPr marL="342900" indent="-342900">
              <a:spcAft>
                <a:spcPts val="400"/>
              </a:spcAft>
              <a:buSzPct val="100000"/>
              <a:buChar char="•"/>
            </a:pPr>
            <a:r>
              <a:rPr lang="en-US" sz="1200" dirty="0">
                <a:solidFill>
                  <a:srgbClr val="1D2939"/>
                </a:solidFill>
                <a:latin typeface="Garamond" pitchFamily="34" charset="0"/>
                <a:ea typeface="Garamond" pitchFamily="34" charset="-122"/>
                <a:cs typeface="Garamond" pitchFamily="34" charset="-120"/>
              </a:rPr>
              <a:t>SMCI holds ~25-30% share in liquid cooling specifically (market leader) but margins (6-11%) are well below Dell (20-21%) and HPE (30-32%), reflecting a volume/speed model vs. premium pricing</a:t>
            </a:r>
            <a:endParaRPr lang="en-US" sz="1200" dirty="0"/>
          </a:p>
        </p:txBody>
      </p:sp>
      <p:pic>
        <p:nvPicPr>
          <p:cNvPr id="24" name="Picture 23">
            <a:extLst>
              <a:ext uri="{FF2B5EF4-FFF2-40B4-BE49-F238E27FC236}">
                <a16:creationId xmlns:a16="http://schemas.microsoft.com/office/drawing/2014/main" id="{4C213A25-725D-41EF-AF90-31D3CC1830AC}"/>
              </a:ext>
            </a:extLst>
          </p:cNvPr>
          <p:cNvPicPr>
            <a:picLocks noChangeAspect="1"/>
          </p:cNvPicPr>
          <p:nvPr/>
        </p:nvPicPr>
        <p:blipFill>
          <a:blip r:embed="rId4"/>
          <a:stretch>
            <a:fillRect/>
          </a:stretch>
        </p:blipFill>
        <p:spPr>
          <a:xfrm>
            <a:off x="10160006" y="6379320"/>
            <a:ext cx="1422710" cy="46484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g2b6e027a1db_8_49"/>
          <p:cNvSpPr txBox="1">
            <a:spLocks noGrp="1"/>
          </p:cNvSpPr>
          <p:nvPr>
            <p:ph type="sldNum" idx="12"/>
          </p:nvPr>
        </p:nvSpPr>
        <p:spPr>
          <a:xfrm>
            <a:off x="11748073" y="6466825"/>
            <a:ext cx="293400" cy="323100"/>
          </a:xfrm>
          <a:prstGeom prst="rect">
            <a:avLst/>
          </a:prstGeom>
          <a:noFill/>
          <a:ln>
            <a:noFill/>
          </a:ln>
        </p:spPr>
        <p:txBody>
          <a:bodyPr spcFirstLastPara="1" wrap="square" lIns="91425" tIns="45700" rIns="91425" bIns="45700" anchor="ctr" anchorCtr="0">
            <a:spAutoFit/>
          </a:bodyPr>
          <a:lstStyle/>
          <a:p>
            <a:pPr marL="0" lvl="0" indent="0" algn="l" rtl="0">
              <a:lnSpc>
                <a:spcPct val="100000"/>
              </a:lnSpc>
              <a:spcBef>
                <a:spcPts val="0"/>
              </a:spcBef>
              <a:spcAft>
                <a:spcPts val="0"/>
              </a:spcAft>
              <a:buSzPts val="1500"/>
              <a:buNone/>
            </a:pPr>
            <a:fld id="{00000000-1234-1234-1234-123412341234}" type="slidenum">
              <a:rPr lang="en-US" sz="1500" cap="small">
                <a:solidFill>
                  <a:schemeClr val="lt1"/>
                </a:solidFill>
                <a:latin typeface="Garamond"/>
                <a:ea typeface="Garamond"/>
                <a:cs typeface="Garamond"/>
                <a:sym typeface="Garamond"/>
              </a:rPr>
              <a:t>7</a:t>
            </a:fld>
            <a:endParaRPr sz="1500" cap="small">
              <a:solidFill>
                <a:schemeClr val="lt1"/>
              </a:solidFill>
              <a:latin typeface="Garamond"/>
              <a:ea typeface="Garamond"/>
              <a:cs typeface="Garamond"/>
              <a:sym typeface="Garamond"/>
            </a:endParaRPr>
          </a:p>
        </p:txBody>
      </p:sp>
      <p:cxnSp>
        <p:nvCxnSpPr>
          <p:cNvPr id="197" name="Google Shape;197;g2b6e027a1db_8_49"/>
          <p:cNvCxnSpPr/>
          <p:nvPr/>
        </p:nvCxnSpPr>
        <p:spPr>
          <a:xfrm>
            <a:off x="11746228" y="6510872"/>
            <a:ext cx="0" cy="232500"/>
          </a:xfrm>
          <a:prstGeom prst="straightConnector1">
            <a:avLst/>
          </a:prstGeom>
          <a:noFill/>
          <a:ln w="9525" cap="flat" cmpd="sng">
            <a:solidFill>
              <a:schemeClr val="lt1"/>
            </a:solidFill>
            <a:prstDash val="solid"/>
            <a:miter lim="800000"/>
            <a:headEnd type="none" w="sm" len="sm"/>
            <a:tailEnd type="none" w="sm" len="sm"/>
          </a:ln>
        </p:spPr>
      </p:cxnSp>
      <p:sp>
        <p:nvSpPr>
          <p:cNvPr id="198" name="Google Shape;198;g2b6e027a1db_8_49"/>
          <p:cNvSpPr txBox="1">
            <a:spLocks noGrp="1"/>
          </p:cNvSpPr>
          <p:nvPr>
            <p:ph type="sldNum" idx="4294967295"/>
          </p:nvPr>
        </p:nvSpPr>
        <p:spPr>
          <a:xfrm>
            <a:off x="11520419" y="6466832"/>
            <a:ext cx="521100" cy="323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200"/>
              <a:buFont typeface="Arial"/>
              <a:buNone/>
            </a:pPr>
            <a:r>
              <a:rPr lang="en-US"/>
              <a:t>|  </a:t>
            </a:r>
            <a:fld id="{00000000-1234-1234-1234-123412341234}" type="slidenum">
              <a:rPr lang="en-US"/>
              <a:t>7</a:t>
            </a:fld>
            <a:endParaRPr/>
          </a:p>
        </p:txBody>
      </p:sp>
      <p:sp>
        <p:nvSpPr>
          <p:cNvPr id="199" name="Google Shape;199;g2b6e027a1db_8_49"/>
          <p:cNvSpPr/>
          <p:nvPr/>
        </p:nvSpPr>
        <p:spPr>
          <a:xfrm>
            <a:off x="-37950" y="3908122"/>
            <a:ext cx="12267900" cy="61500"/>
          </a:xfrm>
          <a:prstGeom prst="rect">
            <a:avLst/>
          </a:prstGeom>
          <a:solidFill>
            <a:srgbClr val="FFC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 name="Google Shape;200;g2b6e027a1db_8_49"/>
          <p:cNvSpPr/>
          <p:nvPr/>
        </p:nvSpPr>
        <p:spPr>
          <a:xfrm>
            <a:off x="-37950" y="2888251"/>
            <a:ext cx="12267900" cy="1020000"/>
          </a:xfrm>
          <a:prstGeom prst="rect">
            <a:avLst/>
          </a:prstGeom>
          <a:solidFill>
            <a:srgbClr val="002060"/>
          </a:solidFill>
          <a:ln w="9525" cap="flat" cmpd="sng">
            <a:solidFill>
              <a:srgbClr val="233A4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 name="Google Shape;201;g2b6e027a1db_8_49"/>
          <p:cNvSpPr txBox="1"/>
          <p:nvPr/>
        </p:nvSpPr>
        <p:spPr>
          <a:xfrm>
            <a:off x="718260" y="2995299"/>
            <a:ext cx="8952000" cy="74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3500" b="1" i="0" u="none" strike="noStrike" cap="none" dirty="0">
                <a:solidFill>
                  <a:srgbClr val="FFFFFF"/>
                </a:solidFill>
                <a:latin typeface="Garamond"/>
                <a:ea typeface="Garamond"/>
                <a:cs typeface="Garamond"/>
                <a:sym typeface="Garamond"/>
              </a:rPr>
              <a:t>II.</a:t>
            </a:r>
            <a:r>
              <a:rPr lang="en-US" sz="3500" b="1" dirty="0">
                <a:solidFill>
                  <a:srgbClr val="FFFFFF"/>
                </a:solidFill>
                <a:latin typeface="Garamond"/>
                <a:ea typeface="Garamond"/>
                <a:cs typeface="Garamond"/>
                <a:sym typeface="Garamond"/>
              </a:rPr>
              <a:t>  Thesis Points</a:t>
            </a:r>
            <a:endParaRPr sz="3500" b="1" i="0" u="none" strike="noStrike" cap="none" dirty="0">
              <a:solidFill>
                <a:srgbClr val="FFFFFF"/>
              </a:solidFill>
              <a:latin typeface="Garamond"/>
              <a:ea typeface="Garamond"/>
              <a:cs typeface="Garamond"/>
              <a:sym typeface="Garamond"/>
            </a:endParaRPr>
          </a:p>
        </p:txBody>
      </p:sp>
      <p:pic>
        <p:nvPicPr>
          <p:cNvPr id="8" name="Picture 4" descr="SMCI - Super Micro Computer, Inc. Trademark Registration">
            <a:extLst>
              <a:ext uri="{FF2B5EF4-FFF2-40B4-BE49-F238E27FC236}">
                <a16:creationId xmlns:a16="http://schemas.microsoft.com/office/drawing/2014/main" id="{D040149D-30D1-41E7-B189-8FE19EBAB2F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001" b="17593"/>
          <a:stretch/>
        </p:blipFill>
        <p:spPr bwMode="auto">
          <a:xfrm>
            <a:off x="10032470" y="64180"/>
            <a:ext cx="2009003" cy="54750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0D1C22BD-1E88-457C-8F71-B41209D00F38}"/>
              </a:ext>
            </a:extLst>
          </p:cNvPr>
          <p:cNvPicPr>
            <a:picLocks noChangeAspect="1"/>
          </p:cNvPicPr>
          <p:nvPr/>
        </p:nvPicPr>
        <p:blipFill>
          <a:blip r:embed="rId4"/>
          <a:stretch>
            <a:fillRect/>
          </a:stretch>
        </p:blipFill>
        <p:spPr>
          <a:xfrm>
            <a:off x="10160006" y="6379320"/>
            <a:ext cx="1422710" cy="46484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7"/>
          <p:cNvSpPr txBox="1"/>
          <p:nvPr/>
        </p:nvSpPr>
        <p:spPr>
          <a:xfrm>
            <a:off x="228600" y="345625"/>
            <a:ext cx="9931406" cy="3657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3000"/>
              <a:buFont typeface="Arial"/>
              <a:buNone/>
            </a:pPr>
            <a:r>
              <a:rPr lang="en-US" sz="2800" b="1" i="0" u="none" strike="noStrike" cap="small" dirty="0">
                <a:solidFill>
                  <a:srgbClr val="3F3F3F"/>
                </a:solidFill>
                <a:latin typeface="Garamond"/>
                <a:ea typeface="Garamond"/>
                <a:cs typeface="Garamond"/>
                <a:sym typeface="Garamond"/>
              </a:rPr>
              <a:t>Thesis 1: AI INFRASTRUCTURE PICK &amp; SHOVEL PLAY </a:t>
            </a:r>
            <a:endParaRPr sz="2800" b="1" i="0" u="none" strike="noStrike" cap="small" dirty="0">
              <a:solidFill>
                <a:srgbClr val="3F3F3F"/>
              </a:solidFill>
              <a:latin typeface="Garamond"/>
              <a:ea typeface="Garamond"/>
              <a:cs typeface="Garamond"/>
              <a:sym typeface="Garamond"/>
            </a:endParaRPr>
          </a:p>
        </p:txBody>
      </p:sp>
      <p:sp>
        <p:nvSpPr>
          <p:cNvPr id="207" name="Google Shape;207;p7"/>
          <p:cNvSpPr txBox="1"/>
          <p:nvPr/>
        </p:nvSpPr>
        <p:spPr>
          <a:xfrm>
            <a:off x="813872" y="904169"/>
            <a:ext cx="5092500" cy="350100"/>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700" b="1" i="0" u="none" strike="noStrike" cap="none" dirty="0">
                <a:solidFill>
                  <a:srgbClr val="FFFFFF"/>
                </a:solidFill>
                <a:latin typeface="Garamond"/>
                <a:ea typeface="Garamond"/>
                <a:cs typeface="Garamond"/>
                <a:sym typeface="Garamond"/>
              </a:rPr>
              <a:t>Strong AI Growth Sentiment &amp; Positioning</a:t>
            </a:r>
            <a:endParaRPr sz="1700" b="1" i="0" u="none" strike="noStrike" cap="none" dirty="0">
              <a:solidFill>
                <a:srgbClr val="FFFFFF"/>
              </a:solidFill>
              <a:latin typeface="Garamond"/>
              <a:ea typeface="Garamond"/>
              <a:cs typeface="Garamond"/>
              <a:sym typeface="Garamond"/>
            </a:endParaRPr>
          </a:p>
        </p:txBody>
      </p:sp>
      <p:sp>
        <p:nvSpPr>
          <p:cNvPr id="209" name="Google Shape;209;p7"/>
          <p:cNvSpPr txBox="1"/>
          <p:nvPr/>
        </p:nvSpPr>
        <p:spPr>
          <a:xfrm>
            <a:off x="737672" y="1226696"/>
            <a:ext cx="5092500" cy="4755118"/>
          </a:xfrm>
          <a:prstGeom prst="rect">
            <a:avLst/>
          </a:prstGeom>
          <a:noFill/>
          <a:ln>
            <a:noFill/>
          </a:ln>
        </p:spPr>
        <p:txBody>
          <a:bodyPr spcFirstLastPara="1" wrap="square" lIns="91425" tIns="91425" rIns="91425" bIns="91425" anchor="t" anchorCtr="0">
            <a:spAutoFit/>
          </a:bodyPr>
          <a:lstStyle/>
          <a:p>
            <a:pPr marL="342900" indent="-342900">
              <a:spcAft>
                <a:spcPts val="600"/>
              </a:spcAft>
              <a:buSzPct val="100000"/>
              <a:buChar char="•"/>
            </a:pPr>
            <a:r>
              <a:rPr lang="en-US" sz="1600" dirty="0">
                <a:solidFill>
                  <a:srgbClr val="1D2939"/>
                </a:solidFill>
                <a:latin typeface="Garamond" pitchFamily="34" charset="0"/>
                <a:ea typeface="Garamond" pitchFamily="34" charset="-122"/>
                <a:cs typeface="Garamond" pitchFamily="34" charset="-120"/>
              </a:rPr>
              <a:t>SMCI is the purest-play public equity on the AI infrastructure buildout: FY2026 revenue guided to $40B+ (from $22B in FY2025), a feat no other server OEM can match</a:t>
            </a:r>
            <a:endParaRPr lang="en-US" sz="1600" dirty="0"/>
          </a:p>
          <a:p>
            <a:pPr marL="342900" indent="-342900">
              <a:spcAft>
                <a:spcPts val="600"/>
              </a:spcAft>
              <a:buSzPct val="100000"/>
              <a:buChar char="•"/>
            </a:pPr>
            <a:r>
              <a:rPr lang="en-US" sz="1600" dirty="0">
                <a:solidFill>
                  <a:srgbClr val="1D2939"/>
                </a:solidFill>
                <a:latin typeface="Garamond" pitchFamily="34" charset="0"/>
                <a:ea typeface="Garamond" pitchFamily="34" charset="-122"/>
                <a:cs typeface="Garamond" pitchFamily="34" charset="-120"/>
              </a:rPr>
              <a:t>$13B+ Blackwell Ultra backlog provides 3+ quarters of revenue visibility; GB200 NVL72 rack-scale deployments carry ~$3M+ ASPs per system</a:t>
            </a:r>
            <a:endParaRPr lang="en-US" sz="1600" dirty="0"/>
          </a:p>
          <a:p>
            <a:pPr marL="342900" indent="-342900">
              <a:spcAft>
                <a:spcPts val="600"/>
              </a:spcAft>
              <a:buSzPct val="100000"/>
              <a:buChar char="•"/>
            </a:pPr>
            <a:r>
              <a:rPr lang="en-US" sz="1600" dirty="0">
                <a:solidFill>
                  <a:srgbClr val="1D2939"/>
                </a:solidFill>
                <a:latin typeface="Garamond" pitchFamily="34" charset="0"/>
                <a:ea typeface="Garamond" pitchFamily="34" charset="-122"/>
                <a:cs typeface="Garamond" pitchFamily="34" charset="-120"/>
              </a:rPr>
              <a:t>AI server TAM growing at ~34% CAGR through 2028 to $400B+; SMCI holds ~15-20% market share in GPU servers with clear leadership in liquid cooling (~25-30%)</a:t>
            </a:r>
            <a:endParaRPr lang="en-US" sz="1600" dirty="0"/>
          </a:p>
          <a:p>
            <a:pPr marL="342900" indent="-342900">
              <a:spcAft>
                <a:spcPts val="600"/>
              </a:spcAft>
              <a:buSzPct val="100000"/>
              <a:buChar char="•"/>
            </a:pPr>
            <a:r>
              <a:rPr lang="en-US" sz="1600" dirty="0">
                <a:solidFill>
                  <a:srgbClr val="1D2939"/>
                </a:solidFill>
                <a:latin typeface="Garamond" pitchFamily="34" charset="0"/>
                <a:ea typeface="Garamond" pitchFamily="34" charset="-122"/>
                <a:cs typeface="Garamond" pitchFamily="34" charset="-120"/>
              </a:rPr>
              <a:t>NVIDIA partnership depth: Early access to Blackwell/GB200 platforms; first OEM to ship GB200 NVL72 rack-scale systems, demonstrating engineering trust</a:t>
            </a:r>
            <a:endParaRPr lang="en-US" sz="1600" dirty="0"/>
          </a:p>
          <a:p>
            <a:pPr marL="342900" indent="-342900">
              <a:spcAft>
                <a:spcPts val="600"/>
              </a:spcAft>
              <a:buSzPct val="100000"/>
              <a:buChar char="•"/>
            </a:pPr>
            <a:r>
              <a:rPr lang="en-US" sz="1600" dirty="0">
                <a:solidFill>
                  <a:srgbClr val="1D2939"/>
                </a:solidFill>
                <a:latin typeface="Garamond" pitchFamily="34" charset="0"/>
                <a:ea typeface="Garamond" pitchFamily="34" charset="-122"/>
                <a:cs typeface="Garamond" pitchFamily="34" charset="-120"/>
              </a:rPr>
              <a:t>Catalyst: NVIDIA Blackwell Ultra production ramp in H1 CY2026 validates demand sustainability and converts backlog to recognized revenue</a:t>
            </a:r>
            <a:endParaRPr lang="en-US" sz="1600" dirty="0"/>
          </a:p>
        </p:txBody>
      </p:sp>
      <p:cxnSp>
        <p:nvCxnSpPr>
          <p:cNvPr id="211" name="Google Shape;211;p7"/>
          <p:cNvCxnSpPr/>
          <p:nvPr/>
        </p:nvCxnSpPr>
        <p:spPr>
          <a:xfrm>
            <a:off x="270932" y="711202"/>
            <a:ext cx="11633100" cy="0"/>
          </a:xfrm>
          <a:prstGeom prst="straightConnector1">
            <a:avLst/>
          </a:prstGeom>
          <a:noFill/>
          <a:ln w="9525" cap="flat" cmpd="sng">
            <a:solidFill>
              <a:srgbClr val="001746"/>
            </a:solidFill>
            <a:prstDash val="solid"/>
            <a:miter lim="800000"/>
            <a:headEnd type="none" w="sm" len="sm"/>
            <a:tailEnd type="none" w="sm" len="sm"/>
          </a:ln>
        </p:spPr>
      </p:cxnSp>
      <p:sp>
        <p:nvSpPr>
          <p:cNvPr id="212" name="Google Shape;212;p7"/>
          <p:cNvSpPr/>
          <p:nvPr/>
        </p:nvSpPr>
        <p:spPr>
          <a:xfrm>
            <a:off x="1145042" y="6486133"/>
            <a:ext cx="1270500" cy="2820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Company</a:t>
            </a:r>
            <a:endParaRPr sz="1400" b="0" i="0" u="none" strike="noStrike" cap="none">
              <a:solidFill>
                <a:schemeClr val="lt1"/>
              </a:solidFill>
              <a:latin typeface="Garamond"/>
              <a:ea typeface="Garamond"/>
              <a:cs typeface="Garamond"/>
              <a:sym typeface="Garamond"/>
            </a:endParaRPr>
          </a:p>
        </p:txBody>
      </p:sp>
      <p:sp>
        <p:nvSpPr>
          <p:cNvPr id="213" name="Google Shape;213;p7"/>
          <p:cNvSpPr/>
          <p:nvPr/>
        </p:nvSpPr>
        <p:spPr>
          <a:xfrm>
            <a:off x="2664119"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Industry</a:t>
            </a:r>
            <a:endParaRPr sz="1400" b="0" i="0" u="none" strike="noStrike" cap="none">
              <a:solidFill>
                <a:schemeClr val="lt1"/>
              </a:solidFill>
              <a:latin typeface="Garamond"/>
              <a:ea typeface="Garamond"/>
              <a:cs typeface="Garamond"/>
              <a:sym typeface="Garamond"/>
            </a:endParaRPr>
          </a:p>
        </p:txBody>
      </p:sp>
      <p:sp>
        <p:nvSpPr>
          <p:cNvPr id="214" name="Google Shape;214;p7"/>
          <p:cNvSpPr/>
          <p:nvPr/>
        </p:nvSpPr>
        <p:spPr>
          <a:xfrm>
            <a:off x="4183196" y="6486133"/>
            <a:ext cx="1270500" cy="282000"/>
          </a:xfrm>
          <a:prstGeom prst="rect">
            <a:avLst/>
          </a:prstGeom>
          <a:solidFill>
            <a:srgbClr val="041E4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Theses</a:t>
            </a:r>
            <a:endParaRPr sz="1400" b="0" i="0" u="none" strike="noStrike" cap="none">
              <a:solidFill>
                <a:schemeClr val="lt1"/>
              </a:solidFill>
              <a:latin typeface="Garamond"/>
              <a:ea typeface="Garamond"/>
              <a:cs typeface="Garamond"/>
              <a:sym typeface="Garamond"/>
            </a:endParaRPr>
          </a:p>
        </p:txBody>
      </p:sp>
      <p:sp>
        <p:nvSpPr>
          <p:cNvPr id="215" name="Google Shape;215;p7"/>
          <p:cNvSpPr/>
          <p:nvPr/>
        </p:nvSpPr>
        <p:spPr>
          <a:xfrm>
            <a:off x="7221349"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lt1"/>
                </a:solidFill>
                <a:latin typeface="Garamond"/>
                <a:ea typeface="Garamond"/>
                <a:cs typeface="Garamond"/>
                <a:sym typeface="Garamond"/>
              </a:rPr>
              <a:t>ESG</a:t>
            </a:r>
            <a:endParaRPr sz="1400" b="0" i="0" u="none" strike="noStrike" cap="none" dirty="0">
              <a:solidFill>
                <a:schemeClr val="lt1"/>
              </a:solidFill>
              <a:latin typeface="Garamond"/>
              <a:ea typeface="Garamond"/>
              <a:cs typeface="Garamond"/>
              <a:sym typeface="Garamond"/>
            </a:endParaRPr>
          </a:p>
        </p:txBody>
      </p:sp>
      <p:sp>
        <p:nvSpPr>
          <p:cNvPr id="216" name="Google Shape;216;p7"/>
          <p:cNvSpPr/>
          <p:nvPr/>
        </p:nvSpPr>
        <p:spPr>
          <a:xfrm>
            <a:off x="8740461"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Risks</a:t>
            </a:r>
            <a:endParaRPr sz="1400" b="0" i="0" u="none" strike="noStrike" cap="none">
              <a:solidFill>
                <a:schemeClr val="lt1"/>
              </a:solidFill>
              <a:latin typeface="Garamond"/>
              <a:ea typeface="Garamond"/>
              <a:cs typeface="Garamond"/>
              <a:sym typeface="Garamond"/>
            </a:endParaRPr>
          </a:p>
        </p:txBody>
      </p:sp>
      <p:sp>
        <p:nvSpPr>
          <p:cNvPr id="217" name="Google Shape;217;p7"/>
          <p:cNvSpPr/>
          <p:nvPr/>
        </p:nvSpPr>
        <p:spPr>
          <a:xfrm>
            <a:off x="5702272"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lt1"/>
                </a:solidFill>
                <a:latin typeface="Garamond"/>
                <a:ea typeface="Garamond"/>
                <a:cs typeface="Garamond"/>
                <a:sym typeface="Garamond"/>
              </a:rPr>
              <a:t>Valuation</a:t>
            </a:r>
            <a:endParaRPr sz="1400" b="0" i="0" u="none" strike="noStrike" cap="none" dirty="0">
              <a:solidFill>
                <a:schemeClr val="lt1"/>
              </a:solidFill>
              <a:latin typeface="Garamond"/>
              <a:ea typeface="Garamond"/>
              <a:cs typeface="Garamond"/>
              <a:sym typeface="Garamond"/>
            </a:endParaRPr>
          </a:p>
        </p:txBody>
      </p:sp>
      <p:sp>
        <p:nvSpPr>
          <p:cNvPr id="218" name="Google Shape;218;p7"/>
          <p:cNvSpPr txBox="1">
            <a:spLocks noGrp="1"/>
          </p:cNvSpPr>
          <p:nvPr>
            <p:ph type="sldNum" idx="4294967295"/>
          </p:nvPr>
        </p:nvSpPr>
        <p:spPr>
          <a:xfrm>
            <a:off x="11520419" y="6466832"/>
            <a:ext cx="521100" cy="323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200"/>
              <a:buFont typeface="Arial"/>
              <a:buNone/>
            </a:pPr>
            <a:r>
              <a:rPr lang="en-US"/>
              <a:t>|  </a:t>
            </a:r>
            <a:fld id="{00000000-1234-1234-1234-123412341234}" type="slidenum">
              <a:rPr lang="en-US"/>
              <a:t>8</a:t>
            </a:fld>
            <a:endParaRPr/>
          </a:p>
        </p:txBody>
      </p:sp>
      <p:sp>
        <p:nvSpPr>
          <p:cNvPr id="223" name="Google Shape;223;p7"/>
          <p:cNvSpPr txBox="1"/>
          <p:nvPr/>
        </p:nvSpPr>
        <p:spPr>
          <a:xfrm>
            <a:off x="6263558" y="892199"/>
            <a:ext cx="5044200" cy="365700"/>
          </a:xfrm>
          <a:prstGeom prst="rect">
            <a:avLst/>
          </a:prstGeom>
          <a:solidFill>
            <a:srgbClr val="002060"/>
          </a:solidFill>
          <a:ln w="9525" cap="flat" cmpd="sng">
            <a:solidFill>
              <a:srgbClr val="041E4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1" dirty="0">
                <a:solidFill>
                  <a:srgbClr val="FFFFFF"/>
                </a:solidFill>
                <a:latin typeface="Garamond"/>
                <a:ea typeface="Garamond"/>
                <a:cs typeface="Garamond"/>
                <a:sym typeface="Garamond"/>
              </a:rPr>
              <a:t>DLC Structure Market </a:t>
            </a:r>
            <a:endParaRPr sz="1600" b="1" dirty="0">
              <a:solidFill>
                <a:srgbClr val="FFFFFF"/>
              </a:solidFill>
              <a:latin typeface="Garamond"/>
              <a:ea typeface="Garamond"/>
              <a:cs typeface="Garamond"/>
              <a:sym typeface="Garamond"/>
            </a:endParaRPr>
          </a:p>
        </p:txBody>
      </p:sp>
      <p:pic>
        <p:nvPicPr>
          <p:cNvPr id="21" name="Picture 4" descr="SMCI - Super Micro Computer, Inc. Trademark Registration">
            <a:extLst>
              <a:ext uri="{FF2B5EF4-FFF2-40B4-BE49-F238E27FC236}">
                <a16:creationId xmlns:a16="http://schemas.microsoft.com/office/drawing/2014/main" id="{90D68447-5CD1-4255-BCBC-47C6924A208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001" b="17593"/>
          <a:stretch/>
        </p:blipFill>
        <p:spPr bwMode="auto">
          <a:xfrm>
            <a:off x="10032470" y="64180"/>
            <a:ext cx="2009003" cy="547501"/>
          </a:xfrm>
          <a:prstGeom prst="rect">
            <a:avLst/>
          </a:prstGeom>
          <a:noFill/>
          <a:extLst>
            <a:ext uri="{909E8E84-426E-40DD-AFC4-6F175D3DCCD1}">
              <a14:hiddenFill xmlns:a14="http://schemas.microsoft.com/office/drawing/2010/main">
                <a:solidFill>
                  <a:srgbClr val="FFFFFF"/>
                </a:solidFill>
              </a14:hiddenFill>
            </a:ext>
          </a:extLst>
        </p:spPr>
      </p:pic>
      <p:sp>
        <p:nvSpPr>
          <p:cNvPr id="22" name="Google Shape;222;p7">
            <a:extLst>
              <a:ext uri="{FF2B5EF4-FFF2-40B4-BE49-F238E27FC236}">
                <a16:creationId xmlns:a16="http://schemas.microsoft.com/office/drawing/2014/main" id="{0E2724C7-1955-437D-A3D2-1F3B7720DA59}"/>
              </a:ext>
            </a:extLst>
          </p:cNvPr>
          <p:cNvSpPr txBox="1"/>
          <p:nvPr/>
        </p:nvSpPr>
        <p:spPr>
          <a:xfrm>
            <a:off x="6252213" y="1226696"/>
            <a:ext cx="5000100" cy="5247560"/>
          </a:xfrm>
          <a:prstGeom prst="rect">
            <a:avLst/>
          </a:prstGeom>
          <a:noFill/>
          <a:ln>
            <a:noFill/>
          </a:ln>
        </p:spPr>
        <p:txBody>
          <a:bodyPr spcFirstLastPara="1" wrap="square" lIns="91425" tIns="91425" rIns="91425" bIns="91425" anchor="t" anchorCtr="0">
            <a:spAutoFit/>
          </a:bodyPr>
          <a:lstStyle/>
          <a:p>
            <a:pPr marL="342900" indent="-342900">
              <a:spcAft>
                <a:spcPts val="600"/>
              </a:spcAft>
              <a:buSzPct val="100000"/>
              <a:buChar char="•"/>
            </a:pPr>
            <a:r>
              <a:rPr lang="en-US" sz="1600" dirty="0">
                <a:solidFill>
                  <a:srgbClr val="1D2939"/>
                </a:solidFill>
                <a:latin typeface="Garamond" pitchFamily="34" charset="0"/>
                <a:ea typeface="Garamond" pitchFamily="34" charset="-122"/>
                <a:cs typeface="Garamond" pitchFamily="34" charset="-120"/>
              </a:rPr>
              <a:t>Direct Liquid Cooling (DLC) is transitioning from optional to mandatory as GPU power densities exceed 100kW/rack; SMCI is the acknowledged market leader with broadest product line</a:t>
            </a:r>
            <a:endParaRPr lang="en-US" sz="1600" dirty="0"/>
          </a:p>
          <a:p>
            <a:pPr marL="342900" indent="-342900">
              <a:spcAft>
                <a:spcPts val="600"/>
              </a:spcAft>
              <a:buSzPct val="100000"/>
              <a:buChar char="•"/>
            </a:pPr>
            <a:r>
              <a:rPr lang="en-US" sz="1600" dirty="0">
                <a:solidFill>
                  <a:srgbClr val="1D2939"/>
                </a:solidFill>
                <a:latin typeface="Garamond" pitchFamily="34" charset="0"/>
                <a:ea typeface="Garamond" pitchFamily="34" charset="-122"/>
                <a:cs typeface="Garamond" pitchFamily="34" charset="-120"/>
              </a:rPr>
              <a:t>DLC attachment rates expected to increase from ~20% today to ~60-70% by 2028, expanding SMCI's addressable market within the broader AI server ecosystem</a:t>
            </a:r>
            <a:endParaRPr lang="en-US" sz="1600" dirty="0"/>
          </a:p>
          <a:p>
            <a:pPr marL="342900" indent="-342900">
              <a:spcAft>
                <a:spcPts val="600"/>
              </a:spcAft>
              <a:buSzPct val="100000"/>
              <a:buChar char="•"/>
            </a:pPr>
            <a:r>
              <a:rPr lang="en-US" sz="1600" dirty="0">
                <a:solidFill>
                  <a:srgbClr val="1D2939"/>
                </a:solidFill>
                <a:latin typeface="Garamond" pitchFamily="34" charset="0"/>
                <a:ea typeface="Garamond" pitchFamily="34" charset="-122"/>
                <a:cs typeface="Garamond" pitchFamily="34" charset="-120"/>
              </a:rPr>
              <a:t>GB200 NVL72 requires liquid cooling by design (100% attach rate on NVIDIA's flagship platform); liquid-cooled systems create deeper switching costs (piping, manifolds, CDU infrastructure)</a:t>
            </a:r>
            <a:endParaRPr lang="en-US" sz="1600" dirty="0"/>
          </a:p>
          <a:p>
            <a:pPr marL="342900" indent="-342900">
              <a:spcAft>
                <a:spcPts val="600"/>
              </a:spcAft>
              <a:buSzPct val="100000"/>
              <a:buChar char="•"/>
            </a:pPr>
            <a:r>
              <a:rPr lang="en-US" sz="1600" dirty="0">
                <a:solidFill>
                  <a:srgbClr val="1D2939"/>
                </a:solidFill>
                <a:latin typeface="Garamond" pitchFamily="34" charset="0"/>
                <a:ea typeface="Garamond" pitchFamily="34" charset="-122"/>
                <a:cs typeface="Garamond" pitchFamily="34" charset="-120"/>
              </a:rPr>
              <a:t>SMCI's DLC patents and thermal engineering expertise provide 12-18 month technology lead over Dell/HPE; rack-scale solutions carry higher ASPs than air-cooled equivalents</a:t>
            </a:r>
            <a:endParaRPr lang="en-US" sz="1600" dirty="0"/>
          </a:p>
          <a:p>
            <a:pPr marL="342900" indent="-342900">
              <a:spcAft>
                <a:spcPts val="600"/>
              </a:spcAft>
              <a:buSzPct val="100000"/>
              <a:buChar char="•"/>
            </a:pPr>
            <a:r>
              <a:rPr lang="en-US" sz="1600" dirty="0">
                <a:solidFill>
                  <a:srgbClr val="F04438"/>
                </a:solidFill>
                <a:latin typeface="Garamond" pitchFamily="34" charset="0"/>
                <a:ea typeface="Garamond" pitchFamily="34" charset="-122"/>
                <a:cs typeface="Garamond" pitchFamily="34" charset="-120"/>
              </a:rPr>
              <a:t>Risk: Dell and HPE investing heavily in DLC capabilities; technology gap could narrow within 18-24 months as competition intensifies</a:t>
            </a:r>
            <a:endParaRPr lang="en-US" sz="1600" dirty="0"/>
          </a:p>
        </p:txBody>
      </p:sp>
      <p:pic>
        <p:nvPicPr>
          <p:cNvPr id="23" name="Picture 22">
            <a:extLst>
              <a:ext uri="{FF2B5EF4-FFF2-40B4-BE49-F238E27FC236}">
                <a16:creationId xmlns:a16="http://schemas.microsoft.com/office/drawing/2014/main" id="{961B19B5-E601-4763-AEA5-BD1CD29A4CAB}"/>
              </a:ext>
            </a:extLst>
          </p:cNvPr>
          <p:cNvPicPr>
            <a:picLocks noChangeAspect="1"/>
          </p:cNvPicPr>
          <p:nvPr/>
        </p:nvPicPr>
        <p:blipFill>
          <a:blip r:embed="rId4"/>
          <a:stretch>
            <a:fillRect/>
          </a:stretch>
        </p:blipFill>
        <p:spPr>
          <a:xfrm>
            <a:off x="10160006" y="6379320"/>
            <a:ext cx="1422710" cy="46484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10"/>
          <p:cNvSpPr txBox="1"/>
          <p:nvPr/>
        </p:nvSpPr>
        <p:spPr>
          <a:xfrm>
            <a:off x="228600" y="350850"/>
            <a:ext cx="9627600" cy="3657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3000"/>
              <a:buFont typeface="Arial"/>
              <a:buNone/>
            </a:pPr>
            <a:r>
              <a:rPr lang="en-US" sz="3000" b="1" i="0" u="none" strike="noStrike" cap="small" dirty="0">
                <a:solidFill>
                  <a:srgbClr val="3F3F3F"/>
                </a:solidFill>
                <a:latin typeface="Garamond"/>
                <a:ea typeface="Garamond"/>
                <a:cs typeface="Garamond"/>
                <a:sym typeface="Garamond"/>
              </a:rPr>
              <a:t>Thesis </a:t>
            </a:r>
            <a:r>
              <a:rPr lang="en-US" sz="3000" b="1" cap="small" dirty="0">
                <a:solidFill>
                  <a:srgbClr val="3F3F3F"/>
                </a:solidFill>
                <a:latin typeface="Garamond"/>
                <a:ea typeface="Garamond"/>
                <a:cs typeface="Garamond"/>
                <a:sym typeface="Garamond"/>
              </a:rPr>
              <a:t>2</a:t>
            </a:r>
            <a:r>
              <a:rPr lang="en-US" sz="3000" b="1" i="0" u="none" strike="noStrike" cap="small" dirty="0">
                <a:solidFill>
                  <a:srgbClr val="3F3F3F"/>
                </a:solidFill>
                <a:latin typeface="Garamond"/>
                <a:ea typeface="Garamond"/>
                <a:cs typeface="Garamond"/>
                <a:sym typeface="Garamond"/>
              </a:rPr>
              <a:t>: Margins and Reversal </a:t>
            </a:r>
            <a:endParaRPr sz="3000" b="1" i="0" u="none" strike="noStrike" cap="small" dirty="0">
              <a:solidFill>
                <a:srgbClr val="3F3F3F"/>
              </a:solidFill>
              <a:latin typeface="Garamond"/>
              <a:ea typeface="Garamond"/>
              <a:cs typeface="Garamond"/>
              <a:sym typeface="Garamond"/>
            </a:endParaRPr>
          </a:p>
        </p:txBody>
      </p:sp>
      <p:cxnSp>
        <p:nvCxnSpPr>
          <p:cNvPr id="231" name="Google Shape;231;p10"/>
          <p:cNvCxnSpPr/>
          <p:nvPr/>
        </p:nvCxnSpPr>
        <p:spPr>
          <a:xfrm>
            <a:off x="270932" y="773327"/>
            <a:ext cx="11633100" cy="0"/>
          </a:xfrm>
          <a:prstGeom prst="straightConnector1">
            <a:avLst/>
          </a:prstGeom>
          <a:noFill/>
          <a:ln w="9525" cap="flat" cmpd="sng">
            <a:solidFill>
              <a:srgbClr val="001746"/>
            </a:solidFill>
            <a:prstDash val="solid"/>
            <a:miter lim="800000"/>
            <a:headEnd type="none" w="sm" len="sm"/>
            <a:tailEnd type="none" w="sm" len="sm"/>
          </a:ln>
        </p:spPr>
      </p:cxnSp>
      <p:sp>
        <p:nvSpPr>
          <p:cNvPr id="232" name="Google Shape;232;p10"/>
          <p:cNvSpPr/>
          <p:nvPr/>
        </p:nvSpPr>
        <p:spPr>
          <a:xfrm>
            <a:off x="7221349"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lt1"/>
                </a:solidFill>
                <a:latin typeface="Garamond"/>
                <a:ea typeface="Garamond"/>
                <a:cs typeface="Garamond"/>
                <a:sym typeface="Garamond"/>
              </a:rPr>
              <a:t>ESG</a:t>
            </a:r>
            <a:endParaRPr sz="1400" b="0" i="0" u="none" strike="noStrike" cap="none" dirty="0">
              <a:solidFill>
                <a:schemeClr val="lt1"/>
              </a:solidFill>
              <a:latin typeface="Garamond"/>
              <a:ea typeface="Garamond"/>
              <a:cs typeface="Garamond"/>
              <a:sym typeface="Garamond"/>
            </a:endParaRPr>
          </a:p>
        </p:txBody>
      </p:sp>
      <p:sp>
        <p:nvSpPr>
          <p:cNvPr id="233" name="Google Shape;233;p10"/>
          <p:cNvSpPr/>
          <p:nvPr/>
        </p:nvSpPr>
        <p:spPr>
          <a:xfrm>
            <a:off x="8740461"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Risks</a:t>
            </a:r>
            <a:endParaRPr sz="1400" b="0" i="0" u="none" strike="noStrike" cap="none">
              <a:solidFill>
                <a:schemeClr val="lt1"/>
              </a:solidFill>
              <a:latin typeface="Garamond"/>
              <a:ea typeface="Garamond"/>
              <a:cs typeface="Garamond"/>
              <a:sym typeface="Garamond"/>
            </a:endParaRPr>
          </a:p>
        </p:txBody>
      </p:sp>
      <p:sp>
        <p:nvSpPr>
          <p:cNvPr id="234" name="Google Shape;234;p10"/>
          <p:cNvSpPr/>
          <p:nvPr/>
        </p:nvSpPr>
        <p:spPr>
          <a:xfrm>
            <a:off x="5702272"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lt1"/>
                </a:solidFill>
                <a:latin typeface="Garamond"/>
                <a:ea typeface="Garamond"/>
                <a:cs typeface="Garamond"/>
                <a:sym typeface="Garamond"/>
              </a:rPr>
              <a:t>Valuation</a:t>
            </a:r>
            <a:endParaRPr sz="1400" b="0" i="0" u="none" strike="noStrike" cap="none" dirty="0">
              <a:solidFill>
                <a:schemeClr val="lt1"/>
              </a:solidFill>
              <a:latin typeface="Garamond"/>
              <a:ea typeface="Garamond"/>
              <a:cs typeface="Garamond"/>
              <a:sym typeface="Garamond"/>
            </a:endParaRPr>
          </a:p>
        </p:txBody>
      </p:sp>
      <p:sp>
        <p:nvSpPr>
          <p:cNvPr id="235" name="Google Shape;235;p10"/>
          <p:cNvSpPr txBox="1">
            <a:spLocks noGrp="1"/>
          </p:cNvSpPr>
          <p:nvPr>
            <p:ph type="sldNum" idx="4294967295"/>
          </p:nvPr>
        </p:nvSpPr>
        <p:spPr>
          <a:xfrm>
            <a:off x="11520419" y="6466832"/>
            <a:ext cx="521100" cy="323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200"/>
              <a:buFont typeface="Arial"/>
              <a:buNone/>
            </a:pPr>
            <a:r>
              <a:rPr lang="en-US"/>
              <a:t>|  </a:t>
            </a:r>
            <a:fld id="{00000000-1234-1234-1234-123412341234}" type="slidenum">
              <a:rPr lang="en-US"/>
              <a:t>9</a:t>
            </a:fld>
            <a:endParaRPr/>
          </a:p>
        </p:txBody>
      </p:sp>
      <p:sp>
        <p:nvSpPr>
          <p:cNvPr id="236" name="Google Shape;236;p10"/>
          <p:cNvSpPr/>
          <p:nvPr/>
        </p:nvSpPr>
        <p:spPr>
          <a:xfrm>
            <a:off x="1145042" y="6486133"/>
            <a:ext cx="1270500" cy="2820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Company</a:t>
            </a:r>
            <a:endParaRPr sz="1400" b="0" i="0" u="none" strike="noStrike" cap="none">
              <a:solidFill>
                <a:schemeClr val="lt1"/>
              </a:solidFill>
              <a:latin typeface="Garamond"/>
              <a:ea typeface="Garamond"/>
              <a:cs typeface="Garamond"/>
              <a:sym typeface="Garamond"/>
            </a:endParaRPr>
          </a:p>
        </p:txBody>
      </p:sp>
      <p:sp>
        <p:nvSpPr>
          <p:cNvPr id="237" name="Google Shape;237;p10"/>
          <p:cNvSpPr/>
          <p:nvPr/>
        </p:nvSpPr>
        <p:spPr>
          <a:xfrm>
            <a:off x="2664119"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Industry</a:t>
            </a:r>
            <a:endParaRPr sz="1400" b="0" i="0" u="none" strike="noStrike" cap="none">
              <a:solidFill>
                <a:schemeClr val="lt1"/>
              </a:solidFill>
              <a:latin typeface="Garamond"/>
              <a:ea typeface="Garamond"/>
              <a:cs typeface="Garamond"/>
              <a:sym typeface="Garamond"/>
            </a:endParaRPr>
          </a:p>
        </p:txBody>
      </p:sp>
      <p:sp>
        <p:nvSpPr>
          <p:cNvPr id="238" name="Google Shape;238;p10"/>
          <p:cNvSpPr/>
          <p:nvPr/>
        </p:nvSpPr>
        <p:spPr>
          <a:xfrm>
            <a:off x="4183196" y="6486133"/>
            <a:ext cx="1270500" cy="282000"/>
          </a:xfrm>
          <a:prstGeom prst="rect">
            <a:avLst/>
          </a:prstGeom>
          <a:solidFill>
            <a:srgbClr val="041E41"/>
          </a:solidFill>
          <a:ln w="12700" cap="flat" cmpd="sng">
            <a:solidFill>
              <a:srgbClr val="041E4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Theses</a:t>
            </a:r>
            <a:endParaRPr sz="1400" b="0" i="0" u="none" strike="noStrike" cap="none">
              <a:solidFill>
                <a:schemeClr val="lt1"/>
              </a:solidFill>
              <a:latin typeface="Garamond"/>
              <a:ea typeface="Garamond"/>
              <a:cs typeface="Garamond"/>
              <a:sym typeface="Garamond"/>
            </a:endParaRPr>
          </a:p>
        </p:txBody>
      </p:sp>
      <p:sp>
        <p:nvSpPr>
          <p:cNvPr id="239" name="Google Shape;239;p10"/>
          <p:cNvSpPr txBox="1"/>
          <p:nvPr/>
        </p:nvSpPr>
        <p:spPr>
          <a:xfrm>
            <a:off x="452993" y="962275"/>
            <a:ext cx="5655000" cy="365700"/>
          </a:xfrm>
          <a:prstGeom prst="rect">
            <a:avLst/>
          </a:prstGeom>
          <a:solidFill>
            <a:srgbClr val="002060"/>
          </a:solidFill>
          <a:ln w="9525" cap="flat" cmpd="sng">
            <a:solidFill>
              <a:srgbClr val="041E4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b="1" dirty="0">
                <a:solidFill>
                  <a:srgbClr val="FFFFFF"/>
                </a:solidFill>
                <a:latin typeface="Garamond"/>
                <a:ea typeface="Garamond"/>
                <a:cs typeface="Garamond"/>
                <a:sym typeface="Garamond"/>
              </a:rPr>
              <a:t>Margin Reversal</a:t>
            </a:r>
            <a:endParaRPr b="1" dirty="0">
              <a:solidFill>
                <a:srgbClr val="FFFFFF"/>
              </a:solidFill>
              <a:latin typeface="Garamond"/>
              <a:ea typeface="Garamond"/>
              <a:cs typeface="Garamond"/>
              <a:sym typeface="Garamond"/>
            </a:endParaRPr>
          </a:p>
        </p:txBody>
      </p:sp>
      <p:pic>
        <p:nvPicPr>
          <p:cNvPr id="20" name="Picture 4" descr="SMCI - Super Micro Computer, Inc. Trademark Registration">
            <a:extLst>
              <a:ext uri="{FF2B5EF4-FFF2-40B4-BE49-F238E27FC236}">
                <a16:creationId xmlns:a16="http://schemas.microsoft.com/office/drawing/2014/main" id="{9D22B986-95B1-42EE-8F91-BE0995B7733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001" b="17593"/>
          <a:stretch/>
        </p:blipFill>
        <p:spPr bwMode="auto">
          <a:xfrm>
            <a:off x="10032470" y="64180"/>
            <a:ext cx="2009003" cy="54750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6" name="Table 0">
            <a:extLst>
              <a:ext uri="{FF2B5EF4-FFF2-40B4-BE49-F238E27FC236}">
                <a16:creationId xmlns:a16="http://schemas.microsoft.com/office/drawing/2014/main" id="{82A2F082-7D4B-4BE1-A251-6D76BAF181FA}"/>
              </a:ext>
            </a:extLst>
          </p:cNvPr>
          <p:cNvGraphicFramePr>
            <a:graphicFrameLocks noGrp="1"/>
          </p:cNvGraphicFramePr>
          <p:nvPr>
            <p:extLst>
              <p:ext uri="{D42A27DB-BD31-4B8C-83A1-F6EECF244321}">
                <p14:modId xmlns:p14="http://schemas.microsoft.com/office/powerpoint/2010/main" val="3976346850"/>
              </p:ext>
            </p:extLst>
          </p:nvPr>
        </p:nvGraphicFramePr>
        <p:xfrm>
          <a:off x="464986" y="1460485"/>
          <a:ext cx="5643007" cy="2076095"/>
        </p:xfrm>
        <a:graphic>
          <a:graphicData uri="http://schemas.openxmlformats.org/drawingml/2006/table">
            <a:tbl>
              <a:tblPr/>
              <a:tblGrid>
                <a:gridCol w="1154252">
                  <a:extLst>
                    <a:ext uri="{9D8B030D-6E8A-4147-A177-3AD203B41FA5}">
                      <a16:colId xmlns:a16="http://schemas.microsoft.com/office/drawing/2014/main" val="20000"/>
                    </a:ext>
                  </a:extLst>
                </a:gridCol>
                <a:gridCol w="1282501">
                  <a:extLst>
                    <a:ext uri="{9D8B030D-6E8A-4147-A177-3AD203B41FA5}">
                      <a16:colId xmlns:a16="http://schemas.microsoft.com/office/drawing/2014/main" val="20001"/>
                    </a:ext>
                  </a:extLst>
                </a:gridCol>
                <a:gridCol w="3206254">
                  <a:extLst>
                    <a:ext uri="{9D8B030D-6E8A-4147-A177-3AD203B41FA5}">
                      <a16:colId xmlns:a16="http://schemas.microsoft.com/office/drawing/2014/main" val="20002"/>
                    </a:ext>
                  </a:extLst>
                </a:gridCol>
              </a:tblGrid>
              <a:tr h="296585">
                <a:tc>
                  <a:txBody>
                    <a:bodyPr/>
                    <a:lstStyle/>
                    <a:p>
                      <a:pPr marL="0" indent="0">
                        <a:buNone/>
                      </a:pPr>
                      <a:r>
                        <a:rPr lang="en-US" sz="1100" b="1" dirty="0">
                          <a:solidFill>
                            <a:srgbClr val="FFFFFF"/>
                          </a:solidFill>
                          <a:latin typeface="Garamond" pitchFamily="34" charset="0"/>
                          <a:ea typeface="Garamond" pitchFamily="34" charset="-122"/>
                          <a:cs typeface="Garamond" pitchFamily="34" charset="-120"/>
                        </a:rPr>
                        <a:t>Period</a:t>
                      </a:r>
                      <a:endParaRPr lang="en-US" sz="11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2744"/>
                    </a:solidFill>
                  </a:tcPr>
                </a:tc>
                <a:tc>
                  <a:txBody>
                    <a:bodyPr/>
                    <a:lstStyle/>
                    <a:p>
                      <a:pPr marL="0" indent="0">
                        <a:buNone/>
                      </a:pPr>
                      <a:r>
                        <a:rPr lang="en-US" sz="1100" b="1" dirty="0">
                          <a:solidFill>
                            <a:srgbClr val="FFFFFF"/>
                          </a:solidFill>
                          <a:latin typeface="Garamond" pitchFamily="34" charset="0"/>
                          <a:ea typeface="Garamond" pitchFamily="34" charset="-122"/>
                          <a:cs typeface="Garamond" pitchFamily="34" charset="-120"/>
                        </a:rPr>
                        <a:t>Gross Margin</a:t>
                      </a:r>
                      <a:endParaRPr lang="en-US" sz="11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2744"/>
                    </a:solidFill>
                  </a:tcPr>
                </a:tc>
                <a:tc>
                  <a:txBody>
                    <a:bodyPr/>
                    <a:lstStyle/>
                    <a:p>
                      <a:pPr marL="0" indent="0">
                        <a:buNone/>
                      </a:pPr>
                      <a:r>
                        <a:rPr lang="en-US" sz="1100" b="1" dirty="0">
                          <a:solidFill>
                            <a:srgbClr val="FFFFFF"/>
                          </a:solidFill>
                          <a:latin typeface="Garamond" pitchFamily="34" charset="0"/>
                          <a:ea typeface="Garamond" pitchFamily="34" charset="-122"/>
                          <a:cs typeface="Garamond" pitchFamily="34" charset="-120"/>
                        </a:rPr>
                        <a:t>Commentary</a:t>
                      </a:r>
                      <a:endParaRPr lang="en-US" sz="11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296585">
                <a:tc>
                  <a:txBody>
                    <a:bodyPr/>
                    <a:lstStyle/>
                    <a:p>
                      <a:pPr marL="0" indent="0">
                        <a:buNone/>
                      </a:pPr>
                      <a:r>
                        <a:rPr lang="en-US" sz="1100" dirty="0">
                          <a:solidFill>
                            <a:srgbClr val="000000"/>
                          </a:solidFill>
                          <a:latin typeface="Garamond" pitchFamily="34" charset="0"/>
                          <a:ea typeface="Garamond" pitchFamily="34" charset="-122"/>
                          <a:cs typeface="Garamond" pitchFamily="34" charset="-120"/>
                        </a:rPr>
                        <a:t>FY2020</a:t>
                      </a:r>
                      <a:endParaRPr lang="en-US" sz="11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100" dirty="0">
                          <a:solidFill>
                            <a:srgbClr val="000000"/>
                          </a:solidFill>
                          <a:latin typeface="Garamond" pitchFamily="34" charset="0"/>
                          <a:ea typeface="Garamond" pitchFamily="34" charset="-122"/>
                          <a:cs typeface="Garamond" pitchFamily="34" charset="-120"/>
                        </a:rPr>
                        <a:t>15.7%</a:t>
                      </a:r>
                      <a:endParaRPr lang="en-US" sz="11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100" dirty="0">
                          <a:solidFill>
                            <a:srgbClr val="000000"/>
                          </a:solidFill>
                          <a:latin typeface="Garamond" pitchFamily="34" charset="0"/>
                          <a:ea typeface="Garamond" pitchFamily="34" charset="-122"/>
                          <a:cs typeface="Garamond" pitchFamily="34" charset="-120"/>
                        </a:rPr>
                        <a:t>Pre-AI baseline</a:t>
                      </a:r>
                      <a:endParaRPr lang="en-US" sz="11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1"/>
                  </a:ext>
                </a:extLst>
              </a:tr>
              <a:tr h="296585">
                <a:tc>
                  <a:txBody>
                    <a:bodyPr/>
                    <a:lstStyle/>
                    <a:p>
                      <a:pPr marL="0" indent="0">
                        <a:buNone/>
                      </a:pPr>
                      <a:r>
                        <a:rPr lang="en-US" sz="1100" dirty="0">
                          <a:solidFill>
                            <a:srgbClr val="000000"/>
                          </a:solidFill>
                          <a:latin typeface="Garamond" pitchFamily="34" charset="0"/>
                          <a:ea typeface="Garamond" pitchFamily="34" charset="-122"/>
                          <a:cs typeface="Garamond" pitchFamily="34" charset="-120"/>
                        </a:rPr>
                        <a:t>FY2023</a:t>
                      </a:r>
                      <a:endParaRPr lang="en-US" sz="11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100" b="1" dirty="0">
                          <a:solidFill>
                            <a:srgbClr val="12B76A"/>
                          </a:solidFill>
                          <a:latin typeface="Garamond" pitchFamily="34" charset="0"/>
                          <a:ea typeface="Garamond" pitchFamily="34" charset="-122"/>
                          <a:cs typeface="Garamond" pitchFamily="34" charset="-120"/>
                        </a:rPr>
                        <a:t>18.0%</a:t>
                      </a:r>
                      <a:endParaRPr lang="en-US" sz="11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100" b="1" dirty="0">
                          <a:solidFill>
                            <a:srgbClr val="000000"/>
                          </a:solidFill>
                          <a:latin typeface="Garamond" pitchFamily="34" charset="0"/>
                          <a:ea typeface="Garamond" pitchFamily="34" charset="-122"/>
                          <a:cs typeface="Garamond" pitchFamily="34" charset="-120"/>
                        </a:rPr>
                        <a:t>PEAK - AI premium pricing</a:t>
                      </a:r>
                      <a:endParaRPr lang="en-US" sz="11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2"/>
                  </a:ext>
                </a:extLst>
              </a:tr>
              <a:tr h="296585">
                <a:tc>
                  <a:txBody>
                    <a:bodyPr/>
                    <a:lstStyle/>
                    <a:p>
                      <a:pPr marL="0" indent="0">
                        <a:buNone/>
                      </a:pPr>
                      <a:r>
                        <a:rPr lang="en-US" sz="1100" dirty="0">
                          <a:solidFill>
                            <a:srgbClr val="000000"/>
                          </a:solidFill>
                          <a:latin typeface="Garamond" pitchFamily="34" charset="0"/>
                          <a:ea typeface="Garamond" pitchFamily="34" charset="-122"/>
                          <a:cs typeface="Garamond" pitchFamily="34" charset="-120"/>
                        </a:rPr>
                        <a:t>FY2024</a:t>
                      </a:r>
                      <a:endParaRPr lang="en-US" sz="11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100" dirty="0">
                          <a:solidFill>
                            <a:srgbClr val="000000"/>
                          </a:solidFill>
                          <a:latin typeface="Garamond" pitchFamily="34" charset="0"/>
                          <a:ea typeface="Garamond" pitchFamily="34" charset="-122"/>
                          <a:cs typeface="Garamond" pitchFamily="34" charset="-120"/>
                        </a:rPr>
                        <a:t>13.8%</a:t>
                      </a:r>
                      <a:endParaRPr lang="en-US" sz="11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100" dirty="0">
                          <a:solidFill>
                            <a:srgbClr val="000000"/>
                          </a:solidFill>
                          <a:latin typeface="Garamond" pitchFamily="34" charset="0"/>
                          <a:ea typeface="Garamond" pitchFamily="34" charset="-122"/>
                          <a:cs typeface="Garamond" pitchFamily="34" charset="-120"/>
                        </a:rPr>
                        <a:t>Compression begins - volume/price trade-off</a:t>
                      </a:r>
                      <a:endParaRPr lang="en-US" sz="11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3"/>
                  </a:ext>
                </a:extLst>
              </a:tr>
              <a:tr h="296585">
                <a:tc>
                  <a:txBody>
                    <a:bodyPr/>
                    <a:lstStyle/>
                    <a:p>
                      <a:pPr marL="0" indent="0">
                        <a:buNone/>
                      </a:pPr>
                      <a:r>
                        <a:rPr lang="en-US" sz="1100" dirty="0">
                          <a:solidFill>
                            <a:srgbClr val="000000"/>
                          </a:solidFill>
                          <a:latin typeface="Garamond" pitchFamily="34" charset="0"/>
                          <a:ea typeface="Garamond" pitchFamily="34" charset="-122"/>
                          <a:cs typeface="Garamond" pitchFamily="34" charset="-120"/>
                        </a:rPr>
                        <a:t>FY2025</a:t>
                      </a:r>
                      <a:endParaRPr lang="en-US" sz="11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100" dirty="0">
                          <a:solidFill>
                            <a:srgbClr val="F79009"/>
                          </a:solidFill>
                          <a:latin typeface="Garamond" pitchFamily="34" charset="0"/>
                          <a:ea typeface="Garamond" pitchFamily="34" charset="-122"/>
                          <a:cs typeface="Garamond" pitchFamily="34" charset="-120"/>
                        </a:rPr>
                        <a:t>11.1%</a:t>
                      </a:r>
                      <a:endParaRPr lang="en-US" sz="11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100" dirty="0">
                          <a:solidFill>
                            <a:srgbClr val="000000"/>
                          </a:solidFill>
                          <a:latin typeface="Garamond" pitchFamily="34" charset="0"/>
                          <a:ea typeface="Garamond" pitchFamily="34" charset="-122"/>
                          <a:cs typeface="Garamond" pitchFamily="34" charset="-120"/>
                        </a:rPr>
                        <a:t>Significant deterioration</a:t>
                      </a:r>
                      <a:endParaRPr lang="en-US" sz="11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4"/>
                  </a:ext>
                </a:extLst>
              </a:tr>
              <a:tr h="296585">
                <a:tc>
                  <a:txBody>
                    <a:bodyPr/>
                    <a:lstStyle/>
                    <a:p>
                      <a:pPr marL="0" indent="0">
                        <a:buNone/>
                      </a:pPr>
                      <a:r>
                        <a:rPr lang="en-US" sz="1100" dirty="0">
                          <a:solidFill>
                            <a:srgbClr val="000000"/>
                          </a:solidFill>
                          <a:latin typeface="Garamond" pitchFamily="34" charset="0"/>
                          <a:ea typeface="Garamond" pitchFamily="34" charset="-122"/>
                          <a:cs typeface="Garamond" pitchFamily="34" charset="-120"/>
                        </a:rPr>
                        <a:t>Q1 FY2026</a:t>
                      </a:r>
                      <a:endParaRPr lang="en-US" sz="11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100" dirty="0">
                          <a:solidFill>
                            <a:srgbClr val="F04438"/>
                          </a:solidFill>
                          <a:latin typeface="Garamond" pitchFamily="34" charset="0"/>
                          <a:ea typeface="Garamond" pitchFamily="34" charset="-122"/>
                          <a:cs typeface="Garamond" pitchFamily="34" charset="-120"/>
                        </a:rPr>
                        <a:t>9.5%</a:t>
                      </a:r>
                      <a:endParaRPr lang="en-US" sz="11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100" dirty="0">
                          <a:solidFill>
                            <a:srgbClr val="000000"/>
                          </a:solidFill>
                          <a:latin typeface="Garamond" pitchFamily="34" charset="0"/>
                          <a:ea typeface="Garamond" pitchFamily="34" charset="-122"/>
                          <a:cs typeface="Garamond" pitchFamily="34" charset="-120"/>
                        </a:rPr>
                        <a:t>Continued decline</a:t>
                      </a:r>
                      <a:endParaRPr lang="en-US" sz="11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5"/>
                  </a:ext>
                </a:extLst>
              </a:tr>
              <a:tr h="296585">
                <a:tc>
                  <a:txBody>
                    <a:bodyPr/>
                    <a:lstStyle/>
                    <a:p>
                      <a:pPr marL="0" indent="0">
                        <a:buNone/>
                      </a:pPr>
                      <a:r>
                        <a:rPr lang="en-US" sz="1100" b="1" dirty="0">
                          <a:solidFill>
                            <a:srgbClr val="000000"/>
                          </a:solidFill>
                          <a:latin typeface="Garamond" pitchFamily="34" charset="0"/>
                          <a:ea typeface="Garamond" pitchFamily="34" charset="-122"/>
                          <a:cs typeface="Garamond" pitchFamily="34" charset="-120"/>
                        </a:rPr>
                        <a:t>Q2 FY2026</a:t>
                      </a:r>
                      <a:endParaRPr lang="en-US" sz="11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100" b="1" dirty="0">
                          <a:solidFill>
                            <a:srgbClr val="F04438"/>
                          </a:solidFill>
                          <a:latin typeface="Garamond" pitchFamily="34" charset="0"/>
                          <a:ea typeface="Garamond" pitchFamily="34" charset="-122"/>
                          <a:cs typeface="Garamond" pitchFamily="34" charset="-120"/>
                        </a:rPr>
                        <a:t>6.3%</a:t>
                      </a:r>
                      <a:endParaRPr lang="en-US" sz="11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100" b="1" dirty="0">
                          <a:solidFill>
                            <a:srgbClr val="F04438"/>
                          </a:solidFill>
                          <a:latin typeface="Garamond" pitchFamily="34" charset="0"/>
                          <a:ea typeface="Garamond" pitchFamily="34" charset="-122"/>
                          <a:cs typeface="Garamond" pitchFamily="34" charset="-120"/>
                        </a:rPr>
                        <a:t>Near ODM-level margins</a:t>
                      </a:r>
                      <a:endParaRPr lang="en-US" sz="11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37" name="Google Shape;230;p10">
            <a:extLst>
              <a:ext uri="{FF2B5EF4-FFF2-40B4-BE49-F238E27FC236}">
                <a16:creationId xmlns:a16="http://schemas.microsoft.com/office/drawing/2014/main" id="{5ABB7CE3-69AE-43F4-B29C-87FC3E1EB28A}"/>
              </a:ext>
            </a:extLst>
          </p:cNvPr>
          <p:cNvSpPr txBox="1"/>
          <p:nvPr/>
        </p:nvSpPr>
        <p:spPr>
          <a:xfrm>
            <a:off x="413700" y="3558255"/>
            <a:ext cx="5682300" cy="2631459"/>
          </a:xfrm>
          <a:prstGeom prst="rect">
            <a:avLst/>
          </a:prstGeom>
          <a:noFill/>
          <a:ln>
            <a:noFill/>
          </a:ln>
        </p:spPr>
        <p:txBody>
          <a:bodyPr spcFirstLastPara="1" wrap="square" lIns="91425" tIns="91425" rIns="91425" bIns="91425" anchor="t" anchorCtr="0">
            <a:spAutoFit/>
          </a:bodyPr>
          <a:lstStyle/>
          <a:p>
            <a:pPr marL="342900" indent="-342900">
              <a:spcAft>
                <a:spcPts val="600"/>
              </a:spcAft>
              <a:buSzPct val="100000"/>
              <a:buChar char="•"/>
            </a:pPr>
            <a:r>
              <a:rPr lang="en-US" sz="1600" dirty="0">
                <a:solidFill>
                  <a:srgbClr val="1D2939"/>
                </a:solidFill>
                <a:latin typeface="Garamond" pitchFamily="34" charset="0"/>
                <a:ea typeface="Garamond" pitchFamily="34" charset="-122"/>
                <a:cs typeface="Garamond" pitchFamily="34" charset="-120"/>
              </a:rPr>
              <a:t>Margin compression driven by: (1) competitive hyperscale pricing, (2) product mix shift to lower-margin complete rack solutions, (3) component cost pass-through dynamics</a:t>
            </a:r>
            <a:endParaRPr lang="en-US" sz="1600" dirty="0"/>
          </a:p>
          <a:p>
            <a:pPr marL="342900" indent="-342900">
              <a:spcAft>
                <a:spcPts val="600"/>
              </a:spcAft>
              <a:buSzPct val="100000"/>
              <a:buChar char="•"/>
            </a:pPr>
            <a:r>
              <a:rPr lang="en-US" sz="1600" b="1" dirty="0">
                <a:solidFill>
                  <a:srgbClr val="1D2939"/>
                </a:solidFill>
                <a:latin typeface="Garamond" pitchFamily="34" charset="0"/>
                <a:ea typeface="Garamond" pitchFamily="34" charset="-122"/>
                <a:cs typeface="Garamond" pitchFamily="34" charset="-120"/>
              </a:rPr>
              <a:t>Key test: Q3 FY2026 gross margin. Below 7% = margin recovery thesis weakens significantly; above 8% = bullish inflection signal</a:t>
            </a:r>
            <a:endParaRPr lang="en-US" sz="1600" dirty="0"/>
          </a:p>
          <a:p>
            <a:pPr marL="342900" indent="-342900">
              <a:spcAft>
                <a:spcPts val="600"/>
              </a:spcAft>
              <a:buSzPct val="100000"/>
              <a:buChar char="•"/>
            </a:pPr>
            <a:r>
              <a:rPr lang="en-US" sz="1600" dirty="0">
                <a:solidFill>
                  <a:srgbClr val="1D2939"/>
                </a:solidFill>
                <a:latin typeface="Garamond" pitchFamily="34" charset="0"/>
                <a:ea typeface="Garamond" pitchFamily="34" charset="-122"/>
                <a:cs typeface="Garamond" pitchFamily="34" charset="-120"/>
              </a:rPr>
              <a:t>Our view: Margins likely stabilize at 8-10% over 12-18 months but will NOT return to 15-18% pre-AI era. Business model has structurally shifted toward high-volume, lower-margin.</a:t>
            </a:r>
            <a:endParaRPr lang="en-US" sz="1600" dirty="0"/>
          </a:p>
        </p:txBody>
      </p:sp>
      <p:pic>
        <p:nvPicPr>
          <p:cNvPr id="39" name="Picture 38">
            <a:extLst>
              <a:ext uri="{FF2B5EF4-FFF2-40B4-BE49-F238E27FC236}">
                <a16:creationId xmlns:a16="http://schemas.microsoft.com/office/drawing/2014/main" id="{750EDE88-A803-4616-B9FE-D19B9453BB19}"/>
              </a:ext>
            </a:extLst>
          </p:cNvPr>
          <p:cNvPicPr>
            <a:picLocks noChangeAspect="1"/>
          </p:cNvPicPr>
          <p:nvPr/>
        </p:nvPicPr>
        <p:blipFill>
          <a:blip r:embed="rId4"/>
          <a:stretch>
            <a:fillRect/>
          </a:stretch>
        </p:blipFill>
        <p:spPr>
          <a:xfrm>
            <a:off x="10160006" y="6379320"/>
            <a:ext cx="1422710" cy="464846"/>
          </a:xfrm>
          <a:prstGeom prst="rect">
            <a:avLst/>
          </a:prstGeom>
        </p:spPr>
      </p:pic>
      <p:pic>
        <p:nvPicPr>
          <p:cNvPr id="1028" name="Picture 4" descr="Dell | Austin TX">
            <a:extLst>
              <a:ext uri="{FF2B5EF4-FFF2-40B4-BE49-F238E27FC236}">
                <a16:creationId xmlns:a16="http://schemas.microsoft.com/office/drawing/2014/main" id="{7426C255-41A8-40EF-9E57-CF91FA14C87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7432" t="23935" r="6183" b="26518"/>
          <a:stretch/>
        </p:blipFill>
        <p:spPr bwMode="auto">
          <a:xfrm>
            <a:off x="6972772" y="4361648"/>
            <a:ext cx="3187234" cy="182806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ewlett Packard Enterprise | Better Buildings &amp; Better Plants Initiative">
            <a:extLst>
              <a:ext uri="{FF2B5EF4-FFF2-40B4-BE49-F238E27FC236}">
                <a16:creationId xmlns:a16="http://schemas.microsoft.com/office/drawing/2014/main" id="{780959D2-9922-42D6-883B-837C39782CE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79512" y="2825094"/>
            <a:ext cx="3052958" cy="128597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isco - Wikipedia">
            <a:extLst>
              <a:ext uri="{FF2B5EF4-FFF2-40B4-BE49-F238E27FC236}">
                <a16:creationId xmlns:a16="http://schemas.microsoft.com/office/drawing/2014/main" id="{1D99E0B0-8ED1-4FEB-ADB1-6D3CF1B8320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79512" y="966451"/>
            <a:ext cx="3052958" cy="161234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11"/>
          <p:cNvSpPr txBox="1"/>
          <p:nvPr/>
        </p:nvSpPr>
        <p:spPr>
          <a:xfrm>
            <a:off x="228600" y="350838"/>
            <a:ext cx="10782300" cy="365700"/>
          </a:xfrm>
          <a:prstGeom prst="rect">
            <a:avLst/>
          </a:prstGeom>
          <a:noFill/>
          <a:ln>
            <a:noFill/>
          </a:ln>
        </p:spPr>
        <p:txBody>
          <a:bodyPr spcFirstLastPara="1" wrap="square" lIns="91425" tIns="45700" rIns="91425" bIns="45700" anchor="b" anchorCtr="0">
            <a:noAutofit/>
          </a:bodyPr>
          <a:lstStyle/>
          <a:p>
            <a:pPr marL="0" indent="0">
              <a:buNone/>
            </a:pPr>
            <a:r>
              <a:rPr lang="en-US" sz="2400" b="1" kern="0" spc="200" dirty="0">
                <a:solidFill>
                  <a:srgbClr val="1D2939"/>
                </a:solidFill>
                <a:latin typeface="Garamond" pitchFamily="34" charset="0"/>
                <a:ea typeface="Garamond" pitchFamily="34" charset="-122"/>
                <a:cs typeface="Garamond" pitchFamily="34" charset="-120"/>
              </a:rPr>
              <a:t>THESIS 3: GOVERNANCE CREATES DISCOUNT (BEAR) </a:t>
            </a:r>
            <a:endParaRPr lang="en-US" sz="2400" dirty="0"/>
          </a:p>
        </p:txBody>
      </p:sp>
      <p:sp>
        <p:nvSpPr>
          <p:cNvPr id="252" name="Google Shape;252;p11"/>
          <p:cNvSpPr txBox="1"/>
          <p:nvPr/>
        </p:nvSpPr>
        <p:spPr>
          <a:xfrm>
            <a:off x="270924" y="923150"/>
            <a:ext cx="11633099" cy="365700"/>
          </a:xfrm>
          <a:prstGeom prst="rect">
            <a:avLst/>
          </a:prstGeom>
          <a:solidFill>
            <a:srgbClr val="002060"/>
          </a:solidFill>
          <a:ln w="9525" cap="flat" cmpd="sng">
            <a:solidFill>
              <a:srgbClr val="041E4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dirty="0">
                <a:solidFill>
                  <a:srgbClr val="FFFFFF"/>
                </a:solidFill>
                <a:latin typeface="Garamond"/>
                <a:ea typeface="Garamond"/>
                <a:cs typeface="Garamond"/>
                <a:sym typeface="Garamond"/>
              </a:rPr>
              <a:t>Individual Factor Chart Ratings</a:t>
            </a:r>
            <a:endParaRPr sz="1600" b="1" i="0" u="none" strike="noStrike" cap="none" dirty="0">
              <a:solidFill>
                <a:srgbClr val="FFFFFF"/>
              </a:solidFill>
              <a:latin typeface="Garamond"/>
              <a:ea typeface="Garamond"/>
              <a:cs typeface="Garamond"/>
              <a:sym typeface="Garamond"/>
            </a:endParaRPr>
          </a:p>
        </p:txBody>
      </p:sp>
      <p:cxnSp>
        <p:nvCxnSpPr>
          <p:cNvPr id="256" name="Google Shape;256;p11"/>
          <p:cNvCxnSpPr/>
          <p:nvPr/>
        </p:nvCxnSpPr>
        <p:spPr>
          <a:xfrm>
            <a:off x="270932" y="711202"/>
            <a:ext cx="11633100" cy="0"/>
          </a:xfrm>
          <a:prstGeom prst="straightConnector1">
            <a:avLst/>
          </a:prstGeom>
          <a:noFill/>
          <a:ln w="9525" cap="flat" cmpd="sng">
            <a:solidFill>
              <a:srgbClr val="001746"/>
            </a:solidFill>
            <a:prstDash val="solid"/>
            <a:miter lim="800000"/>
            <a:headEnd type="none" w="sm" len="sm"/>
            <a:tailEnd type="none" w="sm" len="sm"/>
          </a:ln>
        </p:spPr>
      </p:cxnSp>
      <p:sp>
        <p:nvSpPr>
          <p:cNvPr id="257" name="Google Shape;257;p11"/>
          <p:cNvSpPr/>
          <p:nvPr/>
        </p:nvSpPr>
        <p:spPr>
          <a:xfrm>
            <a:off x="7221349"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lt1"/>
                </a:solidFill>
                <a:latin typeface="Garamond"/>
                <a:ea typeface="Garamond"/>
                <a:cs typeface="Garamond"/>
                <a:sym typeface="Garamond"/>
              </a:rPr>
              <a:t>ESG</a:t>
            </a:r>
            <a:endParaRPr sz="1400" b="0" i="0" u="none" strike="noStrike" cap="none" dirty="0">
              <a:solidFill>
                <a:schemeClr val="lt1"/>
              </a:solidFill>
              <a:latin typeface="Garamond"/>
              <a:ea typeface="Garamond"/>
              <a:cs typeface="Garamond"/>
              <a:sym typeface="Garamond"/>
            </a:endParaRPr>
          </a:p>
        </p:txBody>
      </p:sp>
      <p:sp>
        <p:nvSpPr>
          <p:cNvPr id="258" name="Google Shape;258;p11"/>
          <p:cNvSpPr/>
          <p:nvPr/>
        </p:nvSpPr>
        <p:spPr>
          <a:xfrm>
            <a:off x="8740461"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Risks</a:t>
            </a:r>
            <a:endParaRPr sz="1400" b="0" i="0" u="none" strike="noStrike" cap="none">
              <a:solidFill>
                <a:schemeClr val="lt1"/>
              </a:solidFill>
              <a:latin typeface="Garamond"/>
              <a:ea typeface="Garamond"/>
              <a:cs typeface="Garamond"/>
              <a:sym typeface="Garamond"/>
            </a:endParaRPr>
          </a:p>
        </p:txBody>
      </p:sp>
      <p:sp>
        <p:nvSpPr>
          <p:cNvPr id="259" name="Google Shape;259;p11"/>
          <p:cNvSpPr/>
          <p:nvPr/>
        </p:nvSpPr>
        <p:spPr>
          <a:xfrm>
            <a:off x="5702272"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lt1"/>
                </a:solidFill>
                <a:latin typeface="Garamond"/>
                <a:ea typeface="Garamond"/>
                <a:cs typeface="Garamond"/>
                <a:sym typeface="Garamond"/>
              </a:rPr>
              <a:t>Valuation</a:t>
            </a:r>
            <a:endParaRPr sz="1400" b="0" i="0" u="none" strike="noStrike" cap="none" dirty="0">
              <a:solidFill>
                <a:schemeClr val="lt1"/>
              </a:solidFill>
              <a:latin typeface="Garamond"/>
              <a:ea typeface="Garamond"/>
              <a:cs typeface="Garamond"/>
              <a:sym typeface="Garamond"/>
            </a:endParaRPr>
          </a:p>
        </p:txBody>
      </p:sp>
      <p:sp>
        <p:nvSpPr>
          <p:cNvPr id="260" name="Google Shape;260;p11"/>
          <p:cNvSpPr txBox="1">
            <a:spLocks noGrp="1"/>
          </p:cNvSpPr>
          <p:nvPr>
            <p:ph type="sldNum" idx="4294967295"/>
          </p:nvPr>
        </p:nvSpPr>
        <p:spPr>
          <a:xfrm>
            <a:off x="11520419" y="6466832"/>
            <a:ext cx="521100" cy="323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200"/>
              <a:buFont typeface="Arial"/>
              <a:buNone/>
            </a:pPr>
            <a:r>
              <a:rPr lang="en-US"/>
              <a:t>|  </a:t>
            </a:r>
            <a:fld id="{00000000-1234-1234-1234-123412341234}" type="slidenum">
              <a:rPr lang="en-US"/>
              <a:t>10</a:t>
            </a:fld>
            <a:endParaRPr/>
          </a:p>
        </p:txBody>
      </p:sp>
      <p:sp>
        <p:nvSpPr>
          <p:cNvPr id="261" name="Google Shape;261;p11"/>
          <p:cNvSpPr/>
          <p:nvPr/>
        </p:nvSpPr>
        <p:spPr>
          <a:xfrm>
            <a:off x="1145042" y="6486133"/>
            <a:ext cx="1270500" cy="2820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Company</a:t>
            </a:r>
            <a:endParaRPr sz="1400" b="0" i="0" u="none" strike="noStrike" cap="none">
              <a:solidFill>
                <a:schemeClr val="lt1"/>
              </a:solidFill>
              <a:latin typeface="Garamond"/>
              <a:ea typeface="Garamond"/>
              <a:cs typeface="Garamond"/>
              <a:sym typeface="Garamond"/>
            </a:endParaRPr>
          </a:p>
        </p:txBody>
      </p:sp>
      <p:sp>
        <p:nvSpPr>
          <p:cNvPr id="262" name="Google Shape;262;p11"/>
          <p:cNvSpPr/>
          <p:nvPr/>
        </p:nvSpPr>
        <p:spPr>
          <a:xfrm>
            <a:off x="2664119"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Industry</a:t>
            </a:r>
            <a:endParaRPr sz="1400" b="0" i="0" u="none" strike="noStrike" cap="none">
              <a:solidFill>
                <a:schemeClr val="lt1"/>
              </a:solidFill>
              <a:latin typeface="Garamond"/>
              <a:ea typeface="Garamond"/>
              <a:cs typeface="Garamond"/>
              <a:sym typeface="Garamond"/>
            </a:endParaRPr>
          </a:p>
        </p:txBody>
      </p:sp>
      <p:sp>
        <p:nvSpPr>
          <p:cNvPr id="263" name="Google Shape;263;p11"/>
          <p:cNvSpPr/>
          <p:nvPr/>
        </p:nvSpPr>
        <p:spPr>
          <a:xfrm>
            <a:off x="4183196" y="6486133"/>
            <a:ext cx="1270500" cy="282000"/>
          </a:xfrm>
          <a:prstGeom prst="rect">
            <a:avLst/>
          </a:prstGeom>
          <a:solidFill>
            <a:srgbClr val="041E41"/>
          </a:solidFill>
          <a:ln w="12700" cap="flat" cmpd="sng">
            <a:solidFill>
              <a:srgbClr val="041E4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Theses</a:t>
            </a:r>
            <a:endParaRPr sz="1400" b="0" i="0" u="none" strike="noStrike" cap="none">
              <a:solidFill>
                <a:schemeClr val="lt1"/>
              </a:solidFill>
              <a:latin typeface="Garamond"/>
              <a:ea typeface="Garamond"/>
              <a:cs typeface="Garamond"/>
              <a:sym typeface="Garamond"/>
            </a:endParaRPr>
          </a:p>
        </p:txBody>
      </p:sp>
      <p:pic>
        <p:nvPicPr>
          <p:cNvPr id="17" name="Picture 4" descr="SMCI - Super Micro Computer, Inc. Trademark Registration">
            <a:extLst>
              <a:ext uri="{FF2B5EF4-FFF2-40B4-BE49-F238E27FC236}">
                <a16:creationId xmlns:a16="http://schemas.microsoft.com/office/drawing/2014/main" id="{41AEB70C-D662-4787-BF87-D5E00DF5FA5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001" b="17593"/>
          <a:stretch/>
        </p:blipFill>
        <p:spPr bwMode="auto">
          <a:xfrm>
            <a:off x="10032470" y="64180"/>
            <a:ext cx="2009003" cy="54750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DF193A5B-E1C8-45F8-88BC-4EE4EA16BE93}"/>
              </a:ext>
            </a:extLst>
          </p:cNvPr>
          <p:cNvPicPr>
            <a:picLocks noChangeAspect="1"/>
          </p:cNvPicPr>
          <p:nvPr/>
        </p:nvPicPr>
        <p:blipFill>
          <a:blip r:embed="rId4"/>
          <a:stretch>
            <a:fillRect/>
          </a:stretch>
        </p:blipFill>
        <p:spPr>
          <a:xfrm>
            <a:off x="10160006" y="6379320"/>
            <a:ext cx="1422710" cy="464846"/>
          </a:xfrm>
          <a:prstGeom prst="rect">
            <a:avLst/>
          </a:prstGeom>
        </p:spPr>
      </p:pic>
      <p:graphicFrame>
        <p:nvGraphicFramePr>
          <p:cNvPr id="19" name="Table 0">
            <a:extLst>
              <a:ext uri="{FF2B5EF4-FFF2-40B4-BE49-F238E27FC236}">
                <a16:creationId xmlns:a16="http://schemas.microsoft.com/office/drawing/2014/main" id="{12A83EBB-82AE-4A2A-B60A-4A9D07378A5F}"/>
              </a:ext>
            </a:extLst>
          </p:cNvPr>
          <p:cNvGraphicFramePr>
            <a:graphicFrameLocks noGrp="1"/>
          </p:cNvGraphicFramePr>
          <p:nvPr>
            <p:extLst>
              <p:ext uri="{D42A27DB-BD31-4B8C-83A1-F6EECF244321}">
                <p14:modId xmlns:p14="http://schemas.microsoft.com/office/powerpoint/2010/main" val="1086879812"/>
              </p:ext>
            </p:extLst>
          </p:nvPr>
        </p:nvGraphicFramePr>
        <p:xfrm>
          <a:off x="270923" y="1356356"/>
          <a:ext cx="11633099" cy="2133600"/>
        </p:xfrm>
        <a:graphic>
          <a:graphicData uri="http://schemas.openxmlformats.org/drawingml/2006/table">
            <a:tbl>
              <a:tblPr/>
              <a:tblGrid>
                <a:gridCol w="2528935">
                  <a:extLst>
                    <a:ext uri="{9D8B030D-6E8A-4147-A177-3AD203B41FA5}">
                      <a16:colId xmlns:a16="http://schemas.microsoft.com/office/drawing/2014/main" val="20000"/>
                    </a:ext>
                  </a:extLst>
                </a:gridCol>
                <a:gridCol w="6322336">
                  <a:extLst>
                    <a:ext uri="{9D8B030D-6E8A-4147-A177-3AD203B41FA5}">
                      <a16:colId xmlns:a16="http://schemas.microsoft.com/office/drawing/2014/main" val="20001"/>
                    </a:ext>
                  </a:extLst>
                </a:gridCol>
                <a:gridCol w="2781828">
                  <a:extLst>
                    <a:ext uri="{9D8B030D-6E8A-4147-A177-3AD203B41FA5}">
                      <a16:colId xmlns:a16="http://schemas.microsoft.com/office/drawing/2014/main" val="20002"/>
                    </a:ext>
                  </a:extLst>
                </a:gridCol>
              </a:tblGrid>
              <a:tr h="280852">
                <a:tc>
                  <a:txBody>
                    <a:bodyPr/>
                    <a:lstStyle/>
                    <a:p>
                      <a:pPr marL="0" indent="0">
                        <a:buNone/>
                      </a:pPr>
                      <a:r>
                        <a:rPr lang="en-US" sz="1400" b="1" dirty="0">
                          <a:solidFill>
                            <a:srgbClr val="FFFFFF"/>
                          </a:solidFill>
                          <a:latin typeface="Garamond" pitchFamily="34" charset="0"/>
                          <a:ea typeface="Garamond" pitchFamily="34" charset="-122"/>
                          <a:cs typeface="Garamond" pitchFamily="34" charset="-120"/>
                        </a:rPr>
                        <a:t>Factor</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2744"/>
                    </a:solidFill>
                  </a:tcPr>
                </a:tc>
                <a:tc>
                  <a:txBody>
                    <a:bodyPr/>
                    <a:lstStyle/>
                    <a:p>
                      <a:pPr marL="0" indent="0">
                        <a:buNone/>
                      </a:pPr>
                      <a:r>
                        <a:rPr lang="en-US" sz="1400" b="1" dirty="0">
                          <a:solidFill>
                            <a:srgbClr val="FFFFFF"/>
                          </a:solidFill>
                          <a:latin typeface="Garamond" pitchFamily="34" charset="0"/>
                          <a:ea typeface="Garamond" pitchFamily="34" charset="-122"/>
                          <a:cs typeface="Garamond" pitchFamily="34" charset="-120"/>
                        </a:rPr>
                        <a:t>Assessment</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2744"/>
                    </a:solidFill>
                  </a:tcPr>
                </a:tc>
                <a:tc>
                  <a:txBody>
                    <a:bodyPr/>
                    <a:lstStyle/>
                    <a:p>
                      <a:pPr marL="0" indent="0">
                        <a:buNone/>
                      </a:pPr>
                      <a:r>
                        <a:rPr lang="en-US" sz="1400" b="1" dirty="0">
                          <a:solidFill>
                            <a:srgbClr val="FFFFFF"/>
                          </a:solidFill>
                          <a:latin typeface="Garamond" pitchFamily="34" charset="0"/>
                          <a:ea typeface="Garamond" pitchFamily="34" charset="-122"/>
                          <a:cs typeface="Garamond" pitchFamily="34" charset="-120"/>
                        </a:rPr>
                        <a:t>Rating</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280852">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Auditor Stability</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EY resigned Oct 2024; BDO appointed Nov 2024</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b="1" dirty="0">
                          <a:solidFill>
                            <a:srgbClr val="F04438"/>
                          </a:solidFill>
                          <a:latin typeface="Garamond" pitchFamily="34" charset="0"/>
                          <a:ea typeface="Garamond" pitchFamily="34" charset="-122"/>
                          <a:cs typeface="Garamond" pitchFamily="34" charset="-120"/>
                        </a:rPr>
                        <a:t>RED FLAG</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1"/>
                  </a:ext>
                </a:extLst>
              </a:tr>
              <a:tr h="280852">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Internal Controls</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Material weakness; adverse opinion from BDO</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b="1" dirty="0">
                          <a:solidFill>
                            <a:srgbClr val="F04438"/>
                          </a:solidFill>
                          <a:latin typeface="Garamond" pitchFamily="34" charset="0"/>
                          <a:ea typeface="Garamond" pitchFamily="34" charset="-122"/>
                          <a:cs typeface="Garamond" pitchFamily="34" charset="-120"/>
                        </a:rPr>
                        <a:t>RED FLAG</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2"/>
                  </a:ext>
                </a:extLst>
              </a:tr>
              <a:tr h="280852">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SEC/DOJ Investigation</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Ongoing document subpoenas</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b="1" dirty="0">
                          <a:solidFill>
                            <a:srgbClr val="F04438"/>
                          </a:solidFill>
                          <a:latin typeface="Garamond" pitchFamily="34" charset="0"/>
                          <a:ea typeface="Garamond" pitchFamily="34" charset="-122"/>
                          <a:cs typeface="Garamond" pitchFamily="34" charset="-120"/>
                        </a:rPr>
                        <a:t>RED FLAG</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3"/>
                  </a:ext>
                </a:extLst>
              </a:tr>
              <a:tr h="280852">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Board Independence</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Majority independent post-Special Committee reforms</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12B76A"/>
                          </a:solidFill>
                          <a:latin typeface="Garamond" pitchFamily="34" charset="0"/>
                          <a:ea typeface="Garamond" pitchFamily="34" charset="-122"/>
                          <a:cs typeface="Garamond" pitchFamily="34" charset="-120"/>
                        </a:rPr>
                        <a:t>Improved</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4"/>
                  </a:ext>
                </a:extLst>
              </a:tr>
              <a:tr h="280852">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CEO Control</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Charles Liang: Founder/CEO/Chairman since 1993; ~10-12% ownership</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F79009"/>
                          </a:solidFill>
                          <a:latin typeface="Garamond" pitchFamily="34" charset="0"/>
                          <a:ea typeface="Garamond" pitchFamily="34" charset="-122"/>
                          <a:cs typeface="Garamond" pitchFamily="34" charset="-120"/>
                        </a:rPr>
                        <a:t>Mixed</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5"/>
                  </a:ext>
                </a:extLst>
              </a:tr>
              <a:tr h="280852">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Related Party Txns</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$17.5M SEC settlement in 2020 for prior accounting issues</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F04438"/>
                          </a:solidFill>
                          <a:latin typeface="Garamond" pitchFamily="34" charset="0"/>
                          <a:ea typeface="Garamond" pitchFamily="34" charset="-122"/>
                          <a:cs typeface="Garamond" pitchFamily="34" charset="-120"/>
                        </a:rPr>
                        <a:t>Elevated</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0" name="Text 11">
            <a:extLst>
              <a:ext uri="{FF2B5EF4-FFF2-40B4-BE49-F238E27FC236}">
                <a16:creationId xmlns:a16="http://schemas.microsoft.com/office/drawing/2014/main" id="{D17B6F95-15BA-4418-83A5-DD9C4332C85A}"/>
              </a:ext>
            </a:extLst>
          </p:cNvPr>
          <p:cNvSpPr/>
          <p:nvPr/>
        </p:nvSpPr>
        <p:spPr>
          <a:xfrm>
            <a:off x="270923" y="3672844"/>
            <a:ext cx="11633098" cy="1828800"/>
          </a:xfrm>
          <a:prstGeom prst="rect">
            <a:avLst/>
          </a:prstGeom>
          <a:noFill/>
          <a:ln/>
        </p:spPr>
        <p:txBody>
          <a:bodyPr wrap="square" rtlCol="0" anchor="t"/>
          <a:lstStyle/>
          <a:p>
            <a:pPr marL="342900" indent="-342900">
              <a:spcAft>
                <a:spcPts val="500"/>
              </a:spcAft>
              <a:buSzPct val="100000"/>
              <a:buChar char="•"/>
            </a:pPr>
            <a:r>
              <a:rPr lang="en-US" dirty="0">
                <a:solidFill>
                  <a:srgbClr val="1D2939"/>
                </a:solidFill>
                <a:latin typeface="Garamond" pitchFamily="34" charset="0"/>
                <a:ea typeface="Garamond" pitchFamily="34" charset="-122"/>
                <a:cs typeface="Garamond" pitchFamily="34" charset="-120"/>
              </a:rPr>
              <a:t>The EY auditor resignation citing 'integrity' concerns is unprecedented for a company of this size; BDO's adverse opinion on internal controls as of June 30, 2024 remains the most serious qualitative risk to the investment thesis</a:t>
            </a:r>
            <a:endParaRPr lang="en-US" dirty="0"/>
          </a:p>
          <a:p>
            <a:pPr marL="342900" indent="-342900">
              <a:spcAft>
                <a:spcPts val="500"/>
              </a:spcAft>
              <a:buSzPct val="100000"/>
              <a:buChar char="•"/>
            </a:pPr>
            <a:r>
              <a:rPr lang="en-US" dirty="0">
                <a:solidFill>
                  <a:srgbClr val="1D2939"/>
                </a:solidFill>
                <a:latin typeface="Garamond" pitchFamily="34" charset="0"/>
                <a:ea typeface="Garamond" pitchFamily="34" charset="-122"/>
                <a:cs typeface="Garamond" pitchFamily="34" charset="-120"/>
              </a:rPr>
              <a:t>DOJ investigation remains open with no timeline for resolution; prior 2020 SEC settlement creates pattern risk and regulators may pursue more aggressively (potential $50M-$500M penalties based on precedents)</a:t>
            </a:r>
            <a:endParaRPr lang="en-US" dirty="0"/>
          </a:p>
          <a:p>
            <a:pPr marL="342900" indent="-342900">
              <a:spcAft>
                <a:spcPts val="500"/>
              </a:spcAft>
              <a:buSzPct val="100000"/>
              <a:buChar char="•"/>
            </a:pPr>
            <a:r>
              <a:rPr lang="en-US" dirty="0">
                <a:solidFill>
                  <a:srgbClr val="1D2939"/>
                </a:solidFill>
                <a:latin typeface="Garamond" pitchFamily="34" charset="0"/>
                <a:ea typeface="Garamond" pitchFamily="34" charset="-122"/>
                <a:cs typeface="Garamond" pitchFamily="34" charset="-120"/>
              </a:rPr>
              <a:t>Mitigant: Special Committee found 'no evidence of misconduct'; BDO validated financial statements with no restatements required; board reconstituted with majority independent directors</a:t>
            </a:r>
            <a:endParaRPr lang="en-US" dirty="0"/>
          </a:p>
          <a:p>
            <a:pPr marL="342900" indent="-342900">
              <a:spcAft>
                <a:spcPts val="500"/>
              </a:spcAft>
              <a:buSzPct val="100000"/>
              <a:buChar char="•"/>
            </a:pPr>
            <a:r>
              <a:rPr lang="en-US" dirty="0">
                <a:solidFill>
                  <a:srgbClr val="1D2939"/>
                </a:solidFill>
                <a:latin typeface="Garamond" pitchFamily="34" charset="0"/>
                <a:ea typeface="Garamond" pitchFamily="34" charset="-122"/>
                <a:cs typeface="Garamond" pitchFamily="34" charset="-120"/>
              </a:rPr>
              <a:t>Catalyst (positive): DOJ closing investigation without charges + clean internal controls opinion from BDO = significant de-risking and potential 30%+ re-rating</a:t>
            </a:r>
            <a:endParaRPr lang="en-US" dirty="0"/>
          </a:p>
          <a:p>
            <a:pPr marL="342900" indent="-342900">
              <a:spcAft>
                <a:spcPts val="500"/>
              </a:spcAft>
              <a:buSzPct val="100000"/>
              <a:buChar char="•"/>
            </a:pPr>
            <a:r>
              <a:rPr lang="en-US" dirty="0">
                <a:solidFill>
                  <a:srgbClr val="1D2939"/>
                </a:solidFill>
                <a:latin typeface="Garamond" pitchFamily="34" charset="0"/>
                <a:ea typeface="Garamond" pitchFamily="34" charset="-122"/>
                <a:cs typeface="Garamond" pitchFamily="34" charset="-120"/>
              </a:rPr>
              <a:t>Catalyst (negative): Enforcement action, executive departures, or further accounting restatements could trigger 50%+ downside as institutional holders exit positions</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g2b6e027a1db_8_58"/>
          <p:cNvSpPr txBox="1">
            <a:spLocks noGrp="1"/>
          </p:cNvSpPr>
          <p:nvPr>
            <p:ph type="sldNum" idx="12"/>
          </p:nvPr>
        </p:nvSpPr>
        <p:spPr>
          <a:xfrm>
            <a:off x="11748073" y="6466825"/>
            <a:ext cx="293400" cy="323100"/>
          </a:xfrm>
          <a:prstGeom prst="rect">
            <a:avLst/>
          </a:prstGeom>
          <a:noFill/>
          <a:ln>
            <a:noFill/>
          </a:ln>
        </p:spPr>
        <p:txBody>
          <a:bodyPr spcFirstLastPara="1" wrap="square" lIns="91425" tIns="45700" rIns="91425" bIns="45700" anchor="ctr" anchorCtr="0">
            <a:spAutoFit/>
          </a:bodyPr>
          <a:lstStyle/>
          <a:p>
            <a:pPr marL="0" lvl="0" indent="0" algn="l" rtl="0">
              <a:lnSpc>
                <a:spcPct val="100000"/>
              </a:lnSpc>
              <a:spcBef>
                <a:spcPts val="0"/>
              </a:spcBef>
              <a:spcAft>
                <a:spcPts val="0"/>
              </a:spcAft>
              <a:buSzPts val="1500"/>
              <a:buNone/>
            </a:pPr>
            <a:fld id="{00000000-1234-1234-1234-123412341234}" type="slidenum">
              <a:rPr lang="en-US" sz="1500" cap="small">
                <a:solidFill>
                  <a:schemeClr val="lt1"/>
                </a:solidFill>
                <a:latin typeface="Garamond"/>
                <a:ea typeface="Garamond"/>
                <a:cs typeface="Garamond"/>
                <a:sym typeface="Garamond"/>
              </a:rPr>
              <a:t>11</a:t>
            </a:fld>
            <a:endParaRPr sz="1500" cap="small">
              <a:solidFill>
                <a:schemeClr val="lt1"/>
              </a:solidFill>
              <a:latin typeface="Garamond"/>
              <a:ea typeface="Garamond"/>
              <a:cs typeface="Garamond"/>
              <a:sym typeface="Garamond"/>
            </a:endParaRPr>
          </a:p>
        </p:txBody>
      </p:sp>
      <p:cxnSp>
        <p:nvCxnSpPr>
          <p:cNvPr id="296" name="Google Shape;296;g2b6e027a1db_8_58"/>
          <p:cNvCxnSpPr/>
          <p:nvPr/>
        </p:nvCxnSpPr>
        <p:spPr>
          <a:xfrm>
            <a:off x="11746228" y="6510872"/>
            <a:ext cx="0" cy="232500"/>
          </a:xfrm>
          <a:prstGeom prst="straightConnector1">
            <a:avLst/>
          </a:prstGeom>
          <a:noFill/>
          <a:ln w="9525" cap="flat" cmpd="sng">
            <a:solidFill>
              <a:schemeClr val="lt1"/>
            </a:solidFill>
            <a:prstDash val="solid"/>
            <a:miter lim="800000"/>
            <a:headEnd type="none" w="sm" len="sm"/>
            <a:tailEnd type="none" w="sm" len="sm"/>
          </a:ln>
        </p:spPr>
      </p:cxnSp>
      <p:sp>
        <p:nvSpPr>
          <p:cNvPr id="297" name="Google Shape;297;g2b6e027a1db_8_58"/>
          <p:cNvSpPr txBox="1">
            <a:spLocks noGrp="1"/>
          </p:cNvSpPr>
          <p:nvPr>
            <p:ph type="sldNum" idx="4294967295"/>
          </p:nvPr>
        </p:nvSpPr>
        <p:spPr>
          <a:xfrm>
            <a:off x="11520419" y="6466832"/>
            <a:ext cx="521100" cy="323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200"/>
              <a:buFont typeface="Arial"/>
              <a:buNone/>
            </a:pPr>
            <a:r>
              <a:rPr lang="en-US"/>
              <a:t>|  </a:t>
            </a:r>
            <a:fld id="{00000000-1234-1234-1234-123412341234}" type="slidenum">
              <a:rPr lang="en-US"/>
              <a:t>11</a:t>
            </a:fld>
            <a:endParaRPr/>
          </a:p>
        </p:txBody>
      </p:sp>
      <p:sp>
        <p:nvSpPr>
          <p:cNvPr id="298" name="Google Shape;298;g2b6e027a1db_8_58"/>
          <p:cNvSpPr/>
          <p:nvPr/>
        </p:nvSpPr>
        <p:spPr>
          <a:xfrm>
            <a:off x="-37950" y="3908122"/>
            <a:ext cx="12267900" cy="61500"/>
          </a:xfrm>
          <a:prstGeom prst="rect">
            <a:avLst/>
          </a:prstGeom>
          <a:solidFill>
            <a:srgbClr val="FFC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 name="Google Shape;299;g2b6e027a1db_8_58"/>
          <p:cNvSpPr/>
          <p:nvPr/>
        </p:nvSpPr>
        <p:spPr>
          <a:xfrm>
            <a:off x="-37950" y="2888251"/>
            <a:ext cx="12267900" cy="1020000"/>
          </a:xfrm>
          <a:prstGeom prst="rect">
            <a:avLst/>
          </a:prstGeom>
          <a:solidFill>
            <a:srgbClr val="002060"/>
          </a:solidFill>
          <a:ln w="9525" cap="flat" cmpd="sng">
            <a:solidFill>
              <a:srgbClr val="233A4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 name="Google Shape;300;g2b6e027a1db_8_58"/>
          <p:cNvSpPr txBox="1"/>
          <p:nvPr/>
        </p:nvSpPr>
        <p:spPr>
          <a:xfrm>
            <a:off x="718260" y="2995299"/>
            <a:ext cx="8952000" cy="74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3500" b="1" i="0" u="none" strike="noStrike" cap="none" dirty="0">
                <a:solidFill>
                  <a:srgbClr val="FFFFFF"/>
                </a:solidFill>
                <a:latin typeface="Garamond"/>
                <a:ea typeface="Garamond"/>
                <a:cs typeface="Garamond"/>
                <a:sym typeface="Garamond"/>
              </a:rPr>
              <a:t>III.	 </a:t>
            </a:r>
            <a:r>
              <a:rPr lang="en-US" sz="3500" b="1" dirty="0">
                <a:solidFill>
                  <a:srgbClr val="FFFFFF"/>
                </a:solidFill>
                <a:latin typeface="Garamond"/>
                <a:ea typeface="Garamond"/>
                <a:cs typeface="Garamond"/>
                <a:sym typeface="Garamond"/>
              </a:rPr>
              <a:t>Valuation </a:t>
            </a:r>
            <a:endParaRPr sz="3500" b="1" i="0" u="none" strike="noStrike" cap="none" dirty="0">
              <a:solidFill>
                <a:srgbClr val="FFFFFF"/>
              </a:solidFill>
              <a:latin typeface="Garamond"/>
              <a:ea typeface="Garamond"/>
              <a:cs typeface="Garamond"/>
              <a:sym typeface="Garamond"/>
            </a:endParaRPr>
          </a:p>
        </p:txBody>
      </p:sp>
      <p:pic>
        <p:nvPicPr>
          <p:cNvPr id="8" name="Picture 4" descr="SMCI - Super Micro Computer, Inc. Trademark Registration">
            <a:extLst>
              <a:ext uri="{FF2B5EF4-FFF2-40B4-BE49-F238E27FC236}">
                <a16:creationId xmlns:a16="http://schemas.microsoft.com/office/drawing/2014/main" id="{0810390D-1876-4877-B60E-04A77B5E929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001" b="17593"/>
          <a:stretch/>
        </p:blipFill>
        <p:spPr bwMode="auto">
          <a:xfrm>
            <a:off x="10032470" y="64180"/>
            <a:ext cx="2009003" cy="54750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D35A3333-7D19-433A-AEA4-4FB39598F1A3}"/>
              </a:ext>
            </a:extLst>
          </p:cNvPr>
          <p:cNvPicPr>
            <a:picLocks noChangeAspect="1"/>
          </p:cNvPicPr>
          <p:nvPr/>
        </p:nvPicPr>
        <p:blipFill>
          <a:blip r:embed="rId4"/>
          <a:stretch>
            <a:fillRect/>
          </a:stretch>
        </p:blipFill>
        <p:spPr>
          <a:xfrm>
            <a:off x="10160006" y="6379320"/>
            <a:ext cx="1422710" cy="46484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g1f01911d161_1_391"/>
          <p:cNvSpPr txBox="1"/>
          <p:nvPr/>
        </p:nvSpPr>
        <p:spPr>
          <a:xfrm>
            <a:off x="228599" y="434538"/>
            <a:ext cx="10327341" cy="282000"/>
          </a:xfrm>
          <a:prstGeom prst="rect">
            <a:avLst/>
          </a:prstGeom>
          <a:noFill/>
          <a:ln>
            <a:noFill/>
          </a:ln>
        </p:spPr>
        <p:txBody>
          <a:bodyPr spcFirstLastPara="1" wrap="square" lIns="91425" tIns="45700" rIns="91425" bIns="45700" anchor="b" anchorCtr="0">
            <a:noAutofit/>
          </a:bodyPr>
          <a:lstStyle/>
          <a:p>
            <a:pPr marL="0" indent="0">
              <a:buNone/>
            </a:pPr>
            <a:r>
              <a:rPr lang="en-US" sz="2800" b="1" kern="0" spc="200" dirty="0">
                <a:solidFill>
                  <a:srgbClr val="1D2939"/>
                </a:solidFill>
                <a:latin typeface="Garamond" pitchFamily="34" charset="0"/>
                <a:ea typeface="Garamond" pitchFamily="34" charset="-122"/>
                <a:cs typeface="Garamond" pitchFamily="34" charset="-120"/>
              </a:rPr>
              <a:t>FINANCIAL PROJECTIONS (FY2024A - FY2029E) </a:t>
            </a:r>
            <a:endParaRPr lang="en-US" sz="2800" dirty="0"/>
          </a:p>
        </p:txBody>
      </p:sp>
      <p:cxnSp>
        <p:nvCxnSpPr>
          <p:cNvPr id="306" name="Google Shape;306;g1f01911d161_1_391"/>
          <p:cNvCxnSpPr/>
          <p:nvPr/>
        </p:nvCxnSpPr>
        <p:spPr>
          <a:xfrm>
            <a:off x="270932" y="711202"/>
            <a:ext cx="11633100" cy="0"/>
          </a:xfrm>
          <a:prstGeom prst="straightConnector1">
            <a:avLst/>
          </a:prstGeom>
          <a:noFill/>
          <a:ln w="9525" cap="flat" cmpd="sng">
            <a:solidFill>
              <a:srgbClr val="001746"/>
            </a:solidFill>
            <a:prstDash val="solid"/>
            <a:miter lim="800000"/>
            <a:headEnd type="none" w="sm" len="sm"/>
            <a:tailEnd type="none" w="sm" len="sm"/>
          </a:ln>
        </p:spPr>
      </p:cxnSp>
      <p:sp>
        <p:nvSpPr>
          <p:cNvPr id="307" name="Google Shape;307;g1f01911d161_1_391"/>
          <p:cNvSpPr/>
          <p:nvPr/>
        </p:nvSpPr>
        <p:spPr>
          <a:xfrm>
            <a:off x="7221349"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lt1"/>
                </a:solidFill>
                <a:latin typeface="Garamond"/>
                <a:ea typeface="Garamond"/>
                <a:cs typeface="Garamond"/>
                <a:sym typeface="Garamond"/>
              </a:rPr>
              <a:t>ESG</a:t>
            </a:r>
            <a:endParaRPr sz="1400" b="0" i="0" u="none" strike="noStrike" cap="none" dirty="0">
              <a:solidFill>
                <a:schemeClr val="lt1"/>
              </a:solidFill>
              <a:latin typeface="Garamond"/>
              <a:ea typeface="Garamond"/>
              <a:cs typeface="Garamond"/>
              <a:sym typeface="Garamond"/>
            </a:endParaRPr>
          </a:p>
        </p:txBody>
      </p:sp>
      <p:sp>
        <p:nvSpPr>
          <p:cNvPr id="308" name="Google Shape;308;g1f01911d161_1_391"/>
          <p:cNvSpPr/>
          <p:nvPr/>
        </p:nvSpPr>
        <p:spPr>
          <a:xfrm>
            <a:off x="8740461"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Risks</a:t>
            </a:r>
            <a:endParaRPr sz="1400" b="0" i="0" u="none" strike="noStrike" cap="none">
              <a:solidFill>
                <a:schemeClr val="lt1"/>
              </a:solidFill>
              <a:latin typeface="Garamond"/>
              <a:ea typeface="Garamond"/>
              <a:cs typeface="Garamond"/>
              <a:sym typeface="Garamond"/>
            </a:endParaRPr>
          </a:p>
        </p:txBody>
      </p:sp>
      <p:sp>
        <p:nvSpPr>
          <p:cNvPr id="309" name="Google Shape;309;g1f01911d161_1_391"/>
          <p:cNvSpPr/>
          <p:nvPr/>
        </p:nvSpPr>
        <p:spPr>
          <a:xfrm>
            <a:off x="5702272" y="6486133"/>
            <a:ext cx="1270500" cy="282000"/>
          </a:xfrm>
          <a:prstGeom prst="rect">
            <a:avLst/>
          </a:prstGeom>
          <a:solidFill>
            <a:srgbClr val="041E4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lt1"/>
                </a:solidFill>
                <a:latin typeface="Garamond"/>
                <a:ea typeface="Garamond"/>
                <a:cs typeface="Garamond"/>
                <a:sym typeface="Garamond"/>
              </a:rPr>
              <a:t>Valuation</a:t>
            </a:r>
            <a:endParaRPr sz="1400" b="0" i="0" u="none" strike="noStrike" cap="none" dirty="0">
              <a:solidFill>
                <a:schemeClr val="lt1"/>
              </a:solidFill>
              <a:latin typeface="Garamond"/>
              <a:ea typeface="Garamond"/>
              <a:cs typeface="Garamond"/>
              <a:sym typeface="Garamond"/>
            </a:endParaRPr>
          </a:p>
        </p:txBody>
      </p:sp>
      <p:sp>
        <p:nvSpPr>
          <p:cNvPr id="310" name="Google Shape;310;g1f01911d161_1_391"/>
          <p:cNvSpPr txBox="1">
            <a:spLocks noGrp="1"/>
          </p:cNvSpPr>
          <p:nvPr>
            <p:ph type="sldNum" idx="4294967295"/>
          </p:nvPr>
        </p:nvSpPr>
        <p:spPr>
          <a:xfrm>
            <a:off x="11520419" y="6466832"/>
            <a:ext cx="521100" cy="323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200"/>
              <a:buFont typeface="Arial"/>
              <a:buNone/>
            </a:pPr>
            <a:r>
              <a:rPr lang="en-US"/>
              <a:t>|  </a:t>
            </a:r>
            <a:fld id="{00000000-1234-1234-1234-123412341234}" type="slidenum">
              <a:rPr lang="en-US"/>
              <a:t>12</a:t>
            </a:fld>
            <a:endParaRPr/>
          </a:p>
        </p:txBody>
      </p:sp>
      <p:sp>
        <p:nvSpPr>
          <p:cNvPr id="311" name="Google Shape;311;g1f01911d161_1_391"/>
          <p:cNvSpPr/>
          <p:nvPr/>
        </p:nvSpPr>
        <p:spPr>
          <a:xfrm>
            <a:off x="1145042" y="6486133"/>
            <a:ext cx="1270500" cy="2820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Company</a:t>
            </a:r>
            <a:endParaRPr sz="1400" b="0" i="0" u="none" strike="noStrike" cap="none">
              <a:solidFill>
                <a:schemeClr val="lt1"/>
              </a:solidFill>
              <a:latin typeface="Garamond"/>
              <a:ea typeface="Garamond"/>
              <a:cs typeface="Garamond"/>
              <a:sym typeface="Garamond"/>
            </a:endParaRPr>
          </a:p>
        </p:txBody>
      </p:sp>
      <p:sp>
        <p:nvSpPr>
          <p:cNvPr id="312" name="Google Shape;312;g1f01911d161_1_391"/>
          <p:cNvSpPr/>
          <p:nvPr/>
        </p:nvSpPr>
        <p:spPr>
          <a:xfrm>
            <a:off x="2664119"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Industry</a:t>
            </a:r>
            <a:endParaRPr sz="1400" b="0" i="0" u="none" strike="noStrike" cap="none">
              <a:solidFill>
                <a:schemeClr val="lt1"/>
              </a:solidFill>
              <a:latin typeface="Garamond"/>
              <a:ea typeface="Garamond"/>
              <a:cs typeface="Garamond"/>
              <a:sym typeface="Garamond"/>
            </a:endParaRPr>
          </a:p>
        </p:txBody>
      </p:sp>
      <p:sp>
        <p:nvSpPr>
          <p:cNvPr id="313" name="Google Shape;313;g1f01911d161_1_391"/>
          <p:cNvSpPr/>
          <p:nvPr/>
        </p:nvSpPr>
        <p:spPr>
          <a:xfrm>
            <a:off x="4183196" y="6486133"/>
            <a:ext cx="1270500" cy="2820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Theses</a:t>
            </a:r>
            <a:endParaRPr sz="1400" b="0" i="0" u="none" strike="noStrike" cap="none">
              <a:solidFill>
                <a:schemeClr val="lt1"/>
              </a:solidFill>
              <a:latin typeface="Garamond"/>
              <a:ea typeface="Garamond"/>
              <a:cs typeface="Garamond"/>
              <a:sym typeface="Garamond"/>
            </a:endParaRPr>
          </a:p>
        </p:txBody>
      </p:sp>
      <p:pic>
        <p:nvPicPr>
          <p:cNvPr id="15" name="Picture 4" descr="SMCI - Super Micro Computer, Inc. Trademark Registration">
            <a:extLst>
              <a:ext uri="{FF2B5EF4-FFF2-40B4-BE49-F238E27FC236}">
                <a16:creationId xmlns:a16="http://schemas.microsoft.com/office/drawing/2014/main" id="{2E3790A9-3EFE-4552-A988-2F978A368BD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001" b="17593"/>
          <a:stretch/>
        </p:blipFill>
        <p:spPr bwMode="auto">
          <a:xfrm>
            <a:off x="10032470" y="64180"/>
            <a:ext cx="2009003" cy="54750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6" name="Table 0">
            <a:extLst>
              <a:ext uri="{FF2B5EF4-FFF2-40B4-BE49-F238E27FC236}">
                <a16:creationId xmlns:a16="http://schemas.microsoft.com/office/drawing/2014/main" id="{56DF3F8D-CDA9-4ECC-B6E4-12052D760DC4}"/>
              </a:ext>
            </a:extLst>
          </p:cNvPr>
          <p:cNvGraphicFramePr>
            <a:graphicFrameLocks noGrp="1"/>
          </p:cNvGraphicFramePr>
          <p:nvPr>
            <p:extLst>
              <p:ext uri="{D42A27DB-BD31-4B8C-83A1-F6EECF244321}">
                <p14:modId xmlns:p14="http://schemas.microsoft.com/office/powerpoint/2010/main" val="1129882071"/>
              </p:ext>
            </p:extLst>
          </p:nvPr>
        </p:nvGraphicFramePr>
        <p:xfrm>
          <a:off x="270931" y="1235559"/>
          <a:ext cx="9921942" cy="3189640"/>
        </p:xfrm>
        <a:graphic>
          <a:graphicData uri="http://schemas.openxmlformats.org/drawingml/2006/table">
            <a:tbl>
              <a:tblPr/>
              <a:tblGrid>
                <a:gridCol w="2126130">
                  <a:extLst>
                    <a:ext uri="{9D8B030D-6E8A-4147-A177-3AD203B41FA5}">
                      <a16:colId xmlns:a16="http://schemas.microsoft.com/office/drawing/2014/main" val="20000"/>
                    </a:ext>
                  </a:extLst>
                </a:gridCol>
                <a:gridCol w="1299302">
                  <a:extLst>
                    <a:ext uri="{9D8B030D-6E8A-4147-A177-3AD203B41FA5}">
                      <a16:colId xmlns:a16="http://schemas.microsoft.com/office/drawing/2014/main" val="20001"/>
                    </a:ext>
                  </a:extLst>
                </a:gridCol>
                <a:gridCol w="1299302">
                  <a:extLst>
                    <a:ext uri="{9D8B030D-6E8A-4147-A177-3AD203B41FA5}">
                      <a16:colId xmlns:a16="http://schemas.microsoft.com/office/drawing/2014/main" val="20002"/>
                    </a:ext>
                  </a:extLst>
                </a:gridCol>
                <a:gridCol w="1299302">
                  <a:extLst>
                    <a:ext uri="{9D8B030D-6E8A-4147-A177-3AD203B41FA5}">
                      <a16:colId xmlns:a16="http://schemas.microsoft.com/office/drawing/2014/main" val="20003"/>
                    </a:ext>
                  </a:extLst>
                </a:gridCol>
                <a:gridCol w="1299302">
                  <a:extLst>
                    <a:ext uri="{9D8B030D-6E8A-4147-A177-3AD203B41FA5}">
                      <a16:colId xmlns:a16="http://schemas.microsoft.com/office/drawing/2014/main" val="20004"/>
                    </a:ext>
                  </a:extLst>
                </a:gridCol>
                <a:gridCol w="1299302">
                  <a:extLst>
                    <a:ext uri="{9D8B030D-6E8A-4147-A177-3AD203B41FA5}">
                      <a16:colId xmlns:a16="http://schemas.microsoft.com/office/drawing/2014/main" val="20005"/>
                    </a:ext>
                  </a:extLst>
                </a:gridCol>
                <a:gridCol w="1299302">
                  <a:extLst>
                    <a:ext uri="{9D8B030D-6E8A-4147-A177-3AD203B41FA5}">
                      <a16:colId xmlns:a16="http://schemas.microsoft.com/office/drawing/2014/main" val="20006"/>
                    </a:ext>
                  </a:extLst>
                </a:gridCol>
              </a:tblGrid>
              <a:tr h="318964">
                <a:tc>
                  <a:txBody>
                    <a:bodyPr/>
                    <a:lstStyle/>
                    <a:p>
                      <a:pPr marL="0" indent="0">
                        <a:buNone/>
                      </a:pPr>
                      <a:r>
                        <a:rPr lang="en-US" sz="1400" b="1" dirty="0">
                          <a:solidFill>
                            <a:srgbClr val="FFFFFF"/>
                          </a:solidFill>
                          <a:latin typeface="Garamond" pitchFamily="34" charset="0"/>
                          <a:ea typeface="Garamond" pitchFamily="34" charset="-122"/>
                          <a:cs typeface="Garamond" pitchFamily="34" charset="-120"/>
                        </a:rPr>
                        <a:t>Line Item</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2744"/>
                    </a:solidFill>
                  </a:tcPr>
                </a:tc>
                <a:tc>
                  <a:txBody>
                    <a:bodyPr/>
                    <a:lstStyle/>
                    <a:p>
                      <a:pPr marL="0" indent="0">
                        <a:buNone/>
                      </a:pPr>
                      <a:r>
                        <a:rPr lang="en-US" sz="1400" b="1" dirty="0">
                          <a:solidFill>
                            <a:srgbClr val="FFFFFF"/>
                          </a:solidFill>
                          <a:latin typeface="Garamond" pitchFamily="34" charset="0"/>
                          <a:ea typeface="Garamond" pitchFamily="34" charset="-122"/>
                          <a:cs typeface="Garamond" pitchFamily="34" charset="-120"/>
                        </a:rPr>
                        <a:t>FY2024A</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2744"/>
                    </a:solidFill>
                  </a:tcPr>
                </a:tc>
                <a:tc>
                  <a:txBody>
                    <a:bodyPr/>
                    <a:lstStyle/>
                    <a:p>
                      <a:pPr marL="0" indent="0">
                        <a:buNone/>
                      </a:pPr>
                      <a:r>
                        <a:rPr lang="en-US" sz="1400" b="1" dirty="0">
                          <a:solidFill>
                            <a:srgbClr val="FFFFFF"/>
                          </a:solidFill>
                          <a:latin typeface="Garamond" pitchFamily="34" charset="0"/>
                          <a:ea typeface="Garamond" pitchFamily="34" charset="-122"/>
                          <a:cs typeface="Garamond" pitchFamily="34" charset="-120"/>
                        </a:rPr>
                        <a:t>FY2025A</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2744"/>
                    </a:solidFill>
                  </a:tcPr>
                </a:tc>
                <a:tc>
                  <a:txBody>
                    <a:bodyPr/>
                    <a:lstStyle/>
                    <a:p>
                      <a:pPr marL="0" indent="0">
                        <a:buNone/>
                      </a:pPr>
                      <a:r>
                        <a:rPr lang="en-US" sz="1400" b="1" dirty="0">
                          <a:solidFill>
                            <a:srgbClr val="FFFFFF"/>
                          </a:solidFill>
                          <a:latin typeface="Garamond" pitchFamily="34" charset="0"/>
                          <a:ea typeface="Garamond" pitchFamily="34" charset="-122"/>
                          <a:cs typeface="Garamond" pitchFamily="34" charset="-120"/>
                        </a:rPr>
                        <a:t>FY2026E</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2744"/>
                    </a:solidFill>
                  </a:tcPr>
                </a:tc>
                <a:tc>
                  <a:txBody>
                    <a:bodyPr/>
                    <a:lstStyle/>
                    <a:p>
                      <a:pPr marL="0" indent="0">
                        <a:buNone/>
                      </a:pPr>
                      <a:r>
                        <a:rPr lang="en-US" sz="1400" b="1" dirty="0">
                          <a:solidFill>
                            <a:srgbClr val="FFFFFF"/>
                          </a:solidFill>
                          <a:latin typeface="Garamond" pitchFamily="34" charset="0"/>
                          <a:ea typeface="Garamond" pitchFamily="34" charset="-122"/>
                          <a:cs typeface="Garamond" pitchFamily="34" charset="-120"/>
                        </a:rPr>
                        <a:t>FY2027E</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2744"/>
                    </a:solidFill>
                  </a:tcPr>
                </a:tc>
                <a:tc>
                  <a:txBody>
                    <a:bodyPr/>
                    <a:lstStyle/>
                    <a:p>
                      <a:pPr marL="0" indent="0">
                        <a:buNone/>
                      </a:pPr>
                      <a:r>
                        <a:rPr lang="en-US" sz="1400" b="1" dirty="0">
                          <a:solidFill>
                            <a:srgbClr val="FFFFFF"/>
                          </a:solidFill>
                          <a:latin typeface="Garamond" pitchFamily="34" charset="0"/>
                          <a:ea typeface="Garamond" pitchFamily="34" charset="-122"/>
                          <a:cs typeface="Garamond" pitchFamily="34" charset="-120"/>
                        </a:rPr>
                        <a:t>FY2028E</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2744"/>
                    </a:solidFill>
                  </a:tcPr>
                </a:tc>
                <a:tc>
                  <a:txBody>
                    <a:bodyPr/>
                    <a:lstStyle/>
                    <a:p>
                      <a:pPr marL="0" indent="0">
                        <a:buNone/>
                      </a:pPr>
                      <a:r>
                        <a:rPr lang="en-US" sz="1400" b="1" dirty="0">
                          <a:solidFill>
                            <a:srgbClr val="FFFFFF"/>
                          </a:solidFill>
                          <a:latin typeface="Garamond" pitchFamily="34" charset="0"/>
                          <a:ea typeface="Garamond" pitchFamily="34" charset="-122"/>
                          <a:cs typeface="Garamond" pitchFamily="34" charset="-120"/>
                        </a:rPr>
                        <a:t>FY2029E</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318964">
                <a:tc>
                  <a:txBody>
                    <a:bodyPr/>
                    <a:lstStyle/>
                    <a:p>
                      <a:pPr marL="0" indent="0">
                        <a:buNone/>
                      </a:pPr>
                      <a:r>
                        <a:rPr lang="en-US" sz="1400" b="1" dirty="0">
                          <a:solidFill>
                            <a:srgbClr val="000000"/>
                          </a:solidFill>
                          <a:latin typeface="Garamond" pitchFamily="34" charset="0"/>
                          <a:ea typeface="Garamond" pitchFamily="34" charset="-122"/>
                          <a:cs typeface="Garamond" pitchFamily="34" charset="-120"/>
                        </a:rPr>
                        <a:t>Revenue ($M)</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$14,989</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$21,970</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b="1" dirty="0">
                          <a:solidFill>
                            <a:srgbClr val="000000"/>
                          </a:solidFill>
                          <a:latin typeface="Garamond" pitchFamily="34" charset="0"/>
                          <a:ea typeface="Garamond" pitchFamily="34" charset="-122"/>
                          <a:cs typeface="Garamond" pitchFamily="34" charset="-120"/>
                        </a:rPr>
                        <a:t>$40,000</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$52,000</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$60,000</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$66,000</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1"/>
                  </a:ext>
                </a:extLst>
              </a:tr>
              <a:tr h="318964">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YoY Growth</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110%</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47%</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b="1" dirty="0">
                          <a:solidFill>
                            <a:srgbClr val="12B76A"/>
                          </a:solidFill>
                          <a:latin typeface="Garamond" pitchFamily="34" charset="0"/>
                          <a:ea typeface="Garamond" pitchFamily="34" charset="-122"/>
                          <a:cs typeface="Garamond" pitchFamily="34" charset="-120"/>
                        </a:rPr>
                        <a:t>82%</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30%</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15%</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10%</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2"/>
                  </a:ext>
                </a:extLst>
              </a:tr>
              <a:tr h="318964">
                <a:tc>
                  <a:txBody>
                    <a:bodyPr/>
                    <a:lstStyle/>
                    <a:p>
                      <a:pPr marL="0" indent="0">
                        <a:buNone/>
                      </a:pPr>
                      <a:r>
                        <a:rPr lang="en-US" sz="1400" b="1" dirty="0">
                          <a:solidFill>
                            <a:srgbClr val="000000"/>
                          </a:solidFill>
                          <a:latin typeface="Garamond" pitchFamily="34" charset="0"/>
                          <a:ea typeface="Garamond" pitchFamily="34" charset="-122"/>
                          <a:cs typeface="Garamond" pitchFamily="34" charset="-120"/>
                        </a:rPr>
                        <a:t>Gross Margin</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13.8%</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11.1%</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F04438"/>
                          </a:solidFill>
                          <a:latin typeface="Garamond" pitchFamily="34" charset="0"/>
                          <a:ea typeface="Garamond" pitchFamily="34" charset="-122"/>
                          <a:cs typeface="Garamond" pitchFamily="34" charset="-120"/>
                        </a:rPr>
                        <a:t>8.0%</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9.5%</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10.5%</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12B76A"/>
                          </a:solidFill>
                          <a:latin typeface="Garamond" pitchFamily="34" charset="0"/>
                          <a:ea typeface="Garamond" pitchFamily="34" charset="-122"/>
                          <a:cs typeface="Garamond" pitchFamily="34" charset="-120"/>
                        </a:rPr>
                        <a:t>11.0%</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3"/>
                  </a:ext>
                </a:extLst>
              </a:tr>
              <a:tr h="318964">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Operating Income ($M)</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$1,211</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$1,248</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$1,800</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$3,224</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$4,380</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$5,148</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4"/>
                  </a:ext>
                </a:extLst>
              </a:tr>
              <a:tr h="318964">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Op Margin</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8.1%</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5.7%</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4.5%</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6.2%</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7.3%</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7.8%</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5"/>
                  </a:ext>
                </a:extLst>
              </a:tr>
              <a:tr h="318964">
                <a:tc>
                  <a:txBody>
                    <a:bodyPr/>
                    <a:lstStyle/>
                    <a:p>
                      <a:pPr marL="0" indent="0">
                        <a:buNone/>
                      </a:pPr>
                      <a:r>
                        <a:rPr lang="en-US" sz="1400" b="1" dirty="0">
                          <a:solidFill>
                            <a:srgbClr val="000000"/>
                          </a:solidFill>
                          <a:latin typeface="Garamond" pitchFamily="34" charset="0"/>
                          <a:ea typeface="Garamond" pitchFamily="34" charset="-122"/>
                          <a:cs typeface="Garamond" pitchFamily="34" charset="-120"/>
                        </a:rPr>
                        <a:t>Net Income ($M)</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$1,153</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$1,049</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$1,271</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$2,480</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$3,468</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$4,139</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6"/>
                  </a:ext>
                </a:extLst>
              </a:tr>
              <a:tr h="318964">
                <a:tc>
                  <a:txBody>
                    <a:bodyPr/>
                    <a:lstStyle/>
                    <a:p>
                      <a:pPr marL="0" indent="0">
                        <a:buNone/>
                      </a:pPr>
                      <a:r>
                        <a:rPr lang="en-US" sz="1400" b="1" dirty="0">
                          <a:solidFill>
                            <a:srgbClr val="000000"/>
                          </a:solidFill>
                          <a:latin typeface="Garamond" pitchFamily="34" charset="0"/>
                          <a:ea typeface="Garamond" pitchFamily="34" charset="-122"/>
                          <a:cs typeface="Garamond" pitchFamily="34" charset="-120"/>
                        </a:rPr>
                        <a:t>Diluted EPS</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$1.92</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$1.75</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$2.02</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b="1" dirty="0">
                          <a:solidFill>
                            <a:srgbClr val="12B76A"/>
                          </a:solidFill>
                          <a:latin typeface="Garamond" pitchFamily="34" charset="0"/>
                          <a:ea typeface="Garamond" pitchFamily="34" charset="-122"/>
                          <a:cs typeface="Garamond" pitchFamily="34" charset="-120"/>
                        </a:rPr>
                        <a:t>$3.87</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$5.33</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$6.26</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7"/>
                  </a:ext>
                </a:extLst>
              </a:tr>
              <a:tr h="318964">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EBITDA ($M)</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$1,187</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$1,430</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$2,200</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$3,744</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$4,980</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$5,808</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8"/>
                  </a:ext>
                </a:extLst>
              </a:tr>
              <a:tr h="318964">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EBITDA Margin</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7.9%</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6.5%</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5.5%</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7.2%</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8.3%</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400" dirty="0">
                          <a:solidFill>
                            <a:srgbClr val="000000"/>
                          </a:solidFill>
                          <a:latin typeface="Garamond" pitchFamily="34" charset="0"/>
                          <a:ea typeface="Garamond" pitchFamily="34" charset="-122"/>
                          <a:cs typeface="Garamond" pitchFamily="34" charset="-120"/>
                        </a:rPr>
                        <a:t>8.8%</a:t>
                      </a:r>
                      <a:endParaRPr lang="en-US" sz="14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17" name="Text 12">
            <a:extLst>
              <a:ext uri="{FF2B5EF4-FFF2-40B4-BE49-F238E27FC236}">
                <a16:creationId xmlns:a16="http://schemas.microsoft.com/office/drawing/2014/main" id="{8728C3F0-3269-4D2A-850E-32E6A4BFC8EC}"/>
              </a:ext>
            </a:extLst>
          </p:cNvPr>
          <p:cNvSpPr/>
          <p:nvPr/>
        </p:nvSpPr>
        <p:spPr>
          <a:xfrm>
            <a:off x="228599" y="5252421"/>
            <a:ext cx="9964274" cy="1013908"/>
          </a:xfrm>
          <a:prstGeom prst="rect">
            <a:avLst/>
          </a:prstGeom>
          <a:noFill/>
          <a:ln/>
        </p:spPr>
        <p:txBody>
          <a:bodyPr wrap="square" rtlCol="0" anchor="t"/>
          <a:lstStyle/>
          <a:p>
            <a:pPr marL="342900" indent="-342900">
              <a:spcAft>
                <a:spcPts val="300"/>
              </a:spcAft>
              <a:buSzPct val="100000"/>
              <a:buChar char="•"/>
            </a:pPr>
            <a:r>
              <a:rPr lang="en-US" sz="1100" dirty="0">
                <a:solidFill>
                  <a:srgbClr val="1D2939"/>
                </a:solidFill>
                <a:latin typeface="Garamond" pitchFamily="34" charset="0"/>
                <a:ea typeface="Garamond" pitchFamily="34" charset="-122"/>
                <a:cs typeface="Garamond" pitchFamily="34" charset="-120"/>
              </a:rPr>
              <a:t>Revenue: FY2026 per mgmt guidance; FY2027-29 reflects AI capex cycle deceleration (30% to 15% to 10%) as base effect increases</a:t>
            </a:r>
            <a:endParaRPr lang="en-US" sz="1100" dirty="0"/>
          </a:p>
          <a:p>
            <a:pPr marL="342900" indent="-342900">
              <a:spcAft>
                <a:spcPts val="300"/>
              </a:spcAft>
              <a:buSzPct val="100000"/>
              <a:buChar char="•"/>
            </a:pPr>
            <a:r>
              <a:rPr lang="en-US" sz="1100" dirty="0">
                <a:solidFill>
                  <a:srgbClr val="1D2939"/>
                </a:solidFill>
                <a:latin typeface="Garamond" pitchFamily="34" charset="0"/>
                <a:ea typeface="Garamond" pitchFamily="34" charset="-122"/>
                <a:cs typeface="Garamond" pitchFamily="34" charset="-120"/>
              </a:rPr>
              <a:t>Gross Margin: Troughs at ~8% in FY2026 then recovers via DLC mix shift to 40%+ of rev, pricing normalization, and next-gen product margin improvement</a:t>
            </a:r>
            <a:endParaRPr lang="en-US" sz="1100" dirty="0"/>
          </a:p>
          <a:p>
            <a:pPr marL="342900" indent="-342900">
              <a:spcAft>
                <a:spcPts val="300"/>
              </a:spcAft>
              <a:buSzPct val="100000"/>
              <a:buChar char="•"/>
            </a:pPr>
            <a:r>
              <a:rPr lang="en-US" sz="1100" dirty="0">
                <a:solidFill>
                  <a:srgbClr val="1D2939"/>
                </a:solidFill>
                <a:latin typeface="Garamond" pitchFamily="34" charset="0"/>
                <a:ea typeface="Garamond" pitchFamily="34" charset="-122"/>
                <a:cs typeface="Garamond" pitchFamily="34" charset="-120"/>
              </a:rPr>
              <a:t>OpEx Leverage: R&amp;D + SG&amp;A decline from 3.5% to 3.2% of rev due to scale; drives operating margin from 4.5% to 7.8% over forecast period</a:t>
            </a:r>
            <a:endParaRPr lang="en-US" sz="1100" dirty="0"/>
          </a:p>
          <a:p>
            <a:pPr marL="342900" indent="-342900">
              <a:spcAft>
                <a:spcPts val="300"/>
              </a:spcAft>
              <a:buSzPct val="100000"/>
              <a:buChar char="•"/>
            </a:pPr>
            <a:r>
              <a:rPr lang="en-US" sz="1100" dirty="0">
                <a:solidFill>
                  <a:srgbClr val="1D2939"/>
                </a:solidFill>
                <a:latin typeface="Garamond" pitchFamily="34" charset="0"/>
                <a:ea typeface="Garamond" pitchFamily="34" charset="-122"/>
                <a:cs typeface="Garamond" pitchFamily="34" charset="-120"/>
              </a:rPr>
              <a:t>FCF: Turns positive FY2027 as inventory normalizes from $6B+ to 40-45 days COGS; scales to ~5% FCF margin by FY2029; CapEx 1.2-1.5% of rev (Malaysia/Taiwan expansion</a:t>
            </a:r>
            <a:r>
              <a:rPr lang="en-US" sz="750" dirty="0">
                <a:solidFill>
                  <a:srgbClr val="1D2939"/>
                </a:solidFill>
                <a:latin typeface="Garamond" pitchFamily="34" charset="0"/>
                <a:ea typeface="Garamond" pitchFamily="34" charset="-122"/>
                <a:cs typeface="Garamond" pitchFamily="34" charset="-120"/>
              </a:rPr>
              <a:t>)</a:t>
            </a:r>
            <a:endParaRPr lang="en-US" sz="750" dirty="0"/>
          </a:p>
        </p:txBody>
      </p:sp>
      <p:sp>
        <p:nvSpPr>
          <p:cNvPr id="18" name="Text 11">
            <a:extLst>
              <a:ext uri="{FF2B5EF4-FFF2-40B4-BE49-F238E27FC236}">
                <a16:creationId xmlns:a16="http://schemas.microsoft.com/office/drawing/2014/main" id="{0E67FDB4-E29B-4A46-BEC9-2CFBB4AE7374}"/>
              </a:ext>
            </a:extLst>
          </p:cNvPr>
          <p:cNvSpPr/>
          <p:nvPr/>
        </p:nvSpPr>
        <p:spPr>
          <a:xfrm>
            <a:off x="228599" y="4799619"/>
            <a:ext cx="8412480" cy="228600"/>
          </a:xfrm>
          <a:prstGeom prst="rect">
            <a:avLst/>
          </a:prstGeom>
          <a:noFill/>
          <a:ln/>
        </p:spPr>
        <p:txBody>
          <a:bodyPr wrap="square" rtlCol="0" anchor="ctr"/>
          <a:lstStyle/>
          <a:p>
            <a:pPr marL="0" indent="0">
              <a:buNone/>
            </a:pPr>
            <a:r>
              <a:rPr lang="en-US" b="1" dirty="0">
                <a:solidFill>
                  <a:srgbClr val="1D2939"/>
                </a:solidFill>
                <a:latin typeface="Garamond" pitchFamily="34" charset="0"/>
                <a:ea typeface="Garamond" pitchFamily="34" charset="-122"/>
                <a:cs typeface="Garamond" pitchFamily="34" charset="-120"/>
              </a:rPr>
              <a:t>Key Assumptions:</a:t>
            </a:r>
            <a:endParaRPr lang="en-US" dirty="0"/>
          </a:p>
        </p:txBody>
      </p:sp>
      <p:pic>
        <p:nvPicPr>
          <p:cNvPr id="19" name="Picture 18">
            <a:extLst>
              <a:ext uri="{FF2B5EF4-FFF2-40B4-BE49-F238E27FC236}">
                <a16:creationId xmlns:a16="http://schemas.microsoft.com/office/drawing/2014/main" id="{F8A3E9FF-271B-41B0-8887-E08238CC2D68}"/>
              </a:ext>
            </a:extLst>
          </p:cNvPr>
          <p:cNvPicPr>
            <a:picLocks noChangeAspect="1"/>
          </p:cNvPicPr>
          <p:nvPr/>
        </p:nvPicPr>
        <p:blipFill>
          <a:blip r:embed="rId4"/>
          <a:stretch>
            <a:fillRect/>
          </a:stretch>
        </p:blipFill>
        <p:spPr>
          <a:xfrm>
            <a:off x="10160006" y="6379320"/>
            <a:ext cx="1422710" cy="46484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3" name="Google Shape;323;p9"/>
          <p:cNvSpPr txBox="1"/>
          <p:nvPr/>
        </p:nvSpPr>
        <p:spPr>
          <a:xfrm>
            <a:off x="228600" y="350838"/>
            <a:ext cx="8686800" cy="3657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3000"/>
              <a:buFont typeface="Arial"/>
              <a:buNone/>
            </a:pPr>
            <a:r>
              <a:rPr lang="en-US" sz="3000" b="1" i="0" u="none" strike="noStrike" cap="small" dirty="0">
                <a:solidFill>
                  <a:srgbClr val="3F3F3F"/>
                </a:solidFill>
                <a:latin typeface="Garamond"/>
                <a:ea typeface="Garamond"/>
                <a:cs typeface="Garamond"/>
                <a:sym typeface="Garamond"/>
              </a:rPr>
              <a:t>VALUATION ANALYSIS </a:t>
            </a:r>
            <a:endParaRPr sz="3000" b="1" i="0" u="none" strike="noStrike" cap="small" dirty="0">
              <a:solidFill>
                <a:srgbClr val="3F3F3F"/>
              </a:solidFill>
              <a:latin typeface="Garamond"/>
              <a:ea typeface="Garamond"/>
              <a:cs typeface="Garamond"/>
              <a:sym typeface="Garamond"/>
            </a:endParaRPr>
          </a:p>
        </p:txBody>
      </p:sp>
      <p:cxnSp>
        <p:nvCxnSpPr>
          <p:cNvPr id="325" name="Google Shape;325;p9"/>
          <p:cNvCxnSpPr/>
          <p:nvPr/>
        </p:nvCxnSpPr>
        <p:spPr>
          <a:xfrm>
            <a:off x="270932" y="711202"/>
            <a:ext cx="11633100" cy="0"/>
          </a:xfrm>
          <a:prstGeom prst="straightConnector1">
            <a:avLst/>
          </a:prstGeom>
          <a:noFill/>
          <a:ln w="9525" cap="flat" cmpd="sng">
            <a:solidFill>
              <a:srgbClr val="001746"/>
            </a:solidFill>
            <a:prstDash val="solid"/>
            <a:miter lim="800000"/>
            <a:headEnd type="none" w="sm" len="sm"/>
            <a:tailEnd type="none" w="sm" len="sm"/>
          </a:ln>
        </p:spPr>
      </p:cxnSp>
      <p:sp>
        <p:nvSpPr>
          <p:cNvPr id="326" name="Google Shape;326;p9"/>
          <p:cNvSpPr/>
          <p:nvPr/>
        </p:nvSpPr>
        <p:spPr>
          <a:xfrm>
            <a:off x="1145042" y="6486133"/>
            <a:ext cx="1270500" cy="2820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Company</a:t>
            </a:r>
            <a:endParaRPr sz="1400" b="0" i="0" u="none" strike="noStrike" cap="none">
              <a:solidFill>
                <a:schemeClr val="lt1"/>
              </a:solidFill>
              <a:latin typeface="Garamond"/>
              <a:ea typeface="Garamond"/>
              <a:cs typeface="Garamond"/>
              <a:sym typeface="Garamond"/>
            </a:endParaRPr>
          </a:p>
        </p:txBody>
      </p:sp>
      <p:sp>
        <p:nvSpPr>
          <p:cNvPr id="327" name="Google Shape;327;p9"/>
          <p:cNvSpPr/>
          <p:nvPr/>
        </p:nvSpPr>
        <p:spPr>
          <a:xfrm>
            <a:off x="2664119"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Industry</a:t>
            </a:r>
            <a:endParaRPr sz="1400" b="0" i="0" u="none" strike="noStrike" cap="none">
              <a:solidFill>
                <a:schemeClr val="lt1"/>
              </a:solidFill>
              <a:latin typeface="Garamond"/>
              <a:ea typeface="Garamond"/>
              <a:cs typeface="Garamond"/>
              <a:sym typeface="Garamond"/>
            </a:endParaRPr>
          </a:p>
        </p:txBody>
      </p:sp>
      <p:sp>
        <p:nvSpPr>
          <p:cNvPr id="328" name="Google Shape;328;p9"/>
          <p:cNvSpPr/>
          <p:nvPr/>
        </p:nvSpPr>
        <p:spPr>
          <a:xfrm>
            <a:off x="4183196" y="6486133"/>
            <a:ext cx="1270500" cy="2820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Theses</a:t>
            </a:r>
            <a:endParaRPr sz="1400" b="0" i="0" u="none" strike="noStrike" cap="none">
              <a:solidFill>
                <a:schemeClr val="lt1"/>
              </a:solidFill>
              <a:latin typeface="Garamond"/>
              <a:ea typeface="Garamond"/>
              <a:cs typeface="Garamond"/>
              <a:sym typeface="Garamond"/>
            </a:endParaRPr>
          </a:p>
        </p:txBody>
      </p:sp>
      <p:sp>
        <p:nvSpPr>
          <p:cNvPr id="329" name="Google Shape;329;p9"/>
          <p:cNvSpPr/>
          <p:nvPr/>
        </p:nvSpPr>
        <p:spPr>
          <a:xfrm>
            <a:off x="7221349"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lt1"/>
                </a:solidFill>
                <a:latin typeface="Garamond"/>
                <a:ea typeface="Garamond"/>
                <a:cs typeface="Garamond"/>
                <a:sym typeface="Garamond"/>
              </a:rPr>
              <a:t>ESG</a:t>
            </a:r>
            <a:endParaRPr sz="1400" b="0" i="0" u="none" strike="noStrike" cap="none" dirty="0">
              <a:solidFill>
                <a:schemeClr val="lt1"/>
              </a:solidFill>
              <a:latin typeface="Garamond"/>
              <a:ea typeface="Garamond"/>
              <a:cs typeface="Garamond"/>
              <a:sym typeface="Garamond"/>
            </a:endParaRPr>
          </a:p>
        </p:txBody>
      </p:sp>
      <p:sp>
        <p:nvSpPr>
          <p:cNvPr id="330" name="Google Shape;330;p9"/>
          <p:cNvSpPr/>
          <p:nvPr/>
        </p:nvSpPr>
        <p:spPr>
          <a:xfrm>
            <a:off x="8740461"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Risks</a:t>
            </a:r>
            <a:endParaRPr sz="1400" b="0" i="0" u="none" strike="noStrike" cap="none">
              <a:solidFill>
                <a:schemeClr val="lt1"/>
              </a:solidFill>
              <a:latin typeface="Garamond"/>
              <a:ea typeface="Garamond"/>
              <a:cs typeface="Garamond"/>
              <a:sym typeface="Garamond"/>
            </a:endParaRPr>
          </a:p>
        </p:txBody>
      </p:sp>
      <p:sp>
        <p:nvSpPr>
          <p:cNvPr id="331" name="Google Shape;331;p9"/>
          <p:cNvSpPr/>
          <p:nvPr/>
        </p:nvSpPr>
        <p:spPr>
          <a:xfrm>
            <a:off x="5702272" y="6486133"/>
            <a:ext cx="1270500" cy="282000"/>
          </a:xfrm>
          <a:prstGeom prst="rect">
            <a:avLst/>
          </a:prstGeom>
          <a:solidFill>
            <a:srgbClr val="041E4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lt1"/>
                </a:solidFill>
                <a:latin typeface="Garamond"/>
                <a:ea typeface="Garamond"/>
                <a:cs typeface="Garamond"/>
                <a:sym typeface="Garamond"/>
              </a:rPr>
              <a:t>Valuation</a:t>
            </a:r>
            <a:endParaRPr sz="1400" b="0" i="0" u="none" strike="noStrike" cap="none" dirty="0">
              <a:solidFill>
                <a:schemeClr val="lt1"/>
              </a:solidFill>
              <a:latin typeface="Garamond"/>
              <a:ea typeface="Garamond"/>
              <a:cs typeface="Garamond"/>
              <a:sym typeface="Garamond"/>
            </a:endParaRPr>
          </a:p>
        </p:txBody>
      </p:sp>
      <p:sp>
        <p:nvSpPr>
          <p:cNvPr id="332" name="Google Shape;332;p9"/>
          <p:cNvSpPr txBox="1">
            <a:spLocks noGrp="1"/>
          </p:cNvSpPr>
          <p:nvPr>
            <p:ph type="sldNum" idx="4294967295"/>
          </p:nvPr>
        </p:nvSpPr>
        <p:spPr>
          <a:xfrm>
            <a:off x="11520419" y="6466832"/>
            <a:ext cx="521100" cy="323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200"/>
              <a:buFont typeface="Arial"/>
              <a:buNone/>
            </a:pPr>
            <a:r>
              <a:rPr lang="en-US"/>
              <a:t>|  </a:t>
            </a:r>
            <a:fld id="{00000000-1234-1234-1234-123412341234}" type="slidenum">
              <a:rPr lang="en-US"/>
              <a:t>13</a:t>
            </a:fld>
            <a:endParaRPr/>
          </a:p>
        </p:txBody>
      </p:sp>
      <p:pic>
        <p:nvPicPr>
          <p:cNvPr id="18" name="Picture 4" descr="SMCI - Super Micro Computer, Inc. Trademark Registration">
            <a:extLst>
              <a:ext uri="{FF2B5EF4-FFF2-40B4-BE49-F238E27FC236}">
                <a16:creationId xmlns:a16="http://schemas.microsoft.com/office/drawing/2014/main" id="{2A2EBA07-DE96-4F47-86DE-09E4A439BA0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001" b="17593"/>
          <a:stretch/>
        </p:blipFill>
        <p:spPr bwMode="auto">
          <a:xfrm>
            <a:off x="10032470" y="64180"/>
            <a:ext cx="2009003" cy="54750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1AA2856A-46D2-482C-94CC-806E8E2DE1B4}"/>
              </a:ext>
            </a:extLst>
          </p:cNvPr>
          <p:cNvPicPr>
            <a:picLocks noChangeAspect="1"/>
          </p:cNvPicPr>
          <p:nvPr/>
        </p:nvPicPr>
        <p:blipFill>
          <a:blip r:embed="rId4"/>
          <a:stretch>
            <a:fillRect/>
          </a:stretch>
        </p:blipFill>
        <p:spPr>
          <a:xfrm>
            <a:off x="10160006" y="6379320"/>
            <a:ext cx="1422710" cy="464846"/>
          </a:xfrm>
          <a:prstGeom prst="rect">
            <a:avLst/>
          </a:prstGeom>
        </p:spPr>
      </p:pic>
      <p:pic>
        <p:nvPicPr>
          <p:cNvPr id="15" name="Google Shape;416;g3c9abbef817_0_12" title="Picture3.png">
            <a:extLst>
              <a:ext uri="{FF2B5EF4-FFF2-40B4-BE49-F238E27FC236}">
                <a16:creationId xmlns:a16="http://schemas.microsoft.com/office/drawing/2014/main" id="{C0A99BA8-6A9D-406F-BD2E-08A42723DE55}"/>
              </a:ext>
            </a:extLst>
          </p:cNvPr>
          <p:cNvPicPr preferRelativeResize="0"/>
          <p:nvPr/>
        </p:nvPicPr>
        <p:blipFill>
          <a:blip r:embed="rId5">
            <a:alphaModFix/>
          </a:blip>
          <a:stretch>
            <a:fillRect/>
          </a:stretch>
        </p:blipFill>
        <p:spPr>
          <a:xfrm>
            <a:off x="491005" y="914538"/>
            <a:ext cx="11192943" cy="502893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3" name="Google Shape;323;p9"/>
          <p:cNvSpPr txBox="1"/>
          <p:nvPr/>
        </p:nvSpPr>
        <p:spPr>
          <a:xfrm>
            <a:off x="228600" y="403412"/>
            <a:ext cx="9654988" cy="313125"/>
          </a:xfrm>
          <a:prstGeom prst="rect">
            <a:avLst/>
          </a:prstGeom>
          <a:noFill/>
          <a:ln>
            <a:noFill/>
          </a:ln>
        </p:spPr>
        <p:txBody>
          <a:bodyPr spcFirstLastPara="1" wrap="square" lIns="91425" tIns="45700" rIns="91425" bIns="45700" anchor="b" anchorCtr="0">
            <a:noAutofit/>
          </a:bodyPr>
          <a:lstStyle/>
          <a:p>
            <a:pPr marL="0" indent="0">
              <a:buNone/>
            </a:pPr>
            <a:r>
              <a:rPr lang="en-US" sz="3200" b="1" kern="0" spc="200" dirty="0">
                <a:solidFill>
                  <a:srgbClr val="1D2939"/>
                </a:solidFill>
                <a:latin typeface="Garamond" pitchFamily="34" charset="0"/>
                <a:ea typeface="Garamond" pitchFamily="34" charset="-122"/>
                <a:cs typeface="Garamond" pitchFamily="34" charset="-120"/>
              </a:rPr>
              <a:t>DCF SENSITIVITY </a:t>
            </a:r>
            <a:endParaRPr lang="en-US" sz="3200" dirty="0"/>
          </a:p>
        </p:txBody>
      </p:sp>
      <p:cxnSp>
        <p:nvCxnSpPr>
          <p:cNvPr id="325" name="Google Shape;325;p9"/>
          <p:cNvCxnSpPr/>
          <p:nvPr/>
        </p:nvCxnSpPr>
        <p:spPr>
          <a:xfrm>
            <a:off x="270932" y="711202"/>
            <a:ext cx="11633100" cy="0"/>
          </a:xfrm>
          <a:prstGeom prst="straightConnector1">
            <a:avLst/>
          </a:prstGeom>
          <a:noFill/>
          <a:ln w="9525" cap="flat" cmpd="sng">
            <a:solidFill>
              <a:srgbClr val="001746"/>
            </a:solidFill>
            <a:prstDash val="solid"/>
            <a:miter lim="800000"/>
            <a:headEnd type="none" w="sm" len="sm"/>
            <a:tailEnd type="none" w="sm" len="sm"/>
          </a:ln>
        </p:spPr>
      </p:cxnSp>
      <p:sp>
        <p:nvSpPr>
          <p:cNvPr id="326" name="Google Shape;326;p9"/>
          <p:cNvSpPr/>
          <p:nvPr/>
        </p:nvSpPr>
        <p:spPr>
          <a:xfrm>
            <a:off x="1145042" y="6486133"/>
            <a:ext cx="1270500" cy="2820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Company</a:t>
            </a:r>
            <a:endParaRPr sz="1400" b="0" i="0" u="none" strike="noStrike" cap="none">
              <a:solidFill>
                <a:schemeClr val="lt1"/>
              </a:solidFill>
              <a:latin typeface="Garamond"/>
              <a:ea typeface="Garamond"/>
              <a:cs typeface="Garamond"/>
              <a:sym typeface="Garamond"/>
            </a:endParaRPr>
          </a:p>
        </p:txBody>
      </p:sp>
      <p:sp>
        <p:nvSpPr>
          <p:cNvPr id="327" name="Google Shape;327;p9"/>
          <p:cNvSpPr/>
          <p:nvPr/>
        </p:nvSpPr>
        <p:spPr>
          <a:xfrm>
            <a:off x="2664119"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Industry</a:t>
            </a:r>
            <a:endParaRPr sz="1400" b="0" i="0" u="none" strike="noStrike" cap="none">
              <a:solidFill>
                <a:schemeClr val="lt1"/>
              </a:solidFill>
              <a:latin typeface="Garamond"/>
              <a:ea typeface="Garamond"/>
              <a:cs typeface="Garamond"/>
              <a:sym typeface="Garamond"/>
            </a:endParaRPr>
          </a:p>
        </p:txBody>
      </p:sp>
      <p:sp>
        <p:nvSpPr>
          <p:cNvPr id="328" name="Google Shape;328;p9"/>
          <p:cNvSpPr/>
          <p:nvPr/>
        </p:nvSpPr>
        <p:spPr>
          <a:xfrm>
            <a:off x="4183196" y="6486133"/>
            <a:ext cx="1270500" cy="2820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Theses</a:t>
            </a:r>
            <a:endParaRPr sz="1400" b="0" i="0" u="none" strike="noStrike" cap="none">
              <a:solidFill>
                <a:schemeClr val="lt1"/>
              </a:solidFill>
              <a:latin typeface="Garamond"/>
              <a:ea typeface="Garamond"/>
              <a:cs typeface="Garamond"/>
              <a:sym typeface="Garamond"/>
            </a:endParaRPr>
          </a:p>
        </p:txBody>
      </p:sp>
      <p:sp>
        <p:nvSpPr>
          <p:cNvPr id="329" name="Google Shape;329;p9"/>
          <p:cNvSpPr/>
          <p:nvPr/>
        </p:nvSpPr>
        <p:spPr>
          <a:xfrm>
            <a:off x="7221349"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lt1"/>
                </a:solidFill>
                <a:latin typeface="Garamond"/>
                <a:ea typeface="Garamond"/>
                <a:cs typeface="Garamond"/>
                <a:sym typeface="Garamond"/>
              </a:rPr>
              <a:t>ESG</a:t>
            </a:r>
            <a:endParaRPr sz="1400" b="0" i="0" u="none" strike="noStrike" cap="none" dirty="0">
              <a:solidFill>
                <a:schemeClr val="lt1"/>
              </a:solidFill>
              <a:latin typeface="Garamond"/>
              <a:ea typeface="Garamond"/>
              <a:cs typeface="Garamond"/>
              <a:sym typeface="Garamond"/>
            </a:endParaRPr>
          </a:p>
        </p:txBody>
      </p:sp>
      <p:sp>
        <p:nvSpPr>
          <p:cNvPr id="330" name="Google Shape;330;p9"/>
          <p:cNvSpPr/>
          <p:nvPr/>
        </p:nvSpPr>
        <p:spPr>
          <a:xfrm>
            <a:off x="8740461"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Risks</a:t>
            </a:r>
            <a:endParaRPr sz="1400" b="0" i="0" u="none" strike="noStrike" cap="none">
              <a:solidFill>
                <a:schemeClr val="lt1"/>
              </a:solidFill>
              <a:latin typeface="Garamond"/>
              <a:ea typeface="Garamond"/>
              <a:cs typeface="Garamond"/>
              <a:sym typeface="Garamond"/>
            </a:endParaRPr>
          </a:p>
        </p:txBody>
      </p:sp>
      <p:sp>
        <p:nvSpPr>
          <p:cNvPr id="331" name="Google Shape;331;p9"/>
          <p:cNvSpPr/>
          <p:nvPr/>
        </p:nvSpPr>
        <p:spPr>
          <a:xfrm>
            <a:off x="5702272" y="6486133"/>
            <a:ext cx="1270500" cy="282000"/>
          </a:xfrm>
          <a:prstGeom prst="rect">
            <a:avLst/>
          </a:prstGeom>
          <a:solidFill>
            <a:srgbClr val="041E4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lt1"/>
                </a:solidFill>
                <a:latin typeface="Garamond"/>
                <a:ea typeface="Garamond"/>
                <a:cs typeface="Garamond"/>
                <a:sym typeface="Garamond"/>
              </a:rPr>
              <a:t>Valuation</a:t>
            </a:r>
            <a:endParaRPr sz="1400" b="0" i="0" u="none" strike="noStrike" cap="none" dirty="0">
              <a:solidFill>
                <a:schemeClr val="lt1"/>
              </a:solidFill>
              <a:latin typeface="Garamond"/>
              <a:ea typeface="Garamond"/>
              <a:cs typeface="Garamond"/>
              <a:sym typeface="Garamond"/>
            </a:endParaRPr>
          </a:p>
        </p:txBody>
      </p:sp>
      <p:sp>
        <p:nvSpPr>
          <p:cNvPr id="332" name="Google Shape;332;p9"/>
          <p:cNvSpPr txBox="1">
            <a:spLocks noGrp="1"/>
          </p:cNvSpPr>
          <p:nvPr>
            <p:ph type="sldNum" idx="4294967295"/>
          </p:nvPr>
        </p:nvSpPr>
        <p:spPr>
          <a:xfrm>
            <a:off x="11520419" y="6466832"/>
            <a:ext cx="521100" cy="323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200"/>
              <a:buFont typeface="Arial"/>
              <a:buNone/>
            </a:pPr>
            <a:r>
              <a:rPr lang="en-US"/>
              <a:t>|  </a:t>
            </a:r>
            <a:fld id="{00000000-1234-1234-1234-123412341234}" type="slidenum">
              <a:rPr lang="en-US"/>
              <a:t>14</a:t>
            </a:fld>
            <a:endParaRPr/>
          </a:p>
        </p:txBody>
      </p:sp>
      <p:pic>
        <p:nvPicPr>
          <p:cNvPr id="18" name="Picture 4" descr="SMCI - Super Micro Computer, Inc. Trademark Registration">
            <a:extLst>
              <a:ext uri="{FF2B5EF4-FFF2-40B4-BE49-F238E27FC236}">
                <a16:creationId xmlns:a16="http://schemas.microsoft.com/office/drawing/2014/main" id="{2A2EBA07-DE96-4F47-86DE-09E4A439BA0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001" b="17593"/>
          <a:stretch/>
        </p:blipFill>
        <p:spPr bwMode="auto">
          <a:xfrm>
            <a:off x="10032470" y="64180"/>
            <a:ext cx="2009003" cy="54750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FD950718-0FC5-4A77-BFD9-46CEAC3E6BB9}"/>
              </a:ext>
            </a:extLst>
          </p:cNvPr>
          <p:cNvPicPr>
            <a:picLocks noChangeAspect="1"/>
          </p:cNvPicPr>
          <p:nvPr/>
        </p:nvPicPr>
        <p:blipFill>
          <a:blip r:embed="rId4"/>
          <a:stretch>
            <a:fillRect/>
          </a:stretch>
        </p:blipFill>
        <p:spPr>
          <a:xfrm>
            <a:off x="10160006" y="6379320"/>
            <a:ext cx="1422710" cy="464846"/>
          </a:xfrm>
          <a:prstGeom prst="rect">
            <a:avLst/>
          </a:prstGeom>
        </p:spPr>
      </p:pic>
      <p:pic>
        <p:nvPicPr>
          <p:cNvPr id="16" name="Google Shape;433;p9" title="Picture1.png">
            <a:extLst>
              <a:ext uri="{FF2B5EF4-FFF2-40B4-BE49-F238E27FC236}">
                <a16:creationId xmlns:a16="http://schemas.microsoft.com/office/drawing/2014/main" id="{2FE0ECE5-0E14-4E0B-9B4E-731FBB88D0C8}"/>
              </a:ext>
            </a:extLst>
          </p:cNvPr>
          <p:cNvPicPr preferRelativeResize="0"/>
          <p:nvPr/>
        </p:nvPicPr>
        <p:blipFill>
          <a:blip r:embed="rId5">
            <a:alphaModFix/>
          </a:blip>
          <a:stretch>
            <a:fillRect/>
          </a:stretch>
        </p:blipFill>
        <p:spPr>
          <a:xfrm>
            <a:off x="594975" y="805603"/>
            <a:ext cx="6626374" cy="5535621"/>
          </a:xfrm>
          <a:prstGeom prst="rect">
            <a:avLst/>
          </a:prstGeom>
          <a:noFill/>
          <a:ln>
            <a:noFill/>
          </a:ln>
        </p:spPr>
      </p:pic>
      <p:pic>
        <p:nvPicPr>
          <p:cNvPr id="20" name="Google Shape;435;p9" title="Picture4.png">
            <a:extLst>
              <a:ext uri="{FF2B5EF4-FFF2-40B4-BE49-F238E27FC236}">
                <a16:creationId xmlns:a16="http://schemas.microsoft.com/office/drawing/2014/main" id="{21A8D7DA-890D-485C-AD66-661F00FC04E1}"/>
              </a:ext>
            </a:extLst>
          </p:cNvPr>
          <p:cNvPicPr preferRelativeResize="0"/>
          <p:nvPr/>
        </p:nvPicPr>
        <p:blipFill>
          <a:blip r:embed="rId6">
            <a:alphaModFix/>
          </a:blip>
          <a:stretch>
            <a:fillRect/>
          </a:stretch>
        </p:blipFill>
        <p:spPr>
          <a:xfrm>
            <a:off x="7381301" y="2166875"/>
            <a:ext cx="4654550" cy="1401828"/>
          </a:xfrm>
          <a:prstGeom prst="rect">
            <a:avLst/>
          </a:prstGeom>
          <a:noFill/>
          <a:ln>
            <a:noFill/>
          </a:ln>
        </p:spPr>
      </p:pic>
      <p:pic>
        <p:nvPicPr>
          <p:cNvPr id="21" name="Google Shape;434;p9" title="Picture2.png">
            <a:extLst>
              <a:ext uri="{FF2B5EF4-FFF2-40B4-BE49-F238E27FC236}">
                <a16:creationId xmlns:a16="http://schemas.microsoft.com/office/drawing/2014/main" id="{065786D8-4124-4B52-893F-A58A0A285AC0}"/>
              </a:ext>
            </a:extLst>
          </p:cNvPr>
          <p:cNvPicPr preferRelativeResize="0"/>
          <p:nvPr/>
        </p:nvPicPr>
        <p:blipFill>
          <a:blip r:embed="rId7">
            <a:alphaModFix/>
          </a:blip>
          <a:stretch>
            <a:fillRect/>
          </a:stretch>
        </p:blipFill>
        <p:spPr>
          <a:xfrm>
            <a:off x="7381288" y="4120427"/>
            <a:ext cx="4654566" cy="1315000"/>
          </a:xfrm>
          <a:prstGeom prst="rect">
            <a:avLst/>
          </a:prstGeom>
          <a:noFill/>
          <a:ln>
            <a:noFill/>
          </a:ln>
        </p:spPr>
      </p:pic>
    </p:spTree>
    <p:extLst>
      <p:ext uri="{BB962C8B-B14F-4D97-AF65-F5344CB8AC3E}">
        <p14:creationId xmlns:p14="http://schemas.microsoft.com/office/powerpoint/2010/main" val="23413759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g2b6e027a1db_8_67"/>
          <p:cNvSpPr txBox="1">
            <a:spLocks noGrp="1"/>
          </p:cNvSpPr>
          <p:nvPr>
            <p:ph type="sldNum" idx="12"/>
          </p:nvPr>
        </p:nvSpPr>
        <p:spPr>
          <a:xfrm>
            <a:off x="11748073" y="6466825"/>
            <a:ext cx="293400" cy="323100"/>
          </a:xfrm>
          <a:prstGeom prst="rect">
            <a:avLst/>
          </a:prstGeom>
          <a:noFill/>
          <a:ln>
            <a:noFill/>
          </a:ln>
        </p:spPr>
        <p:txBody>
          <a:bodyPr spcFirstLastPara="1" wrap="square" lIns="91425" tIns="45700" rIns="91425" bIns="45700" anchor="ctr" anchorCtr="0">
            <a:spAutoFit/>
          </a:bodyPr>
          <a:lstStyle/>
          <a:p>
            <a:pPr marL="0" lvl="0" indent="0" algn="l" rtl="0">
              <a:lnSpc>
                <a:spcPct val="100000"/>
              </a:lnSpc>
              <a:spcBef>
                <a:spcPts val="0"/>
              </a:spcBef>
              <a:spcAft>
                <a:spcPts val="0"/>
              </a:spcAft>
              <a:buSzPts val="1500"/>
              <a:buNone/>
            </a:pPr>
            <a:fld id="{00000000-1234-1234-1234-123412341234}" type="slidenum">
              <a:rPr lang="en-US" sz="1500" cap="small">
                <a:solidFill>
                  <a:schemeClr val="lt1"/>
                </a:solidFill>
                <a:latin typeface="Garamond"/>
                <a:ea typeface="Garamond"/>
                <a:cs typeface="Garamond"/>
                <a:sym typeface="Garamond"/>
              </a:rPr>
              <a:t>15</a:t>
            </a:fld>
            <a:endParaRPr sz="1500" cap="small">
              <a:solidFill>
                <a:schemeClr val="lt1"/>
              </a:solidFill>
              <a:latin typeface="Garamond"/>
              <a:ea typeface="Garamond"/>
              <a:cs typeface="Garamond"/>
              <a:sym typeface="Garamond"/>
            </a:endParaRPr>
          </a:p>
        </p:txBody>
      </p:sp>
      <p:cxnSp>
        <p:nvCxnSpPr>
          <p:cNvPr id="343" name="Google Shape;343;g2b6e027a1db_8_67"/>
          <p:cNvCxnSpPr/>
          <p:nvPr/>
        </p:nvCxnSpPr>
        <p:spPr>
          <a:xfrm>
            <a:off x="11746228" y="6510872"/>
            <a:ext cx="0" cy="232500"/>
          </a:xfrm>
          <a:prstGeom prst="straightConnector1">
            <a:avLst/>
          </a:prstGeom>
          <a:noFill/>
          <a:ln w="9525" cap="flat" cmpd="sng">
            <a:solidFill>
              <a:schemeClr val="lt1"/>
            </a:solidFill>
            <a:prstDash val="solid"/>
            <a:miter lim="800000"/>
            <a:headEnd type="none" w="sm" len="sm"/>
            <a:tailEnd type="none" w="sm" len="sm"/>
          </a:ln>
        </p:spPr>
      </p:cxnSp>
      <p:sp>
        <p:nvSpPr>
          <p:cNvPr id="344" name="Google Shape;344;g2b6e027a1db_8_67"/>
          <p:cNvSpPr txBox="1">
            <a:spLocks noGrp="1"/>
          </p:cNvSpPr>
          <p:nvPr>
            <p:ph type="sldNum" idx="4294967295"/>
          </p:nvPr>
        </p:nvSpPr>
        <p:spPr>
          <a:xfrm>
            <a:off x="11520419" y="6466832"/>
            <a:ext cx="521100" cy="323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200"/>
              <a:buFont typeface="Arial"/>
              <a:buNone/>
            </a:pPr>
            <a:r>
              <a:rPr lang="en-US"/>
              <a:t>|  </a:t>
            </a:r>
            <a:fld id="{00000000-1234-1234-1234-123412341234}" type="slidenum">
              <a:rPr lang="en-US"/>
              <a:t>15</a:t>
            </a:fld>
            <a:endParaRPr/>
          </a:p>
        </p:txBody>
      </p:sp>
      <p:sp>
        <p:nvSpPr>
          <p:cNvPr id="345" name="Google Shape;345;g2b6e027a1db_8_67"/>
          <p:cNvSpPr/>
          <p:nvPr/>
        </p:nvSpPr>
        <p:spPr>
          <a:xfrm>
            <a:off x="-37950" y="3908122"/>
            <a:ext cx="12267900" cy="61500"/>
          </a:xfrm>
          <a:prstGeom prst="rect">
            <a:avLst/>
          </a:prstGeom>
          <a:solidFill>
            <a:srgbClr val="FFC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 name="Google Shape;346;g2b6e027a1db_8_67"/>
          <p:cNvSpPr/>
          <p:nvPr/>
        </p:nvSpPr>
        <p:spPr>
          <a:xfrm>
            <a:off x="-37950" y="2888251"/>
            <a:ext cx="12267900" cy="1020000"/>
          </a:xfrm>
          <a:prstGeom prst="rect">
            <a:avLst/>
          </a:prstGeom>
          <a:solidFill>
            <a:srgbClr val="002060"/>
          </a:solidFill>
          <a:ln w="9525" cap="flat" cmpd="sng">
            <a:solidFill>
              <a:srgbClr val="233A4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7" name="Google Shape;347;g2b6e027a1db_8_67"/>
          <p:cNvSpPr txBox="1"/>
          <p:nvPr/>
        </p:nvSpPr>
        <p:spPr>
          <a:xfrm>
            <a:off x="718260" y="2995299"/>
            <a:ext cx="8952000" cy="74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3500" b="1" i="0" u="none" strike="noStrike" cap="none" dirty="0">
                <a:solidFill>
                  <a:srgbClr val="FFFFFF"/>
                </a:solidFill>
                <a:latin typeface="Garamond"/>
                <a:ea typeface="Garamond"/>
                <a:cs typeface="Garamond"/>
                <a:sym typeface="Garamond"/>
              </a:rPr>
              <a:t>IV.	ESG/Overview Considerations </a:t>
            </a:r>
            <a:endParaRPr sz="3500" b="1" i="0" u="none" strike="noStrike" cap="none" dirty="0">
              <a:solidFill>
                <a:srgbClr val="FFFFFF"/>
              </a:solidFill>
              <a:latin typeface="Garamond"/>
              <a:ea typeface="Garamond"/>
              <a:cs typeface="Garamond"/>
              <a:sym typeface="Garamond"/>
            </a:endParaRPr>
          </a:p>
        </p:txBody>
      </p:sp>
      <p:pic>
        <p:nvPicPr>
          <p:cNvPr id="8" name="Picture 4" descr="SMCI - Super Micro Computer, Inc. Trademark Registration">
            <a:extLst>
              <a:ext uri="{FF2B5EF4-FFF2-40B4-BE49-F238E27FC236}">
                <a16:creationId xmlns:a16="http://schemas.microsoft.com/office/drawing/2014/main" id="{906E0856-82CD-4168-8F8F-0B3AF086616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001" b="17593"/>
          <a:stretch/>
        </p:blipFill>
        <p:spPr bwMode="auto">
          <a:xfrm>
            <a:off x="10032470" y="64180"/>
            <a:ext cx="2009003" cy="54750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890B8036-FABA-4CE5-884C-F8D2EB71F0BE}"/>
              </a:ext>
            </a:extLst>
          </p:cNvPr>
          <p:cNvPicPr>
            <a:picLocks noChangeAspect="1"/>
          </p:cNvPicPr>
          <p:nvPr/>
        </p:nvPicPr>
        <p:blipFill>
          <a:blip r:embed="rId4"/>
          <a:stretch>
            <a:fillRect/>
          </a:stretch>
        </p:blipFill>
        <p:spPr>
          <a:xfrm>
            <a:off x="10160006" y="6379320"/>
            <a:ext cx="1422710" cy="46484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g2b6e027a1db_6_0"/>
          <p:cNvSpPr txBox="1"/>
          <p:nvPr/>
        </p:nvSpPr>
        <p:spPr>
          <a:xfrm>
            <a:off x="228600" y="350850"/>
            <a:ext cx="9627600" cy="365700"/>
          </a:xfrm>
          <a:prstGeom prst="rect">
            <a:avLst/>
          </a:prstGeom>
          <a:noFill/>
          <a:ln>
            <a:noFill/>
          </a:ln>
        </p:spPr>
        <p:txBody>
          <a:bodyPr spcFirstLastPara="1" wrap="square" lIns="91425" tIns="45700" rIns="91425" bIns="45700" anchor="b" anchorCtr="0">
            <a:noAutofit/>
          </a:bodyPr>
          <a:lstStyle/>
          <a:p>
            <a:pPr marL="0" indent="0">
              <a:buNone/>
            </a:pPr>
            <a:r>
              <a:rPr lang="en-US" sz="3200" b="1" kern="0" spc="150" dirty="0">
                <a:solidFill>
                  <a:srgbClr val="1D2939"/>
                </a:solidFill>
                <a:latin typeface="Garamond" pitchFamily="34" charset="0"/>
                <a:ea typeface="Garamond" pitchFamily="34" charset="-122"/>
                <a:cs typeface="Garamond" pitchFamily="34" charset="-120"/>
              </a:rPr>
              <a:t>ESG CONSIDERATIONS </a:t>
            </a:r>
            <a:endParaRPr lang="en-US" sz="3200" dirty="0"/>
          </a:p>
        </p:txBody>
      </p:sp>
      <p:cxnSp>
        <p:nvCxnSpPr>
          <p:cNvPr id="271" name="Google Shape;271;g2b6e027a1db_6_0"/>
          <p:cNvCxnSpPr/>
          <p:nvPr/>
        </p:nvCxnSpPr>
        <p:spPr>
          <a:xfrm>
            <a:off x="270932" y="773327"/>
            <a:ext cx="11633100" cy="0"/>
          </a:xfrm>
          <a:prstGeom prst="straightConnector1">
            <a:avLst/>
          </a:prstGeom>
          <a:noFill/>
          <a:ln w="9525" cap="flat" cmpd="sng">
            <a:solidFill>
              <a:srgbClr val="001746"/>
            </a:solidFill>
            <a:prstDash val="solid"/>
            <a:miter lim="800000"/>
            <a:headEnd type="none" w="sm" len="sm"/>
            <a:tailEnd type="none" w="sm" len="sm"/>
          </a:ln>
        </p:spPr>
      </p:cxnSp>
      <p:sp>
        <p:nvSpPr>
          <p:cNvPr id="272" name="Google Shape;272;g2b6e027a1db_6_0"/>
          <p:cNvSpPr/>
          <p:nvPr/>
        </p:nvSpPr>
        <p:spPr>
          <a:xfrm>
            <a:off x="4183178"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lt1"/>
                </a:solidFill>
                <a:latin typeface="Garamond"/>
                <a:ea typeface="Garamond"/>
                <a:cs typeface="Garamond"/>
                <a:sym typeface="Garamond"/>
              </a:rPr>
              <a:t>Theses</a:t>
            </a:r>
            <a:endParaRPr sz="1400" b="0" i="0" u="none" strike="noStrike" cap="none" dirty="0">
              <a:solidFill>
                <a:schemeClr val="lt1"/>
              </a:solidFill>
              <a:latin typeface="Garamond"/>
              <a:ea typeface="Garamond"/>
              <a:cs typeface="Garamond"/>
              <a:sym typeface="Garamond"/>
            </a:endParaRPr>
          </a:p>
        </p:txBody>
      </p:sp>
      <p:sp>
        <p:nvSpPr>
          <p:cNvPr id="273" name="Google Shape;273;g2b6e027a1db_6_0"/>
          <p:cNvSpPr/>
          <p:nvPr/>
        </p:nvSpPr>
        <p:spPr>
          <a:xfrm>
            <a:off x="8740461"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Risks</a:t>
            </a:r>
            <a:endParaRPr sz="1400" b="0" i="0" u="none" strike="noStrike" cap="none">
              <a:solidFill>
                <a:schemeClr val="lt1"/>
              </a:solidFill>
              <a:latin typeface="Garamond"/>
              <a:ea typeface="Garamond"/>
              <a:cs typeface="Garamond"/>
              <a:sym typeface="Garamond"/>
            </a:endParaRPr>
          </a:p>
        </p:txBody>
      </p:sp>
      <p:sp>
        <p:nvSpPr>
          <p:cNvPr id="274" name="Google Shape;274;g2b6e027a1db_6_0"/>
          <p:cNvSpPr/>
          <p:nvPr/>
        </p:nvSpPr>
        <p:spPr>
          <a:xfrm>
            <a:off x="5702272"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lt1"/>
                </a:solidFill>
                <a:latin typeface="Garamond"/>
                <a:ea typeface="Garamond"/>
                <a:cs typeface="Garamond"/>
                <a:sym typeface="Garamond"/>
              </a:rPr>
              <a:t>Valuation</a:t>
            </a:r>
            <a:endParaRPr sz="1400" b="0" i="0" u="none" strike="noStrike" cap="none" dirty="0">
              <a:solidFill>
                <a:schemeClr val="lt1"/>
              </a:solidFill>
              <a:latin typeface="Garamond"/>
              <a:ea typeface="Garamond"/>
              <a:cs typeface="Garamond"/>
              <a:sym typeface="Garamond"/>
            </a:endParaRPr>
          </a:p>
        </p:txBody>
      </p:sp>
      <p:sp>
        <p:nvSpPr>
          <p:cNvPr id="275" name="Google Shape;275;g2b6e027a1db_6_0"/>
          <p:cNvSpPr txBox="1">
            <a:spLocks noGrp="1"/>
          </p:cNvSpPr>
          <p:nvPr>
            <p:ph type="sldNum" idx="4294967295"/>
          </p:nvPr>
        </p:nvSpPr>
        <p:spPr>
          <a:xfrm>
            <a:off x="11520419" y="6466832"/>
            <a:ext cx="521100" cy="323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200"/>
              <a:buFont typeface="Arial"/>
              <a:buNone/>
            </a:pPr>
            <a:r>
              <a:rPr lang="en-US"/>
              <a:t>|  </a:t>
            </a:r>
            <a:fld id="{00000000-1234-1234-1234-123412341234}" type="slidenum">
              <a:rPr lang="en-US"/>
              <a:t>16</a:t>
            </a:fld>
            <a:endParaRPr/>
          </a:p>
        </p:txBody>
      </p:sp>
      <p:sp>
        <p:nvSpPr>
          <p:cNvPr id="276" name="Google Shape;276;g2b6e027a1db_6_0"/>
          <p:cNvSpPr/>
          <p:nvPr/>
        </p:nvSpPr>
        <p:spPr>
          <a:xfrm>
            <a:off x="1145042" y="6486133"/>
            <a:ext cx="1270500" cy="2820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Company</a:t>
            </a:r>
            <a:endParaRPr sz="1400" b="0" i="0" u="none" strike="noStrike" cap="none">
              <a:solidFill>
                <a:schemeClr val="lt1"/>
              </a:solidFill>
              <a:latin typeface="Garamond"/>
              <a:ea typeface="Garamond"/>
              <a:cs typeface="Garamond"/>
              <a:sym typeface="Garamond"/>
            </a:endParaRPr>
          </a:p>
        </p:txBody>
      </p:sp>
      <p:sp>
        <p:nvSpPr>
          <p:cNvPr id="277" name="Google Shape;277;g2b6e027a1db_6_0"/>
          <p:cNvSpPr/>
          <p:nvPr/>
        </p:nvSpPr>
        <p:spPr>
          <a:xfrm>
            <a:off x="2664119"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Industry</a:t>
            </a:r>
            <a:endParaRPr sz="1400" b="0" i="0" u="none" strike="noStrike" cap="none">
              <a:solidFill>
                <a:schemeClr val="lt1"/>
              </a:solidFill>
              <a:latin typeface="Garamond"/>
              <a:ea typeface="Garamond"/>
              <a:cs typeface="Garamond"/>
              <a:sym typeface="Garamond"/>
            </a:endParaRPr>
          </a:p>
        </p:txBody>
      </p:sp>
      <p:sp>
        <p:nvSpPr>
          <p:cNvPr id="280" name="Google Shape;280;g2b6e027a1db_6_0"/>
          <p:cNvSpPr txBox="1"/>
          <p:nvPr/>
        </p:nvSpPr>
        <p:spPr>
          <a:xfrm>
            <a:off x="335789" y="960363"/>
            <a:ext cx="11337544" cy="365700"/>
          </a:xfrm>
          <a:prstGeom prst="rect">
            <a:avLst/>
          </a:prstGeom>
          <a:solidFill>
            <a:srgbClr val="002060"/>
          </a:solidFill>
          <a:ln w="9525" cap="flat" cmpd="sng">
            <a:solidFill>
              <a:srgbClr val="041E41"/>
            </a:solidFill>
            <a:prstDash val="solid"/>
            <a:round/>
            <a:headEnd type="none" w="sm" len="sm"/>
            <a:tailEnd type="none" w="sm" len="sm"/>
          </a:ln>
        </p:spPr>
        <p:txBody>
          <a:bodyPr spcFirstLastPara="1" wrap="square" lIns="91425" tIns="45700" rIns="91425" bIns="45700" anchor="ctr" anchorCtr="0">
            <a:noAutofit/>
          </a:bodyPr>
          <a:lstStyle/>
          <a:p>
            <a:pPr marL="0" indent="0" algn="ctr">
              <a:buNone/>
            </a:pPr>
            <a:r>
              <a:rPr lang="en-US" sz="1400" b="1" dirty="0">
                <a:solidFill>
                  <a:srgbClr val="FFFFFF"/>
                </a:solidFill>
                <a:latin typeface="Garamond" pitchFamily="34" charset="0"/>
                <a:ea typeface="Garamond" pitchFamily="34" charset="-122"/>
                <a:cs typeface="Garamond" pitchFamily="34" charset="-120"/>
              </a:rPr>
              <a:t>ESG Risk Assessment</a:t>
            </a:r>
            <a:endParaRPr lang="en-US" sz="1400" dirty="0"/>
          </a:p>
        </p:txBody>
      </p:sp>
      <p:sp>
        <p:nvSpPr>
          <p:cNvPr id="290" name="Google Shape;290;g2b6e027a1db_6_0"/>
          <p:cNvSpPr/>
          <p:nvPr/>
        </p:nvSpPr>
        <p:spPr>
          <a:xfrm>
            <a:off x="-1463800" y="10654"/>
            <a:ext cx="1270500" cy="1046100"/>
          </a:xfrm>
          <a:prstGeom prst="rect">
            <a:avLst/>
          </a:prstGeom>
          <a:solidFill>
            <a:srgbClr val="041E41"/>
          </a:solidFill>
          <a:ln w="12700" cap="flat" cmpd="sng">
            <a:solidFill>
              <a:srgbClr val="041E4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Garamond"/>
              <a:ea typeface="Garamond"/>
              <a:cs typeface="Garamond"/>
              <a:sym typeface="Garamond"/>
            </a:endParaRPr>
          </a:p>
        </p:txBody>
      </p:sp>
      <p:pic>
        <p:nvPicPr>
          <p:cNvPr id="23" name="Picture 4" descr="SMCI - Super Micro Computer, Inc. Trademark Registration">
            <a:extLst>
              <a:ext uri="{FF2B5EF4-FFF2-40B4-BE49-F238E27FC236}">
                <a16:creationId xmlns:a16="http://schemas.microsoft.com/office/drawing/2014/main" id="{6A6D28EB-181B-4CD7-976F-01FDE5976B4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001" b="17593"/>
          <a:stretch/>
        </p:blipFill>
        <p:spPr bwMode="auto">
          <a:xfrm>
            <a:off x="10032470" y="64180"/>
            <a:ext cx="2009003" cy="547501"/>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a:extLst>
              <a:ext uri="{FF2B5EF4-FFF2-40B4-BE49-F238E27FC236}">
                <a16:creationId xmlns:a16="http://schemas.microsoft.com/office/drawing/2014/main" id="{97929CDC-2743-491D-9664-ADEA568C0105}"/>
              </a:ext>
            </a:extLst>
          </p:cNvPr>
          <p:cNvPicPr>
            <a:picLocks noChangeAspect="1"/>
          </p:cNvPicPr>
          <p:nvPr/>
        </p:nvPicPr>
        <p:blipFill>
          <a:blip r:embed="rId4"/>
          <a:stretch>
            <a:fillRect/>
          </a:stretch>
        </p:blipFill>
        <p:spPr>
          <a:xfrm>
            <a:off x="10160006" y="6379320"/>
            <a:ext cx="1422710" cy="464846"/>
          </a:xfrm>
          <a:prstGeom prst="rect">
            <a:avLst/>
          </a:prstGeom>
        </p:spPr>
      </p:pic>
      <p:graphicFrame>
        <p:nvGraphicFramePr>
          <p:cNvPr id="38" name="Table 0">
            <a:extLst>
              <a:ext uri="{FF2B5EF4-FFF2-40B4-BE49-F238E27FC236}">
                <a16:creationId xmlns:a16="http://schemas.microsoft.com/office/drawing/2014/main" id="{C758EEBB-4619-4E4D-9EBD-EAF49BE3EF58}"/>
              </a:ext>
            </a:extLst>
          </p:cNvPr>
          <p:cNvGraphicFramePr>
            <a:graphicFrameLocks noGrp="1"/>
          </p:cNvGraphicFramePr>
          <p:nvPr>
            <p:extLst>
              <p:ext uri="{D42A27DB-BD31-4B8C-83A1-F6EECF244321}">
                <p14:modId xmlns:p14="http://schemas.microsoft.com/office/powerpoint/2010/main" val="3198025889"/>
              </p:ext>
            </p:extLst>
          </p:nvPr>
        </p:nvGraphicFramePr>
        <p:xfrm>
          <a:off x="335788" y="1392075"/>
          <a:ext cx="5654999" cy="1016000"/>
        </p:xfrm>
        <a:graphic>
          <a:graphicData uri="http://schemas.openxmlformats.org/drawingml/2006/table">
            <a:tbl>
              <a:tblPr/>
              <a:tblGrid>
                <a:gridCol w="1315116">
                  <a:extLst>
                    <a:ext uri="{9D8B030D-6E8A-4147-A177-3AD203B41FA5}">
                      <a16:colId xmlns:a16="http://schemas.microsoft.com/office/drawing/2014/main" val="20000"/>
                    </a:ext>
                  </a:extLst>
                </a:gridCol>
                <a:gridCol w="986337">
                  <a:extLst>
                    <a:ext uri="{9D8B030D-6E8A-4147-A177-3AD203B41FA5}">
                      <a16:colId xmlns:a16="http://schemas.microsoft.com/office/drawing/2014/main" val="20001"/>
                    </a:ext>
                  </a:extLst>
                </a:gridCol>
                <a:gridCol w="986337">
                  <a:extLst>
                    <a:ext uri="{9D8B030D-6E8A-4147-A177-3AD203B41FA5}">
                      <a16:colId xmlns:a16="http://schemas.microsoft.com/office/drawing/2014/main" val="20002"/>
                    </a:ext>
                  </a:extLst>
                </a:gridCol>
                <a:gridCol w="2367209">
                  <a:extLst>
                    <a:ext uri="{9D8B030D-6E8A-4147-A177-3AD203B41FA5}">
                      <a16:colId xmlns:a16="http://schemas.microsoft.com/office/drawing/2014/main" val="20003"/>
                    </a:ext>
                  </a:extLst>
                </a:gridCol>
              </a:tblGrid>
              <a:tr h="0">
                <a:tc>
                  <a:txBody>
                    <a:bodyPr/>
                    <a:lstStyle/>
                    <a:p>
                      <a:pPr marL="0" indent="0" algn="l">
                        <a:buNone/>
                      </a:pPr>
                      <a:r>
                        <a:rPr lang="en-US" sz="1000" b="1" dirty="0">
                          <a:solidFill>
                            <a:srgbClr val="FFFFFF"/>
                          </a:solidFill>
                          <a:latin typeface="Garamond" pitchFamily="34" charset="0"/>
                          <a:ea typeface="Garamond" pitchFamily="34" charset="-122"/>
                          <a:cs typeface="Garamond" pitchFamily="34" charset="-120"/>
                        </a:rPr>
                        <a:t>Category</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2744"/>
                    </a:solidFill>
                  </a:tcPr>
                </a:tc>
                <a:tc>
                  <a:txBody>
                    <a:bodyPr/>
                    <a:lstStyle/>
                    <a:p>
                      <a:pPr marL="0" indent="0" algn="l">
                        <a:buNone/>
                      </a:pPr>
                      <a:r>
                        <a:rPr lang="en-US" sz="1000" b="1" dirty="0">
                          <a:solidFill>
                            <a:srgbClr val="FFFFFF"/>
                          </a:solidFill>
                          <a:latin typeface="Garamond" pitchFamily="34" charset="0"/>
                          <a:ea typeface="Garamond" pitchFamily="34" charset="-122"/>
                          <a:cs typeface="Garamond" pitchFamily="34" charset="-120"/>
                        </a:rPr>
                        <a:t>Rating</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2744"/>
                    </a:solidFill>
                  </a:tcPr>
                </a:tc>
                <a:tc>
                  <a:txBody>
                    <a:bodyPr/>
                    <a:lstStyle/>
                    <a:p>
                      <a:pPr marL="0" indent="0" algn="l">
                        <a:buNone/>
                      </a:pPr>
                      <a:r>
                        <a:rPr lang="en-US" sz="1000" b="1" dirty="0">
                          <a:solidFill>
                            <a:srgbClr val="FFFFFF"/>
                          </a:solidFill>
                          <a:latin typeface="Garamond" pitchFamily="34" charset="0"/>
                          <a:ea typeface="Garamond" pitchFamily="34" charset="-122"/>
                          <a:cs typeface="Garamond" pitchFamily="34" charset="-120"/>
                        </a:rPr>
                        <a:t>Trend</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2744"/>
                    </a:solidFill>
                  </a:tcPr>
                </a:tc>
                <a:tc>
                  <a:txBody>
                    <a:bodyPr/>
                    <a:lstStyle/>
                    <a:p>
                      <a:pPr marL="0" indent="0" algn="l">
                        <a:buNone/>
                      </a:pPr>
                      <a:r>
                        <a:rPr lang="en-US" sz="1000" b="1" dirty="0">
                          <a:solidFill>
                            <a:srgbClr val="FFFFFF"/>
                          </a:solidFill>
                          <a:latin typeface="Garamond" pitchFamily="34" charset="0"/>
                          <a:ea typeface="Garamond" pitchFamily="34" charset="-122"/>
                          <a:cs typeface="Garamond" pitchFamily="34" charset="-120"/>
                        </a:rPr>
                        <a:t>Assessment</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0">
                <a:tc>
                  <a:txBody>
                    <a:bodyPr/>
                    <a:lstStyle/>
                    <a:p>
                      <a:pPr marL="0" indent="0" algn="l">
                        <a:buNone/>
                      </a:pPr>
                      <a:r>
                        <a:rPr lang="en-US" sz="1000" b="1" dirty="0">
                          <a:solidFill>
                            <a:srgbClr val="1D2939"/>
                          </a:solidFill>
                          <a:latin typeface="Garamond" pitchFamily="34" charset="0"/>
                          <a:ea typeface="Garamond" pitchFamily="34" charset="-122"/>
                          <a:cs typeface="Garamond" pitchFamily="34" charset="-120"/>
                        </a:rPr>
                        <a:t>Environment</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2B76A"/>
                          </a:solidFill>
                          <a:latin typeface="Garamond" pitchFamily="34" charset="0"/>
                          <a:ea typeface="Garamond" pitchFamily="34" charset="-122"/>
                          <a:cs typeface="Garamond" pitchFamily="34" charset="-120"/>
                        </a:rPr>
                        <a:t>Positive</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D2939"/>
                          </a:solidFill>
                          <a:latin typeface="Garamond" pitchFamily="34" charset="0"/>
                          <a:ea typeface="Garamond" pitchFamily="34" charset="-122"/>
                          <a:cs typeface="Garamond" pitchFamily="34" charset="-120"/>
                        </a:rPr>
                        <a:t>Improving</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D2939"/>
                          </a:solidFill>
                          <a:latin typeface="Garamond" pitchFamily="34" charset="0"/>
                          <a:ea typeface="Garamond" pitchFamily="34" charset="-122"/>
                          <a:cs typeface="Garamond" pitchFamily="34" charset="-120"/>
                        </a:rPr>
                        <a:t>DLC = 40% power savings</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000" b="1" dirty="0">
                          <a:solidFill>
                            <a:srgbClr val="1D2939"/>
                          </a:solidFill>
                          <a:latin typeface="Garamond" pitchFamily="34" charset="0"/>
                          <a:ea typeface="Garamond" pitchFamily="34" charset="-122"/>
                          <a:cs typeface="Garamond" pitchFamily="34" charset="-120"/>
                        </a:rPr>
                        <a:t>Social</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2F4F7"/>
                    </a:solidFill>
                  </a:tcPr>
                </a:tc>
                <a:tc>
                  <a:txBody>
                    <a:bodyPr/>
                    <a:lstStyle/>
                    <a:p>
                      <a:pPr marL="0" indent="0" algn="ctr">
                        <a:buNone/>
                      </a:pPr>
                      <a:r>
                        <a:rPr lang="en-US" sz="1000" dirty="0">
                          <a:solidFill>
                            <a:srgbClr val="1D2939"/>
                          </a:solidFill>
                          <a:latin typeface="Garamond" pitchFamily="34" charset="0"/>
                          <a:ea typeface="Garamond" pitchFamily="34" charset="-122"/>
                          <a:cs typeface="Garamond" pitchFamily="34" charset="-120"/>
                        </a:rPr>
                        <a:t>Neutral</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2F4F7"/>
                    </a:solidFill>
                  </a:tcPr>
                </a:tc>
                <a:tc>
                  <a:txBody>
                    <a:bodyPr/>
                    <a:lstStyle/>
                    <a:p>
                      <a:pPr marL="0" indent="0" algn="ctr">
                        <a:buNone/>
                      </a:pPr>
                      <a:r>
                        <a:rPr lang="en-US" sz="1000" dirty="0">
                          <a:solidFill>
                            <a:srgbClr val="1D2939"/>
                          </a:solidFill>
                          <a:latin typeface="Garamond" pitchFamily="34" charset="0"/>
                          <a:ea typeface="Garamond" pitchFamily="34" charset="-122"/>
                          <a:cs typeface="Garamond" pitchFamily="34" charset="-120"/>
                        </a:rPr>
                        <a:t>Stable</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2F4F7"/>
                    </a:solidFill>
                  </a:tcPr>
                </a:tc>
                <a:tc>
                  <a:txBody>
                    <a:bodyPr/>
                    <a:lstStyle/>
                    <a:p>
                      <a:pPr marL="0" indent="0" algn="ctr">
                        <a:buNone/>
                      </a:pPr>
                      <a:r>
                        <a:rPr lang="en-US" sz="1000" dirty="0">
                          <a:solidFill>
                            <a:srgbClr val="1D2939"/>
                          </a:solidFill>
                          <a:latin typeface="Garamond" pitchFamily="34" charset="0"/>
                          <a:ea typeface="Garamond" pitchFamily="34" charset="-122"/>
                          <a:cs typeface="Garamond" pitchFamily="34" charset="-120"/>
                        </a:rPr>
                        <a:t>6,000+ employees; STEM impact</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2F4F7"/>
                    </a:solidFill>
                  </a:tcPr>
                </a:tc>
                <a:extLst>
                  <a:ext uri="{0D108BD9-81ED-4DB2-BD59-A6C34878D82A}">
                    <a16:rowId xmlns:a16="http://schemas.microsoft.com/office/drawing/2014/main" val="10002"/>
                  </a:ext>
                </a:extLst>
              </a:tr>
              <a:tr h="0">
                <a:tc>
                  <a:txBody>
                    <a:bodyPr/>
                    <a:lstStyle/>
                    <a:p>
                      <a:pPr marL="0" indent="0" algn="l">
                        <a:buNone/>
                      </a:pPr>
                      <a:r>
                        <a:rPr lang="en-US" sz="1000" b="1" dirty="0">
                          <a:solidFill>
                            <a:srgbClr val="1D2939"/>
                          </a:solidFill>
                          <a:latin typeface="Garamond" pitchFamily="34" charset="0"/>
                          <a:ea typeface="Garamond" pitchFamily="34" charset="-122"/>
                          <a:cs typeface="Garamond" pitchFamily="34" charset="-120"/>
                        </a:rPr>
                        <a:t>Governance</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F04438"/>
                          </a:solidFill>
                          <a:latin typeface="Garamond" pitchFamily="34" charset="0"/>
                          <a:ea typeface="Garamond" pitchFamily="34" charset="-122"/>
                          <a:cs typeface="Garamond" pitchFamily="34" charset="-120"/>
                        </a:rPr>
                        <a:t>Negative</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D2939"/>
                          </a:solidFill>
                          <a:latin typeface="Garamond" pitchFamily="34" charset="0"/>
                          <a:ea typeface="Garamond" pitchFamily="34" charset="-122"/>
                          <a:cs typeface="Garamond" pitchFamily="34" charset="-120"/>
                        </a:rPr>
                        <a:t>Improving</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D2939"/>
                          </a:solidFill>
                          <a:latin typeface="Garamond" pitchFamily="34" charset="0"/>
                          <a:ea typeface="Garamond" pitchFamily="34" charset="-122"/>
                          <a:cs typeface="Garamond" pitchFamily="34" charset="-120"/>
                        </a:rPr>
                        <a:t>EY exit, DOJ/SEC open</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000" b="1" dirty="0">
                          <a:solidFill>
                            <a:srgbClr val="1D2939"/>
                          </a:solidFill>
                          <a:latin typeface="Garamond" pitchFamily="34" charset="0"/>
                          <a:ea typeface="Garamond" pitchFamily="34" charset="-122"/>
                          <a:cs typeface="Garamond" pitchFamily="34" charset="-120"/>
                        </a:rPr>
                        <a:t>Overall ESG</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2F4F7"/>
                    </a:solidFill>
                  </a:tcPr>
                </a:tc>
                <a:tc>
                  <a:txBody>
                    <a:bodyPr/>
                    <a:lstStyle/>
                    <a:p>
                      <a:pPr marL="0" indent="0" algn="ctr">
                        <a:buNone/>
                      </a:pPr>
                      <a:r>
                        <a:rPr lang="en-US" sz="1000" b="1" dirty="0">
                          <a:solidFill>
                            <a:srgbClr val="F79009"/>
                          </a:solidFill>
                          <a:latin typeface="Garamond" pitchFamily="34" charset="0"/>
                          <a:ea typeface="Garamond" pitchFamily="34" charset="-122"/>
                          <a:cs typeface="Garamond" pitchFamily="34" charset="-120"/>
                        </a:rPr>
                        <a:t>42/100</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2F4F7"/>
                    </a:solidFill>
                  </a:tcPr>
                </a:tc>
                <a:tc>
                  <a:txBody>
                    <a:bodyPr/>
                    <a:lstStyle/>
                    <a:p>
                      <a:pPr marL="0" indent="0" algn="ctr">
                        <a:buNone/>
                      </a:pPr>
                      <a:r>
                        <a:rPr lang="en-US" sz="1000" dirty="0">
                          <a:solidFill>
                            <a:srgbClr val="1D2939"/>
                          </a:solidFill>
                          <a:latin typeface="Garamond" pitchFamily="34" charset="0"/>
                          <a:ea typeface="Garamond" pitchFamily="34" charset="-122"/>
                          <a:cs typeface="Garamond" pitchFamily="34" charset="-120"/>
                        </a:rPr>
                        <a:t>Mixed</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2F4F7"/>
                    </a:solidFill>
                  </a:tcPr>
                </a:tc>
                <a:tc>
                  <a:txBody>
                    <a:bodyPr/>
                    <a:lstStyle/>
                    <a:p>
                      <a:pPr marL="0" indent="0" algn="ctr">
                        <a:buNone/>
                      </a:pPr>
                      <a:r>
                        <a:rPr lang="en-US" sz="1000" dirty="0">
                          <a:solidFill>
                            <a:srgbClr val="1D2939"/>
                          </a:solidFill>
                          <a:latin typeface="Garamond" pitchFamily="34" charset="0"/>
                          <a:ea typeface="Garamond" pitchFamily="34" charset="-122"/>
                          <a:cs typeface="Garamond" pitchFamily="34" charset="-120"/>
                        </a:rPr>
                        <a:t>Below Avg (CSRHub)</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2F4F7"/>
                    </a:solidFill>
                  </a:tcPr>
                </a:tc>
                <a:extLst>
                  <a:ext uri="{0D108BD9-81ED-4DB2-BD59-A6C34878D82A}">
                    <a16:rowId xmlns:a16="http://schemas.microsoft.com/office/drawing/2014/main" val="10004"/>
                  </a:ext>
                </a:extLst>
              </a:tr>
            </a:tbl>
          </a:graphicData>
        </a:graphic>
      </p:graphicFrame>
      <p:sp>
        <p:nvSpPr>
          <p:cNvPr id="40" name="Text 5">
            <a:extLst>
              <a:ext uri="{FF2B5EF4-FFF2-40B4-BE49-F238E27FC236}">
                <a16:creationId xmlns:a16="http://schemas.microsoft.com/office/drawing/2014/main" id="{A9CB503A-EE30-48C7-92A3-30E5D4CE57D3}"/>
              </a:ext>
            </a:extLst>
          </p:cNvPr>
          <p:cNvSpPr/>
          <p:nvPr/>
        </p:nvSpPr>
        <p:spPr>
          <a:xfrm>
            <a:off x="335788" y="2699393"/>
            <a:ext cx="3931920" cy="256032"/>
          </a:xfrm>
          <a:prstGeom prst="rect">
            <a:avLst/>
          </a:prstGeom>
          <a:noFill/>
          <a:ln/>
        </p:spPr>
        <p:txBody>
          <a:bodyPr wrap="square" lIns="0" tIns="0" rIns="0" bIns="0" rtlCol="0" anchor="ctr"/>
          <a:lstStyle/>
          <a:p>
            <a:pPr marL="0" indent="0">
              <a:buNone/>
            </a:pPr>
            <a:r>
              <a:rPr lang="en-US" sz="1200" b="1" u="sng" dirty="0">
                <a:solidFill>
                  <a:srgbClr val="1D2939"/>
                </a:solidFill>
                <a:latin typeface="Garamond" pitchFamily="34" charset="0"/>
                <a:ea typeface="Garamond" pitchFamily="34" charset="-122"/>
                <a:cs typeface="Garamond" pitchFamily="34" charset="-120"/>
              </a:rPr>
              <a:t>Governance (Primary Risk)</a:t>
            </a:r>
            <a:endParaRPr lang="en-US" sz="1200" dirty="0"/>
          </a:p>
        </p:txBody>
      </p:sp>
      <p:sp>
        <p:nvSpPr>
          <p:cNvPr id="41" name="Text 6">
            <a:extLst>
              <a:ext uri="{FF2B5EF4-FFF2-40B4-BE49-F238E27FC236}">
                <a16:creationId xmlns:a16="http://schemas.microsoft.com/office/drawing/2014/main" id="{8A476573-48AC-4FF7-8101-CC419E9B9909}"/>
              </a:ext>
            </a:extLst>
          </p:cNvPr>
          <p:cNvSpPr/>
          <p:nvPr/>
        </p:nvSpPr>
        <p:spPr>
          <a:xfrm>
            <a:off x="335788" y="3076027"/>
            <a:ext cx="5654999" cy="155448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D2939"/>
                </a:solidFill>
                <a:latin typeface="Garamond" pitchFamily="34" charset="0"/>
                <a:ea typeface="Garamond" pitchFamily="34" charset="-122"/>
                <a:cs typeface="Garamond" pitchFamily="34" charset="-120"/>
              </a:rPr>
              <a:t>EY auditor resigned Oct 2024 citing integrity concerns; unprecedented for company of SMCI's size</a:t>
            </a:r>
            <a:endParaRPr lang="en-US" sz="1100" dirty="0"/>
          </a:p>
          <a:p>
            <a:pPr marL="342900" indent="-342900">
              <a:spcAft>
                <a:spcPts val="400"/>
              </a:spcAft>
              <a:buSzPct val="100000"/>
              <a:buChar char="•"/>
            </a:pPr>
            <a:r>
              <a:rPr lang="en-US" sz="1100" dirty="0">
                <a:solidFill>
                  <a:srgbClr val="1D2939"/>
                </a:solidFill>
                <a:latin typeface="Garamond" pitchFamily="34" charset="0"/>
                <a:ea typeface="Garamond" pitchFamily="34" charset="-122"/>
                <a:cs typeface="Garamond" pitchFamily="34" charset="-120"/>
              </a:rPr>
              <a:t>BDO issued adverse opinion on internal controls (IC) as of June 30, 2024; remediation underway</a:t>
            </a:r>
            <a:endParaRPr lang="en-US" sz="1100" dirty="0"/>
          </a:p>
          <a:p>
            <a:pPr marL="342900" indent="-342900">
              <a:spcAft>
                <a:spcPts val="400"/>
              </a:spcAft>
              <a:buSzPct val="100000"/>
              <a:buChar char="•"/>
            </a:pPr>
            <a:r>
              <a:rPr lang="en-US" sz="1100" dirty="0">
                <a:solidFill>
                  <a:srgbClr val="1D2939"/>
                </a:solidFill>
                <a:latin typeface="Garamond" pitchFamily="34" charset="0"/>
                <a:ea typeface="Garamond" pitchFamily="34" charset="-122"/>
                <a:cs typeface="Garamond" pitchFamily="34" charset="-120"/>
              </a:rPr>
              <a:t>DOJ/SEC investigations remain open; $17.5M SEC settlement in 2020 creates pattern risk</a:t>
            </a:r>
            <a:endParaRPr lang="en-US" sz="1100" dirty="0"/>
          </a:p>
          <a:p>
            <a:pPr marL="342900" indent="-342900">
              <a:spcAft>
                <a:spcPts val="400"/>
              </a:spcAft>
              <a:buSzPct val="100000"/>
              <a:buChar char="•"/>
            </a:pPr>
            <a:r>
              <a:rPr lang="en-US" sz="1100" dirty="0">
                <a:solidFill>
                  <a:srgbClr val="1D2939"/>
                </a:solidFill>
                <a:latin typeface="Garamond" pitchFamily="34" charset="0"/>
                <a:ea typeface="Garamond" pitchFamily="34" charset="-122"/>
                <a:cs typeface="Garamond" pitchFamily="34" charset="-120"/>
              </a:rPr>
              <a:t>Special Committee found no misconduct; board reconstituted with majority independent directors</a:t>
            </a:r>
            <a:endParaRPr lang="en-US" sz="1100" dirty="0"/>
          </a:p>
          <a:p>
            <a:pPr marL="342900" indent="-342900">
              <a:spcAft>
                <a:spcPts val="400"/>
              </a:spcAft>
              <a:buSzPct val="100000"/>
              <a:buChar char="•"/>
            </a:pPr>
            <a:r>
              <a:rPr lang="en-US" sz="1100" dirty="0">
                <a:solidFill>
                  <a:srgbClr val="1D2939"/>
                </a:solidFill>
                <a:latin typeface="Garamond" pitchFamily="34" charset="0"/>
                <a:ea typeface="Garamond" pitchFamily="34" charset="-122"/>
                <a:cs typeface="Garamond" pitchFamily="34" charset="-120"/>
              </a:rPr>
              <a:t>Catalyst: Clean BDO IC opinion on FY2026 10-K + DOJ closure = significant de-risking event</a:t>
            </a:r>
            <a:endParaRPr lang="en-US" sz="1100" dirty="0"/>
          </a:p>
        </p:txBody>
      </p:sp>
      <p:sp>
        <p:nvSpPr>
          <p:cNvPr id="44" name="Shape 7">
            <a:extLst>
              <a:ext uri="{FF2B5EF4-FFF2-40B4-BE49-F238E27FC236}">
                <a16:creationId xmlns:a16="http://schemas.microsoft.com/office/drawing/2014/main" id="{0288F0A8-71D9-4624-BFEC-D6BE1590951B}"/>
              </a:ext>
            </a:extLst>
          </p:cNvPr>
          <p:cNvSpPr/>
          <p:nvPr/>
        </p:nvSpPr>
        <p:spPr>
          <a:xfrm>
            <a:off x="335787" y="4766504"/>
            <a:ext cx="5654998" cy="1015999"/>
          </a:xfrm>
          <a:prstGeom prst="rect">
            <a:avLst/>
          </a:prstGeom>
          <a:solidFill>
            <a:srgbClr val="F2F4F7"/>
          </a:solidFill>
          <a:ln w="6350">
            <a:solidFill>
              <a:srgbClr val="D0D5DD"/>
            </a:solidFill>
            <a:prstDash val="solid"/>
          </a:ln>
        </p:spPr>
      </p:sp>
      <p:sp>
        <p:nvSpPr>
          <p:cNvPr id="45" name="TextBox 44">
            <a:extLst>
              <a:ext uri="{FF2B5EF4-FFF2-40B4-BE49-F238E27FC236}">
                <a16:creationId xmlns:a16="http://schemas.microsoft.com/office/drawing/2014/main" id="{5A474055-2EEE-4E74-9E2A-11083061C3D0}"/>
              </a:ext>
            </a:extLst>
          </p:cNvPr>
          <p:cNvSpPr txBox="1"/>
          <p:nvPr/>
        </p:nvSpPr>
        <p:spPr>
          <a:xfrm>
            <a:off x="303359" y="4773544"/>
            <a:ext cx="5719854" cy="954107"/>
          </a:xfrm>
          <a:prstGeom prst="rect">
            <a:avLst/>
          </a:prstGeom>
          <a:noFill/>
        </p:spPr>
        <p:txBody>
          <a:bodyPr wrap="square">
            <a:spAutoFit/>
          </a:bodyPr>
          <a:lstStyle/>
          <a:p>
            <a:pPr marL="0" indent="0">
              <a:buNone/>
            </a:pPr>
            <a:r>
              <a:rPr lang="en-US" sz="1400" b="1" dirty="0">
                <a:solidFill>
                  <a:srgbClr val="1D2939"/>
                </a:solidFill>
                <a:latin typeface="Garamond" pitchFamily="34" charset="0"/>
                <a:ea typeface="Garamond" pitchFamily="34" charset="-122"/>
                <a:cs typeface="Garamond" pitchFamily="34" charset="-120"/>
              </a:rPr>
              <a:t>Board Independence: </a:t>
            </a:r>
            <a:r>
              <a:rPr lang="en-US" sz="1400" dirty="0">
                <a:solidFill>
                  <a:srgbClr val="1D2939"/>
                </a:solidFill>
                <a:latin typeface="Garamond" pitchFamily="34" charset="0"/>
                <a:ea typeface="Garamond" pitchFamily="34" charset="-122"/>
                <a:cs typeface="Garamond" pitchFamily="34" charset="-120"/>
              </a:rPr>
              <a:t>67% refreshed post-2024  |  </a:t>
            </a:r>
            <a:r>
              <a:rPr lang="en-US" sz="1400" b="1" dirty="0">
                <a:solidFill>
                  <a:srgbClr val="1D2939"/>
                </a:solidFill>
                <a:latin typeface="Garamond" pitchFamily="34" charset="0"/>
                <a:ea typeface="Garamond" pitchFamily="34" charset="-122"/>
                <a:cs typeface="Garamond" pitchFamily="34" charset="-120"/>
              </a:rPr>
              <a:t>CEO Ownership: </a:t>
            </a:r>
            <a:r>
              <a:rPr lang="en-US" sz="1400" dirty="0">
                <a:solidFill>
                  <a:srgbClr val="1D2939"/>
                </a:solidFill>
                <a:latin typeface="Garamond" pitchFamily="34" charset="0"/>
                <a:ea typeface="Garamond" pitchFamily="34" charset="-122"/>
                <a:cs typeface="Garamond" pitchFamily="34" charset="-120"/>
              </a:rPr>
              <a:t>~10-12% (aligned)</a:t>
            </a:r>
            <a:endParaRPr lang="en-US" sz="1400" dirty="0"/>
          </a:p>
          <a:p>
            <a:pPr marL="0" indent="0">
              <a:buNone/>
            </a:pPr>
            <a:r>
              <a:rPr lang="en-US" sz="1400" b="1" dirty="0">
                <a:solidFill>
                  <a:srgbClr val="1D2939"/>
                </a:solidFill>
                <a:latin typeface="Garamond" pitchFamily="34" charset="0"/>
                <a:ea typeface="Garamond" pitchFamily="34" charset="-122"/>
                <a:cs typeface="Garamond" pitchFamily="34" charset="-120"/>
              </a:rPr>
              <a:t>Capital Allocation: </a:t>
            </a:r>
            <a:r>
              <a:rPr lang="en-US" sz="1400" dirty="0">
                <a:solidFill>
                  <a:srgbClr val="1D2939"/>
                </a:solidFill>
                <a:latin typeface="Garamond" pitchFamily="34" charset="0"/>
                <a:ea typeface="Garamond" pitchFamily="34" charset="-122"/>
                <a:cs typeface="Garamond" pitchFamily="34" charset="-120"/>
              </a:rPr>
              <a:t>No dividends/buybacks; reinvesting in Malaysia/Taiwan capacity + $6B+ inventory buildup</a:t>
            </a:r>
            <a:endParaRPr lang="en-US" sz="1400" dirty="0"/>
          </a:p>
        </p:txBody>
      </p:sp>
      <p:pic>
        <p:nvPicPr>
          <p:cNvPr id="4" name="Picture 3">
            <a:extLst>
              <a:ext uri="{FF2B5EF4-FFF2-40B4-BE49-F238E27FC236}">
                <a16:creationId xmlns:a16="http://schemas.microsoft.com/office/drawing/2014/main" id="{C451623E-6B92-47D8-A452-C3B7898C50FC}"/>
              </a:ext>
            </a:extLst>
          </p:cNvPr>
          <p:cNvPicPr>
            <a:picLocks noChangeAspect="1"/>
          </p:cNvPicPr>
          <p:nvPr/>
        </p:nvPicPr>
        <p:blipFill>
          <a:blip r:embed="rId5"/>
          <a:stretch>
            <a:fillRect/>
          </a:stretch>
        </p:blipFill>
        <p:spPr>
          <a:xfrm>
            <a:off x="6337522" y="1370163"/>
            <a:ext cx="5261309" cy="4812264"/>
          </a:xfrm>
          <a:prstGeom prst="rect">
            <a:avLst/>
          </a:prstGeom>
        </p:spPr>
      </p:pic>
      <p:sp>
        <p:nvSpPr>
          <p:cNvPr id="25" name="Google Shape;278;g2b6e027a1db_6_0">
            <a:extLst>
              <a:ext uri="{FF2B5EF4-FFF2-40B4-BE49-F238E27FC236}">
                <a16:creationId xmlns:a16="http://schemas.microsoft.com/office/drawing/2014/main" id="{70C96841-4122-4DD9-9C85-C3CCC22095CF}"/>
              </a:ext>
            </a:extLst>
          </p:cNvPr>
          <p:cNvSpPr/>
          <p:nvPr/>
        </p:nvSpPr>
        <p:spPr>
          <a:xfrm>
            <a:off x="7221366" y="6488163"/>
            <a:ext cx="1270500" cy="282000"/>
          </a:xfrm>
          <a:prstGeom prst="rect">
            <a:avLst/>
          </a:prstGeom>
          <a:solidFill>
            <a:srgbClr val="041E41"/>
          </a:solidFill>
          <a:ln w="12700" cap="flat" cmpd="sng">
            <a:solidFill>
              <a:srgbClr val="041E4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lt1"/>
                </a:solidFill>
                <a:latin typeface="Garamond"/>
                <a:ea typeface="Garamond"/>
                <a:cs typeface="Garamond"/>
                <a:sym typeface="Garamond"/>
              </a:rPr>
              <a:t>ESG</a:t>
            </a:r>
            <a:endParaRPr sz="1400" b="0" i="0" u="none" strike="noStrike" cap="none" dirty="0">
              <a:solidFill>
                <a:schemeClr val="lt1"/>
              </a:solidFill>
              <a:latin typeface="Garamond"/>
              <a:ea typeface="Garamond"/>
              <a:cs typeface="Garamond"/>
              <a:sym typeface="Garamond"/>
            </a:endParaRPr>
          </a:p>
        </p:txBody>
      </p:sp>
    </p:spTree>
    <p:extLst>
      <p:ext uri="{BB962C8B-B14F-4D97-AF65-F5344CB8AC3E}">
        <p14:creationId xmlns:p14="http://schemas.microsoft.com/office/powerpoint/2010/main" val="27650138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g2b6e027a1db_6_0"/>
          <p:cNvSpPr txBox="1"/>
          <p:nvPr/>
        </p:nvSpPr>
        <p:spPr>
          <a:xfrm>
            <a:off x="228600" y="350850"/>
            <a:ext cx="9627600" cy="365700"/>
          </a:xfrm>
          <a:prstGeom prst="rect">
            <a:avLst/>
          </a:prstGeom>
          <a:noFill/>
          <a:ln>
            <a:noFill/>
          </a:ln>
        </p:spPr>
        <p:txBody>
          <a:bodyPr spcFirstLastPara="1" wrap="square" lIns="91425" tIns="45700" rIns="91425" bIns="45700" anchor="b" anchorCtr="0">
            <a:noAutofit/>
          </a:bodyPr>
          <a:lstStyle/>
          <a:p>
            <a:pPr marL="0" indent="0">
              <a:buNone/>
            </a:pPr>
            <a:r>
              <a:rPr lang="en-US" sz="3200" b="1" kern="0" spc="150" dirty="0">
                <a:solidFill>
                  <a:srgbClr val="1D2939"/>
                </a:solidFill>
                <a:latin typeface="Garamond" pitchFamily="34" charset="0"/>
                <a:ea typeface="Garamond" pitchFamily="34" charset="-122"/>
                <a:cs typeface="Garamond" pitchFamily="34" charset="-120"/>
              </a:rPr>
              <a:t>AI: OPPORTUNITY &amp; RISK ANALYSIS </a:t>
            </a:r>
            <a:endParaRPr lang="en-US" sz="3200" dirty="0"/>
          </a:p>
        </p:txBody>
      </p:sp>
      <p:cxnSp>
        <p:nvCxnSpPr>
          <p:cNvPr id="271" name="Google Shape;271;g2b6e027a1db_6_0"/>
          <p:cNvCxnSpPr/>
          <p:nvPr/>
        </p:nvCxnSpPr>
        <p:spPr>
          <a:xfrm>
            <a:off x="270932" y="773327"/>
            <a:ext cx="11633100" cy="0"/>
          </a:xfrm>
          <a:prstGeom prst="straightConnector1">
            <a:avLst/>
          </a:prstGeom>
          <a:noFill/>
          <a:ln w="9525" cap="flat" cmpd="sng">
            <a:solidFill>
              <a:srgbClr val="001746"/>
            </a:solidFill>
            <a:prstDash val="solid"/>
            <a:miter lim="800000"/>
            <a:headEnd type="none" w="sm" len="sm"/>
            <a:tailEnd type="none" w="sm" len="sm"/>
          </a:ln>
        </p:spPr>
      </p:cxnSp>
      <p:sp>
        <p:nvSpPr>
          <p:cNvPr id="272" name="Google Shape;272;g2b6e027a1db_6_0"/>
          <p:cNvSpPr/>
          <p:nvPr/>
        </p:nvSpPr>
        <p:spPr>
          <a:xfrm>
            <a:off x="4183178"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lt1"/>
                </a:solidFill>
                <a:latin typeface="Garamond"/>
                <a:ea typeface="Garamond"/>
                <a:cs typeface="Garamond"/>
                <a:sym typeface="Garamond"/>
              </a:rPr>
              <a:t>Theses</a:t>
            </a:r>
            <a:endParaRPr sz="1400" b="0" i="0" u="none" strike="noStrike" cap="none" dirty="0">
              <a:solidFill>
                <a:schemeClr val="lt1"/>
              </a:solidFill>
              <a:latin typeface="Garamond"/>
              <a:ea typeface="Garamond"/>
              <a:cs typeface="Garamond"/>
              <a:sym typeface="Garamond"/>
            </a:endParaRPr>
          </a:p>
        </p:txBody>
      </p:sp>
      <p:sp>
        <p:nvSpPr>
          <p:cNvPr id="273" name="Google Shape;273;g2b6e027a1db_6_0"/>
          <p:cNvSpPr/>
          <p:nvPr/>
        </p:nvSpPr>
        <p:spPr>
          <a:xfrm>
            <a:off x="8740461"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Risks</a:t>
            </a:r>
            <a:endParaRPr sz="1400" b="0" i="0" u="none" strike="noStrike" cap="none">
              <a:solidFill>
                <a:schemeClr val="lt1"/>
              </a:solidFill>
              <a:latin typeface="Garamond"/>
              <a:ea typeface="Garamond"/>
              <a:cs typeface="Garamond"/>
              <a:sym typeface="Garamond"/>
            </a:endParaRPr>
          </a:p>
        </p:txBody>
      </p:sp>
      <p:sp>
        <p:nvSpPr>
          <p:cNvPr id="274" name="Google Shape;274;g2b6e027a1db_6_0"/>
          <p:cNvSpPr/>
          <p:nvPr/>
        </p:nvSpPr>
        <p:spPr>
          <a:xfrm>
            <a:off x="5702272"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lt1"/>
                </a:solidFill>
                <a:latin typeface="Garamond"/>
                <a:ea typeface="Garamond"/>
                <a:cs typeface="Garamond"/>
                <a:sym typeface="Garamond"/>
              </a:rPr>
              <a:t>Valuation</a:t>
            </a:r>
            <a:endParaRPr sz="1400" b="0" i="0" u="none" strike="noStrike" cap="none" dirty="0">
              <a:solidFill>
                <a:schemeClr val="lt1"/>
              </a:solidFill>
              <a:latin typeface="Garamond"/>
              <a:ea typeface="Garamond"/>
              <a:cs typeface="Garamond"/>
              <a:sym typeface="Garamond"/>
            </a:endParaRPr>
          </a:p>
        </p:txBody>
      </p:sp>
      <p:sp>
        <p:nvSpPr>
          <p:cNvPr id="275" name="Google Shape;275;g2b6e027a1db_6_0"/>
          <p:cNvSpPr txBox="1">
            <a:spLocks noGrp="1"/>
          </p:cNvSpPr>
          <p:nvPr>
            <p:ph type="sldNum" idx="4294967295"/>
          </p:nvPr>
        </p:nvSpPr>
        <p:spPr>
          <a:xfrm>
            <a:off x="11520419" y="6466832"/>
            <a:ext cx="521100" cy="323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200"/>
              <a:buFont typeface="Arial"/>
              <a:buNone/>
            </a:pPr>
            <a:r>
              <a:rPr lang="en-US"/>
              <a:t>|  </a:t>
            </a:r>
            <a:fld id="{00000000-1234-1234-1234-123412341234}" type="slidenum">
              <a:rPr lang="en-US"/>
              <a:t>17</a:t>
            </a:fld>
            <a:endParaRPr/>
          </a:p>
        </p:txBody>
      </p:sp>
      <p:sp>
        <p:nvSpPr>
          <p:cNvPr id="276" name="Google Shape;276;g2b6e027a1db_6_0"/>
          <p:cNvSpPr/>
          <p:nvPr/>
        </p:nvSpPr>
        <p:spPr>
          <a:xfrm>
            <a:off x="1145042" y="6486133"/>
            <a:ext cx="1270500" cy="2820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Company</a:t>
            </a:r>
            <a:endParaRPr sz="1400" b="0" i="0" u="none" strike="noStrike" cap="none">
              <a:solidFill>
                <a:schemeClr val="lt1"/>
              </a:solidFill>
              <a:latin typeface="Garamond"/>
              <a:ea typeface="Garamond"/>
              <a:cs typeface="Garamond"/>
              <a:sym typeface="Garamond"/>
            </a:endParaRPr>
          </a:p>
        </p:txBody>
      </p:sp>
      <p:sp>
        <p:nvSpPr>
          <p:cNvPr id="277" name="Google Shape;277;g2b6e027a1db_6_0"/>
          <p:cNvSpPr/>
          <p:nvPr/>
        </p:nvSpPr>
        <p:spPr>
          <a:xfrm>
            <a:off x="2664119"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Industry</a:t>
            </a:r>
            <a:endParaRPr sz="1400" b="0" i="0" u="none" strike="noStrike" cap="none">
              <a:solidFill>
                <a:schemeClr val="lt1"/>
              </a:solidFill>
              <a:latin typeface="Garamond"/>
              <a:ea typeface="Garamond"/>
              <a:cs typeface="Garamond"/>
              <a:sym typeface="Garamond"/>
            </a:endParaRPr>
          </a:p>
        </p:txBody>
      </p:sp>
      <p:sp>
        <p:nvSpPr>
          <p:cNvPr id="278" name="Google Shape;278;g2b6e027a1db_6_0"/>
          <p:cNvSpPr/>
          <p:nvPr/>
        </p:nvSpPr>
        <p:spPr>
          <a:xfrm>
            <a:off x="7221366" y="6486133"/>
            <a:ext cx="1270500" cy="282000"/>
          </a:xfrm>
          <a:prstGeom prst="rect">
            <a:avLst/>
          </a:prstGeom>
          <a:solidFill>
            <a:srgbClr val="041E41"/>
          </a:solidFill>
          <a:ln w="12700" cap="flat" cmpd="sng">
            <a:solidFill>
              <a:srgbClr val="041E4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lt1"/>
                </a:solidFill>
                <a:latin typeface="Garamond"/>
                <a:ea typeface="Garamond"/>
                <a:cs typeface="Garamond"/>
                <a:sym typeface="Garamond"/>
              </a:rPr>
              <a:t>ESG</a:t>
            </a:r>
            <a:endParaRPr sz="1400" b="0" i="0" u="none" strike="noStrike" cap="none" dirty="0">
              <a:solidFill>
                <a:schemeClr val="lt1"/>
              </a:solidFill>
              <a:latin typeface="Garamond"/>
              <a:ea typeface="Garamond"/>
              <a:cs typeface="Garamond"/>
              <a:sym typeface="Garamond"/>
            </a:endParaRPr>
          </a:p>
        </p:txBody>
      </p:sp>
      <p:sp>
        <p:nvSpPr>
          <p:cNvPr id="279" name="Google Shape;279;g2b6e027a1db_6_0"/>
          <p:cNvSpPr txBox="1"/>
          <p:nvPr/>
        </p:nvSpPr>
        <p:spPr>
          <a:xfrm>
            <a:off x="308021" y="1317338"/>
            <a:ext cx="5682300" cy="3026439"/>
          </a:xfrm>
          <a:prstGeom prst="rect">
            <a:avLst/>
          </a:prstGeom>
          <a:noFill/>
          <a:ln>
            <a:noFill/>
          </a:ln>
        </p:spPr>
        <p:txBody>
          <a:bodyPr spcFirstLastPara="1" wrap="square" lIns="91425" tIns="91425" rIns="91425" bIns="91425" anchor="t" anchorCtr="0">
            <a:spAutoFit/>
          </a:bodyPr>
          <a:lstStyle/>
          <a:p>
            <a:pPr marL="342900" indent="-342900">
              <a:spcAft>
                <a:spcPts val="400"/>
              </a:spcAft>
              <a:buSzPct val="100000"/>
              <a:buChar char="•"/>
            </a:pPr>
            <a:r>
              <a:rPr lang="en-US" sz="1200" dirty="0">
                <a:solidFill>
                  <a:srgbClr val="1D2939"/>
                </a:solidFill>
                <a:latin typeface="Garamond" pitchFamily="34" charset="0"/>
                <a:ea typeface="Garamond" pitchFamily="34" charset="-122"/>
                <a:cs typeface="Garamond" pitchFamily="34" charset="-120"/>
              </a:rPr>
              <a:t>SMCI is arguably the most direct public equity beneficiary of AI development: every LLM trained and every inference served requires server hardware that SMCI manufactures</a:t>
            </a:r>
            <a:endParaRPr lang="en-US" sz="1200" dirty="0"/>
          </a:p>
          <a:p>
            <a:pPr marL="342900" indent="-342900">
              <a:spcAft>
                <a:spcPts val="400"/>
              </a:spcAft>
              <a:buSzPct val="100000"/>
              <a:buChar char="•"/>
            </a:pPr>
            <a:r>
              <a:rPr lang="en-US" sz="1200" dirty="0">
                <a:solidFill>
                  <a:srgbClr val="1D2939"/>
                </a:solidFill>
                <a:latin typeface="Garamond" pitchFamily="34" charset="0"/>
                <a:ea typeface="Garamond" pitchFamily="34" charset="-122"/>
                <a:cs typeface="Garamond" pitchFamily="34" charset="-120"/>
              </a:rPr>
              <a:t>AI compute scaling follows a 10x+ rule per model generation (GPT-3 to GPT-4 to GPT-5); this exponential demand directly drives SMCI's $40B+ FY2026 revenue trajectory</a:t>
            </a:r>
            <a:endParaRPr lang="en-US" sz="1200" dirty="0"/>
          </a:p>
          <a:p>
            <a:pPr marL="342900" indent="-342900">
              <a:spcAft>
                <a:spcPts val="400"/>
              </a:spcAft>
              <a:buSzPct val="100000"/>
              <a:buChar char="•"/>
            </a:pPr>
            <a:r>
              <a:rPr lang="en-US" sz="1200" dirty="0">
                <a:solidFill>
                  <a:srgbClr val="1D2939"/>
                </a:solidFill>
                <a:latin typeface="Garamond" pitchFamily="34" charset="0"/>
                <a:ea typeface="Garamond" pitchFamily="34" charset="-122"/>
                <a:cs typeface="Garamond" pitchFamily="34" charset="-120"/>
              </a:rPr>
              <a:t>NVIDIA's GPU roadmap (H100 → B200 → GB200 → Rubin) creates recurring upgrade cycles; each generation requires new server platforms = repeat design wins for SMCI</a:t>
            </a:r>
            <a:endParaRPr lang="en-US" sz="1200" dirty="0"/>
          </a:p>
          <a:p>
            <a:pPr marL="342900" indent="-342900">
              <a:spcAft>
                <a:spcPts val="400"/>
              </a:spcAft>
              <a:buSzPct val="100000"/>
              <a:buChar char="•"/>
            </a:pPr>
            <a:r>
              <a:rPr lang="en-US" sz="1200" dirty="0">
                <a:solidFill>
                  <a:srgbClr val="1D2939"/>
                </a:solidFill>
                <a:latin typeface="Garamond" pitchFamily="34" charset="0"/>
                <a:ea typeface="Garamond" pitchFamily="34" charset="-122"/>
                <a:cs typeface="Garamond" pitchFamily="34" charset="-120"/>
              </a:rPr>
              <a:t>Liquid cooling becomes mandatory as AI model scale increases rack power from 40kW to 120kW+; SMCI's DLC leadership (25-30% share) scales directly with AI complexity</a:t>
            </a:r>
            <a:endParaRPr lang="en-US" sz="1200" dirty="0"/>
          </a:p>
          <a:p>
            <a:pPr marL="342900" indent="-342900">
              <a:spcAft>
                <a:spcPts val="400"/>
              </a:spcAft>
              <a:buSzPct val="100000"/>
              <a:buChar char="•"/>
            </a:pPr>
            <a:r>
              <a:rPr lang="en-US" sz="1200" dirty="0">
                <a:solidFill>
                  <a:srgbClr val="1D2939"/>
                </a:solidFill>
                <a:latin typeface="Garamond" pitchFamily="34" charset="0"/>
                <a:ea typeface="Garamond" pitchFamily="34" charset="-122"/>
                <a:cs typeface="Garamond" pitchFamily="34" charset="-120"/>
              </a:rPr>
              <a:t>Enterprise AI adoption is in early innings: only ~5% of enterprises have deployed production AI infrastructure, implying 10-20x expansion of addressable market through 2030</a:t>
            </a:r>
            <a:endParaRPr lang="en-US" sz="1200" dirty="0"/>
          </a:p>
        </p:txBody>
      </p:sp>
      <p:sp>
        <p:nvSpPr>
          <p:cNvPr id="280" name="Google Shape;280;g2b6e027a1db_6_0"/>
          <p:cNvSpPr txBox="1"/>
          <p:nvPr/>
        </p:nvSpPr>
        <p:spPr>
          <a:xfrm>
            <a:off x="335789" y="960363"/>
            <a:ext cx="5655000" cy="365700"/>
          </a:xfrm>
          <a:prstGeom prst="rect">
            <a:avLst/>
          </a:prstGeom>
          <a:solidFill>
            <a:srgbClr val="002060"/>
          </a:solidFill>
          <a:ln w="9525" cap="flat" cmpd="sng">
            <a:solidFill>
              <a:srgbClr val="041E4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b="1" dirty="0">
                <a:solidFill>
                  <a:srgbClr val="FFFFFF"/>
                </a:solidFill>
                <a:latin typeface="Garamond"/>
                <a:ea typeface="Garamond"/>
                <a:cs typeface="Garamond"/>
                <a:sym typeface="Garamond"/>
              </a:rPr>
              <a:t>AI As Opportunity </a:t>
            </a:r>
            <a:endParaRPr b="1" dirty="0">
              <a:solidFill>
                <a:srgbClr val="FFFFFF"/>
              </a:solidFill>
              <a:latin typeface="Garamond"/>
              <a:ea typeface="Garamond"/>
              <a:cs typeface="Garamond"/>
              <a:sym typeface="Garamond"/>
            </a:endParaRPr>
          </a:p>
        </p:txBody>
      </p:sp>
      <p:sp>
        <p:nvSpPr>
          <p:cNvPr id="281" name="Google Shape;281;g2b6e027a1db_6_0"/>
          <p:cNvSpPr txBox="1"/>
          <p:nvPr/>
        </p:nvSpPr>
        <p:spPr>
          <a:xfrm>
            <a:off x="6201221" y="1438813"/>
            <a:ext cx="5682600" cy="2298035"/>
          </a:xfrm>
          <a:prstGeom prst="rect">
            <a:avLst/>
          </a:prstGeom>
          <a:noFill/>
          <a:ln>
            <a:noFill/>
          </a:ln>
        </p:spPr>
        <p:txBody>
          <a:bodyPr spcFirstLastPara="1" wrap="square" lIns="91425" tIns="91425" rIns="91425" bIns="91425" anchor="t" anchorCtr="0">
            <a:spAutoFit/>
          </a:bodyPr>
          <a:lstStyle/>
          <a:p>
            <a:pPr marL="342900" indent="-342900">
              <a:spcAft>
                <a:spcPts val="400"/>
              </a:spcAft>
              <a:buSzPct val="100000"/>
              <a:buChar char="•"/>
            </a:pPr>
            <a:r>
              <a:rPr lang="en-US" sz="1200" dirty="0">
                <a:solidFill>
                  <a:srgbClr val="1D2939"/>
                </a:solidFill>
                <a:latin typeface="Garamond" pitchFamily="34" charset="0"/>
                <a:ea typeface="Garamond" pitchFamily="34" charset="-122"/>
                <a:cs typeface="Garamond" pitchFamily="34" charset="-120"/>
              </a:rPr>
              <a:t>Custom silicon threat: Google (TPUs), Amazon (</a:t>
            </a:r>
            <a:r>
              <a:rPr lang="en-US" sz="1200" dirty="0" err="1">
                <a:solidFill>
                  <a:srgbClr val="1D2939"/>
                </a:solidFill>
                <a:latin typeface="Garamond" pitchFamily="34" charset="0"/>
                <a:ea typeface="Garamond" pitchFamily="34" charset="-122"/>
                <a:cs typeface="Garamond" pitchFamily="34" charset="-120"/>
              </a:rPr>
              <a:t>Trainium</a:t>
            </a:r>
            <a:r>
              <a:rPr lang="en-US" sz="1200" dirty="0">
                <a:solidFill>
                  <a:srgbClr val="1D2939"/>
                </a:solidFill>
                <a:latin typeface="Garamond" pitchFamily="34" charset="0"/>
                <a:ea typeface="Garamond" pitchFamily="34" charset="-122"/>
                <a:cs typeface="Garamond" pitchFamily="34" charset="-120"/>
              </a:rPr>
              <a:t>), Microsoft (Maia) designing in-house AI chips that bypass OEMs; if 30%+ of AI compute shifts to custom silicon, SMCI's TAM contracts materially</a:t>
            </a:r>
            <a:endParaRPr lang="en-US" sz="1200" dirty="0"/>
          </a:p>
          <a:p>
            <a:pPr marL="342900" indent="-342900">
              <a:spcAft>
                <a:spcPts val="400"/>
              </a:spcAft>
              <a:buSzPct val="100000"/>
              <a:buChar char="•"/>
            </a:pPr>
            <a:r>
              <a:rPr lang="en-US" sz="1200" dirty="0">
                <a:solidFill>
                  <a:srgbClr val="1D2939"/>
                </a:solidFill>
                <a:latin typeface="Garamond" pitchFamily="34" charset="0"/>
                <a:ea typeface="Garamond" pitchFamily="34" charset="-122"/>
                <a:cs typeface="Garamond" pitchFamily="34" charset="-120"/>
              </a:rPr>
              <a:t>AI efficiency breakthroughs: Model distillation, mixture-of-experts, and sparse architectures could reduce compute per unit of AI capability, slowing hardware demand</a:t>
            </a:r>
            <a:endParaRPr lang="en-US" sz="1200" dirty="0"/>
          </a:p>
          <a:p>
            <a:pPr marL="342900" indent="-342900">
              <a:spcAft>
                <a:spcPts val="400"/>
              </a:spcAft>
              <a:buSzPct val="100000"/>
              <a:buChar char="•"/>
            </a:pPr>
            <a:r>
              <a:rPr lang="en-US" sz="1200" dirty="0">
                <a:solidFill>
                  <a:srgbClr val="1D2939"/>
                </a:solidFill>
                <a:latin typeface="Garamond" pitchFamily="34" charset="0"/>
                <a:ea typeface="Garamond" pitchFamily="34" charset="-122"/>
                <a:cs typeface="Garamond" pitchFamily="34" charset="-120"/>
              </a:rPr>
              <a:t>Commoditization risk: Software-defined DC architectures could reduce hardware differentiation; SMCI's speed advantage may erode as workloads standardize</a:t>
            </a:r>
            <a:endParaRPr lang="en-US" sz="1200" dirty="0"/>
          </a:p>
          <a:p>
            <a:pPr marL="342900" indent="-342900">
              <a:spcAft>
                <a:spcPts val="400"/>
              </a:spcAft>
              <a:buSzPct val="100000"/>
              <a:buChar char="•"/>
            </a:pPr>
            <a:r>
              <a:rPr lang="en-US" sz="1200" dirty="0">
                <a:solidFill>
                  <a:srgbClr val="1D2939"/>
                </a:solidFill>
                <a:latin typeface="Garamond" pitchFamily="34" charset="0"/>
                <a:ea typeface="Garamond" pitchFamily="34" charset="-122"/>
                <a:cs typeface="Garamond" pitchFamily="34" charset="-120"/>
              </a:rPr>
              <a:t>Geopolitical: US export controls on AI chips to China (~22% APAC rev) could intensify; sovereign AI may partially offset</a:t>
            </a:r>
            <a:endParaRPr lang="en-US" sz="1200" dirty="0"/>
          </a:p>
        </p:txBody>
      </p:sp>
      <p:sp>
        <p:nvSpPr>
          <p:cNvPr id="282" name="Google Shape;282;g2b6e027a1db_6_0"/>
          <p:cNvSpPr txBox="1"/>
          <p:nvPr/>
        </p:nvSpPr>
        <p:spPr>
          <a:xfrm>
            <a:off x="6201379" y="960363"/>
            <a:ext cx="5682600" cy="365700"/>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b="1" dirty="0">
                <a:solidFill>
                  <a:srgbClr val="FFFFFF"/>
                </a:solidFill>
                <a:latin typeface="Garamond"/>
                <a:ea typeface="Garamond"/>
                <a:cs typeface="Garamond"/>
                <a:sym typeface="Garamond"/>
              </a:rPr>
              <a:t>AI AS Risk</a:t>
            </a:r>
            <a:endParaRPr b="1" dirty="0">
              <a:solidFill>
                <a:srgbClr val="FFFFFF"/>
              </a:solidFill>
              <a:latin typeface="Garamond"/>
              <a:ea typeface="Garamond"/>
              <a:cs typeface="Garamond"/>
              <a:sym typeface="Garamond"/>
            </a:endParaRPr>
          </a:p>
        </p:txBody>
      </p:sp>
      <p:sp>
        <p:nvSpPr>
          <p:cNvPr id="290" name="Google Shape;290;g2b6e027a1db_6_0"/>
          <p:cNvSpPr/>
          <p:nvPr/>
        </p:nvSpPr>
        <p:spPr>
          <a:xfrm>
            <a:off x="-1463800" y="10654"/>
            <a:ext cx="1270500" cy="1046100"/>
          </a:xfrm>
          <a:prstGeom prst="rect">
            <a:avLst/>
          </a:prstGeom>
          <a:solidFill>
            <a:srgbClr val="041E41"/>
          </a:solidFill>
          <a:ln w="12700" cap="flat" cmpd="sng">
            <a:solidFill>
              <a:srgbClr val="041E4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Garamond"/>
              <a:ea typeface="Garamond"/>
              <a:cs typeface="Garamond"/>
              <a:sym typeface="Garamond"/>
            </a:endParaRPr>
          </a:p>
        </p:txBody>
      </p:sp>
      <p:pic>
        <p:nvPicPr>
          <p:cNvPr id="23" name="Picture 4" descr="SMCI - Super Micro Computer, Inc. Trademark Registration">
            <a:extLst>
              <a:ext uri="{FF2B5EF4-FFF2-40B4-BE49-F238E27FC236}">
                <a16:creationId xmlns:a16="http://schemas.microsoft.com/office/drawing/2014/main" id="{6A6D28EB-181B-4CD7-976F-01FDE5976B4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001" b="17593"/>
          <a:stretch/>
        </p:blipFill>
        <p:spPr bwMode="auto">
          <a:xfrm>
            <a:off x="10032470" y="64180"/>
            <a:ext cx="2009003" cy="547501"/>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a:extLst>
              <a:ext uri="{FF2B5EF4-FFF2-40B4-BE49-F238E27FC236}">
                <a16:creationId xmlns:a16="http://schemas.microsoft.com/office/drawing/2014/main" id="{97929CDC-2743-491D-9664-ADEA568C0105}"/>
              </a:ext>
            </a:extLst>
          </p:cNvPr>
          <p:cNvPicPr>
            <a:picLocks noChangeAspect="1"/>
          </p:cNvPicPr>
          <p:nvPr/>
        </p:nvPicPr>
        <p:blipFill>
          <a:blip r:embed="rId4"/>
          <a:stretch>
            <a:fillRect/>
          </a:stretch>
        </p:blipFill>
        <p:spPr>
          <a:xfrm>
            <a:off x="10160006" y="6379320"/>
            <a:ext cx="1422710" cy="464846"/>
          </a:xfrm>
          <a:prstGeom prst="rect">
            <a:avLst/>
          </a:prstGeom>
        </p:spPr>
      </p:pic>
      <p:graphicFrame>
        <p:nvGraphicFramePr>
          <p:cNvPr id="25" name="Table 0">
            <a:extLst>
              <a:ext uri="{FF2B5EF4-FFF2-40B4-BE49-F238E27FC236}">
                <a16:creationId xmlns:a16="http://schemas.microsoft.com/office/drawing/2014/main" id="{F61432EF-6DA2-4564-BB66-5C947298343F}"/>
              </a:ext>
            </a:extLst>
          </p:cNvPr>
          <p:cNvGraphicFramePr>
            <a:graphicFrameLocks noGrp="1"/>
          </p:cNvGraphicFramePr>
          <p:nvPr>
            <p:extLst>
              <p:ext uri="{D42A27DB-BD31-4B8C-83A1-F6EECF244321}">
                <p14:modId xmlns:p14="http://schemas.microsoft.com/office/powerpoint/2010/main" val="3067038066"/>
              </p:ext>
            </p:extLst>
          </p:nvPr>
        </p:nvGraphicFramePr>
        <p:xfrm>
          <a:off x="335789" y="4465048"/>
          <a:ext cx="5654532" cy="1468350"/>
        </p:xfrm>
        <a:graphic>
          <a:graphicData uri="http://schemas.openxmlformats.org/drawingml/2006/table">
            <a:tbl>
              <a:tblPr/>
              <a:tblGrid>
                <a:gridCol w="1446508">
                  <a:extLst>
                    <a:ext uri="{9D8B030D-6E8A-4147-A177-3AD203B41FA5}">
                      <a16:colId xmlns:a16="http://schemas.microsoft.com/office/drawing/2014/main" val="20000"/>
                    </a:ext>
                  </a:extLst>
                </a:gridCol>
                <a:gridCol w="986256">
                  <a:extLst>
                    <a:ext uri="{9D8B030D-6E8A-4147-A177-3AD203B41FA5}">
                      <a16:colId xmlns:a16="http://schemas.microsoft.com/office/drawing/2014/main" val="20001"/>
                    </a:ext>
                  </a:extLst>
                </a:gridCol>
                <a:gridCol w="920505">
                  <a:extLst>
                    <a:ext uri="{9D8B030D-6E8A-4147-A177-3AD203B41FA5}">
                      <a16:colId xmlns:a16="http://schemas.microsoft.com/office/drawing/2014/main" val="20002"/>
                    </a:ext>
                  </a:extLst>
                </a:gridCol>
                <a:gridCol w="2301263">
                  <a:extLst>
                    <a:ext uri="{9D8B030D-6E8A-4147-A177-3AD203B41FA5}">
                      <a16:colId xmlns:a16="http://schemas.microsoft.com/office/drawing/2014/main" val="20003"/>
                    </a:ext>
                  </a:extLst>
                </a:gridCol>
              </a:tblGrid>
              <a:tr h="244725">
                <a:tc>
                  <a:txBody>
                    <a:bodyPr/>
                    <a:lstStyle/>
                    <a:p>
                      <a:pPr marL="0" indent="0" algn="l">
                        <a:buNone/>
                      </a:pPr>
                      <a:r>
                        <a:rPr lang="en-US" sz="1000" b="1" dirty="0">
                          <a:solidFill>
                            <a:srgbClr val="FFFFFF"/>
                          </a:solidFill>
                          <a:latin typeface="Garamond" pitchFamily="34" charset="0"/>
                          <a:ea typeface="Garamond" pitchFamily="34" charset="-122"/>
                          <a:cs typeface="Garamond" pitchFamily="34" charset="-120"/>
                        </a:rPr>
                        <a:t>AI Growth Driver</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2744"/>
                    </a:solidFill>
                  </a:tcPr>
                </a:tc>
                <a:tc>
                  <a:txBody>
                    <a:bodyPr/>
                    <a:lstStyle/>
                    <a:p>
                      <a:pPr marL="0" indent="0" algn="l">
                        <a:buNone/>
                      </a:pPr>
                      <a:r>
                        <a:rPr lang="en-US" sz="1000" b="1" dirty="0">
                          <a:solidFill>
                            <a:srgbClr val="FFFFFF"/>
                          </a:solidFill>
                          <a:latin typeface="Garamond" pitchFamily="34" charset="0"/>
                          <a:ea typeface="Garamond" pitchFamily="34" charset="-122"/>
                          <a:cs typeface="Garamond" pitchFamily="34" charset="-120"/>
                        </a:rPr>
                        <a:t>Current</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2744"/>
                    </a:solidFill>
                  </a:tcPr>
                </a:tc>
                <a:tc>
                  <a:txBody>
                    <a:bodyPr/>
                    <a:lstStyle/>
                    <a:p>
                      <a:pPr marL="0" indent="0" algn="l">
                        <a:buNone/>
                      </a:pPr>
                      <a:r>
                        <a:rPr lang="en-US" sz="1000" b="1" dirty="0">
                          <a:solidFill>
                            <a:srgbClr val="FFFFFF"/>
                          </a:solidFill>
                          <a:latin typeface="Garamond" pitchFamily="34" charset="0"/>
                          <a:ea typeface="Garamond" pitchFamily="34" charset="-122"/>
                          <a:cs typeface="Garamond" pitchFamily="34" charset="-120"/>
                        </a:rPr>
                        <a:t>By 2028</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2744"/>
                    </a:solidFill>
                  </a:tcPr>
                </a:tc>
                <a:tc>
                  <a:txBody>
                    <a:bodyPr/>
                    <a:lstStyle/>
                    <a:p>
                      <a:pPr marL="0" indent="0" algn="l">
                        <a:buNone/>
                      </a:pPr>
                      <a:r>
                        <a:rPr lang="en-US" sz="1000" b="1" dirty="0">
                          <a:solidFill>
                            <a:srgbClr val="FFFFFF"/>
                          </a:solidFill>
                          <a:latin typeface="Garamond" pitchFamily="34" charset="0"/>
                          <a:ea typeface="Garamond" pitchFamily="34" charset="-122"/>
                          <a:cs typeface="Garamond" pitchFamily="34" charset="-120"/>
                        </a:rPr>
                        <a:t>Impact on SMCI</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244725">
                <a:tc>
                  <a:txBody>
                    <a:bodyPr/>
                    <a:lstStyle/>
                    <a:p>
                      <a:pPr marL="0" indent="0" algn="l">
                        <a:buNone/>
                      </a:pPr>
                      <a:r>
                        <a:rPr lang="en-US" sz="1000" b="1" dirty="0">
                          <a:solidFill>
                            <a:srgbClr val="1D2939"/>
                          </a:solidFill>
                          <a:latin typeface="Garamond" pitchFamily="34" charset="0"/>
                          <a:ea typeface="Garamond" pitchFamily="34" charset="-122"/>
                          <a:cs typeface="Garamond" pitchFamily="34" charset="-120"/>
                        </a:rPr>
                        <a:t>AI Server TAM</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D2939"/>
                          </a:solidFill>
                          <a:latin typeface="Garamond" pitchFamily="34" charset="0"/>
                          <a:ea typeface="Garamond" pitchFamily="34" charset="-122"/>
                          <a:cs typeface="Garamond" pitchFamily="34" charset="-120"/>
                        </a:rPr>
                        <a:t>~$150B</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D2939"/>
                          </a:solidFill>
                          <a:latin typeface="Garamond" pitchFamily="34" charset="0"/>
                          <a:ea typeface="Garamond" pitchFamily="34" charset="-122"/>
                          <a:cs typeface="Garamond" pitchFamily="34" charset="-120"/>
                        </a:rPr>
                        <a:t>$400B+</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D2939"/>
                          </a:solidFill>
                          <a:latin typeface="Garamond" pitchFamily="34" charset="0"/>
                          <a:ea typeface="Garamond" pitchFamily="34" charset="-122"/>
                          <a:cs typeface="Garamond" pitchFamily="34" charset="-120"/>
                        </a:rPr>
                        <a:t>28% CAGR = demand runway</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4725">
                <a:tc>
                  <a:txBody>
                    <a:bodyPr/>
                    <a:lstStyle/>
                    <a:p>
                      <a:pPr marL="0" indent="0" algn="l">
                        <a:buNone/>
                      </a:pPr>
                      <a:r>
                        <a:rPr lang="en-US" sz="1000" b="1" dirty="0">
                          <a:solidFill>
                            <a:srgbClr val="1D2939"/>
                          </a:solidFill>
                          <a:latin typeface="Garamond" pitchFamily="34" charset="0"/>
                          <a:ea typeface="Garamond" pitchFamily="34" charset="-122"/>
                          <a:cs typeface="Garamond" pitchFamily="34" charset="-120"/>
                        </a:rPr>
                        <a:t>DLC Attach Rate</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2F4F7"/>
                    </a:solidFill>
                  </a:tcPr>
                </a:tc>
                <a:tc>
                  <a:txBody>
                    <a:bodyPr/>
                    <a:lstStyle/>
                    <a:p>
                      <a:pPr marL="0" indent="0" algn="ctr">
                        <a:buNone/>
                      </a:pPr>
                      <a:r>
                        <a:rPr lang="en-US" sz="1000" dirty="0">
                          <a:solidFill>
                            <a:srgbClr val="1D2939"/>
                          </a:solidFill>
                          <a:latin typeface="Garamond" pitchFamily="34" charset="0"/>
                          <a:ea typeface="Garamond" pitchFamily="34" charset="-122"/>
                          <a:cs typeface="Garamond" pitchFamily="34" charset="-120"/>
                        </a:rPr>
                        <a:t>~20%</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2F4F7"/>
                    </a:solidFill>
                  </a:tcPr>
                </a:tc>
                <a:tc>
                  <a:txBody>
                    <a:bodyPr/>
                    <a:lstStyle/>
                    <a:p>
                      <a:pPr marL="0" indent="0" algn="ctr">
                        <a:buNone/>
                      </a:pPr>
                      <a:r>
                        <a:rPr lang="en-US" sz="1000" dirty="0">
                          <a:solidFill>
                            <a:srgbClr val="1D2939"/>
                          </a:solidFill>
                          <a:latin typeface="Garamond" pitchFamily="34" charset="0"/>
                          <a:ea typeface="Garamond" pitchFamily="34" charset="-122"/>
                          <a:cs typeface="Garamond" pitchFamily="34" charset="-120"/>
                        </a:rPr>
                        <a:t>60-70%</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2F4F7"/>
                    </a:solidFill>
                  </a:tcPr>
                </a:tc>
                <a:tc>
                  <a:txBody>
                    <a:bodyPr/>
                    <a:lstStyle/>
                    <a:p>
                      <a:pPr marL="0" indent="0" algn="ctr">
                        <a:buNone/>
                      </a:pPr>
                      <a:r>
                        <a:rPr lang="en-US" sz="1000" dirty="0">
                          <a:solidFill>
                            <a:srgbClr val="1D2939"/>
                          </a:solidFill>
                          <a:latin typeface="Garamond" pitchFamily="34" charset="0"/>
                          <a:ea typeface="Garamond" pitchFamily="34" charset="-122"/>
                          <a:cs typeface="Garamond" pitchFamily="34" charset="-120"/>
                        </a:rPr>
                        <a:t>100% on GB200 NVL72</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2F4F7"/>
                    </a:solidFill>
                  </a:tcPr>
                </a:tc>
                <a:extLst>
                  <a:ext uri="{0D108BD9-81ED-4DB2-BD59-A6C34878D82A}">
                    <a16:rowId xmlns:a16="http://schemas.microsoft.com/office/drawing/2014/main" val="10002"/>
                  </a:ext>
                </a:extLst>
              </a:tr>
              <a:tr h="244725">
                <a:tc>
                  <a:txBody>
                    <a:bodyPr/>
                    <a:lstStyle/>
                    <a:p>
                      <a:pPr marL="0" indent="0" algn="l">
                        <a:buNone/>
                      </a:pPr>
                      <a:r>
                        <a:rPr lang="en-US" sz="1000" b="1" dirty="0">
                          <a:solidFill>
                            <a:srgbClr val="1D2939"/>
                          </a:solidFill>
                          <a:latin typeface="Garamond" pitchFamily="34" charset="0"/>
                          <a:ea typeface="Garamond" pitchFamily="34" charset="-122"/>
                          <a:cs typeface="Garamond" pitchFamily="34" charset="-120"/>
                        </a:rPr>
                        <a:t>Enterprise AI Adoption</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D2939"/>
                          </a:solidFill>
                          <a:latin typeface="Garamond" pitchFamily="34" charset="0"/>
                          <a:ea typeface="Garamond" pitchFamily="34" charset="-122"/>
                          <a:cs typeface="Garamond" pitchFamily="34" charset="-120"/>
                        </a:rPr>
                        <a:t>~5%</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D2939"/>
                          </a:solidFill>
                          <a:latin typeface="Garamond" pitchFamily="34" charset="0"/>
                          <a:ea typeface="Garamond" pitchFamily="34" charset="-122"/>
                          <a:cs typeface="Garamond" pitchFamily="34" charset="-120"/>
                        </a:rPr>
                        <a:t>25-30%</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D2939"/>
                          </a:solidFill>
                          <a:latin typeface="Garamond" pitchFamily="34" charset="0"/>
                          <a:ea typeface="Garamond" pitchFamily="34" charset="-122"/>
                          <a:cs typeface="Garamond" pitchFamily="34" charset="-120"/>
                        </a:rPr>
                        <a:t>New customer segments</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4725">
                <a:tc>
                  <a:txBody>
                    <a:bodyPr/>
                    <a:lstStyle/>
                    <a:p>
                      <a:pPr marL="0" indent="0" algn="l">
                        <a:buNone/>
                      </a:pPr>
                      <a:r>
                        <a:rPr lang="en-US" sz="1000" b="1" dirty="0">
                          <a:solidFill>
                            <a:srgbClr val="1D2939"/>
                          </a:solidFill>
                          <a:latin typeface="Garamond" pitchFamily="34" charset="0"/>
                          <a:ea typeface="Garamond" pitchFamily="34" charset="-122"/>
                          <a:cs typeface="Garamond" pitchFamily="34" charset="-120"/>
                        </a:rPr>
                        <a:t>Hyperscaler Capex</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2F4F7"/>
                    </a:solidFill>
                  </a:tcPr>
                </a:tc>
                <a:tc>
                  <a:txBody>
                    <a:bodyPr/>
                    <a:lstStyle/>
                    <a:p>
                      <a:pPr marL="0" indent="0" algn="ctr">
                        <a:buNone/>
                      </a:pPr>
                      <a:r>
                        <a:rPr lang="en-US" sz="1000" dirty="0">
                          <a:solidFill>
                            <a:srgbClr val="1D2939"/>
                          </a:solidFill>
                          <a:latin typeface="Garamond" pitchFamily="34" charset="0"/>
                          <a:ea typeface="Garamond" pitchFamily="34" charset="-122"/>
                          <a:cs typeface="Garamond" pitchFamily="34" charset="-120"/>
                        </a:rPr>
                        <a:t>$465B/yr</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2F4F7"/>
                    </a:solidFill>
                  </a:tcPr>
                </a:tc>
                <a:tc>
                  <a:txBody>
                    <a:bodyPr/>
                    <a:lstStyle/>
                    <a:p>
                      <a:pPr marL="0" indent="0" algn="ctr">
                        <a:buNone/>
                      </a:pPr>
                      <a:r>
                        <a:rPr lang="en-US" sz="1000" dirty="0">
                          <a:solidFill>
                            <a:srgbClr val="1D2939"/>
                          </a:solidFill>
                          <a:latin typeface="Garamond" pitchFamily="34" charset="0"/>
                          <a:ea typeface="Garamond" pitchFamily="34" charset="-122"/>
                          <a:cs typeface="Garamond" pitchFamily="34" charset="-120"/>
                        </a:rPr>
                        <a:t>$700B+/yr</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2F4F7"/>
                    </a:solidFill>
                  </a:tcPr>
                </a:tc>
                <a:tc>
                  <a:txBody>
                    <a:bodyPr/>
                    <a:lstStyle/>
                    <a:p>
                      <a:pPr marL="0" indent="0" algn="ctr">
                        <a:buNone/>
                      </a:pPr>
                      <a:r>
                        <a:rPr lang="en-US" sz="1000" dirty="0">
                          <a:solidFill>
                            <a:srgbClr val="1D2939"/>
                          </a:solidFill>
                          <a:latin typeface="Garamond" pitchFamily="34" charset="0"/>
                          <a:ea typeface="Garamond" pitchFamily="34" charset="-122"/>
                          <a:cs typeface="Garamond" pitchFamily="34" charset="-120"/>
                        </a:rPr>
                        <a:t>$13B+ SMCI backlog</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2F4F7"/>
                    </a:solidFill>
                  </a:tcPr>
                </a:tc>
                <a:extLst>
                  <a:ext uri="{0D108BD9-81ED-4DB2-BD59-A6C34878D82A}">
                    <a16:rowId xmlns:a16="http://schemas.microsoft.com/office/drawing/2014/main" val="10004"/>
                  </a:ext>
                </a:extLst>
              </a:tr>
              <a:tr h="244725">
                <a:tc>
                  <a:txBody>
                    <a:bodyPr/>
                    <a:lstStyle/>
                    <a:p>
                      <a:pPr marL="0" indent="0" algn="l">
                        <a:buNone/>
                      </a:pPr>
                      <a:r>
                        <a:rPr lang="en-US" sz="1000" b="1" dirty="0">
                          <a:solidFill>
                            <a:srgbClr val="1D2939"/>
                          </a:solidFill>
                          <a:latin typeface="Garamond" pitchFamily="34" charset="0"/>
                          <a:ea typeface="Garamond" pitchFamily="34" charset="-122"/>
                          <a:cs typeface="Garamond" pitchFamily="34" charset="-120"/>
                        </a:rPr>
                        <a:t>Inference vs Training</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D2939"/>
                          </a:solidFill>
                          <a:latin typeface="Garamond" pitchFamily="34" charset="0"/>
                          <a:ea typeface="Garamond" pitchFamily="34" charset="-122"/>
                          <a:cs typeface="Garamond" pitchFamily="34" charset="-120"/>
                        </a:rPr>
                        <a:t>30/70</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D2939"/>
                          </a:solidFill>
                          <a:latin typeface="Garamond" pitchFamily="34" charset="0"/>
                          <a:ea typeface="Garamond" pitchFamily="34" charset="-122"/>
                          <a:cs typeface="Garamond" pitchFamily="34" charset="-120"/>
                        </a:rPr>
                        <a:t>70/30</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D2939"/>
                          </a:solidFill>
                          <a:latin typeface="Garamond" pitchFamily="34" charset="0"/>
                          <a:ea typeface="Garamond" pitchFamily="34" charset="-122"/>
                          <a:cs typeface="Garamond" pitchFamily="34" charset="-120"/>
                        </a:rPr>
                        <a:t>Volume shift favors OEMs</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aphicFrame>
        <p:nvGraphicFramePr>
          <p:cNvPr id="26" name="Table 1">
            <a:extLst>
              <a:ext uri="{FF2B5EF4-FFF2-40B4-BE49-F238E27FC236}">
                <a16:creationId xmlns:a16="http://schemas.microsoft.com/office/drawing/2014/main" id="{CA4F5D7F-7CF8-424E-B1C3-E273079F8291}"/>
              </a:ext>
            </a:extLst>
          </p:cNvPr>
          <p:cNvGraphicFramePr>
            <a:graphicFrameLocks noGrp="1"/>
          </p:cNvGraphicFramePr>
          <p:nvPr>
            <p:extLst>
              <p:ext uri="{D42A27DB-BD31-4B8C-83A1-F6EECF244321}">
                <p14:modId xmlns:p14="http://schemas.microsoft.com/office/powerpoint/2010/main" val="3912831900"/>
              </p:ext>
            </p:extLst>
          </p:nvPr>
        </p:nvGraphicFramePr>
        <p:xfrm>
          <a:off x="6201221" y="4465047"/>
          <a:ext cx="5654532" cy="1468350"/>
        </p:xfrm>
        <a:graphic>
          <a:graphicData uri="http://schemas.openxmlformats.org/drawingml/2006/table">
            <a:tbl>
              <a:tblPr/>
              <a:tblGrid>
                <a:gridCol w="1988407">
                  <a:extLst>
                    <a:ext uri="{9D8B030D-6E8A-4147-A177-3AD203B41FA5}">
                      <a16:colId xmlns:a16="http://schemas.microsoft.com/office/drawing/2014/main" val="20000"/>
                    </a:ext>
                  </a:extLst>
                </a:gridCol>
                <a:gridCol w="994203">
                  <a:extLst>
                    <a:ext uri="{9D8B030D-6E8A-4147-A177-3AD203B41FA5}">
                      <a16:colId xmlns:a16="http://schemas.microsoft.com/office/drawing/2014/main" val="20001"/>
                    </a:ext>
                  </a:extLst>
                </a:gridCol>
                <a:gridCol w="869928">
                  <a:extLst>
                    <a:ext uri="{9D8B030D-6E8A-4147-A177-3AD203B41FA5}">
                      <a16:colId xmlns:a16="http://schemas.microsoft.com/office/drawing/2014/main" val="20002"/>
                    </a:ext>
                  </a:extLst>
                </a:gridCol>
                <a:gridCol w="1801994">
                  <a:extLst>
                    <a:ext uri="{9D8B030D-6E8A-4147-A177-3AD203B41FA5}">
                      <a16:colId xmlns:a16="http://schemas.microsoft.com/office/drawing/2014/main" val="20003"/>
                    </a:ext>
                  </a:extLst>
                </a:gridCol>
              </a:tblGrid>
              <a:tr h="244725">
                <a:tc>
                  <a:txBody>
                    <a:bodyPr/>
                    <a:lstStyle/>
                    <a:p>
                      <a:pPr marL="0" indent="0" algn="l">
                        <a:buNone/>
                      </a:pPr>
                      <a:r>
                        <a:rPr lang="en-US" sz="1000" b="1" dirty="0">
                          <a:solidFill>
                            <a:srgbClr val="FFFFFF"/>
                          </a:solidFill>
                          <a:latin typeface="Garamond" pitchFamily="34" charset="0"/>
                          <a:ea typeface="Garamond" pitchFamily="34" charset="-122"/>
                          <a:cs typeface="Garamond" pitchFamily="34" charset="-120"/>
                        </a:rPr>
                        <a:t>AI Risk Factor</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2744"/>
                    </a:solidFill>
                  </a:tcPr>
                </a:tc>
                <a:tc>
                  <a:txBody>
                    <a:bodyPr/>
                    <a:lstStyle/>
                    <a:p>
                      <a:pPr marL="0" indent="0" algn="l">
                        <a:buNone/>
                      </a:pPr>
                      <a:r>
                        <a:rPr lang="en-US" sz="1000" b="1" dirty="0">
                          <a:solidFill>
                            <a:srgbClr val="FFFFFF"/>
                          </a:solidFill>
                          <a:latin typeface="Garamond" pitchFamily="34" charset="0"/>
                          <a:ea typeface="Garamond" pitchFamily="34" charset="-122"/>
                          <a:cs typeface="Garamond" pitchFamily="34" charset="-120"/>
                        </a:rPr>
                        <a:t>Prob.</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2744"/>
                    </a:solidFill>
                  </a:tcPr>
                </a:tc>
                <a:tc>
                  <a:txBody>
                    <a:bodyPr/>
                    <a:lstStyle/>
                    <a:p>
                      <a:pPr marL="0" indent="0" algn="l">
                        <a:buNone/>
                      </a:pPr>
                      <a:r>
                        <a:rPr lang="en-US" sz="1000" b="1" dirty="0">
                          <a:solidFill>
                            <a:srgbClr val="FFFFFF"/>
                          </a:solidFill>
                          <a:latin typeface="Garamond" pitchFamily="34" charset="0"/>
                          <a:ea typeface="Garamond" pitchFamily="34" charset="-122"/>
                          <a:cs typeface="Garamond" pitchFamily="34" charset="-120"/>
                        </a:rPr>
                        <a:t>Impact</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2744"/>
                    </a:solidFill>
                  </a:tcPr>
                </a:tc>
                <a:tc>
                  <a:txBody>
                    <a:bodyPr/>
                    <a:lstStyle/>
                    <a:p>
                      <a:pPr marL="0" indent="0" algn="l">
                        <a:buNone/>
                      </a:pPr>
                      <a:r>
                        <a:rPr lang="en-US" sz="1000" b="1" dirty="0">
                          <a:solidFill>
                            <a:srgbClr val="FFFFFF"/>
                          </a:solidFill>
                          <a:latin typeface="Garamond" pitchFamily="34" charset="0"/>
                          <a:ea typeface="Garamond" pitchFamily="34" charset="-122"/>
                          <a:cs typeface="Garamond" pitchFamily="34" charset="-120"/>
                        </a:rPr>
                        <a:t>Timeline</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244725">
                <a:tc>
                  <a:txBody>
                    <a:bodyPr/>
                    <a:lstStyle/>
                    <a:p>
                      <a:pPr marL="0" indent="0" algn="l">
                        <a:buNone/>
                      </a:pPr>
                      <a:r>
                        <a:rPr lang="en-US" sz="1000" b="1" dirty="0">
                          <a:solidFill>
                            <a:srgbClr val="1D2939"/>
                          </a:solidFill>
                          <a:latin typeface="Garamond" pitchFamily="34" charset="0"/>
                          <a:ea typeface="Garamond" pitchFamily="34" charset="-122"/>
                          <a:cs typeface="Garamond" pitchFamily="34" charset="-120"/>
                        </a:rPr>
                        <a:t>Custom silicon displaces OEMs</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D2939"/>
                          </a:solidFill>
                          <a:latin typeface="Garamond" pitchFamily="34" charset="0"/>
                          <a:ea typeface="Garamond" pitchFamily="34" charset="-122"/>
                          <a:cs typeface="Garamond" pitchFamily="34" charset="-120"/>
                        </a:rPr>
                        <a:t>Med</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F04438"/>
                          </a:solidFill>
                          <a:latin typeface="Garamond" pitchFamily="34" charset="0"/>
                          <a:ea typeface="Garamond" pitchFamily="34" charset="-122"/>
                          <a:cs typeface="Garamond" pitchFamily="34" charset="-120"/>
                        </a:rPr>
                        <a:t>HIGH</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D2939"/>
                          </a:solidFill>
                          <a:latin typeface="Garamond" pitchFamily="34" charset="0"/>
                          <a:ea typeface="Garamond" pitchFamily="34" charset="-122"/>
                          <a:cs typeface="Garamond" pitchFamily="34" charset="-120"/>
                        </a:rPr>
                        <a:t>3-5 years</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4725">
                <a:tc>
                  <a:txBody>
                    <a:bodyPr/>
                    <a:lstStyle/>
                    <a:p>
                      <a:pPr marL="0" indent="0" algn="l">
                        <a:buNone/>
                      </a:pPr>
                      <a:r>
                        <a:rPr lang="en-US" sz="1000" b="1" dirty="0">
                          <a:solidFill>
                            <a:srgbClr val="1D2939"/>
                          </a:solidFill>
                          <a:latin typeface="Garamond" pitchFamily="34" charset="0"/>
                          <a:ea typeface="Garamond" pitchFamily="34" charset="-122"/>
                          <a:cs typeface="Garamond" pitchFamily="34" charset="-120"/>
                        </a:rPr>
                        <a:t>AI efficiency reduces compute</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2F4F7"/>
                    </a:solidFill>
                  </a:tcPr>
                </a:tc>
                <a:tc>
                  <a:txBody>
                    <a:bodyPr/>
                    <a:lstStyle/>
                    <a:p>
                      <a:pPr marL="0" indent="0" algn="ctr">
                        <a:buNone/>
                      </a:pPr>
                      <a:r>
                        <a:rPr lang="en-US" sz="1000" dirty="0">
                          <a:solidFill>
                            <a:srgbClr val="1D2939"/>
                          </a:solidFill>
                          <a:latin typeface="Garamond" pitchFamily="34" charset="0"/>
                          <a:ea typeface="Garamond" pitchFamily="34" charset="-122"/>
                          <a:cs typeface="Garamond" pitchFamily="34" charset="-120"/>
                        </a:rPr>
                        <a:t>Low-Med</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2F4F7"/>
                    </a:solidFill>
                  </a:tcPr>
                </a:tc>
                <a:tc>
                  <a:txBody>
                    <a:bodyPr/>
                    <a:lstStyle/>
                    <a:p>
                      <a:pPr marL="0" indent="0" algn="ctr">
                        <a:buNone/>
                      </a:pPr>
                      <a:r>
                        <a:rPr lang="en-US" sz="1000" dirty="0">
                          <a:solidFill>
                            <a:srgbClr val="1D2939"/>
                          </a:solidFill>
                          <a:latin typeface="Garamond" pitchFamily="34" charset="0"/>
                          <a:ea typeface="Garamond" pitchFamily="34" charset="-122"/>
                          <a:cs typeface="Garamond" pitchFamily="34" charset="-120"/>
                        </a:rPr>
                        <a:t>Medium</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2F4F7"/>
                    </a:solidFill>
                  </a:tcPr>
                </a:tc>
                <a:tc>
                  <a:txBody>
                    <a:bodyPr/>
                    <a:lstStyle/>
                    <a:p>
                      <a:pPr marL="0" indent="0" algn="ctr">
                        <a:buNone/>
                      </a:pPr>
                      <a:r>
                        <a:rPr lang="en-US" sz="1000" dirty="0">
                          <a:solidFill>
                            <a:srgbClr val="1D2939"/>
                          </a:solidFill>
                          <a:latin typeface="Garamond" pitchFamily="34" charset="0"/>
                          <a:ea typeface="Garamond" pitchFamily="34" charset="-122"/>
                          <a:cs typeface="Garamond" pitchFamily="34" charset="-120"/>
                        </a:rPr>
                        <a:t>2-4 years</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2F4F7"/>
                    </a:solidFill>
                  </a:tcPr>
                </a:tc>
                <a:extLst>
                  <a:ext uri="{0D108BD9-81ED-4DB2-BD59-A6C34878D82A}">
                    <a16:rowId xmlns:a16="http://schemas.microsoft.com/office/drawing/2014/main" val="10002"/>
                  </a:ext>
                </a:extLst>
              </a:tr>
              <a:tr h="244725">
                <a:tc>
                  <a:txBody>
                    <a:bodyPr/>
                    <a:lstStyle/>
                    <a:p>
                      <a:pPr marL="0" indent="0" algn="l">
                        <a:buNone/>
                      </a:pPr>
                      <a:r>
                        <a:rPr lang="en-US" sz="1000" b="1" dirty="0">
                          <a:solidFill>
                            <a:srgbClr val="1D2939"/>
                          </a:solidFill>
                          <a:latin typeface="Garamond" pitchFamily="34" charset="0"/>
                          <a:ea typeface="Garamond" pitchFamily="34" charset="-122"/>
                          <a:cs typeface="Garamond" pitchFamily="34" charset="-120"/>
                        </a:rPr>
                        <a:t>HW commoditization</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D2939"/>
                          </a:solidFill>
                          <a:latin typeface="Garamond" pitchFamily="34" charset="0"/>
                          <a:ea typeface="Garamond" pitchFamily="34" charset="-122"/>
                          <a:cs typeface="Garamond" pitchFamily="34" charset="-120"/>
                        </a:rPr>
                        <a:t>Medium</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D2939"/>
                          </a:solidFill>
                          <a:latin typeface="Garamond" pitchFamily="34" charset="0"/>
                          <a:ea typeface="Garamond" pitchFamily="34" charset="-122"/>
                          <a:cs typeface="Garamond" pitchFamily="34" charset="-120"/>
                        </a:rPr>
                        <a:t>Medium</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D2939"/>
                          </a:solidFill>
                          <a:latin typeface="Garamond" pitchFamily="34" charset="0"/>
                          <a:ea typeface="Garamond" pitchFamily="34" charset="-122"/>
                          <a:cs typeface="Garamond" pitchFamily="34" charset="-120"/>
                        </a:rPr>
                        <a:t>3-5 years</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4725">
                <a:tc>
                  <a:txBody>
                    <a:bodyPr/>
                    <a:lstStyle/>
                    <a:p>
                      <a:pPr marL="0" indent="0" algn="l">
                        <a:buNone/>
                      </a:pPr>
                      <a:r>
                        <a:rPr lang="en-US" sz="1000" b="1" dirty="0">
                          <a:solidFill>
                            <a:srgbClr val="1D2939"/>
                          </a:solidFill>
                          <a:latin typeface="Garamond" pitchFamily="34" charset="0"/>
                          <a:ea typeface="Garamond" pitchFamily="34" charset="-122"/>
                          <a:cs typeface="Garamond" pitchFamily="34" charset="-120"/>
                        </a:rPr>
                        <a:t>Export control expansion</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2F4F7"/>
                    </a:solidFill>
                  </a:tcPr>
                </a:tc>
                <a:tc>
                  <a:txBody>
                    <a:bodyPr/>
                    <a:lstStyle/>
                    <a:p>
                      <a:pPr marL="0" indent="0" algn="ctr">
                        <a:buNone/>
                      </a:pPr>
                      <a:r>
                        <a:rPr lang="en-US" sz="1000" dirty="0">
                          <a:solidFill>
                            <a:srgbClr val="1D2939"/>
                          </a:solidFill>
                          <a:latin typeface="Garamond" pitchFamily="34" charset="0"/>
                          <a:ea typeface="Garamond" pitchFamily="34" charset="-122"/>
                          <a:cs typeface="Garamond" pitchFamily="34" charset="-120"/>
                        </a:rPr>
                        <a:t>Med-High</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2F4F7"/>
                    </a:solidFill>
                  </a:tcPr>
                </a:tc>
                <a:tc>
                  <a:txBody>
                    <a:bodyPr/>
                    <a:lstStyle/>
                    <a:p>
                      <a:pPr marL="0" indent="0" algn="ctr">
                        <a:buNone/>
                      </a:pPr>
                      <a:r>
                        <a:rPr lang="en-US" sz="1000" b="1" dirty="0">
                          <a:solidFill>
                            <a:srgbClr val="F04438"/>
                          </a:solidFill>
                          <a:latin typeface="Garamond" pitchFamily="34" charset="0"/>
                          <a:ea typeface="Garamond" pitchFamily="34" charset="-122"/>
                          <a:cs typeface="Garamond" pitchFamily="34" charset="-120"/>
                        </a:rPr>
                        <a:t>HIGH</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2F4F7"/>
                    </a:solidFill>
                  </a:tcPr>
                </a:tc>
                <a:tc>
                  <a:txBody>
                    <a:bodyPr/>
                    <a:lstStyle/>
                    <a:p>
                      <a:pPr marL="0" indent="0" algn="ctr">
                        <a:buNone/>
                      </a:pPr>
                      <a:r>
                        <a:rPr lang="en-US" sz="1000" dirty="0">
                          <a:solidFill>
                            <a:srgbClr val="1D2939"/>
                          </a:solidFill>
                          <a:latin typeface="Garamond" pitchFamily="34" charset="0"/>
                          <a:ea typeface="Garamond" pitchFamily="34" charset="-122"/>
                          <a:cs typeface="Garamond" pitchFamily="34" charset="-120"/>
                        </a:rPr>
                        <a:t>0-12 months</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2F4F7"/>
                    </a:solidFill>
                  </a:tcPr>
                </a:tc>
                <a:extLst>
                  <a:ext uri="{0D108BD9-81ED-4DB2-BD59-A6C34878D82A}">
                    <a16:rowId xmlns:a16="http://schemas.microsoft.com/office/drawing/2014/main" val="10004"/>
                  </a:ext>
                </a:extLst>
              </a:tr>
              <a:tr h="244725">
                <a:tc>
                  <a:txBody>
                    <a:bodyPr/>
                    <a:lstStyle/>
                    <a:p>
                      <a:pPr marL="0" indent="0" algn="l">
                        <a:buNone/>
                      </a:pPr>
                      <a:r>
                        <a:rPr lang="en-US" sz="1000" b="1" dirty="0">
                          <a:solidFill>
                            <a:srgbClr val="1D2939"/>
                          </a:solidFill>
                          <a:latin typeface="Garamond" pitchFamily="34" charset="0"/>
                          <a:ea typeface="Garamond" pitchFamily="34" charset="-122"/>
                          <a:cs typeface="Garamond" pitchFamily="34" charset="-120"/>
                        </a:rPr>
                        <a:t>AI capex cycle downturn</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D2939"/>
                          </a:solidFill>
                          <a:latin typeface="Garamond" pitchFamily="34" charset="0"/>
                          <a:ea typeface="Garamond" pitchFamily="34" charset="-122"/>
                          <a:cs typeface="Garamond" pitchFamily="34" charset="-120"/>
                        </a:rPr>
                        <a:t>Low</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F04438"/>
                          </a:solidFill>
                          <a:latin typeface="Garamond" pitchFamily="34" charset="0"/>
                          <a:ea typeface="Garamond" pitchFamily="34" charset="-122"/>
                          <a:cs typeface="Garamond" pitchFamily="34" charset="-120"/>
                        </a:rPr>
                        <a:t>V. HIGH</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D2939"/>
                          </a:solidFill>
                          <a:latin typeface="Garamond" pitchFamily="34" charset="0"/>
                          <a:ea typeface="Garamond" pitchFamily="34" charset="-122"/>
                          <a:cs typeface="Garamond" pitchFamily="34" charset="-120"/>
                        </a:rPr>
                        <a:t>12-24 months</a:t>
                      </a:r>
                      <a:endParaRPr lang="en-US" sz="1000" dirty="0">
                        <a:latin typeface="Garamond" charset="0"/>
                        <a:ea typeface="Garamond" charset="0"/>
                        <a:cs typeface="Garamond" charset="0"/>
                      </a:endParaRPr>
                    </a:p>
                  </a:txBody>
                  <a:tcPr marL="50800" marR="50800" marT="25400" marB="25400"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cxnSp>
        <p:nvCxnSpPr>
          <p:cNvPr id="211" name="Google Shape;211;p7"/>
          <p:cNvCxnSpPr/>
          <p:nvPr/>
        </p:nvCxnSpPr>
        <p:spPr>
          <a:xfrm>
            <a:off x="270932" y="711202"/>
            <a:ext cx="11633100" cy="0"/>
          </a:xfrm>
          <a:prstGeom prst="straightConnector1">
            <a:avLst/>
          </a:prstGeom>
          <a:noFill/>
          <a:ln w="9525" cap="flat" cmpd="sng">
            <a:solidFill>
              <a:srgbClr val="001746"/>
            </a:solidFill>
            <a:prstDash val="solid"/>
            <a:miter lim="800000"/>
            <a:headEnd type="none" w="sm" len="sm"/>
            <a:tailEnd type="none" w="sm" len="sm"/>
          </a:ln>
        </p:spPr>
      </p:cxnSp>
      <p:sp>
        <p:nvSpPr>
          <p:cNvPr id="212" name="Google Shape;212;p7"/>
          <p:cNvSpPr/>
          <p:nvPr/>
        </p:nvSpPr>
        <p:spPr>
          <a:xfrm>
            <a:off x="1145042" y="6486133"/>
            <a:ext cx="1270500" cy="2820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Company</a:t>
            </a:r>
            <a:endParaRPr sz="1400" b="0" i="0" u="none" strike="noStrike" cap="none">
              <a:solidFill>
                <a:schemeClr val="lt1"/>
              </a:solidFill>
              <a:latin typeface="Garamond"/>
              <a:ea typeface="Garamond"/>
              <a:cs typeface="Garamond"/>
              <a:sym typeface="Garamond"/>
            </a:endParaRPr>
          </a:p>
        </p:txBody>
      </p:sp>
      <p:sp>
        <p:nvSpPr>
          <p:cNvPr id="213" name="Google Shape;213;p7"/>
          <p:cNvSpPr/>
          <p:nvPr/>
        </p:nvSpPr>
        <p:spPr>
          <a:xfrm>
            <a:off x="2664119"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Industry</a:t>
            </a:r>
            <a:endParaRPr sz="1400" b="0" i="0" u="none" strike="noStrike" cap="none">
              <a:solidFill>
                <a:schemeClr val="lt1"/>
              </a:solidFill>
              <a:latin typeface="Garamond"/>
              <a:ea typeface="Garamond"/>
              <a:cs typeface="Garamond"/>
              <a:sym typeface="Garamond"/>
            </a:endParaRPr>
          </a:p>
        </p:txBody>
      </p:sp>
      <p:sp>
        <p:nvSpPr>
          <p:cNvPr id="214" name="Google Shape;214;p7"/>
          <p:cNvSpPr/>
          <p:nvPr/>
        </p:nvSpPr>
        <p:spPr>
          <a:xfrm>
            <a:off x="7221314" y="6486133"/>
            <a:ext cx="1270500" cy="282000"/>
          </a:xfrm>
          <a:prstGeom prst="rect">
            <a:avLst/>
          </a:prstGeom>
          <a:solidFill>
            <a:srgbClr val="041E4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lt1"/>
                </a:solidFill>
                <a:latin typeface="Garamond"/>
                <a:ea typeface="Garamond"/>
                <a:cs typeface="Garamond"/>
                <a:sym typeface="Garamond"/>
              </a:rPr>
              <a:t>ESG</a:t>
            </a:r>
            <a:endParaRPr sz="1400" b="0" i="0" u="none" strike="noStrike" cap="none" dirty="0">
              <a:solidFill>
                <a:schemeClr val="lt1"/>
              </a:solidFill>
              <a:latin typeface="Garamond"/>
              <a:ea typeface="Garamond"/>
              <a:cs typeface="Garamond"/>
              <a:sym typeface="Garamond"/>
            </a:endParaRPr>
          </a:p>
        </p:txBody>
      </p:sp>
      <p:sp>
        <p:nvSpPr>
          <p:cNvPr id="215" name="Google Shape;215;p7"/>
          <p:cNvSpPr/>
          <p:nvPr/>
        </p:nvSpPr>
        <p:spPr>
          <a:xfrm>
            <a:off x="4183178" y="6491516"/>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lt1"/>
                </a:solidFill>
                <a:latin typeface="Garamond"/>
                <a:ea typeface="Garamond"/>
                <a:cs typeface="Garamond"/>
                <a:sym typeface="Garamond"/>
              </a:rPr>
              <a:t>Theses</a:t>
            </a:r>
            <a:endParaRPr sz="1400" b="0" i="0" u="none" strike="noStrike" cap="none" dirty="0">
              <a:solidFill>
                <a:schemeClr val="lt1"/>
              </a:solidFill>
              <a:latin typeface="Garamond"/>
              <a:ea typeface="Garamond"/>
              <a:cs typeface="Garamond"/>
              <a:sym typeface="Garamond"/>
            </a:endParaRPr>
          </a:p>
        </p:txBody>
      </p:sp>
      <p:sp>
        <p:nvSpPr>
          <p:cNvPr id="216" name="Google Shape;216;p7"/>
          <p:cNvSpPr/>
          <p:nvPr/>
        </p:nvSpPr>
        <p:spPr>
          <a:xfrm>
            <a:off x="8740461"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Risks</a:t>
            </a:r>
            <a:endParaRPr sz="1400" b="0" i="0" u="none" strike="noStrike" cap="none">
              <a:solidFill>
                <a:schemeClr val="lt1"/>
              </a:solidFill>
              <a:latin typeface="Garamond"/>
              <a:ea typeface="Garamond"/>
              <a:cs typeface="Garamond"/>
              <a:sym typeface="Garamond"/>
            </a:endParaRPr>
          </a:p>
        </p:txBody>
      </p:sp>
      <p:sp>
        <p:nvSpPr>
          <p:cNvPr id="217" name="Google Shape;217;p7"/>
          <p:cNvSpPr/>
          <p:nvPr/>
        </p:nvSpPr>
        <p:spPr>
          <a:xfrm>
            <a:off x="5702272"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lt1"/>
                </a:solidFill>
                <a:latin typeface="Garamond"/>
                <a:ea typeface="Garamond"/>
                <a:cs typeface="Garamond"/>
                <a:sym typeface="Garamond"/>
              </a:rPr>
              <a:t>Valuation</a:t>
            </a:r>
            <a:endParaRPr sz="1400" b="0" i="0" u="none" strike="noStrike" cap="none" dirty="0">
              <a:solidFill>
                <a:schemeClr val="lt1"/>
              </a:solidFill>
              <a:latin typeface="Garamond"/>
              <a:ea typeface="Garamond"/>
              <a:cs typeface="Garamond"/>
              <a:sym typeface="Garamond"/>
            </a:endParaRPr>
          </a:p>
        </p:txBody>
      </p:sp>
      <p:sp>
        <p:nvSpPr>
          <p:cNvPr id="218" name="Google Shape;218;p7"/>
          <p:cNvSpPr txBox="1">
            <a:spLocks noGrp="1"/>
          </p:cNvSpPr>
          <p:nvPr>
            <p:ph type="sldNum" idx="4294967295"/>
          </p:nvPr>
        </p:nvSpPr>
        <p:spPr>
          <a:xfrm>
            <a:off x="11520419" y="6466832"/>
            <a:ext cx="521100" cy="323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200"/>
              <a:buFont typeface="Arial"/>
              <a:buNone/>
            </a:pPr>
            <a:r>
              <a:rPr lang="en-US"/>
              <a:t>|  </a:t>
            </a:r>
            <a:fld id="{00000000-1234-1234-1234-123412341234}" type="slidenum">
              <a:rPr lang="en-US"/>
              <a:t>18</a:t>
            </a:fld>
            <a:endParaRPr/>
          </a:p>
        </p:txBody>
      </p:sp>
      <p:pic>
        <p:nvPicPr>
          <p:cNvPr id="21" name="Picture 4" descr="SMCI - Super Micro Computer, Inc. Trademark Registration">
            <a:extLst>
              <a:ext uri="{FF2B5EF4-FFF2-40B4-BE49-F238E27FC236}">
                <a16:creationId xmlns:a16="http://schemas.microsoft.com/office/drawing/2014/main" id="{90D68447-5CD1-4255-BCBC-47C6924A208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001" b="17593"/>
          <a:stretch/>
        </p:blipFill>
        <p:spPr bwMode="auto">
          <a:xfrm>
            <a:off x="10032470" y="64180"/>
            <a:ext cx="2009003" cy="54750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6" name="Table 0">
            <a:extLst>
              <a:ext uri="{FF2B5EF4-FFF2-40B4-BE49-F238E27FC236}">
                <a16:creationId xmlns:a16="http://schemas.microsoft.com/office/drawing/2014/main" id="{3F98EEF1-9F46-4E7C-874D-1A274FDB96D1}"/>
              </a:ext>
            </a:extLst>
          </p:cNvPr>
          <p:cNvGraphicFramePr>
            <a:graphicFrameLocks noGrp="1"/>
          </p:cNvGraphicFramePr>
          <p:nvPr>
            <p:extLst>
              <p:ext uri="{D42A27DB-BD31-4B8C-83A1-F6EECF244321}">
                <p14:modId xmlns:p14="http://schemas.microsoft.com/office/powerpoint/2010/main" val="234963390"/>
              </p:ext>
            </p:extLst>
          </p:nvPr>
        </p:nvGraphicFramePr>
        <p:xfrm>
          <a:off x="270931" y="978651"/>
          <a:ext cx="11633100" cy="2530980"/>
        </p:xfrm>
        <a:graphic>
          <a:graphicData uri="http://schemas.openxmlformats.org/drawingml/2006/table">
            <a:tbl>
              <a:tblPr/>
              <a:tblGrid>
                <a:gridCol w="2023148">
                  <a:extLst>
                    <a:ext uri="{9D8B030D-6E8A-4147-A177-3AD203B41FA5}">
                      <a16:colId xmlns:a16="http://schemas.microsoft.com/office/drawing/2014/main" val="20000"/>
                    </a:ext>
                  </a:extLst>
                </a:gridCol>
                <a:gridCol w="1643808">
                  <a:extLst>
                    <a:ext uri="{9D8B030D-6E8A-4147-A177-3AD203B41FA5}">
                      <a16:colId xmlns:a16="http://schemas.microsoft.com/office/drawing/2014/main" val="20001"/>
                    </a:ext>
                  </a:extLst>
                </a:gridCol>
                <a:gridCol w="1390914">
                  <a:extLst>
                    <a:ext uri="{9D8B030D-6E8A-4147-A177-3AD203B41FA5}">
                      <a16:colId xmlns:a16="http://schemas.microsoft.com/office/drawing/2014/main" val="20002"/>
                    </a:ext>
                  </a:extLst>
                </a:gridCol>
                <a:gridCol w="6575230">
                  <a:extLst>
                    <a:ext uri="{9D8B030D-6E8A-4147-A177-3AD203B41FA5}">
                      <a16:colId xmlns:a16="http://schemas.microsoft.com/office/drawing/2014/main" val="20003"/>
                    </a:ext>
                  </a:extLst>
                </a:gridCol>
              </a:tblGrid>
              <a:tr h="421830">
                <a:tc>
                  <a:txBody>
                    <a:bodyPr/>
                    <a:lstStyle/>
                    <a:p>
                      <a:pPr marL="0" indent="0">
                        <a:buNone/>
                      </a:pPr>
                      <a:r>
                        <a:rPr lang="en-US" sz="1200" b="1" dirty="0">
                          <a:solidFill>
                            <a:srgbClr val="FFFFFF"/>
                          </a:solidFill>
                          <a:latin typeface="Garamond" pitchFamily="34" charset="0"/>
                          <a:ea typeface="Garamond" pitchFamily="34" charset="-122"/>
                          <a:cs typeface="Garamond" pitchFamily="34" charset="-120"/>
                        </a:rPr>
                        <a:t>Force</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2744"/>
                    </a:solidFill>
                  </a:tcPr>
                </a:tc>
                <a:tc>
                  <a:txBody>
                    <a:bodyPr/>
                    <a:lstStyle/>
                    <a:p>
                      <a:pPr marL="0" indent="0">
                        <a:buNone/>
                      </a:pPr>
                      <a:r>
                        <a:rPr lang="en-US" sz="1200" b="1" dirty="0">
                          <a:solidFill>
                            <a:srgbClr val="FFFFFF"/>
                          </a:solidFill>
                          <a:latin typeface="Garamond" pitchFamily="34" charset="0"/>
                          <a:ea typeface="Garamond" pitchFamily="34" charset="-122"/>
                          <a:cs typeface="Garamond" pitchFamily="34" charset="-120"/>
                        </a:rPr>
                        <a:t>Rating</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2744"/>
                    </a:solidFill>
                  </a:tcPr>
                </a:tc>
                <a:tc>
                  <a:txBody>
                    <a:bodyPr/>
                    <a:lstStyle/>
                    <a:p>
                      <a:pPr marL="0" indent="0">
                        <a:buNone/>
                      </a:pPr>
                      <a:r>
                        <a:rPr lang="en-US" sz="1200" b="1" dirty="0">
                          <a:solidFill>
                            <a:srgbClr val="FFFFFF"/>
                          </a:solidFill>
                          <a:latin typeface="Garamond" pitchFamily="34" charset="0"/>
                          <a:ea typeface="Garamond" pitchFamily="34" charset="-122"/>
                          <a:cs typeface="Garamond" pitchFamily="34" charset="-120"/>
                        </a:rPr>
                        <a:t>Trend</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2744"/>
                    </a:solidFill>
                  </a:tcPr>
                </a:tc>
                <a:tc>
                  <a:txBody>
                    <a:bodyPr/>
                    <a:lstStyle/>
                    <a:p>
                      <a:pPr marL="0" indent="0">
                        <a:buNone/>
                      </a:pPr>
                      <a:r>
                        <a:rPr lang="en-US" sz="1200" b="1" dirty="0">
                          <a:solidFill>
                            <a:srgbClr val="FFFFFF"/>
                          </a:solidFill>
                          <a:latin typeface="Garamond" pitchFamily="34" charset="0"/>
                          <a:ea typeface="Garamond" pitchFamily="34" charset="-122"/>
                          <a:cs typeface="Garamond" pitchFamily="34" charset="-120"/>
                        </a:rPr>
                        <a:t>Key Driver</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421830">
                <a:tc>
                  <a:txBody>
                    <a:bodyPr/>
                    <a:lstStyle/>
                    <a:p>
                      <a:pPr marL="0" indent="0">
                        <a:buNone/>
                      </a:pPr>
                      <a:r>
                        <a:rPr lang="en-US" sz="1200" b="1" dirty="0">
                          <a:solidFill>
                            <a:srgbClr val="000000"/>
                          </a:solidFill>
                          <a:latin typeface="Garamond" pitchFamily="34" charset="0"/>
                          <a:ea typeface="Garamond" pitchFamily="34" charset="-122"/>
                          <a:cs typeface="Garamond" pitchFamily="34" charset="-120"/>
                        </a:rPr>
                        <a:t>Customer Power</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F04438"/>
                          </a:solidFill>
                          <a:latin typeface="Garamond" pitchFamily="34" charset="0"/>
                          <a:ea typeface="Garamond" pitchFamily="34" charset="-122"/>
                          <a:cs typeface="Garamond" pitchFamily="34" charset="-120"/>
                        </a:rPr>
                        <a:t>4/5 Unfavorable</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F04438"/>
                          </a:solidFill>
                          <a:latin typeface="Garamond" pitchFamily="34" charset="0"/>
                          <a:ea typeface="Garamond" pitchFamily="34" charset="-122"/>
                          <a:cs typeface="Garamond" pitchFamily="34" charset="-120"/>
                        </a:rPr>
                        <a:t>Worsening</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1 customer = 63% of rev; hyperscalers have enormous leverage</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1"/>
                  </a:ext>
                </a:extLst>
              </a:tr>
              <a:tr h="421830">
                <a:tc>
                  <a:txBody>
                    <a:bodyPr/>
                    <a:lstStyle/>
                    <a:p>
                      <a:pPr marL="0" indent="0">
                        <a:buNone/>
                      </a:pPr>
                      <a:r>
                        <a:rPr lang="en-US" sz="1200" b="1" dirty="0">
                          <a:solidFill>
                            <a:srgbClr val="000000"/>
                          </a:solidFill>
                          <a:latin typeface="Garamond" pitchFamily="34" charset="0"/>
                          <a:ea typeface="Garamond" pitchFamily="34" charset="-122"/>
                          <a:cs typeface="Garamond" pitchFamily="34" charset="-120"/>
                        </a:rPr>
                        <a:t>Competitive Rivalry</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F79009"/>
                          </a:solidFill>
                          <a:latin typeface="Garamond" pitchFamily="34" charset="0"/>
                          <a:ea typeface="Garamond" pitchFamily="34" charset="-122"/>
                          <a:cs typeface="Garamond" pitchFamily="34" charset="-120"/>
                        </a:rPr>
                        <a:t>3/5 Moderate</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F79009"/>
                          </a:solidFill>
                          <a:latin typeface="Garamond" pitchFamily="34" charset="0"/>
                          <a:ea typeface="Garamond" pitchFamily="34" charset="-122"/>
                          <a:cs typeface="Garamond" pitchFamily="34" charset="-120"/>
                        </a:rPr>
                        <a:t>Intensifying</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Dell/HPE investing aggressively in AI + liquid cooling</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2"/>
                  </a:ext>
                </a:extLst>
              </a:tr>
              <a:tr h="421830">
                <a:tc>
                  <a:txBody>
                    <a:bodyPr/>
                    <a:lstStyle/>
                    <a:p>
                      <a:pPr marL="0" indent="0">
                        <a:buNone/>
                      </a:pPr>
                      <a:r>
                        <a:rPr lang="en-US" sz="1200" b="1" dirty="0">
                          <a:solidFill>
                            <a:srgbClr val="000000"/>
                          </a:solidFill>
                          <a:latin typeface="Garamond" pitchFamily="34" charset="0"/>
                          <a:ea typeface="Garamond" pitchFamily="34" charset="-122"/>
                          <a:cs typeface="Garamond" pitchFamily="34" charset="-120"/>
                        </a:rPr>
                        <a:t>Supplier Power</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F04438"/>
                          </a:solidFill>
                          <a:latin typeface="Garamond" pitchFamily="34" charset="0"/>
                          <a:ea typeface="Garamond" pitchFamily="34" charset="-122"/>
                          <a:cs typeface="Garamond" pitchFamily="34" charset="-120"/>
                        </a:rPr>
                        <a:t>4/5 Unfavorable</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Stable</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NVIDIA ~80%+ share in DC GPUs; allocation = revenue</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3"/>
                  </a:ext>
                </a:extLst>
              </a:tr>
              <a:tr h="421830">
                <a:tc>
                  <a:txBody>
                    <a:bodyPr/>
                    <a:lstStyle/>
                    <a:p>
                      <a:pPr marL="0" indent="0">
                        <a:buNone/>
                      </a:pPr>
                      <a:r>
                        <a:rPr lang="en-US" sz="1200" b="1" dirty="0">
                          <a:solidFill>
                            <a:srgbClr val="000000"/>
                          </a:solidFill>
                          <a:latin typeface="Garamond" pitchFamily="34" charset="0"/>
                          <a:ea typeface="Garamond" pitchFamily="34" charset="-122"/>
                          <a:cs typeface="Garamond" pitchFamily="34" charset="-120"/>
                        </a:rPr>
                        <a:t>Substitutes</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12B76A"/>
                          </a:solidFill>
                          <a:latin typeface="Garamond" pitchFamily="34" charset="0"/>
                          <a:ea typeface="Garamond" pitchFamily="34" charset="-122"/>
                          <a:cs typeface="Garamond" pitchFamily="34" charset="-120"/>
                        </a:rPr>
                        <a:t>2/5 Favorable</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Stable</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No substitute for on-prem AI training at scale</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4"/>
                  </a:ext>
                </a:extLst>
              </a:tr>
              <a:tr h="421830">
                <a:tc>
                  <a:txBody>
                    <a:bodyPr/>
                    <a:lstStyle/>
                    <a:p>
                      <a:pPr marL="0" indent="0">
                        <a:buNone/>
                      </a:pPr>
                      <a:r>
                        <a:rPr lang="en-US" sz="1200" b="1" dirty="0">
                          <a:solidFill>
                            <a:srgbClr val="000000"/>
                          </a:solidFill>
                          <a:latin typeface="Garamond" pitchFamily="34" charset="0"/>
                          <a:ea typeface="Garamond" pitchFamily="34" charset="-122"/>
                          <a:cs typeface="Garamond" pitchFamily="34" charset="-120"/>
                        </a:rPr>
                        <a:t>Barriers to Entry</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F79009"/>
                          </a:solidFill>
                          <a:latin typeface="Garamond" pitchFamily="34" charset="0"/>
                          <a:ea typeface="Garamond" pitchFamily="34" charset="-122"/>
                          <a:cs typeface="Garamond" pitchFamily="34" charset="-120"/>
                        </a:rPr>
                        <a:t>3/5 Moderate</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Stable</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12-18mo validation cycles + thermal expertise required</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17" name="Table 1">
            <a:extLst>
              <a:ext uri="{FF2B5EF4-FFF2-40B4-BE49-F238E27FC236}">
                <a16:creationId xmlns:a16="http://schemas.microsoft.com/office/drawing/2014/main" id="{BEEFF73F-D8AF-4136-B5A6-61C7E1739C8E}"/>
              </a:ext>
            </a:extLst>
          </p:cNvPr>
          <p:cNvGraphicFramePr>
            <a:graphicFrameLocks noGrp="1"/>
          </p:cNvGraphicFramePr>
          <p:nvPr>
            <p:extLst>
              <p:ext uri="{D42A27DB-BD31-4B8C-83A1-F6EECF244321}">
                <p14:modId xmlns:p14="http://schemas.microsoft.com/office/powerpoint/2010/main" val="1454943343"/>
              </p:ext>
            </p:extLst>
          </p:nvPr>
        </p:nvGraphicFramePr>
        <p:xfrm>
          <a:off x="270930" y="3644101"/>
          <a:ext cx="11633101" cy="2369720"/>
        </p:xfrm>
        <a:graphic>
          <a:graphicData uri="http://schemas.openxmlformats.org/drawingml/2006/table">
            <a:tbl>
              <a:tblPr/>
              <a:tblGrid>
                <a:gridCol w="2034120">
                  <a:extLst>
                    <a:ext uri="{9D8B030D-6E8A-4147-A177-3AD203B41FA5}">
                      <a16:colId xmlns:a16="http://schemas.microsoft.com/office/drawing/2014/main" val="20000"/>
                    </a:ext>
                  </a:extLst>
                </a:gridCol>
                <a:gridCol w="1638300">
                  <a:extLst>
                    <a:ext uri="{9D8B030D-6E8A-4147-A177-3AD203B41FA5}">
                      <a16:colId xmlns:a16="http://schemas.microsoft.com/office/drawing/2014/main" val="20001"/>
                    </a:ext>
                  </a:extLst>
                </a:gridCol>
                <a:gridCol w="1390650">
                  <a:extLst>
                    <a:ext uri="{9D8B030D-6E8A-4147-A177-3AD203B41FA5}">
                      <a16:colId xmlns:a16="http://schemas.microsoft.com/office/drawing/2014/main" val="20002"/>
                    </a:ext>
                  </a:extLst>
                </a:gridCol>
                <a:gridCol w="6570031">
                  <a:extLst>
                    <a:ext uri="{9D8B030D-6E8A-4147-A177-3AD203B41FA5}">
                      <a16:colId xmlns:a16="http://schemas.microsoft.com/office/drawing/2014/main" val="20003"/>
                    </a:ext>
                  </a:extLst>
                </a:gridCol>
              </a:tblGrid>
              <a:tr h="473944">
                <a:tc>
                  <a:txBody>
                    <a:bodyPr/>
                    <a:lstStyle/>
                    <a:p>
                      <a:pPr marL="0" indent="0">
                        <a:buNone/>
                      </a:pPr>
                      <a:r>
                        <a:rPr lang="en-US" sz="1200" b="1" dirty="0">
                          <a:solidFill>
                            <a:srgbClr val="FFFFFF"/>
                          </a:solidFill>
                          <a:latin typeface="Garamond" pitchFamily="34" charset="0"/>
                          <a:ea typeface="Garamond" pitchFamily="34" charset="-122"/>
                          <a:cs typeface="Garamond" pitchFamily="34" charset="-120"/>
                        </a:rPr>
                        <a:t>Moat Source</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3A4E6E"/>
                    </a:solidFill>
                  </a:tcPr>
                </a:tc>
                <a:tc>
                  <a:txBody>
                    <a:bodyPr/>
                    <a:lstStyle/>
                    <a:p>
                      <a:pPr marL="0" indent="0">
                        <a:buNone/>
                      </a:pPr>
                      <a:r>
                        <a:rPr lang="en-US" sz="1200" b="1" dirty="0">
                          <a:solidFill>
                            <a:srgbClr val="FFFFFF"/>
                          </a:solidFill>
                          <a:latin typeface="Garamond" pitchFamily="34" charset="0"/>
                          <a:ea typeface="Garamond" pitchFamily="34" charset="-122"/>
                          <a:cs typeface="Garamond" pitchFamily="34" charset="-120"/>
                        </a:rPr>
                        <a:t>Strength</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3A4E6E"/>
                    </a:solidFill>
                  </a:tcPr>
                </a:tc>
                <a:tc>
                  <a:txBody>
                    <a:bodyPr/>
                    <a:lstStyle/>
                    <a:p>
                      <a:pPr marL="0" indent="0">
                        <a:buNone/>
                      </a:pPr>
                      <a:r>
                        <a:rPr lang="en-US" sz="1200" b="1" dirty="0">
                          <a:solidFill>
                            <a:srgbClr val="FFFFFF"/>
                          </a:solidFill>
                          <a:latin typeface="Garamond" pitchFamily="34" charset="0"/>
                          <a:ea typeface="Garamond" pitchFamily="34" charset="-122"/>
                          <a:cs typeface="Garamond" pitchFamily="34" charset="-120"/>
                        </a:rPr>
                        <a:t>Durability</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3A4E6E"/>
                    </a:solidFill>
                  </a:tcPr>
                </a:tc>
                <a:tc>
                  <a:txBody>
                    <a:bodyPr/>
                    <a:lstStyle/>
                    <a:p>
                      <a:pPr marL="0" indent="0">
                        <a:buNone/>
                      </a:pPr>
                      <a:r>
                        <a:rPr lang="en-US" sz="1200" b="1" dirty="0">
                          <a:solidFill>
                            <a:srgbClr val="FFFFFF"/>
                          </a:solidFill>
                          <a:latin typeface="Garamond" pitchFamily="34" charset="0"/>
                          <a:ea typeface="Garamond" pitchFamily="34" charset="-122"/>
                          <a:cs typeface="Garamond" pitchFamily="34" charset="-120"/>
                        </a:rPr>
                        <a:t>Assessment</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3A4E6E"/>
                    </a:solidFill>
                  </a:tcPr>
                </a:tc>
                <a:extLst>
                  <a:ext uri="{0D108BD9-81ED-4DB2-BD59-A6C34878D82A}">
                    <a16:rowId xmlns:a16="http://schemas.microsoft.com/office/drawing/2014/main" val="10000"/>
                  </a:ext>
                </a:extLst>
              </a:tr>
              <a:tr h="473944">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Intangible Assets</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Moderate</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2-3 years</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Patents, NVIDIA relationship, first to GB200 NVL72; narrowing as Dell/HPE invest</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1"/>
                  </a:ext>
                </a:extLst>
              </a:tr>
              <a:tr h="473944">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Switching Costs</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Moderate</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1-2 yr/cycle</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DLC infra is sticky (piping, manifolds, CDUs); customers maintained orders despite governance controversy</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2"/>
                  </a:ext>
                </a:extLst>
              </a:tr>
              <a:tr h="473944">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Cost Advantages</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F04438"/>
                          </a:solidFill>
                          <a:latin typeface="Garamond" pitchFamily="34" charset="0"/>
                          <a:ea typeface="Garamond" pitchFamily="34" charset="-122"/>
                          <a:cs typeface="Garamond" pitchFamily="34" charset="-120"/>
                        </a:rPr>
                        <a:t>Weak</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Permanent</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Vertical integration provides modest advantage; but GM (6-11%) below Dell (20%) and HPE (31%)</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3"/>
                  </a:ext>
                </a:extLst>
              </a:tr>
              <a:tr h="473944">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Efficient Scale</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Moderate</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3-5 years</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tc>
                  <a:txBody>
                    <a:bodyPr/>
                    <a:lstStyle/>
                    <a:p>
                      <a:pPr marL="0" indent="0">
                        <a:buNone/>
                      </a:pPr>
                      <a:r>
                        <a:rPr lang="en-US" sz="1200" dirty="0">
                          <a:solidFill>
                            <a:srgbClr val="000000"/>
                          </a:solidFill>
                          <a:latin typeface="Garamond" pitchFamily="34" charset="0"/>
                          <a:ea typeface="Garamond" pitchFamily="34" charset="-122"/>
                          <a:cs typeface="Garamond" pitchFamily="34" charset="-120"/>
                        </a:rPr>
                        <a:t>5,000+ racks/month capacity; market supports 3-5 players profitably</a:t>
                      </a:r>
                      <a:endParaRPr lang="en-US" sz="1200" dirty="0">
                        <a:latin typeface="Garamond" charset="0"/>
                        <a:ea typeface="Garamond" charset="0"/>
                        <a:cs typeface="Garamond" charset="0"/>
                      </a:endParaRPr>
                    </a:p>
                  </a:txBody>
                  <a:tcP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pic>
        <p:nvPicPr>
          <p:cNvPr id="18" name="Picture 17">
            <a:extLst>
              <a:ext uri="{FF2B5EF4-FFF2-40B4-BE49-F238E27FC236}">
                <a16:creationId xmlns:a16="http://schemas.microsoft.com/office/drawing/2014/main" id="{516991A8-B72B-4953-88A4-CA6E7FE46CEA}"/>
              </a:ext>
            </a:extLst>
          </p:cNvPr>
          <p:cNvPicPr>
            <a:picLocks noChangeAspect="1"/>
          </p:cNvPicPr>
          <p:nvPr/>
        </p:nvPicPr>
        <p:blipFill>
          <a:blip r:embed="rId4"/>
          <a:stretch>
            <a:fillRect/>
          </a:stretch>
        </p:blipFill>
        <p:spPr>
          <a:xfrm>
            <a:off x="10160006" y="6379320"/>
            <a:ext cx="1422710" cy="464846"/>
          </a:xfrm>
          <a:prstGeom prst="rect">
            <a:avLst/>
          </a:prstGeom>
        </p:spPr>
      </p:pic>
      <p:sp>
        <p:nvSpPr>
          <p:cNvPr id="19" name="Google Shape;206;p7">
            <a:extLst>
              <a:ext uri="{FF2B5EF4-FFF2-40B4-BE49-F238E27FC236}">
                <a16:creationId xmlns:a16="http://schemas.microsoft.com/office/drawing/2014/main" id="{F05714D9-FD50-460C-A1DC-DC56FA4A234E}"/>
              </a:ext>
            </a:extLst>
          </p:cNvPr>
          <p:cNvSpPr txBox="1"/>
          <p:nvPr/>
        </p:nvSpPr>
        <p:spPr>
          <a:xfrm>
            <a:off x="228600" y="443753"/>
            <a:ext cx="10658475" cy="267571"/>
          </a:xfrm>
          <a:prstGeom prst="rect">
            <a:avLst/>
          </a:prstGeom>
          <a:noFill/>
          <a:ln>
            <a:noFill/>
          </a:ln>
        </p:spPr>
        <p:txBody>
          <a:bodyPr spcFirstLastPara="1" wrap="square" lIns="91425" tIns="45700" rIns="91425" bIns="45700" anchor="b" anchorCtr="0">
            <a:noAutofit/>
          </a:bodyPr>
          <a:lstStyle/>
          <a:p>
            <a:pPr marL="0" indent="0">
              <a:buNone/>
            </a:pPr>
            <a:r>
              <a:rPr lang="en-US" sz="3200" b="1" kern="0" spc="200" dirty="0">
                <a:solidFill>
                  <a:srgbClr val="1D2939"/>
                </a:solidFill>
                <a:latin typeface="Garamond" pitchFamily="34" charset="0"/>
                <a:ea typeface="Garamond" pitchFamily="34" charset="-122"/>
                <a:cs typeface="Garamond" pitchFamily="34" charset="-120"/>
              </a:rPr>
              <a:t>MOAT ANALYSIS &amp; PORTER'S FIVE FORCES </a:t>
            </a:r>
            <a:endParaRPr lang="en-US" sz="3200" dirty="0"/>
          </a:p>
        </p:txBody>
      </p:sp>
    </p:spTree>
    <p:extLst>
      <p:ext uri="{BB962C8B-B14F-4D97-AF65-F5344CB8AC3E}">
        <p14:creationId xmlns:p14="http://schemas.microsoft.com/office/powerpoint/2010/main" val="16960188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g2b6e027a1db_8_76"/>
          <p:cNvSpPr txBox="1">
            <a:spLocks noGrp="1"/>
          </p:cNvSpPr>
          <p:nvPr>
            <p:ph type="sldNum" idx="12"/>
          </p:nvPr>
        </p:nvSpPr>
        <p:spPr>
          <a:xfrm>
            <a:off x="11748073" y="6466825"/>
            <a:ext cx="293400" cy="323100"/>
          </a:xfrm>
          <a:prstGeom prst="rect">
            <a:avLst/>
          </a:prstGeom>
          <a:noFill/>
          <a:ln>
            <a:noFill/>
          </a:ln>
        </p:spPr>
        <p:txBody>
          <a:bodyPr spcFirstLastPara="1" wrap="square" lIns="91425" tIns="45700" rIns="91425" bIns="45700" anchor="ctr" anchorCtr="0">
            <a:spAutoFit/>
          </a:bodyPr>
          <a:lstStyle/>
          <a:p>
            <a:pPr marL="0" lvl="0" indent="0" algn="l" rtl="0">
              <a:lnSpc>
                <a:spcPct val="100000"/>
              </a:lnSpc>
              <a:spcBef>
                <a:spcPts val="0"/>
              </a:spcBef>
              <a:spcAft>
                <a:spcPts val="0"/>
              </a:spcAft>
              <a:buSzPts val="1500"/>
              <a:buNone/>
            </a:pPr>
            <a:fld id="{00000000-1234-1234-1234-123412341234}" type="slidenum">
              <a:rPr lang="en-US" sz="1500" cap="small">
                <a:solidFill>
                  <a:schemeClr val="lt1"/>
                </a:solidFill>
                <a:latin typeface="Garamond"/>
                <a:ea typeface="Garamond"/>
                <a:cs typeface="Garamond"/>
                <a:sym typeface="Garamond"/>
              </a:rPr>
              <a:t>19</a:t>
            </a:fld>
            <a:endParaRPr sz="1500" cap="small">
              <a:solidFill>
                <a:schemeClr val="lt1"/>
              </a:solidFill>
              <a:latin typeface="Garamond"/>
              <a:ea typeface="Garamond"/>
              <a:cs typeface="Garamond"/>
              <a:sym typeface="Garamond"/>
            </a:endParaRPr>
          </a:p>
        </p:txBody>
      </p:sp>
      <p:cxnSp>
        <p:nvCxnSpPr>
          <p:cNvPr id="416" name="Google Shape;416;g2b6e027a1db_8_76"/>
          <p:cNvCxnSpPr/>
          <p:nvPr/>
        </p:nvCxnSpPr>
        <p:spPr>
          <a:xfrm>
            <a:off x="11746228" y="6510872"/>
            <a:ext cx="0" cy="232500"/>
          </a:xfrm>
          <a:prstGeom prst="straightConnector1">
            <a:avLst/>
          </a:prstGeom>
          <a:noFill/>
          <a:ln w="9525" cap="flat" cmpd="sng">
            <a:solidFill>
              <a:schemeClr val="lt1"/>
            </a:solidFill>
            <a:prstDash val="solid"/>
            <a:miter lim="800000"/>
            <a:headEnd type="none" w="sm" len="sm"/>
            <a:tailEnd type="none" w="sm" len="sm"/>
          </a:ln>
        </p:spPr>
      </p:cxnSp>
      <p:sp>
        <p:nvSpPr>
          <p:cNvPr id="417" name="Google Shape;417;g2b6e027a1db_8_76"/>
          <p:cNvSpPr txBox="1">
            <a:spLocks noGrp="1"/>
          </p:cNvSpPr>
          <p:nvPr>
            <p:ph type="sldNum" idx="4294967295"/>
          </p:nvPr>
        </p:nvSpPr>
        <p:spPr>
          <a:xfrm>
            <a:off x="11520419" y="6466832"/>
            <a:ext cx="521100" cy="323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200"/>
              <a:buFont typeface="Arial"/>
              <a:buNone/>
            </a:pPr>
            <a:r>
              <a:rPr lang="en-US"/>
              <a:t>|  </a:t>
            </a:r>
            <a:fld id="{00000000-1234-1234-1234-123412341234}" type="slidenum">
              <a:rPr lang="en-US"/>
              <a:t>19</a:t>
            </a:fld>
            <a:endParaRPr/>
          </a:p>
        </p:txBody>
      </p:sp>
      <p:sp>
        <p:nvSpPr>
          <p:cNvPr id="418" name="Google Shape;418;g2b6e027a1db_8_76"/>
          <p:cNvSpPr/>
          <p:nvPr/>
        </p:nvSpPr>
        <p:spPr>
          <a:xfrm>
            <a:off x="-37950" y="3908122"/>
            <a:ext cx="12267900" cy="61500"/>
          </a:xfrm>
          <a:prstGeom prst="rect">
            <a:avLst/>
          </a:prstGeom>
          <a:solidFill>
            <a:srgbClr val="FFC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9" name="Google Shape;419;g2b6e027a1db_8_76"/>
          <p:cNvSpPr/>
          <p:nvPr/>
        </p:nvSpPr>
        <p:spPr>
          <a:xfrm>
            <a:off x="-37950" y="2888251"/>
            <a:ext cx="12267900" cy="1020000"/>
          </a:xfrm>
          <a:prstGeom prst="rect">
            <a:avLst/>
          </a:prstGeom>
          <a:solidFill>
            <a:srgbClr val="002060"/>
          </a:solidFill>
          <a:ln w="9525" cap="flat" cmpd="sng">
            <a:solidFill>
              <a:srgbClr val="233A4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0" name="Google Shape;420;g2b6e027a1db_8_76"/>
          <p:cNvSpPr txBox="1"/>
          <p:nvPr/>
        </p:nvSpPr>
        <p:spPr>
          <a:xfrm>
            <a:off x="718260" y="2995299"/>
            <a:ext cx="8952000" cy="74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3500" b="1" dirty="0">
                <a:solidFill>
                  <a:srgbClr val="FFFFFF"/>
                </a:solidFill>
                <a:latin typeface="Garamond"/>
                <a:ea typeface="Garamond"/>
                <a:cs typeface="Garamond"/>
                <a:sym typeface="Garamond"/>
              </a:rPr>
              <a:t>V</a:t>
            </a:r>
            <a:r>
              <a:rPr lang="en-US" sz="3500" b="1" i="0" u="none" strike="noStrike" cap="none" dirty="0">
                <a:solidFill>
                  <a:srgbClr val="FFFFFF"/>
                </a:solidFill>
                <a:latin typeface="Garamond"/>
                <a:ea typeface="Garamond"/>
                <a:cs typeface="Garamond"/>
                <a:sym typeface="Garamond"/>
              </a:rPr>
              <a:t>.	 </a:t>
            </a:r>
            <a:r>
              <a:rPr lang="en-US" sz="3500" b="1" dirty="0">
                <a:solidFill>
                  <a:srgbClr val="FFFFFF"/>
                </a:solidFill>
                <a:latin typeface="Garamond"/>
                <a:ea typeface="Garamond"/>
                <a:cs typeface="Garamond"/>
                <a:sym typeface="Garamond"/>
              </a:rPr>
              <a:t>Risks &amp; Mitigants</a:t>
            </a:r>
            <a:endParaRPr sz="3500" b="1" i="0" u="none" strike="noStrike" cap="none" dirty="0">
              <a:solidFill>
                <a:srgbClr val="FFFFFF"/>
              </a:solidFill>
              <a:latin typeface="Garamond"/>
              <a:ea typeface="Garamond"/>
              <a:cs typeface="Garamond"/>
              <a:sym typeface="Garamond"/>
            </a:endParaRPr>
          </a:p>
        </p:txBody>
      </p:sp>
      <p:pic>
        <p:nvPicPr>
          <p:cNvPr id="8" name="Picture 4" descr="SMCI - Super Micro Computer, Inc. Trademark Registration">
            <a:extLst>
              <a:ext uri="{FF2B5EF4-FFF2-40B4-BE49-F238E27FC236}">
                <a16:creationId xmlns:a16="http://schemas.microsoft.com/office/drawing/2014/main" id="{B46796C7-C320-4911-948A-4B3BF6D2C2D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001" b="17593"/>
          <a:stretch/>
        </p:blipFill>
        <p:spPr bwMode="auto">
          <a:xfrm>
            <a:off x="10032470" y="64180"/>
            <a:ext cx="2009003" cy="54750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D2BB9A05-D45B-45EC-8333-9EF705BF8B79}"/>
              </a:ext>
            </a:extLst>
          </p:cNvPr>
          <p:cNvPicPr>
            <a:picLocks noChangeAspect="1"/>
          </p:cNvPicPr>
          <p:nvPr/>
        </p:nvPicPr>
        <p:blipFill>
          <a:blip r:embed="rId4"/>
          <a:stretch>
            <a:fillRect/>
          </a:stretch>
        </p:blipFill>
        <p:spPr>
          <a:xfrm>
            <a:off x="10160006" y="6379320"/>
            <a:ext cx="1422710" cy="46484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12"/>
          <p:cNvSpPr txBox="1"/>
          <p:nvPr/>
        </p:nvSpPr>
        <p:spPr>
          <a:xfrm>
            <a:off x="302129" y="101239"/>
            <a:ext cx="8232000" cy="554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3000" b="1" i="0" u="none" strike="noStrike" cap="small" dirty="0">
                <a:solidFill>
                  <a:srgbClr val="3F3F3F"/>
                </a:solidFill>
                <a:latin typeface="Garamond"/>
                <a:ea typeface="Garamond"/>
                <a:cs typeface="Garamond"/>
                <a:sym typeface="Garamond"/>
              </a:rPr>
              <a:t>Risks </a:t>
            </a:r>
            <a:r>
              <a:rPr lang="en-US" sz="3000" b="1" cap="small" dirty="0">
                <a:solidFill>
                  <a:srgbClr val="3F3F3F"/>
                </a:solidFill>
                <a:latin typeface="Garamond"/>
                <a:ea typeface="Garamond"/>
                <a:cs typeface="Garamond"/>
                <a:sym typeface="Garamond"/>
              </a:rPr>
              <a:t>&amp;</a:t>
            </a:r>
            <a:r>
              <a:rPr lang="en-US" sz="3000" b="1" i="0" u="none" strike="noStrike" cap="small" dirty="0">
                <a:solidFill>
                  <a:srgbClr val="3F3F3F"/>
                </a:solidFill>
                <a:latin typeface="Garamond"/>
                <a:ea typeface="Garamond"/>
                <a:cs typeface="Garamond"/>
                <a:sym typeface="Garamond"/>
              </a:rPr>
              <a:t> Mitigants </a:t>
            </a:r>
            <a:endParaRPr sz="3000" b="0" i="0" u="none" strike="noStrike" cap="none" dirty="0">
              <a:solidFill>
                <a:schemeClr val="dk1"/>
              </a:solidFill>
              <a:latin typeface="Garamond"/>
              <a:ea typeface="Garamond"/>
              <a:cs typeface="Garamond"/>
              <a:sym typeface="Garamond"/>
            </a:endParaRPr>
          </a:p>
        </p:txBody>
      </p:sp>
      <p:cxnSp>
        <p:nvCxnSpPr>
          <p:cNvPr id="426" name="Google Shape;426;p12"/>
          <p:cNvCxnSpPr/>
          <p:nvPr/>
        </p:nvCxnSpPr>
        <p:spPr>
          <a:xfrm>
            <a:off x="270932" y="711202"/>
            <a:ext cx="11633100" cy="0"/>
          </a:xfrm>
          <a:prstGeom prst="straightConnector1">
            <a:avLst/>
          </a:prstGeom>
          <a:noFill/>
          <a:ln w="9525" cap="flat" cmpd="sng">
            <a:solidFill>
              <a:srgbClr val="001746"/>
            </a:solidFill>
            <a:prstDash val="solid"/>
            <a:miter lim="800000"/>
            <a:headEnd type="none" w="sm" len="sm"/>
            <a:tailEnd type="none" w="sm" len="sm"/>
          </a:ln>
        </p:spPr>
      </p:cxnSp>
      <p:sp>
        <p:nvSpPr>
          <p:cNvPr id="427" name="Google Shape;427;p12"/>
          <p:cNvSpPr/>
          <p:nvPr/>
        </p:nvSpPr>
        <p:spPr>
          <a:xfrm>
            <a:off x="6095751" y="861650"/>
            <a:ext cx="5691300" cy="206100"/>
          </a:xfrm>
          <a:prstGeom prst="rect">
            <a:avLst/>
          </a:prstGeom>
          <a:solidFill>
            <a:srgbClr val="001746"/>
          </a:solidFill>
          <a:ln w="12700" cap="flat" cmpd="sng">
            <a:solidFill>
              <a:srgbClr val="00174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200">
                <a:solidFill>
                  <a:schemeClr val="lt1"/>
                </a:solidFill>
                <a:latin typeface="Garamond"/>
                <a:ea typeface="Garamond"/>
                <a:cs typeface="Garamond"/>
                <a:sym typeface="Garamond"/>
              </a:rPr>
              <a:t>Mitigation:</a:t>
            </a:r>
            <a:endParaRPr sz="1200" b="0" i="0" u="none" strike="noStrike" cap="none">
              <a:solidFill>
                <a:schemeClr val="lt1"/>
              </a:solidFill>
              <a:latin typeface="Garamond"/>
              <a:ea typeface="Garamond"/>
              <a:cs typeface="Garamond"/>
              <a:sym typeface="Garamond"/>
            </a:endParaRPr>
          </a:p>
        </p:txBody>
      </p:sp>
      <p:sp>
        <p:nvSpPr>
          <p:cNvPr id="428" name="Google Shape;428;p12"/>
          <p:cNvSpPr/>
          <p:nvPr/>
        </p:nvSpPr>
        <p:spPr>
          <a:xfrm>
            <a:off x="839216" y="8319799"/>
            <a:ext cx="9066600" cy="229500"/>
          </a:xfrm>
          <a:prstGeom prst="rect">
            <a:avLst/>
          </a:prstGeom>
          <a:solidFill>
            <a:srgbClr val="001746"/>
          </a:solidFill>
          <a:ln w="12700" cap="flat" cmpd="sng">
            <a:solidFill>
              <a:srgbClr val="00174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200">
                <a:solidFill>
                  <a:schemeClr val="lt1"/>
                </a:solidFill>
                <a:latin typeface="Garamond"/>
                <a:ea typeface="Garamond"/>
                <a:cs typeface="Garamond"/>
                <a:sym typeface="Garamond"/>
              </a:rPr>
              <a:t>Forex Risk</a:t>
            </a:r>
            <a:endParaRPr sz="1200" b="0" i="0" u="none" strike="noStrike" cap="none">
              <a:solidFill>
                <a:schemeClr val="lt1"/>
              </a:solidFill>
              <a:latin typeface="Garamond"/>
              <a:ea typeface="Garamond"/>
              <a:cs typeface="Garamond"/>
              <a:sym typeface="Garamond"/>
            </a:endParaRPr>
          </a:p>
        </p:txBody>
      </p:sp>
      <p:sp>
        <p:nvSpPr>
          <p:cNvPr id="429" name="Google Shape;429;p12"/>
          <p:cNvSpPr/>
          <p:nvPr/>
        </p:nvSpPr>
        <p:spPr>
          <a:xfrm>
            <a:off x="838511" y="8650999"/>
            <a:ext cx="2702700" cy="929100"/>
          </a:xfrm>
          <a:prstGeom prst="rect">
            <a:avLst/>
          </a:prstGeom>
          <a:solidFill>
            <a:srgbClr val="E4E9F0"/>
          </a:solidFill>
          <a:ln w="12700" cap="flat" cmpd="sng">
            <a:solidFill>
              <a:srgbClr val="E4E9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200">
                <a:solidFill>
                  <a:schemeClr val="dk1"/>
                </a:solidFill>
                <a:latin typeface="Garamond"/>
                <a:ea typeface="Garamond"/>
                <a:cs typeface="Garamond"/>
                <a:sym typeface="Garamond"/>
              </a:rPr>
              <a:t>As a global shipping company, Danaos is exposed to currency risk that could affect its revenue and profit margins, especially if a large portion of its debt is denominated in a different currency than its earnings.</a:t>
            </a:r>
            <a:endParaRPr sz="1200" b="0" i="0" u="none" strike="noStrike" cap="none">
              <a:solidFill>
                <a:schemeClr val="dk1"/>
              </a:solidFill>
              <a:latin typeface="Garamond"/>
              <a:ea typeface="Garamond"/>
              <a:cs typeface="Garamond"/>
              <a:sym typeface="Garamond"/>
            </a:endParaRPr>
          </a:p>
        </p:txBody>
      </p:sp>
      <p:sp>
        <p:nvSpPr>
          <p:cNvPr id="430" name="Google Shape;430;p12"/>
          <p:cNvSpPr/>
          <p:nvPr/>
        </p:nvSpPr>
        <p:spPr>
          <a:xfrm>
            <a:off x="6095751" y="1157340"/>
            <a:ext cx="5677200" cy="834300"/>
          </a:xfrm>
          <a:prstGeom prst="rect">
            <a:avLst/>
          </a:prstGeom>
          <a:solidFill>
            <a:srgbClr val="E4E9F0"/>
          </a:solidFill>
          <a:ln w="12700" cap="flat" cmpd="sng">
            <a:solidFill>
              <a:srgbClr val="E4E9F0"/>
            </a:solidFill>
            <a:prstDash val="solid"/>
            <a:miter lim="800000"/>
            <a:headEnd type="none" w="sm" len="sm"/>
            <a:tailEnd type="none" w="sm" len="sm"/>
          </a:ln>
        </p:spPr>
        <p:txBody>
          <a:bodyPr spcFirstLastPara="1" wrap="square" lIns="91425" tIns="45700" rIns="91425" bIns="45700" anchor="ctr" anchorCtr="0">
            <a:noAutofit/>
          </a:bodyPr>
          <a:lstStyle/>
          <a:p>
            <a:pPr marL="0" indent="0" algn="ctr">
              <a:buNone/>
            </a:pPr>
            <a:r>
              <a:rPr lang="en-US" sz="1200" dirty="0">
                <a:solidFill>
                  <a:srgbClr val="1D2939"/>
                </a:solidFill>
                <a:latin typeface="Garamond" pitchFamily="34" charset="0"/>
                <a:ea typeface="Garamond" pitchFamily="34" charset="-122"/>
                <a:cs typeface="Garamond" pitchFamily="34" charset="-120"/>
              </a:rPr>
              <a:t>DLC mix shift expected to improve margins to 8-10% by FY2027. </a:t>
            </a:r>
            <a:r>
              <a:rPr lang="en-US" sz="1200" dirty="0" err="1">
                <a:solidFill>
                  <a:srgbClr val="1D2939"/>
                </a:solidFill>
                <a:latin typeface="Garamond" pitchFamily="34" charset="0"/>
                <a:ea typeface="Garamond" pitchFamily="34" charset="-122"/>
                <a:cs typeface="Garamond" pitchFamily="34" charset="-120"/>
              </a:rPr>
              <a:t>OpEx</a:t>
            </a:r>
            <a:r>
              <a:rPr lang="en-US" sz="1200" dirty="0">
                <a:solidFill>
                  <a:srgbClr val="1D2939"/>
                </a:solidFill>
                <a:latin typeface="Garamond" pitchFamily="34" charset="0"/>
                <a:ea typeface="Garamond" pitchFamily="34" charset="-122"/>
                <a:cs typeface="Garamond" pitchFamily="34" charset="-120"/>
              </a:rPr>
              <a:t> leverage from scale drives operating margin expansion. Management guidance implies trough at Q2 FY2026; Q3 margin above 8% = bullish inflection signal.</a:t>
            </a:r>
            <a:endParaRPr lang="en-US" sz="1200" dirty="0"/>
          </a:p>
        </p:txBody>
      </p:sp>
      <p:sp>
        <p:nvSpPr>
          <p:cNvPr id="431" name="Google Shape;431;p12"/>
          <p:cNvSpPr/>
          <p:nvPr/>
        </p:nvSpPr>
        <p:spPr>
          <a:xfrm>
            <a:off x="4508500" y="8651001"/>
            <a:ext cx="5293200" cy="929100"/>
          </a:xfrm>
          <a:prstGeom prst="rect">
            <a:avLst/>
          </a:prstGeom>
          <a:solidFill>
            <a:srgbClr val="E4E9F0"/>
          </a:solidFill>
          <a:ln w="12700" cap="flat" cmpd="sng">
            <a:solidFill>
              <a:srgbClr val="E4E9F0"/>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1100"/>
              <a:buFont typeface="Arial"/>
              <a:buNone/>
            </a:pPr>
            <a:r>
              <a:rPr lang="en-US" sz="1200">
                <a:solidFill>
                  <a:srgbClr val="001746"/>
                </a:solidFill>
                <a:latin typeface="Garamond"/>
                <a:ea typeface="Garamond"/>
                <a:cs typeface="Garamond"/>
                <a:sym typeface="Garamond"/>
              </a:rPr>
              <a:t>Danaos Corporation can mitigate currency risk by using natural hedging techniques, such as matching its currency flows, and by employing typical forex hedging instruments like forwards, futures, or options to manage its exposure to currency fluctuations</a:t>
            </a:r>
            <a:endParaRPr sz="1200">
              <a:solidFill>
                <a:srgbClr val="001746"/>
              </a:solidFill>
              <a:latin typeface="Garamond"/>
              <a:ea typeface="Garamond"/>
              <a:cs typeface="Garamond"/>
              <a:sym typeface="Garamond"/>
            </a:endParaRPr>
          </a:p>
        </p:txBody>
      </p:sp>
      <p:cxnSp>
        <p:nvCxnSpPr>
          <p:cNvPr id="432" name="Google Shape;432;p12"/>
          <p:cNvCxnSpPr>
            <a:stCxn id="433" idx="3"/>
            <a:endCxn id="430" idx="1"/>
          </p:cNvCxnSpPr>
          <p:nvPr/>
        </p:nvCxnSpPr>
        <p:spPr>
          <a:xfrm>
            <a:off x="5702161" y="1573816"/>
            <a:ext cx="393600" cy="600"/>
          </a:xfrm>
          <a:prstGeom prst="straightConnector1">
            <a:avLst/>
          </a:prstGeom>
          <a:noFill/>
          <a:ln w="38100" cap="flat" cmpd="sng">
            <a:solidFill>
              <a:srgbClr val="E4E9F0"/>
            </a:solidFill>
            <a:prstDash val="dot"/>
            <a:miter lim="800000"/>
            <a:headEnd type="none" w="sm" len="sm"/>
            <a:tailEnd type="none" w="sm" len="sm"/>
          </a:ln>
        </p:spPr>
      </p:cxnSp>
      <p:cxnSp>
        <p:nvCxnSpPr>
          <p:cNvPr id="434" name="Google Shape;434;p12"/>
          <p:cNvCxnSpPr/>
          <p:nvPr/>
        </p:nvCxnSpPr>
        <p:spPr>
          <a:xfrm>
            <a:off x="3541869" y="9091594"/>
            <a:ext cx="970200" cy="0"/>
          </a:xfrm>
          <a:prstGeom prst="straightConnector1">
            <a:avLst/>
          </a:prstGeom>
          <a:noFill/>
          <a:ln w="38100" cap="flat" cmpd="sng">
            <a:solidFill>
              <a:srgbClr val="E4E9F0"/>
            </a:solidFill>
            <a:prstDash val="dot"/>
            <a:miter lim="800000"/>
            <a:headEnd type="none" w="sm" len="sm"/>
            <a:tailEnd type="none" w="sm" len="sm"/>
          </a:ln>
        </p:spPr>
      </p:cxnSp>
      <p:cxnSp>
        <p:nvCxnSpPr>
          <p:cNvPr id="435" name="Google Shape;435;p12"/>
          <p:cNvCxnSpPr/>
          <p:nvPr/>
        </p:nvCxnSpPr>
        <p:spPr>
          <a:xfrm>
            <a:off x="270932" y="711202"/>
            <a:ext cx="11633100" cy="0"/>
          </a:xfrm>
          <a:prstGeom prst="straightConnector1">
            <a:avLst/>
          </a:prstGeom>
          <a:noFill/>
          <a:ln w="9525" cap="flat" cmpd="sng">
            <a:solidFill>
              <a:srgbClr val="001746"/>
            </a:solidFill>
            <a:prstDash val="solid"/>
            <a:miter lim="800000"/>
            <a:headEnd type="none" w="sm" len="sm"/>
            <a:tailEnd type="none" w="sm" len="sm"/>
          </a:ln>
        </p:spPr>
      </p:cxnSp>
      <p:sp>
        <p:nvSpPr>
          <p:cNvPr id="436" name="Google Shape;436;p12"/>
          <p:cNvSpPr/>
          <p:nvPr/>
        </p:nvSpPr>
        <p:spPr>
          <a:xfrm>
            <a:off x="1145042" y="6486133"/>
            <a:ext cx="1270500" cy="282000"/>
          </a:xfrm>
          <a:prstGeom prst="rect">
            <a:avLst/>
          </a:prstGeom>
          <a:solidFill>
            <a:srgbClr val="001746"/>
          </a:solidFill>
          <a:ln w="12700" cap="flat" cmpd="sng">
            <a:solidFill>
              <a:srgbClr val="00174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Company</a:t>
            </a:r>
            <a:endParaRPr sz="1400" b="0" i="0" u="none" strike="noStrike" cap="none">
              <a:solidFill>
                <a:schemeClr val="lt1"/>
              </a:solidFill>
              <a:latin typeface="Garamond"/>
              <a:ea typeface="Garamond"/>
              <a:cs typeface="Garamond"/>
              <a:sym typeface="Garamond"/>
            </a:endParaRPr>
          </a:p>
        </p:txBody>
      </p:sp>
      <p:sp>
        <p:nvSpPr>
          <p:cNvPr id="437" name="Google Shape;437;p12"/>
          <p:cNvSpPr/>
          <p:nvPr/>
        </p:nvSpPr>
        <p:spPr>
          <a:xfrm>
            <a:off x="2664119"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Industry</a:t>
            </a:r>
            <a:endParaRPr sz="1400" b="0" i="0" u="none" strike="noStrike" cap="none">
              <a:solidFill>
                <a:schemeClr val="lt1"/>
              </a:solidFill>
              <a:latin typeface="Garamond"/>
              <a:ea typeface="Garamond"/>
              <a:cs typeface="Garamond"/>
              <a:sym typeface="Garamond"/>
            </a:endParaRPr>
          </a:p>
        </p:txBody>
      </p:sp>
      <p:sp>
        <p:nvSpPr>
          <p:cNvPr id="438" name="Google Shape;438;p12"/>
          <p:cNvSpPr/>
          <p:nvPr/>
        </p:nvSpPr>
        <p:spPr>
          <a:xfrm>
            <a:off x="4183196"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Theses</a:t>
            </a:r>
            <a:endParaRPr sz="1400" b="0" i="0" u="none" strike="noStrike" cap="none">
              <a:solidFill>
                <a:schemeClr val="lt1"/>
              </a:solidFill>
              <a:latin typeface="Garamond"/>
              <a:ea typeface="Garamond"/>
              <a:cs typeface="Garamond"/>
              <a:sym typeface="Garamond"/>
            </a:endParaRPr>
          </a:p>
        </p:txBody>
      </p:sp>
      <p:sp>
        <p:nvSpPr>
          <p:cNvPr id="439" name="Google Shape;439;p12"/>
          <p:cNvSpPr/>
          <p:nvPr/>
        </p:nvSpPr>
        <p:spPr>
          <a:xfrm>
            <a:off x="7221349"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lt1"/>
                </a:solidFill>
                <a:latin typeface="Garamond"/>
                <a:ea typeface="Garamond"/>
                <a:cs typeface="Garamond"/>
                <a:sym typeface="Garamond"/>
              </a:rPr>
              <a:t>ESG</a:t>
            </a:r>
            <a:endParaRPr sz="1400" b="0" i="0" u="none" strike="noStrike" cap="none" dirty="0">
              <a:solidFill>
                <a:schemeClr val="lt1"/>
              </a:solidFill>
              <a:latin typeface="Garamond"/>
              <a:ea typeface="Garamond"/>
              <a:cs typeface="Garamond"/>
              <a:sym typeface="Garamond"/>
            </a:endParaRPr>
          </a:p>
        </p:txBody>
      </p:sp>
      <p:sp>
        <p:nvSpPr>
          <p:cNvPr id="440" name="Google Shape;440;p12"/>
          <p:cNvSpPr/>
          <p:nvPr/>
        </p:nvSpPr>
        <p:spPr>
          <a:xfrm>
            <a:off x="8740461" y="6486133"/>
            <a:ext cx="1270500" cy="282000"/>
          </a:xfrm>
          <a:prstGeom prst="rect">
            <a:avLst/>
          </a:prstGeom>
          <a:solidFill>
            <a:srgbClr val="041E4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Risks</a:t>
            </a:r>
            <a:endParaRPr sz="1400" b="0" i="0" u="none" strike="noStrike" cap="none">
              <a:solidFill>
                <a:schemeClr val="lt1"/>
              </a:solidFill>
              <a:latin typeface="Garamond"/>
              <a:ea typeface="Garamond"/>
              <a:cs typeface="Garamond"/>
              <a:sym typeface="Garamond"/>
            </a:endParaRPr>
          </a:p>
        </p:txBody>
      </p:sp>
      <p:sp>
        <p:nvSpPr>
          <p:cNvPr id="441" name="Google Shape;441;p12"/>
          <p:cNvSpPr/>
          <p:nvPr/>
        </p:nvSpPr>
        <p:spPr>
          <a:xfrm>
            <a:off x="5702272"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Value Adds</a:t>
            </a:r>
            <a:endParaRPr sz="1400" b="0" i="0" u="none" strike="noStrike" cap="none">
              <a:solidFill>
                <a:schemeClr val="lt1"/>
              </a:solidFill>
              <a:latin typeface="Garamond"/>
              <a:ea typeface="Garamond"/>
              <a:cs typeface="Garamond"/>
              <a:sym typeface="Garamond"/>
            </a:endParaRPr>
          </a:p>
        </p:txBody>
      </p:sp>
      <p:sp>
        <p:nvSpPr>
          <p:cNvPr id="442" name="Google Shape;442;p12"/>
          <p:cNvSpPr txBox="1">
            <a:spLocks noGrp="1"/>
          </p:cNvSpPr>
          <p:nvPr>
            <p:ph type="sldNum" idx="4294967295"/>
          </p:nvPr>
        </p:nvSpPr>
        <p:spPr>
          <a:xfrm>
            <a:off x="11520419" y="6466832"/>
            <a:ext cx="521100" cy="323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200"/>
              <a:buFont typeface="Arial"/>
              <a:buNone/>
            </a:pPr>
            <a:r>
              <a:rPr lang="en-US"/>
              <a:t>|  </a:t>
            </a:r>
            <a:fld id="{00000000-1234-1234-1234-123412341234}" type="slidenum">
              <a:rPr lang="en-US"/>
              <a:t>20</a:t>
            </a:fld>
            <a:endParaRPr/>
          </a:p>
        </p:txBody>
      </p:sp>
      <p:sp>
        <p:nvSpPr>
          <p:cNvPr id="443" name="Google Shape;443;p12"/>
          <p:cNvSpPr/>
          <p:nvPr/>
        </p:nvSpPr>
        <p:spPr>
          <a:xfrm>
            <a:off x="1145042" y="6486133"/>
            <a:ext cx="1270500" cy="2820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Company</a:t>
            </a:r>
            <a:endParaRPr sz="1400" b="0" i="0" u="none" strike="noStrike" cap="none">
              <a:solidFill>
                <a:schemeClr val="lt1"/>
              </a:solidFill>
              <a:latin typeface="Garamond"/>
              <a:ea typeface="Garamond"/>
              <a:cs typeface="Garamond"/>
              <a:sym typeface="Garamond"/>
            </a:endParaRPr>
          </a:p>
        </p:txBody>
      </p:sp>
      <p:sp>
        <p:nvSpPr>
          <p:cNvPr id="444" name="Google Shape;444;p12"/>
          <p:cNvSpPr/>
          <p:nvPr/>
        </p:nvSpPr>
        <p:spPr>
          <a:xfrm>
            <a:off x="2664119"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Industry</a:t>
            </a:r>
            <a:endParaRPr sz="1400" b="0" i="0" u="none" strike="noStrike" cap="none">
              <a:solidFill>
                <a:schemeClr val="lt1"/>
              </a:solidFill>
              <a:latin typeface="Garamond"/>
              <a:ea typeface="Garamond"/>
              <a:cs typeface="Garamond"/>
              <a:sym typeface="Garamond"/>
            </a:endParaRPr>
          </a:p>
        </p:txBody>
      </p:sp>
      <p:sp>
        <p:nvSpPr>
          <p:cNvPr id="445" name="Google Shape;445;p12"/>
          <p:cNvSpPr/>
          <p:nvPr/>
        </p:nvSpPr>
        <p:spPr>
          <a:xfrm>
            <a:off x="4183196"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Theses</a:t>
            </a:r>
            <a:endParaRPr sz="1400" b="0" i="0" u="none" strike="noStrike" cap="none">
              <a:solidFill>
                <a:schemeClr val="lt1"/>
              </a:solidFill>
              <a:latin typeface="Garamond"/>
              <a:ea typeface="Garamond"/>
              <a:cs typeface="Garamond"/>
              <a:sym typeface="Garamond"/>
            </a:endParaRPr>
          </a:p>
        </p:txBody>
      </p:sp>
      <p:sp>
        <p:nvSpPr>
          <p:cNvPr id="446" name="Google Shape;446;p12"/>
          <p:cNvSpPr/>
          <p:nvPr/>
        </p:nvSpPr>
        <p:spPr>
          <a:xfrm>
            <a:off x="5702272"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lt1"/>
                </a:solidFill>
                <a:latin typeface="Garamond"/>
                <a:ea typeface="Garamond"/>
                <a:cs typeface="Garamond"/>
                <a:sym typeface="Garamond"/>
              </a:rPr>
              <a:t>Valuation</a:t>
            </a:r>
            <a:endParaRPr sz="1400" b="0" i="0" u="none" strike="noStrike" cap="none" dirty="0">
              <a:solidFill>
                <a:schemeClr val="lt1"/>
              </a:solidFill>
              <a:latin typeface="Garamond"/>
              <a:ea typeface="Garamond"/>
              <a:cs typeface="Garamond"/>
              <a:sym typeface="Garamond"/>
            </a:endParaRPr>
          </a:p>
        </p:txBody>
      </p:sp>
      <p:sp>
        <p:nvSpPr>
          <p:cNvPr id="447" name="Google Shape;447;p12"/>
          <p:cNvSpPr/>
          <p:nvPr/>
        </p:nvSpPr>
        <p:spPr>
          <a:xfrm>
            <a:off x="76213" y="1009158"/>
            <a:ext cx="3395400" cy="834300"/>
          </a:xfrm>
          <a:prstGeom prst="homePlate">
            <a:avLst>
              <a:gd name="adj" fmla="val 50000"/>
            </a:avLst>
          </a:prstGeom>
          <a:solidFill>
            <a:schemeClr val="lt1"/>
          </a:solidFill>
          <a:ln w="28575" cap="flat" cmpd="sng">
            <a:solidFill>
              <a:srgbClr val="002060"/>
            </a:solidFill>
            <a:prstDash val="solid"/>
            <a:round/>
            <a:headEnd type="none" w="sm" len="sm"/>
            <a:tailEnd type="none" w="sm" len="sm"/>
          </a:ln>
        </p:spPr>
        <p:txBody>
          <a:bodyPr spcFirstLastPara="1" wrap="square" lIns="91425" tIns="91425" rIns="91425" bIns="91425" anchor="ctr" anchorCtr="0">
            <a:noAutofit/>
          </a:bodyPr>
          <a:lstStyle/>
          <a:p>
            <a:pPr marL="0" indent="0" algn="ctr">
              <a:buNone/>
            </a:pPr>
            <a:r>
              <a:rPr lang="en-US" sz="1400" dirty="0">
                <a:solidFill>
                  <a:srgbClr val="1D2939"/>
                </a:solidFill>
                <a:latin typeface="Garamond" pitchFamily="34" charset="0"/>
                <a:ea typeface="Garamond" pitchFamily="34" charset="-122"/>
                <a:cs typeface="Garamond" pitchFamily="34" charset="-120"/>
              </a:rPr>
              <a:t>Gross Margin Structural</a:t>
            </a:r>
            <a:endParaRPr lang="en-US" sz="1400" dirty="0"/>
          </a:p>
          <a:p>
            <a:pPr marL="0" indent="0" algn="ctr">
              <a:buNone/>
            </a:pPr>
            <a:r>
              <a:rPr lang="en-US" sz="1400" dirty="0">
                <a:solidFill>
                  <a:srgbClr val="1D2939"/>
                </a:solidFill>
                <a:latin typeface="Garamond" pitchFamily="34" charset="0"/>
                <a:ea typeface="Garamond" pitchFamily="34" charset="-122"/>
                <a:cs typeface="Garamond" pitchFamily="34" charset="-120"/>
              </a:rPr>
              <a:t>Compression (18% to 6.3%)</a:t>
            </a:r>
            <a:endParaRPr lang="en-US" sz="1400" dirty="0"/>
          </a:p>
        </p:txBody>
      </p:sp>
      <p:grpSp>
        <p:nvGrpSpPr>
          <p:cNvPr id="448" name="Google Shape;448;p12"/>
          <p:cNvGrpSpPr/>
          <p:nvPr/>
        </p:nvGrpSpPr>
        <p:grpSpPr>
          <a:xfrm>
            <a:off x="3641161" y="861650"/>
            <a:ext cx="2061000" cy="1129316"/>
            <a:chOff x="3641161" y="861650"/>
            <a:chExt cx="2061000" cy="1129316"/>
          </a:xfrm>
        </p:grpSpPr>
        <p:sp>
          <p:nvSpPr>
            <p:cNvPr id="433" name="Google Shape;433;p12"/>
            <p:cNvSpPr/>
            <p:nvPr/>
          </p:nvSpPr>
          <p:spPr>
            <a:xfrm>
              <a:off x="3641161" y="1156666"/>
              <a:ext cx="2061000" cy="834300"/>
            </a:xfrm>
            <a:prstGeom prst="rect">
              <a:avLst/>
            </a:prstGeom>
            <a:solidFill>
              <a:srgbClr val="002060"/>
            </a:solidFill>
            <a:ln w="12700" cap="flat" cmpd="sng">
              <a:solidFill>
                <a:srgbClr val="E4E9F0"/>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lnSpc>
                  <a:spcPct val="115000"/>
                </a:lnSpc>
                <a:spcBef>
                  <a:spcPts val="0"/>
                </a:spcBef>
                <a:spcAft>
                  <a:spcPts val="0"/>
                </a:spcAft>
                <a:buClr>
                  <a:schemeClr val="dk1"/>
                </a:buClr>
                <a:buSzPts val="1100"/>
                <a:buFont typeface="Arial"/>
                <a:buNone/>
              </a:pPr>
              <a:r>
                <a:rPr lang="en-US" sz="2000" b="1" dirty="0">
                  <a:solidFill>
                    <a:schemeClr val="lt1"/>
                  </a:solidFill>
                  <a:latin typeface="Garamond"/>
                  <a:ea typeface="Garamond"/>
                  <a:cs typeface="Garamond"/>
                  <a:sym typeface="Garamond"/>
                </a:rPr>
                <a:t>High</a:t>
              </a:r>
              <a:endParaRPr sz="1200" dirty="0">
                <a:solidFill>
                  <a:schemeClr val="lt1"/>
                </a:solidFill>
                <a:latin typeface="Garamond"/>
                <a:ea typeface="Garamond"/>
                <a:cs typeface="Garamond"/>
                <a:sym typeface="Garamond"/>
              </a:endParaRPr>
            </a:p>
          </p:txBody>
        </p:sp>
        <p:sp>
          <p:nvSpPr>
            <p:cNvPr id="449" name="Google Shape;449;p12"/>
            <p:cNvSpPr/>
            <p:nvPr/>
          </p:nvSpPr>
          <p:spPr>
            <a:xfrm>
              <a:off x="3641161" y="861650"/>
              <a:ext cx="2061000" cy="206100"/>
            </a:xfrm>
            <a:prstGeom prst="rect">
              <a:avLst/>
            </a:prstGeom>
            <a:solidFill>
              <a:srgbClr val="001746"/>
            </a:solidFill>
            <a:ln w="12700" cap="flat" cmpd="sng">
              <a:solidFill>
                <a:srgbClr val="00174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200">
                  <a:solidFill>
                    <a:schemeClr val="lt1"/>
                  </a:solidFill>
                  <a:latin typeface="Garamond"/>
                  <a:ea typeface="Garamond"/>
                  <a:cs typeface="Garamond"/>
                  <a:sym typeface="Garamond"/>
                </a:rPr>
                <a:t>Level of Risk</a:t>
              </a:r>
              <a:endParaRPr sz="1200" b="0" i="0" u="none" strike="noStrike" cap="none">
                <a:solidFill>
                  <a:schemeClr val="lt1"/>
                </a:solidFill>
                <a:latin typeface="Garamond"/>
                <a:ea typeface="Garamond"/>
                <a:cs typeface="Garamond"/>
                <a:sym typeface="Garamond"/>
              </a:endParaRPr>
            </a:p>
          </p:txBody>
        </p:sp>
      </p:grpSp>
      <p:sp>
        <p:nvSpPr>
          <p:cNvPr id="450" name="Google Shape;450;p12"/>
          <p:cNvSpPr txBox="1"/>
          <p:nvPr/>
        </p:nvSpPr>
        <p:spPr>
          <a:xfrm>
            <a:off x="-1557050" y="0"/>
            <a:ext cx="1270500" cy="976200"/>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1" i="0" u="none" strike="noStrike" cap="none">
              <a:solidFill>
                <a:srgbClr val="FFFFFF"/>
              </a:solidFill>
              <a:latin typeface="Garamond"/>
              <a:ea typeface="Garamond"/>
              <a:cs typeface="Garamond"/>
              <a:sym typeface="Garamond"/>
            </a:endParaRPr>
          </a:p>
        </p:txBody>
      </p:sp>
      <p:cxnSp>
        <p:nvCxnSpPr>
          <p:cNvPr id="451" name="Google Shape;451;p12"/>
          <p:cNvCxnSpPr/>
          <p:nvPr/>
        </p:nvCxnSpPr>
        <p:spPr>
          <a:xfrm>
            <a:off x="3592936" y="2101557"/>
            <a:ext cx="8311200" cy="24900"/>
          </a:xfrm>
          <a:prstGeom prst="straightConnector1">
            <a:avLst/>
          </a:prstGeom>
          <a:noFill/>
          <a:ln w="9525" cap="flat" cmpd="sng">
            <a:solidFill>
              <a:srgbClr val="001746"/>
            </a:solidFill>
            <a:prstDash val="solid"/>
            <a:miter lim="800000"/>
            <a:headEnd type="none" w="sm" len="sm"/>
            <a:tailEnd type="none" w="sm" len="sm"/>
          </a:ln>
        </p:spPr>
      </p:cxnSp>
      <p:sp>
        <p:nvSpPr>
          <p:cNvPr id="452" name="Google Shape;452;p12"/>
          <p:cNvSpPr/>
          <p:nvPr/>
        </p:nvSpPr>
        <p:spPr>
          <a:xfrm>
            <a:off x="6095738" y="2236349"/>
            <a:ext cx="5691300" cy="206100"/>
          </a:xfrm>
          <a:prstGeom prst="rect">
            <a:avLst/>
          </a:prstGeom>
          <a:solidFill>
            <a:srgbClr val="001746"/>
          </a:solidFill>
          <a:ln w="12700" cap="flat" cmpd="sng">
            <a:solidFill>
              <a:srgbClr val="00174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200">
                <a:solidFill>
                  <a:schemeClr val="lt1"/>
                </a:solidFill>
                <a:latin typeface="Garamond"/>
                <a:ea typeface="Garamond"/>
                <a:cs typeface="Garamond"/>
                <a:sym typeface="Garamond"/>
              </a:rPr>
              <a:t>Mitigation:</a:t>
            </a:r>
            <a:endParaRPr sz="1200" b="0" i="0" u="none" strike="noStrike" cap="none">
              <a:solidFill>
                <a:schemeClr val="lt1"/>
              </a:solidFill>
              <a:latin typeface="Garamond"/>
              <a:ea typeface="Garamond"/>
              <a:cs typeface="Garamond"/>
              <a:sym typeface="Garamond"/>
            </a:endParaRPr>
          </a:p>
        </p:txBody>
      </p:sp>
      <p:sp>
        <p:nvSpPr>
          <p:cNvPr id="453" name="Google Shape;453;p12"/>
          <p:cNvSpPr/>
          <p:nvPr/>
        </p:nvSpPr>
        <p:spPr>
          <a:xfrm>
            <a:off x="6095738" y="2532039"/>
            <a:ext cx="5677200" cy="834300"/>
          </a:xfrm>
          <a:prstGeom prst="rect">
            <a:avLst/>
          </a:prstGeom>
          <a:solidFill>
            <a:srgbClr val="E4E9F0"/>
          </a:solidFill>
          <a:ln w="12700" cap="flat" cmpd="sng">
            <a:solidFill>
              <a:srgbClr val="E4E9F0"/>
            </a:solidFill>
            <a:prstDash val="solid"/>
            <a:miter lim="800000"/>
            <a:headEnd type="none" w="sm" len="sm"/>
            <a:tailEnd type="none" w="sm" len="sm"/>
          </a:ln>
        </p:spPr>
        <p:txBody>
          <a:bodyPr spcFirstLastPara="1" wrap="square" lIns="91425" tIns="45700" rIns="91425" bIns="45700" anchor="ctr" anchorCtr="0">
            <a:noAutofit/>
          </a:bodyPr>
          <a:lstStyle/>
          <a:p>
            <a:pPr marL="0" indent="0" algn="ctr">
              <a:buNone/>
            </a:pPr>
            <a:r>
              <a:rPr lang="en-US" sz="1200" dirty="0">
                <a:solidFill>
                  <a:srgbClr val="1D2939"/>
                </a:solidFill>
                <a:latin typeface="Garamond" pitchFamily="34" charset="0"/>
                <a:ea typeface="Garamond" pitchFamily="34" charset="-122"/>
                <a:cs typeface="Garamond" pitchFamily="34" charset="-120"/>
              </a:rPr>
              <a:t>Special Committee found no evidence of misconduct. BDO validated financial statements with no restatements required. Board reconstituted with majority independent directors. Clean BDO IC opinion on FY2026 10-K = significant de-risking catalyst.</a:t>
            </a:r>
            <a:endParaRPr lang="en-US" sz="1200" dirty="0"/>
          </a:p>
        </p:txBody>
      </p:sp>
      <p:cxnSp>
        <p:nvCxnSpPr>
          <p:cNvPr id="454" name="Google Shape;454;p12"/>
          <p:cNvCxnSpPr>
            <a:stCxn id="455" idx="3"/>
            <a:endCxn id="453" idx="1"/>
          </p:cNvCxnSpPr>
          <p:nvPr/>
        </p:nvCxnSpPr>
        <p:spPr>
          <a:xfrm>
            <a:off x="5702149" y="2948515"/>
            <a:ext cx="393600" cy="600"/>
          </a:xfrm>
          <a:prstGeom prst="straightConnector1">
            <a:avLst/>
          </a:prstGeom>
          <a:noFill/>
          <a:ln w="38100" cap="flat" cmpd="sng">
            <a:solidFill>
              <a:srgbClr val="E4E9F0"/>
            </a:solidFill>
            <a:prstDash val="dot"/>
            <a:miter lim="800000"/>
            <a:headEnd type="none" w="sm" len="sm"/>
            <a:tailEnd type="none" w="sm" len="sm"/>
          </a:ln>
        </p:spPr>
      </p:cxnSp>
      <p:sp>
        <p:nvSpPr>
          <p:cNvPr id="456" name="Google Shape;456;p12"/>
          <p:cNvSpPr/>
          <p:nvPr/>
        </p:nvSpPr>
        <p:spPr>
          <a:xfrm>
            <a:off x="76200" y="2383857"/>
            <a:ext cx="3395400" cy="834300"/>
          </a:xfrm>
          <a:prstGeom prst="homePlate">
            <a:avLst>
              <a:gd name="adj" fmla="val 50000"/>
            </a:avLst>
          </a:prstGeom>
          <a:solidFill>
            <a:schemeClr val="lt1"/>
          </a:solidFill>
          <a:ln w="28575" cap="flat" cmpd="sng">
            <a:solidFill>
              <a:srgbClr val="002060"/>
            </a:solidFill>
            <a:prstDash val="solid"/>
            <a:round/>
            <a:headEnd type="none" w="sm" len="sm"/>
            <a:tailEnd type="none" w="sm" len="sm"/>
          </a:ln>
        </p:spPr>
        <p:txBody>
          <a:bodyPr spcFirstLastPara="1" wrap="square" lIns="91425" tIns="91425" rIns="91425" bIns="91425" anchor="ctr" anchorCtr="0">
            <a:noAutofit/>
          </a:bodyPr>
          <a:lstStyle/>
          <a:p>
            <a:pPr marL="0" indent="0" algn="ctr">
              <a:buNone/>
            </a:pPr>
            <a:r>
              <a:rPr lang="en-US" sz="1400" dirty="0">
                <a:solidFill>
                  <a:srgbClr val="1D2939"/>
                </a:solidFill>
                <a:latin typeface="Garamond" pitchFamily="34" charset="0"/>
                <a:ea typeface="Garamond" pitchFamily="34" charset="-122"/>
                <a:cs typeface="Garamond" pitchFamily="34" charset="-120"/>
              </a:rPr>
              <a:t>Governance &amp; Accounting</a:t>
            </a:r>
            <a:endParaRPr lang="en-US" sz="1400" dirty="0"/>
          </a:p>
          <a:p>
            <a:pPr marL="0" indent="0" algn="ctr">
              <a:buNone/>
            </a:pPr>
            <a:r>
              <a:rPr lang="en-US" sz="1400" dirty="0">
                <a:solidFill>
                  <a:srgbClr val="1D2939"/>
                </a:solidFill>
                <a:latin typeface="Garamond" pitchFamily="34" charset="0"/>
                <a:ea typeface="Garamond" pitchFamily="34" charset="-122"/>
                <a:cs typeface="Garamond" pitchFamily="34" charset="-120"/>
              </a:rPr>
              <a:t>Overhang (EY/BDO/DOJ)</a:t>
            </a:r>
            <a:endParaRPr lang="en-US" sz="1400" dirty="0"/>
          </a:p>
        </p:txBody>
      </p:sp>
      <p:grpSp>
        <p:nvGrpSpPr>
          <p:cNvPr id="457" name="Google Shape;457;p12"/>
          <p:cNvGrpSpPr/>
          <p:nvPr/>
        </p:nvGrpSpPr>
        <p:grpSpPr>
          <a:xfrm>
            <a:off x="3641148" y="2236349"/>
            <a:ext cx="2061000" cy="1129316"/>
            <a:chOff x="3641148" y="2236349"/>
            <a:chExt cx="2061000" cy="1129316"/>
          </a:xfrm>
        </p:grpSpPr>
        <p:sp>
          <p:nvSpPr>
            <p:cNvPr id="455" name="Google Shape;455;p12"/>
            <p:cNvSpPr/>
            <p:nvPr/>
          </p:nvSpPr>
          <p:spPr>
            <a:xfrm>
              <a:off x="3641149" y="2531365"/>
              <a:ext cx="2061000" cy="834300"/>
            </a:xfrm>
            <a:prstGeom prst="rect">
              <a:avLst/>
            </a:prstGeom>
            <a:solidFill>
              <a:srgbClr val="002060"/>
            </a:solidFill>
            <a:ln w="12700" cap="flat" cmpd="sng">
              <a:solidFill>
                <a:srgbClr val="E4E9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Clr>
                  <a:srgbClr val="000000"/>
                </a:buClr>
                <a:buSzPts val="1100"/>
                <a:buFont typeface="Arial"/>
                <a:buNone/>
              </a:pPr>
              <a:r>
                <a:rPr lang="en-US" sz="2000" b="1" i="0" u="none" strike="noStrike" cap="none" dirty="0">
                  <a:solidFill>
                    <a:schemeClr val="lt1"/>
                  </a:solidFill>
                  <a:latin typeface="Garamond"/>
                  <a:ea typeface="Garamond"/>
                  <a:cs typeface="Garamond"/>
                  <a:sym typeface="Garamond"/>
                </a:rPr>
                <a:t>High</a:t>
              </a:r>
              <a:endParaRPr sz="2000" b="1" i="0" u="none" strike="noStrike" cap="none" dirty="0">
                <a:solidFill>
                  <a:schemeClr val="lt1"/>
                </a:solidFill>
                <a:latin typeface="Garamond"/>
                <a:ea typeface="Garamond"/>
                <a:cs typeface="Garamond"/>
                <a:sym typeface="Garamond"/>
              </a:endParaRPr>
            </a:p>
          </p:txBody>
        </p:sp>
        <p:sp>
          <p:nvSpPr>
            <p:cNvPr id="458" name="Google Shape;458;p12"/>
            <p:cNvSpPr/>
            <p:nvPr/>
          </p:nvSpPr>
          <p:spPr>
            <a:xfrm>
              <a:off x="3641148" y="2236349"/>
              <a:ext cx="2061000" cy="206100"/>
            </a:xfrm>
            <a:prstGeom prst="rect">
              <a:avLst/>
            </a:prstGeom>
            <a:solidFill>
              <a:srgbClr val="001746"/>
            </a:solidFill>
            <a:ln w="12700" cap="flat" cmpd="sng">
              <a:solidFill>
                <a:srgbClr val="00174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200">
                  <a:solidFill>
                    <a:schemeClr val="lt1"/>
                  </a:solidFill>
                  <a:latin typeface="Garamond"/>
                  <a:ea typeface="Garamond"/>
                  <a:cs typeface="Garamond"/>
                  <a:sym typeface="Garamond"/>
                </a:rPr>
                <a:t>Level of Risk</a:t>
              </a:r>
              <a:endParaRPr sz="1200" b="0" i="0" u="none" strike="noStrike" cap="none">
                <a:solidFill>
                  <a:schemeClr val="lt1"/>
                </a:solidFill>
                <a:latin typeface="Garamond"/>
                <a:ea typeface="Garamond"/>
                <a:cs typeface="Garamond"/>
                <a:sym typeface="Garamond"/>
              </a:endParaRPr>
            </a:p>
          </p:txBody>
        </p:sp>
      </p:grpSp>
      <p:cxnSp>
        <p:nvCxnSpPr>
          <p:cNvPr id="459" name="Google Shape;459;p12"/>
          <p:cNvCxnSpPr/>
          <p:nvPr/>
        </p:nvCxnSpPr>
        <p:spPr>
          <a:xfrm>
            <a:off x="3592924" y="3476256"/>
            <a:ext cx="8311200" cy="24900"/>
          </a:xfrm>
          <a:prstGeom prst="straightConnector1">
            <a:avLst/>
          </a:prstGeom>
          <a:noFill/>
          <a:ln w="9525" cap="flat" cmpd="sng">
            <a:solidFill>
              <a:srgbClr val="001746"/>
            </a:solidFill>
            <a:prstDash val="solid"/>
            <a:miter lim="800000"/>
            <a:headEnd type="none" w="sm" len="sm"/>
            <a:tailEnd type="none" w="sm" len="sm"/>
          </a:ln>
        </p:spPr>
      </p:cxnSp>
      <p:sp>
        <p:nvSpPr>
          <p:cNvPr id="460" name="Google Shape;460;p12"/>
          <p:cNvSpPr/>
          <p:nvPr/>
        </p:nvSpPr>
        <p:spPr>
          <a:xfrm>
            <a:off x="6095751" y="3642586"/>
            <a:ext cx="5691300" cy="206100"/>
          </a:xfrm>
          <a:prstGeom prst="rect">
            <a:avLst/>
          </a:prstGeom>
          <a:solidFill>
            <a:srgbClr val="001746"/>
          </a:solidFill>
          <a:ln w="12700" cap="flat" cmpd="sng">
            <a:solidFill>
              <a:srgbClr val="00174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200">
                <a:solidFill>
                  <a:schemeClr val="lt1"/>
                </a:solidFill>
                <a:latin typeface="Garamond"/>
                <a:ea typeface="Garamond"/>
                <a:cs typeface="Garamond"/>
                <a:sym typeface="Garamond"/>
              </a:rPr>
              <a:t>Mitigation:</a:t>
            </a:r>
            <a:endParaRPr sz="1200" b="0" i="0" u="none" strike="noStrike" cap="none">
              <a:solidFill>
                <a:schemeClr val="lt1"/>
              </a:solidFill>
              <a:latin typeface="Garamond"/>
              <a:ea typeface="Garamond"/>
              <a:cs typeface="Garamond"/>
              <a:sym typeface="Garamond"/>
            </a:endParaRPr>
          </a:p>
        </p:txBody>
      </p:sp>
      <p:sp>
        <p:nvSpPr>
          <p:cNvPr id="461" name="Google Shape;461;p12"/>
          <p:cNvSpPr/>
          <p:nvPr/>
        </p:nvSpPr>
        <p:spPr>
          <a:xfrm>
            <a:off x="6095751" y="3938276"/>
            <a:ext cx="5677200" cy="834300"/>
          </a:xfrm>
          <a:prstGeom prst="rect">
            <a:avLst/>
          </a:prstGeom>
          <a:solidFill>
            <a:srgbClr val="E4E9F0"/>
          </a:solidFill>
          <a:ln w="12700" cap="flat" cmpd="sng">
            <a:solidFill>
              <a:srgbClr val="E4E9F0"/>
            </a:solidFill>
            <a:prstDash val="solid"/>
            <a:miter lim="800000"/>
            <a:headEnd type="none" w="sm" len="sm"/>
            <a:tailEnd type="none" w="sm" len="sm"/>
          </a:ln>
        </p:spPr>
        <p:txBody>
          <a:bodyPr spcFirstLastPara="1" wrap="square" lIns="91425" tIns="45700" rIns="91425" bIns="45700" anchor="ctr" anchorCtr="0">
            <a:noAutofit/>
          </a:bodyPr>
          <a:lstStyle/>
          <a:p>
            <a:pPr marL="0" indent="0" algn="ctr">
              <a:buNone/>
            </a:pPr>
            <a:r>
              <a:rPr lang="en-US" sz="1200" dirty="0">
                <a:solidFill>
                  <a:srgbClr val="1D2939"/>
                </a:solidFill>
                <a:latin typeface="Garamond" pitchFamily="34" charset="0"/>
                <a:ea typeface="Garamond" pitchFamily="34" charset="-122"/>
                <a:cs typeface="Garamond" pitchFamily="34" charset="-120"/>
              </a:rPr>
              <a:t>Enterprise AI adoption broadening customer base beyond </a:t>
            </a:r>
            <a:r>
              <a:rPr lang="en-US" sz="1200" dirty="0" err="1">
                <a:solidFill>
                  <a:srgbClr val="1D2939"/>
                </a:solidFill>
                <a:latin typeface="Garamond" pitchFamily="34" charset="0"/>
                <a:ea typeface="Garamond" pitchFamily="34" charset="-122"/>
                <a:cs typeface="Garamond" pitchFamily="34" charset="-120"/>
              </a:rPr>
              <a:t>hyperscalers</a:t>
            </a:r>
            <a:r>
              <a:rPr lang="en-US" sz="1200" dirty="0">
                <a:solidFill>
                  <a:srgbClr val="1D2939"/>
                </a:solidFill>
                <a:latin typeface="Garamond" pitchFamily="34" charset="0"/>
                <a:ea typeface="Garamond" pitchFamily="34" charset="-122"/>
                <a:cs typeface="Garamond" pitchFamily="34" charset="-120"/>
              </a:rPr>
              <a:t>. International expansion (Malaysia, Taiwan) diversifies geographic mix. $13B+ backlog from multiple </a:t>
            </a:r>
            <a:r>
              <a:rPr lang="en-US" sz="1200" dirty="0" err="1">
                <a:solidFill>
                  <a:srgbClr val="1D2939"/>
                </a:solidFill>
                <a:latin typeface="Garamond" pitchFamily="34" charset="0"/>
                <a:ea typeface="Garamond" pitchFamily="34" charset="-122"/>
                <a:cs typeface="Garamond" pitchFamily="34" charset="-120"/>
              </a:rPr>
              <a:t>hyperscalers</a:t>
            </a:r>
            <a:r>
              <a:rPr lang="en-US" sz="1200" dirty="0">
                <a:solidFill>
                  <a:srgbClr val="1D2939"/>
                </a:solidFill>
                <a:latin typeface="Garamond" pitchFamily="34" charset="0"/>
                <a:ea typeface="Garamond" pitchFamily="34" charset="-122"/>
                <a:cs typeface="Garamond" pitchFamily="34" charset="-120"/>
              </a:rPr>
              <a:t> provides some diversification within cloud segment.</a:t>
            </a:r>
            <a:endParaRPr lang="en-US" sz="1200" dirty="0"/>
          </a:p>
        </p:txBody>
      </p:sp>
      <p:cxnSp>
        <p:nvCxnSpPr>
          <p:cNvPr id="462" name="Google Shape;462;p12"/>
          <p:cNvCxnSpPr>
            <a:stCxn id="463" idx="3"/>
            <a:endCxn id="461" idx="1"/>
          </p:cNvCxnSpPr>
          <p:nvPr/>
        </p:nvCxnSpPr>
        <p:spPr>
          <a:xfrm>
            <a:off x="5702161" y="4354752"/>
            <a:ext cx="393600" cy="600"/>
          </a:xfrm>
          <a:prstGeom prst="straightConnector1">
            <a:avLst/>
          </a:prstGeom>
          <a:noFill/>
          <a:ln w="38100" cap="flat" cmpd="sng">
            <a:solidFill>
              <a:srgbClr val="E4E9F0"/>
            </a:solidFill>
            <a:prstDash val="dot"/>
            <a:miter lim="800000"/>
            <a:headEnd type="none" w="sm" len="sm"/>
            <a:tailEnd type="none" w="sm" len="sm"/>
          </a:ln>
        </p:spPr>
      </p:cxnSp>
      <p:sp>
        <p:nvSpPr>
          <p:cNvPr id="464" name="Google Shape;464;p12"/>
          <p:cNvSpPr/>
          <p:nvPr/>
        </p:nvSpPr>
        <p:spPr>
          <a:xfrm>
            <a:off x="76213" y="3790094"/>
            <a:ext cx="3395400" cy="834300"/>
          </a:xfrm>
          <a:prstGeom prst="homePlate">
            <a:avLst>
              <a:gd name="adj" fmla="val 50000"/>
            </a:avLst>
          </a:prstGeom>
          <a:solidFill>
            <a:schemeClr val="lt1"/>
          </a:solidFill>
          <a:ln w="28575" cap="flat" cmpd="sng">
            <a:solidFill>
              <a:srgbClr val="002060"/>
            </a:solidFill>
            <a:prstDash val="solid"/>
            <a:round/>
            <a:headEnd type="none" w="sm" len="sm"/>
            <a:tailEnd type="none" w="sm" len="sm"/>
          </a:ln>
        </p:spPr>
        <p:txBody>
          <a:bodyPr spcFirstLastPara="1" wrap="square" lIns="91425" tIns="91425" rIns="91425" bIns="91425" anchor="ctr" anchorCtr="0">
            <a:noAutofit/>
          </a:bodyPr>
          <a:lstStyle/>
          <a:p>
            <a:pPr marL="0" indent="0" algn="ctr">
              <a:buNone/>
            </a:pPr>
            <a:r>
              <a:rPr lang="en-US" sz="1400" dirty="0">
                <a:solidFill>
                  <a:srgbClr val="1D2939"/>
                </a:solidFill>
                <a:latin typeface="Garamond" pitchFamily="34" charset="0"/>
                <a:ea typeface="Garamond" pitchFamily="34" charset="-122"/>
                <a:cs typeface="Garamond" pitchFamily="34" charset="-120"/>
              </a:rPr>
              <a:t>Extreme Customer Concentration:</a:t>
            </a:r>
            <a:endParaRPr lang="en-US" sz="1400" dirty="0"/>
          </a:p>
          <a:p>
            <a:pPr marL="0" indent="0" algn="ctr">
              <a:buNone/>
            </a:pPr>
            <a:r>
              <a:rPr lang="en-US" sz="1400" dirty="0">
                <a:solidFill>
                  <a:srgbClr val="1D2939"/>
                </a:solidFill>
                <a:latin typeface="Garamond" pitchFamily="34" charset="0"/>
                <a:ea typeface="Garamond" pitchFamily="34" charset="-122"/>
                <a:cs typeface="Garamond" pitchFamily="34" charset="-120"/>
              </a:rPr>
              <a:t>One Customer = 63% of Revenue</a:t>
            </a:r>
            <a:endParaRPr lang="en-US" sz="1400" dirty="0"/>
          </a:p>
        </p:txBody>
      </p:sp>
      <p:grpSp>
        <p:nvGrpSpPr>
          <p:cNvPr id="465" name="Google Shape;465;p12"/>
          <p:cNvGrpSpPr/>
          <p:nvPr/>
        </p:nvGrpSpPr>
        <p:grpSpPr>
          <a:xfrm>
            <a:off x="3641161" y="3642586"/>
            <a:ext cx="2061000" cy="1129316"/>
            <a:chOff x="3641161" y="3642586"/>
            <a:chExt cx="2061000" cy="1129316"/>
          </a:xfrm>
        </p:grpSpPr>
        <p:sp>
          <p:nvSpPr>
            <p:cNvPr id="463" name="Google Shape;463;p12"/>
            <p:cNvSpPr/>
            <p:nvPr/>
          </p:nvSpPr>
          <p:spPr>
            <a:xfrm>
              <a:off x="3641161" y="3937602"/>
              <a:ext cx="2061000" cy="834300"/>
            </a:xfrm>
            <a:prstGeom prst="rect">
              <a:avLst/>
            </a:prstGeom>
            <a:solidFill>
              <a:srgbClr val="002060"/>
            </a:solidFill>
            <a:ln w="12700" cap="flat" cmpd="sng">
              <a:solidFill>
                <a:srgbClr val="E4E9F0"/>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lnSpc>
                  <a:spcPct val="115000"/>
                </a:lnSpc>
                <a:spcBef>
                  <a:spcPts val="0"/>
                </a:spcBef>
                <a:spcAft>
                  <a:spcPts val="0"/>
                </a:spcAft>
                <a:buClr>
                  <a:schemeClr val="dk1"/>
                </a:buClr>
                <a:buSzPts val="1100"/>
                <a:buFont typeface="Arial"/>
                <a:buNone/>
              </a:pPr>
              <a:r>
                <a:rPr lang="en-US" sz="2000" b="1">
                  <a:solidFill>
                    <a:schemeClr val="lt1"/>
                  </a:solidFill>
                  <a:latin typeface="Garamond"/>
                  <a:ea typeface="Garamond"/>
                  <a:cs typeface="Garamond"/>
                  <a:sym typeface="Garamond"/>
                </a:rPr>
                <a:t>Medium</a:t>
              </a:r>
              <a:endParaRPr sz="2000" b="1">
                <a:solidFill>
                  <a:schemeClr val="lt1"/>
                </a:solidFill>
                <a:latin typeface="Garamond"/>
                <a:ea typeface="Garamond"/>
                <a:cs typeface="Garamond"/>
                <a:sym typeface="Garamond"/>
              </a:endParaRPr>
            </a:p>
          </p:txBody>
        </p:sp>
        <p:sp>
          <p:nvSpPr>
            <p:cNvPr id="466" name="Google Shape;466;p12"/>
            <p:cNvSpPr/>
            <p:nvPr/>
          </p:nvSpPr>
          <p:spPr>
            <a:xfrm>
              <a:off x="3641161" y="3642586"/>
              <a:ext cx="2061000" cy="206100"/>
            </a:xfrm>
            <a:prstGeom prst="rect">
              <a:avLst/>
            </a:prstGeom>
            <a:solidFill>
              <a:srgbClr val="001746"/>
            </a:solidFill>
            <a:ln w="12700" cap="flat" cmpd="sng">
              <a:solidFill>
                <a:srgbClr val="00174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200">
                  <a:solidFill>
                    <a:schemeClr val="lt1"/>
                  </a:solidFill>
                  <a:latin typeface="Garamond"/>
                  <a:ea typeface="Garamond"/>
                  <a:cs typeface="Garamond"/>
                  <a:sym typeface="Garamond"/>
                </a:rPr>
                <a:t>Level of Risk</a:t>
              </a:r>
              <a:endParaRPr sz="1200" b="0" i="0" u="none" strike="noStrike" cap="none">
                <a:solidFill>
                  <a:schemeClr val="lt1"/>
                </a:solidFill>
                <a:latin typeface="Garamond"/>
                <a:ea typeface="Garamond"/>
                <a:cs typeface="Garamond"/>
                <a:sym typeface="Garamond"/>
              </a:endParaRPr>
            </a:p>
          </p:txBody>
        </p:sp>
      </p:grpSp>
      <p:cxnSp>
        <p:nvCxnSpPr>
          <p:cNvPr id="467" name="Google Shape;467;p12"/>
          <p:cNvCxnSpPr/>
          <p:nvPr/>
        </p:nvCxnSpPr>
        <p:spPr>
          <a:xfrm>
            <a:off x="3592936" y="4882493"/>
            <a:ext cx="8311200" cy="24900"/>
          </a:xfrm>
          <a:prstGeom prst="straightConnector1">
            <a:avLst/>
          </a:prstGeom>
          <a:noFill/>
          <a:ln w="9525" cap="flat" cmpd="sng">
            <a:solidFill>
              <a:srgbClr val="001746"/>
            </a:solidFill>
            <a:prstDash val="solid"/>
            <a:miter lim="800000"/>
            <a:headEnd type="none" w="sm" len="sm"/>
            <a:tailEnd type="none" w="sm" len="sm"/>
          </a:ln>
        </p:spPr>
      </p:cxnSp>
      <p:sp>
        <p:nvSpPr>
          <p:cNvPr id="468" name="Google Shape;468;p12"/>
          <p:cNvSpPr/>
          <p:nvPr/>
        </p:nvSpPr>
        <p:spPr>
          <a:xfrm>
            <a:off x="6095751" y="5071011"/>
            <a:ext cx="5691300" cy="206100"/>
          </a:xfrm>
          <a:prstGeom prst="rect">
            <a:avLst/>
          </a:prstGeom>
          <a:solidFill>
            <a:srgbClr val="001746"/>
          </a:solidFill>
          <a:ln w="12700" cap="flat" cmpd="sng">
            <a:solidFill>
              <a:srgbClr val="00174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200">
                <a:solidFill>
                  <a:schemeClr val="lt1"/>
                </a:solidFill>
                <a:latin typeface="Garamond"/>
                <a:ea typeface="Garamond"/>
                <a:cs typeface="Garamond"/>
                <a:sym typeface="Garamond"/>
              </a:rPr>
              <a:t>Mitigation:</a:t>
            </a:r>
            <a:endParaRPr sz="1200" b="0" i="0" u="none" strike="noStrike" cap="none">
              <a:solidFill>
                <a:schemeClr val="lt1"/>
              </a:solidFill>
              <a:latin typeface="Garamond"/>
              <a:ea typeface="Garamond"/>
              <a:cs typeface="Garamond"/>
              <a:sym typeface="Garamond"/>
            </a:endParaRPr>
          </a:p>
        </p:txBody>
      </p:sp>
      <p:sp>
        <p:nvSpPr>
          <p:cNvPr id="469" name="Google Shape;469;p12"/>
          <p:cNvSpPr/>
          <p:nvPr/>
        </p:nvSpPr>
        <p:spPr>
          <a:xfrm>
            <a:off x="6095751" y="5366701"/>
            <a:ext cx="5677200" cy="834300"/>
          </a:xfrm>
          <a:prstGeom prst="rect">
            <a:avLst/>
          </a:prstGeom>
          <a:solidFill>
            <a:srgbClr val="E4E9F0"/>
          </a:solidFill>
          <a:ln w="12700" cap="flat" cmpd="sng">
            <a:solidFill>
              <a:srgbClr val="E4E9F0"/>
            </a:solidFill>
            <a:prstDash val="solid"/>
            <a:miter lim="800000"/>
            <a:headEnd type="none" w="sm" len="sm"/>
            <a:tailEnd type="none" w="sm" len="sm"/>
          </a:ln>
        </p:spPr>
        <p:txBody>
          <a:bodyPr spcFirstLastPara="1" wrap="square" lIns="91425" tIns="45700" rIns="91425" bIns="45700" anchor="ctr" anchorCtr="0">
            <a:noAutofit/>
          </a:bodyPr>
          <a:lstStyle/>
          <a:p>
            <a:pPr marL="0" indent="0" algn="ctr">
              <a:buNone/>
            </a:pPr>
            <a:r>
              <a:rPr lang="en-US" sz="1200" dirty="0">
                <a:solidFill>
                  <a:srgbClr val="1D2939"/>
                </a:solidFill>
                <a:latin typeface="Garamond" pitchFamily="34" charset="0"/>
                <a:ea typeface="Garamond" pitchFamily="34" charset="-122"/>
                <a:cs typeface="Garamond" pitchFamily="34" charset="-120"/>
              </a:rPr>
              <a:t>SMCI diversifying with AMD MI300X/MI400 platforms. Strong NVIDIA partnership depth (first to ship GB200 NVL72) suggests favorable allocation. Multi-vendor strategy reduces single-supplier risk over 12-18 month horizon.</a:t>
            </a:r>
            <a:endParaRPr lang="en-US" sz="1200" dirty="0"/>
          </a:p>
        </p:txBody>
      </p:sp>
      <p:cxnSp>
        <p:nvCxnSpPr>
          <p:cNvPr id="470" name="Google Shape;470;p12"/>
          <p:cNvCxnSpPr>
            <a:stCxn id="471" idx="3"/>
            <a:endCxn id="469" idx="1"/>
          </p:cNvCxnSpPr>
          <p:nvPr/>
        </p:nvCxnSpPr>
        <p:spPr>
          <a:xfrm>
            <a:off x="5702161" y="5783177"/>
            <a:ext cx="393600" cy="600"/>
          </a:xfrm>
          <a:prstGeom prst="straightConnector1">
            <a:avLst/>
          </a:prstGeom>
          <a:noFill/>
          <a:ln w="38100" cap="flat" cmpd="sng">
            <a:solidFill>
              <a:srgbClr val="E4E9F0"/>
            </a:solidFill>
            <a:prstDash val="dot"/>
            <a:miter lim="800000"/>
            <a:headEnd type="none" w="sm" len="sm"/>
            <a:tailEnd type="none" w="sm" len="sm"/>
          </a:ln>
        </p:spPr>
      </p:cxnSp>
      <p:sp>
        <p:nvSpPr>
          <p:cNvPr id="472" name="Google Shape;472;p12"/>
          <p:cNvSpPr/>
          <p:nvPr/>
        </p:nvSpPr>
        <p:spPr>
          <a:xfrm>
            <a:off x="76213" y="5218519"/>
            <a:ext cx="3395400" cy="834300"/>
          </a:xfrm>
          <a:prstGeom prst="homePlate">
            <a:avLst>
              <a:gd name="adj" fmla="val 50000"/>
            </a:avLst>
          </a:prstGeom>
          <a:solidFill>
            <a:schemeClr val="lt1"/>
          </a:solidFill>
          <a:ln w="28575" cap="flat" cmpd="sng">
            <a:solidFill>
              <a:srgbClr val="002060"/>
            </a:solidFill>
            <a:prstDash val="solid"/>
            <a:round/>
            <a:headEnd type="none" w="sm" len="sm"/>
            <a:tailEnd type="none" w="sm" len="sm"/>
          </a:ln>
        </p:spPr>
        <p:txBody>
          <a:bodyPr spcFirstLastPara="1" wrap="square" lIns="91425" tIns="91425" rIns="91425" bIns="91425" anchor="ctr" anchorCtr="0">
            <a:noAutofit/>
          </a:bodyPr>
          <a:lstStyle/>
          <a:p>
            <a:pPr marL="0" indent="0" algn="ctr">
              <a:buNone/>
            </a:pPr>
            <a:r>
              <a:rPr lang="en-US" sz="1400" dirty="0">
                <a:solidFill>
                  <a:srgbClr val="1D2939"/>
                </a:solidFill>
                <a:latin typeface="Garamond" pitchFamily="34" charset="0"/>
                <a:ea typeface="Garamond" pitchFamily="34" charset="-122"/>
                <a:cs typeface="Garamond" pitchFamily="34" charset="-120"/>
              </a:rPr>
              <a:t>NVIDIA Supplier Dependency:</a:t>
            </a:r>
            <a:endParaRPr lang="en-US" sz="1400" dirty="0"/>
          </a:p>
          <a:p>
            <a:pPr marL="0" indent="0" algn="ctr">
              <a:buNone/>
            </a:pPr>
            <a:r>
              <a:rPr lang="en-US" sz="1400" dirty="0">
                <a:solidFill>
                  <a:srgbClr val="1D2939"/>
                </a:solidFill>
                <a:latin typeface="Garamond" pitchFamily="34" charset="0"/>
                <a:ea typeface="Garamond" pitchFamily="34" charset="-122"/>
                <a:cs typeface="Garamond" pitchFamily="34" charset="-120"/>
              </a:rPr>
              <a:t>~80%+ DC GPU Supply Control</a:t>
            </a:r>
            <a:endParaRPr lang="en-US" sz="1400" dirty="0"/>
          </a:p>
        </p:txBody>
      </p:sp>
      <p:grpSp>
        <p:nvGrpSpPr>
          <p:cNvPr id="473" name="Google Shape;473;p12"/>
          <p:cNvGrpSpPr/>
          <p:nvPr/>
        </p:nvGrpSpPr>
        <p:grpSpPr>
          <a:xfrm>
            <a:off x="3641161" y="5071011"/>
            <a:ext cx="2061000" cy="1129316"/>
            <a:chOff x="3641161" y="5071011"/>
            <a:chExt cx="2061000" cy="1129316"/>
          </a:xfrm>
        </p:grpSpPr>
        <p:sp>
          <p:nvSpPr>
            <p:cNvPr id="471" name="Google Shape;471;p12"/>
            <p:cNvSpPr/>
            <p:nvPr/>
          </p:nvSpPr>
          <p:spPr>
            <a:xfrm>
              <a:off x="3641161" y="5366027"/>
              <a:ext cx="2061000" cy="834300"/>
            </a:xfrm>
            <a:prstGeom prst="rect">
              <a:avLst/>
            </a:prstGeom>
            <a:solidFill>
              <a:srgbClr val="002060"/>
            </a:solidFill>
            <a:ln w="12700" cap="flat" cmpd="sng">
              <a:solidFill>
                <a:srgbClr val="E4E9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15000"/>
                </a:lnSpc>
                <a:spcBef>
                  <a:spcPts val="0"/>
                </a:spcBef>
                <a:spcAft>
                  <a:spcPts val="0"/>
                </a:spcAft>
                <a:buClr>
                  <a:srgbClr val="000000"/>
                </a:buClr>
                <a:buSzPts val="1100"/>
                <a:buFont typeface="Arial"/>
                <a:buNone/>
              </a:pPr>
              <a:r>
                <a:rPr lang="en-US" sz="2000" b="1">
                  <a:solidFill>
                    <a:schemeClr val="lt1"/>
                  </a:solidFill>
                  <a:latin typeface="Garamond"/>
                  <a:ea typeface="Garamond"/>
                  <a:cs typeface="Garamond"/>
                  <a:sym typeface="Garamond"/>
                </a:rPr>
                <a:t>Low</a:t>
              </a:r>
              <a:endParaRPr sz="2000" b="1" i="0" u="none" strike="noStrike" cap="none">
                <a:solidFill>
                  <a:schemeClr val="lt1"/>
                </a:solidFill>
                <a:latin typeface="Garamond"/>
                <a:ea typeface="Garamond"/>
                <a:cs typeface="Garamond"/>
                <a:sym typeface="Garamond"/>
              </a:endParaRPr>
            </a:p>
          </p:txBody>
        </p:sp>
        <p:sp>
          <p:nvSpPr>
            <p:cNvPr id="474" name="Google Shape;474;p12"/>
            <p:cNvSpPr/>
            <p:nvPr/>
          </p:nvSpPr>
          <p:spPr>
            <a:xfrm>
              <a:off x="3641161" y="5071011"/>
              <a:ext cx="2061000" cy="206100"/>
            </a:xfrm>
            <a:prstGeom prst="rect">
              <a:avLst/>
            </a:prstGeom>
            <a:solidFill>
              <a:srgbClr val="001746"/>
            </a:solidFill>
            <a:ln w="12700" cap="flat" cmpd="sng">
              <a:solidFill>
                <a:srgbClr val="00174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200">
                  <a:solidFill>
                    <a:schemeClr val="lt1"/>
                  </a:solidFill>
                  <a:latin typeface="Garamond"/>
                  <a:ea typeface="Garamond"/>
                  <a:cs typeface="Garamond"/>
                  <a:sym typeface="Garamond"/>
                </a:rPr>
                <a:t>Level of Risk</a:t>
              </a:r>
              <a:endParaRPr sz="1200" b="0" i="0" u="none" strike="noStrike" cap="none">
                <a:solidFill>
                  <a:schemeClr val="lt1"/>
                </a:solidFill>
                <a:latin typeface="Garamond"/>
                <a:ea typeface="Garamond"/>
                <a:cs typeface="Garamond"/>
                <a:sym typeface="Garamond"/>
              </a:endParaRPr>
            </a:p>
          </p:txBody>
        </p:sp>
      </p:grpSp>
      <p:pic>
        <p:nvPicPr>
          <p:cNvPr id="52" name="Picture 4" descr="SMCI - Super Micro Computer, Inc. Trademark Registration">
            <a:extLst>
              <a:ext uri="{FF2B5EF4-FFF2-40B4-BE49-F238E27FC236}">
                <a16:creationId xmlns:a16="http://schemas.microsoft.com/office/drawing/2014/main" id="{22D2215F-E59D-4C68-A15E-65BDCEF8DCA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001" b="17593"/>
          <a:stretch/>
        </p:blipFill>
        <p:spPr bwMode="auto">
          <a:xfrm>
            <a:off x="10032470" y="64180"/>
            <a:ext cx="2009003" cy="547501"/>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52">
            <a:extLst>
              <a:ext uri="{FF2B5EF4-FFF2-40B4-BE49-F238E27FC236}">
                <a16:creationId xmlns:a16="http://schemas.microsoft.com/office/drawing/2014/main" id="{35956326-E46B-4226-9132-B2B5E8DBBD69}"/>
              </a:ext>
            </a:extLst>
          </p:cNvPr>
          <p:cNvPicPr>
            <a:picLocks noChangeAspect="1"/>
          </p:cNvPicPr>
          <p:nvPr/>
        </p:nvPicPr>
        <p:blipFill>
          <a:blip r:embed="rId4"/>
          <a:stretch>
            <a:fillRect/>
          </a:stretch>
        </p:blipFill>
        <p:spPr>
          <a:xfrm>
            <a:off x="10160006" y="6379320"/>
            <a:ext cx="1422710" cy="46484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12"/>
          <p:cNvSpPr txBox="1"/>
          <p:nvPr/>
        </p:nvSpPr>
        <p:spPr>
          <a:xfrm>
            <a:off x="302129" y="101239"/>
            <a:ext cx="8232000" cy="554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3000" b="1" cap="small" dirty="0">
                <a:solidFill>
                  <a:srgbClr val="3F3F3F"/>
                </a:solidFill>
                <a:latin typeface="Garamond"/>
                <a:ea typeface="Garamond"/>
                <a:cs typeface="Garamond"/>
                <a:sym typeface="Garamond"/>
              </a:rPr>
              <a:t>CATALYSTS &amp; TIMELINE </a:t>
            </a:r>
            <a:endParaRPr sz="3000" b="0" i="0" u="none" strike="noStrike" cap="none" dirty="0">
              <a:solidFill>
                <a:schemeClr val="dk1"/>
              </a:solidFill>
              <a:latin typeface="Garamond"/>
              <a:ea typeface="Garamond"/>
              <a:cs typeface="Garamond"/>
              <a:sym typeface="Garamond"/>
            </a:endParaRPr>
          </a:p>
        </p:txBody>
      </p:sp>
      <p:cxnSp>
        <p:nvCxnSpPr>
          <p:cNvPr id="426" name="Google Shape;426;p12"/>
          <p:cNvCxnSpPr/>
          <p:nvPr/>
        </p:nvCxnSpPr>
        <p:spPr>
          <a:xfrm>
            <a:off x="270932" y="711202"/>
            <a:ext cx="11633100" cy="0"/>
          </a:xfrm>
          <a:prstGeom prst="straightConnector1">
            <a:avLst/>
          </a:prstGeom>
          <a:noFill/>
          <a:ln w="9525" cap="flat" cmpd="sng">
            <a:solidFill>
              <a:srgbClr val="001746"/>
            </a:solidFill>
            <a:prstDash val="solid"/>
            <a:miter lim="800000"/>
            <a:headEnd type="none" w="sm" len="sm"/>
            <a:tailEnd type="none" w="sm" len="sm"/>
          </a:ln>
        </p:spPr>
      </p:cxnSp>
      <p:sp>
        <p:nvSpPr>
          <p:cNvPr id="428" name="Google Shape;428;p12"/>
          <p:cNvSpPr/>
          <p:nvPr/>
        </p:nvSpPr>
        <p:spPr>
          <a:xfrm>
            <a:off x="839216" y="8319799"/>
            <a:ext cx="9066600" cy="229500"/>
          </a:xfrm>
          <a:prstGeom prst="rect">
            <a:avLst/>
          </a:prstGeom>
          <a:solidFill>
            <a:srgbClr val="001746"/>
          </a:solidFill>
          <a:ln w="12700" cap="flat" cmpd="sng">
            <a:solidFill>
              <a:srgbClr val="00174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200">
                <a:solidFill>
                  <a:schemeClr val="lt1"/>
                </a:solidFill>
                <a:latin typeface="Garamond"/>
                <a:ea typeface="Garamond"/>
                <a:cs typeface="Garamond"/>
                <a:sym typeface="Garamond"/>
              </a:rPr>
              <a:t>Forex Risk</a:t>
            </a:r>
            <a:endParaRPr sz="1200" b="0" i="0" u="none" strike="noStrike" cap="none">
              <a:solidFill>
                <a:schemeClr val="lt1"/>
              </a:solidFill>
              <a:latin typeface="Garamond"/>
              <a:ea typeface="Garamond"/>
              <a:cs typeface="Garamond"/>
              <a:sym typeface="Garamond"/>
            </a:endParaRPr>
          </a:p>
        </p:txBody>
      </p:sp>
      <p:sp>
        <p:nvSpPr>
          <p:cNvPr id="429" name="Google Shape;429;p12"/>
          <p:cNvSpPr/>
          <p:nvPr/>
        </p:nvSpPr>
        <p:spPr>
          <a:xfrm>
            <a:off x="838511" y="8650999"/>
            <a:ext cx="2702700" cy="929100"/>
          </a:xfrm>
          <a:prstGeom prst="rect">
            <a:avLst/>
          </a:prstGeom>
          <a:solidFill>
            <a:srgbClr val="E4E9F0"/>
          </a:solidFill>
          <a:ln w="12700" cap="flat" cmpd="sng">
            <a:solidFill>
              <a:srgbClr val="E4E9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200">
                <a:solidFill>
                  <a:schemeClr val="dk1"/>
                </a:solidFill>
                <a:latin typeface="Garamond"/>
                <a:ea typeface="Garamond"/>
                <a:cs typeface="Garamond"/>
                <a:sym typeface="Garamond"/>
              </a:rPr>
              <a:t>As a global shipping company, Danaos is exposed to currency risk that could affect its revenue and profit margins, especially if a large portion of its debt is denominated in a different currency than its earnings.</a:t>
            </a:r>
            <a:endParaRPr sz="1200" b="0" i="0" u="none" strike="noStrike" cap="none">
              <a:solidFill>
                <a:schemeClr val="dk1"/>
              </a:solidFill>
              <a:latin typeface="Garamond"/>
              <a:ea typeface="Garamond"/>
              <a:cs typeface="Garamond"/>
              <a:sym typeface="Garamond"/>
            </a:endParaRPr>
          </a:p>
        </p:txBody>
      </p:sp>
      <p:sp>
        <p:nvSpPr>
          <p:cNvPr id="431" name="Google Shape;431;p12"/>
          <p:cNvSpPr/>
          <p:nvPr/>
        </p:nvSpPr>
        <p:spPr>
          <a:xfrm>
            <a:off x="4508500" y="8651001"/>
            <a:ext cx="5293200" cy="929100"/>
          </a:xfrm>
          <a:prstGeom prst="rect">
            <a:avLst/>
          </a:prstGeom>
          <a:solidFill>
            <a:srgbClr val="E4E9F0"/>
          </a:solidFill>
          <a:ln w="12700" cap="flat" cmpd="sng">
            <a:solidFill>
              <a:srgbClr val="E4E9F0"/>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1100"/>
              <a:buFont typeface="Arial"/>
              <a:buNone/>
            </a:pPr>
            <a:r>
              <a:rPr lang="en-US" sz="1200">
                <a:solidFill>
                  <a:srgbClr val="001746"/>
                </a:solidFill>
                <a:latin typeface="Garamond"/>
                <a:ea typeface="Garamond"/>
                <a:cs typeface="Garamond"/>
                <a:sym typeface="Garamond"/>
              </a:rPr>
              <a:t>Danaos Corporation can mitigate currency risk by using natural hedging techniques, such as matching its currency flows, and by employing typical forex hedging instruments like forwards, futures, or options to manage its exposure to currency fluctuations</a:t>
            </a:r>
            <a:endParaRPr sz="1200">
              <a:solidFill>
                <a:srgbClr val="001746"/>
              </a:solidFill>
              <a:latin typeface="Garamond"/>
              <a:ea typeface="Garamond"/>
              <a:cs typeface="Garamond"/>
              <a:sym typeface="Garamond"/>
            </a:endParaRPr>
          </a:p>
        </p:txBody>
      </p:sp>
      <p:cxnSp>
        <p:nvCxnSpPr>
          <p:cNvPr id="434" name="Google Shape;434;p12"/>
          <p:cNvCxnSpPr/>
          <p:nvPr/>
        </p:nvCxnSpPr>
        <p:spPr>
          <a:xfrm>
            <a:off x="3541869" y="9091594"/>
            <a:ext cx="970200" cy="0"/>
          </a:xfrm>
          <a:prstGeom prst="straightConnector1">
            <a:avLst/>
          </a:prstGeom>
          <a:noFill/>
          <a:ln w="38100" cap="flat" cmpd="sng">
            <a:solidFill>
              <a:srgbClr val="E4E9F0"/>
            </a:solidFill>
            <a:prstDash val="dot"/>
            <a:miter lim="800000"/>
            <a:headEnd type="none" w="sm" len="sm"/>
            <a:tailEnd type="none" w="sm" len="sm"/>
          </a:ln>
        </p:spPr>
      </p:cxnSp>
      <p:cxnSp>
        <p:nvCxnSpPr>
          <p:cNvPr id="435" name="Google Shape;435;p12"/>
          <p:cNvCxnSpPr/>
          <p:nvPr/>
        </p:nvCxnSpPr>
        <p:spPr>
          <a:xfrm>
            <a:off x="270932" y="711202"/>
            <a:ext cx="11633100" cy="0"/>
          </a:xfrm>
          <a:prstGeom prst="straightConnector1">
            <a:avLst/>
          </a:prstGeom>
          <a:noFill/>
          <a:ln w="9525" cap="flat" cmpd="sng">
            <a:solidFill>
              <a:srgbClr val="001746"/>
            </a:solidFill>
            <a:prstDash val="solid"/>
            <a:miter lim="800000"/>
            <a:headEnd type="none" w="sm" len="sm"/>
            <a:tailEnd type="none" w="sm" len="sm"/>
          </a:ln>
        </p:spPr>
      </p:cxnSp>
      <p:sp>
        <p:nvSpPr>
          <p:cNvPr id="436" name="Google Shape;436;p12"/>
          <p:cNvSpPr/>
          <p:nvPr/>
        </p:nvSpPr>
        <p:spPr>
          <a:xfrm>
            <a:off x="1145042" y="6486133"/>
            <a:ext cx="1270500" cy="282000"/>
          </a:xfrm>
          <a:prstGeom prst="rect">
            <a:avLst/>
          </a:prstGeom>
          <a:solidFill>
            <a:srgbClr val="001746"/>
          </a:solidFill>
          <a:ln w="12700" cap="flat" cmpd="sng">
            <a:solidFill>
              <a:srgbClr val="00174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Company</a:t>
            </a:r>
            <a:endParaRPr sz="1400" b="0" i="0" u="none" strike="noStrike" cap="none">
              <a:solidFill>
                <a:schemeClr val="lt1"/>
              </a:solidFill>
              <a:latin typeface="Garamond"/>
              <a:ea typeface="Garamond"/>
              <a:cs typeface="Garamond"/>
              <a:sym typeface="Garamond"/>
            </a:endParaRPr>
          </a:p>
        </p:txBody>
      </p:sp>
      <p:sp>
        <p:nvSpPr>
          <p:cNvPr id="437" name="Google Shape;437;p12"/>
          <p:cNvSpPr/>
          <p:nvPr/>
        </p:nvSpPr>
        <p:spPr>
          <a:xfrm>
            <a:off x="2664119"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Industry</a:t>
            </a:r>
            <a:endParaRPr sz="1400" b="0" i="0" u="none" strike="noStrike" cap="none">
              <a:solidFill>
                <a:schemeClr val="lt1"/>
              </a:solidFill>
              <a:latin typeface="Garamond"/>
              <a:ea typeface="Garamond"/>
              <a:cs typeface="Garamond"/>
              <a:sym typeface="Garamond"/>
            </a:endParaRPr>
          </a:p>
        </p:txBody>
      </p:sp>
      <p:sp>
        <p:nvSpPr>
          <p:cNvPr id="438" name="Google Shape;438;p12"/>
          <p:cNvSpPr/>
          <p:nvPr/>
        </p:nvSpPr>
        <p:spPr>
          <a:xfrm>
            <a:off x="4183196"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Theses</a:t>
            </a:r>
            <a:endParaRPr sz="1400" b="0" i="0" u="none" strike="noStrike" cap="none">
              <a:solidFill>
                <a:schemeClr val="lt1"/>
              </a:solidFill>
              <a:latin typeface="Garamond"/>
              <a:ea typeface="Garamond"/>
              <a:cs typeface="Garamond"/>
              <a:sym typeface="Garamond"/>
            </a:endParaRPr>
          </a:p>
        </p:txBody>
      </p:sp>
      <p:sp>
        <p:nvSpPr>
          <p:cNvPr id="439" name="Google Shape;439;p12"/>
          <p:cNvSpPr/>
          <p:nvPr/>
        </p:nvSpPr>
        <p:spPr>
          <a:xfrm>
            <a:off x="7221349"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lt1"/>
                </a:solidFill>
                <a:latin typeface="Garamond"/>
                <a:ea typeface="Garamond"/>
                <a:cs typeface="Garamond"/>
                <a:sym typeface="Garamond"/>
              </a:rPr>
              <a:t>ESG</a:t>
            </a:r>
            <a:endParaRPr sz="1400" b="0" i="0" u="none" strike="noStrike" cap="none" dirty="0">
              <a:solidFill>
                <a:schemeClr val="lt1"/>
              </a:solidFill>
              <a:latin typeface="Garamond"/>
              <a:ea typeface="Garamond"/>
              <a:cs typeface="Garamond"/>
              <a:sym typeface="Garamond"/>
            </a:endParaRPr>
          </a:p>
        </p:txBody>
      </p:sp>
      <p:sp>
        <p:nvSpPr>
          <p:cNvPr id="440" name="Google Shape;440;p12"/>
          <p:cNvSpPr/>
          <p:nvPr/>
        </p:nvSpPr>
        <p:spPr>
          <a:xfrm>
            <a:off x="8740461" y="6486133"/>
            <a:ext cx="1270500" cy="282000"/>
          </a:xfrm>
          <a:prstGeom prst="rect">
            <a:avLst/>
          </a:prstGeom>
          <a:solidFill>
            <a:srgbClr val="041E4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Risks</a:t>
            </a:r>
            <a:endParaRPr sz="1400" b="0" i="0" u="none" strike="noStrike" cap="none">
              <a:solidFill>
                <a:schemeClr val="lt1"/>
              </a:solidFill>
              <a:latin typeface="Garamond"/>
              <a:ea typeface="Garamond"/>
              <a:cs typeface="Garamond"/>
              <a:sym typeface="Garamond"/>
            </a:endParaRPr>
          </a:p>
        </p:txBody>
      </p:sp>
      <p:sp>
        <p:nvSpPr>
          <p:cNvPr id="441" name="Google Shape;441;p12"/>
          <p:cNvSpPr/>
          <p:nvPr/>
        </p:nvSpPr>
        <p:spPr>
          <a:xfrm>
            <a:off x="5702272"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Value Adds</a:t>
            </a:r>
            <a:endParaRPr sz="1400" b="0" i="0" u="none" strike="noStrike" cap="none">
              <a:solidFill>
                <a:schemeClr val="lt1"/>
              </a:solidFill>
              <a:latin typeface="Garamond"/>
              <a:ea typeface="Garamond"/>
              <a:cs typeface="Garamond"/>
              <a:sym typeface="Garamond"/>
            </a:endParaRPr>
          </a:p>
        </p:txBody>
      </p:sp>
      <p:sp>
        <p:nvSpPr>
          <p:cNvPr id="442" name="Google Shape;442;p12"/>
          <p:cNvSpPr txBox="1">
            <a:spLocks noGrp="1"/>
          </p:cNvSpPr>
          <p:nvPr>
            <p:ph type="sldNum" idx="4294967295"/>
          </p:nvPr>
        </p:nvSpPr>
        <p:spPr>
          <a:xfrm>
            <a:off x="11520419" y="6466832"/>
            <a:ext cx="521100" cy="323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200"/>
              <a:buFont typeface="Arial"/>
              <a:buNone/>
            </a:pPr>
            <a:r>
              <a:rPr lang="en-US"/>
              <a:t>|  </a:t>
            </a:r>
            <a:fld id="{00000000-1234-1234-1234-123412341234}" type="slidenum">
              <a:rPr lang="en-US"/>
              <a:t>21</a:t>
            </a:fld>
            <a:endParaRPr/>
          </a:p>
        </p:txBody>
      </p:sp>
      <p:sp>
        <p:nvSpPr>
          <p:cNvPr id="443" name="Google Shape;443;p12"/>
          <p:cNvSpPr/>
          <p:nvPr/>
        </p:nvSpPr>
        <p:spPr>
          <a:xfrm>
            <a:off x="1145042" y="6486133"/>
            <a:ext cx="1270500" cy="2820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Company</a:t>
            </a:r>
            <a:endParaRPr sz="1400" b="0" i="0" u="none" strike="noStrike" cap="none">
              <a:solidFill>
                <a:schemeClr val="lt1"/>
              </a:solidFill>
              <a:latin typeface="Garamond"/>
              <a:ea typeface="Garamond"/>
              <a:cs typeface="Garamond"/>
              <a:sym typeface="Garamond"/>
            </a:endParaRPr>
          </a:p>
        </p:txBody>
      </p:sp>
      <p:sp>
        <p:nvSpPr>
          <p:cNvPr id="444" name="Google Shape;444;p12"/>
          <p:cNvSpPr/>
          <p:nvPr/>
        </p:nvSpPr>
        <p:spPr>
          <a:xfrm>
            <a:off x="2664119"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Industry</a:t>
            </a:r>
            <a:endParaRPr sz="1400" b="0" i="0" u="none" strike="noStrike" cap="none">
              <a:solidFill>
                <a:schemeClr val="lt1"/>
              </a:solidFill>
              <a:latin typeface="Garamond"/>
              <a:ea typeface="Garamond"/>
              <a:cs typeface="Garamond"/>
              <a:sym typeface="Garamond"/>
            </a:endParaRPr>
          </a:p>
        </p:txBody>
      </p:sp>
      <p:sp>
        <p:nvSpPr>
          <p:cNvPr id="445" name="Google Shape;445;p12"/>
          <p:cNvSpPr/>
          <p:nvPr/>
        </p:nvSpPr>
        <p:spPr>
          <a:xfrm>
            <a:off x="4183196"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Garamond"/>
                <a:ea typeface="Garamond"/>
                <a:cs typeface="Garamond"/>
                <a:sym typeface="Garamond"/>
              </a:rPr>
              <a:t>Theses</a:t>
            </a:r>
            <a:endParaRPr sz="1400" b="0" i="0" u="none" strike="noStrike" cap="none">
              <a:solidFill>
                <a:schemeClr val="lt1"/>
              </a:solidFill>
              <a:latin typeface="Garamond"/>
              <a:ea typeface="Garamond"/>
              <a:cs typeface="Garamond"/>
              <a:sym typeface="Garamond"/>
            </a:endParaRPr>
          </a:p>
        </p:txBody>
      </p:sp>
      <p:sp>
        <p:nvSpPr>
          <p:cNvPr id="446" name="Google Shape;446;p12"/>
          <p:cNvSpPr/>
          <p:nvPr/>
        </p:nvSpPr>
        <p:spPr>
          <a:xfrm>
            <a:off x="5702272" y="6486133"/>
            <a:ext cx="1270500" cy="2820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chemeClr val="lt1"/>
                </a:solidFill>
                <a:latin typeface="Garamond"/>
                <a:ea typeface="Garamond"/>
                <a:cs typeface="Garamond"/>
                <a:sym typeface="Garamond"/>
              </a:rPr>
              <a:t>Valuation</a:t>
            </a:r>
            <a:endParaRPr sz="1400" b="0" i="0" u="none" strike="noStrike" cap="none" dirty="0">
              <a:solidFill>
                <a:schemeClr val="lt1"/>
              </a:solidFill>
              <a:latin typeface="Garamond"/>
              <a:ea typeface="Garamond"/>
              <a:cs typeface="Garamond"/>
              <a:sym typeface="Garamond"/>
            </a:endParaRPr>
          </a:p>
        </p:txBody>
      </p:sp>
      <p:sp>
        <p:nvSpPr>
          <p:cNvPr id="450" name="Google Shape;450;p12"/>
          <p:cNvSpPr txBox="1"/>
          <p:nvPr/>
        </p:nvSpPr>
        <p:spPr>
          <a:xfrm>
            <a:off x="-1557050" y="0"/>
            <a:ext cx="1270500" cy="976200"/>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1" i="0" u="none" strike="noStrike" cap="none">
              <a:solidFill>
                <a:srgbClr val="FFFFFF"/>
              </a:solidFill>
              <a:latin typeface="Garamond"/>
              <a:ea typeface="Garamond"/>
              <a:cs typeface="Garamond"/>
              <a:sym typeface="Garamond"/>
            </a:endParaRPr>
          </a:p>
        </p:txBody>
      </p:sp>
      <p:pic>
        <p:nvPicPr>
          <p:cNvPr id="52" name="Picture 4" descr="SMCI - Super Micro Computer, Inc. Trademark Registration">
            <a:extLst>
              <a:ext uri="{FF2B5EF4-FFF2-40B4-BE49-F238E27FC236}">
                <a16:creationId xmlns:a16="http://schemas.microsoft.com/office/drawing/2014/main" id="{22D2215F-E59D-4C68-A15E-65BDCEF8DCA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001" b="17593"/>
          <a:stretch/>
        </p:blipFill>
        <p:spPr bwMode="auto">
          <a:xfrm>
            <a:off x="10032470" y="64180"/>
            <a:ext cx="2009003" cy="547501"/>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A6FF9423-E239-4C67-8D62-25E69E41F6BF}"/>
              </a:ext>
            </a:extLst>
          </p:cNvPr>
          <p:cNvPicPr>
            <a:picLocks noChangeAspect="1"/>
          </p:cNvPicPr>
          <p:nvPr/>
        </p:nvPicPr>
        <p:blipFill>
          <a:blip r:embed="rId4"/>
          <a:stretch>
            <a:fillRect/>
          </a:stretch>
        </p:blipFill>
        <p:spPr>
          <a:xfrm>
            <a:off x="419255" y="810724"/>
            <a:ext cx="11353489" cy="5421419"/>
          </a:xfrm>
          <a:prstGeom prst="rect">
            <a:avLst/>
          </a:prstGeom>
        </p:spPr>
      </p:pic>
      <p:pic>
        <p:nvPicPr>
          <p:cNvPr id="26" name="Picture 25">
            <a:extLst>
              <a:ext uri="{FF2B5EF4-FFF2-40B4-BE49-F238E27FC236}">
                <a16:creationId xmlns:a16="http://schemas.microsoft.com/office/drawing/2014/main" id="{23E102F8-4445-478A-94FA-AC8A761A4EB3}"/>
              </a:ext>
            </a:extLst>
          </p:cNvPr>
          <p:cNvPicPr>
            <a:picLocks noChangeAspect="1"/>
          </p:cNvPicPr>
          <p:nvPr/>
        </p:nvPicPr>
        <p:blipFill>
          <a:blip r:embed="rId5"/>
          <a:stretch>
            <a:fillRect/>
          </a:stretch>
        </p:blipFill>
        <p:spPr>
          <a:xfrm>
            <a:off x="10160006" y="6379320"/>
            <a:ext cx="1422710" cy="464846"/>
          </a:xfrm>
          <a:prstGeom prst="rect">
            <a:avLst/>
          </a:prstGeom>
        </p:spPr>
      </p:pic>
    </p:spTree>
    <p:extLst>
      <p:ext uri="{BB962C8B-B14F-4D97-AF65-F5344CB8AC3E}">
        <p14:creationId xmlns:p14="http://schemas.microsoft.com/office/powerpoint/2010/main" val="1299191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13"/>
          <p:cNvSpPr txBox="1"/>
          <p:nvPr/>
        </p:nvSpPr>
        <p:spPr>
          <a:xfrm>
            <a:off x="212554" y="101601"/>
            <a:ext cx="8232000" cy="554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3000" b="1" i="0" u="none" strike="noStrike" cap="small" dirty="0">
                <a:solidFill>
                  <a:srgbClr val="3F3F3F"/>
                </a:solidFill>
                <a:latin typeface="Garamond"/>
                <a:ea typeface="Garamond"/>
                <a:cs typeface="Garamond"/>
                <a:sym typeface="Garamond"/>
              </a:rPr>
              <a:t>Final Recommendation </a:t>
            </a:r>
            <a:endParaRPr sz="3000" b="0" i="0" u="none" strike="noStrike" cap="none" dirty="0">
              <a:solidFill>
                <a:schemeClr val="dk1"/>
              </a:solidFill>
              <a:latin typeface="Garamond"/>
              <a:ea typeface="Garamond"/>
              <a:cs typeface="Garamond"/>
              <a:sym typeface="Garamond"/>
            </a:endParaRPr>
          </a:p>
        </p:txBody>
      </p:sp>
      <p:cxnSp>
        <p:nvCxnSpPr>
          <p:cNvPr id="480" name="Google Shape;480;p13"/>
          <p:cNvCxnSpPr/>
          <p:nvPr/>
        </p:nvCxnSpPr>
        <p:spPr>
          <a:xfrm>
            <a:off x="270932" y="711202"/>
            <a:ext cx="11633201" cy="0"/>
          </a:xfrm>
          <a:prstGeom prst="straightConnector1">
            <a:avLst/>
          </a:prstGeom>
          <a:noFill/>
          <a:ln w="9525" cap="flat" cmpd="sng">
            <a:solidFill>
              <a:srgbClr val="001746"/>
            </a:solidFill>
            <a:prstDash val="solid"/>
            <a:miter lim="800000"/>
            <a:headEnd type="none" w="sm" len="sm"/>
            <a:tailEnd type="none" w="sm" len="sm"/>
          </a:ln>
        </p:spPr>
      </p:cxnSp>
      <p:sp>
        <p:nvSpPr>
          <p:cNvPr id="481" name="Google Shape;481;p13"/>
          <p:cNvSpPr/>
          <p:nvPr/>
        </p:nvSpPr>
        <p:spPr>
          <a:xfrm>
            <a:off x="408394" y="925925"/>
            <a:ext cx="5535600" cy="282000"/>
          </a:xfrm>
          <a:prstGeom prst="rect">
            <a:avLst/>
          </a:prstGeom>
          <a:solidFill>
            <a:srgbClr val="001746"/>
          </a:solidFill>
          <a:ln w="12700" cap="flat" cmpd="sng">
            <a:solidFill>
              <a:srgbClr val="00174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Garamond"/>
                <a:ea typeface="Garamond"/>
                <a:cs typeface="Garamond"/>
                <a:sym typeface="Garamond"/>
              </a:rPr>
              <a:t>Sensitivity Analysis</a:t>
            </a:r>
            <a:endParaRPr sz="1800" b="1" i="0" u="none" strike="noStrike" cap="none">
              <a:solidFill>
                <a:schemeClr val="lt1"/>
              </a:solidFill>
              <a:latin typeface="Garamond"/>
              <a:ea typeface="Garamond"/>
              <a:cs typeface="Garamond"/>
              <a:sym typeface="Garamond"/>
            </a:endParaRPr>
          </a:p>
        </p:txBody>
      </p:sp>
      <p:sp>
        <p:nvSpPr>
          <p:cNvPr id="482" name="Google Shape;482;p13"/>
          <p:cNvSpPr/>
          <p:nvPr/>
        </p:nvSpPr>
        <p:spPr>
          <a:xfrm>
            <a:off x="6248153" y="925925"/>
            <a:ext cx="5535600" cy="282000"/>
          </a:xfrm>
          <a:prstGeom prst="rect">
            <a:avLst/>
          </a:prstGeom>
          <a:solidFill>
            <a:srgbClr val="001746"/>
          </a:solidFill>
          <a:ln w="12700" cap="flat" cmpd="sng">
            <a:solidFill>
              <a:srgbClr val="00174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lt1"/>
                </a:solidFill>
                <a:latin typeface="Garamond"/>
                <a:ea typeface="Garamond"/>
                <a:cs typeface="Garamond"/>
                <a:sym typeface="Garamond"/>
              </a:rPr>
              <a:t>Investment </a:t>
            </a:r>
            <a:r>
              <a:rPr lang="en-US" sz="1800" b="1" dirty="0">
                <a:solidFill>
                  <a:schemeClr val="lt1"/>
                </a:solidFill>
                <a:latin typeface="Garamond"/>
                <a:ea typeface="Garamond"/>
                <a:cs typeface="Garamond"/>
                <a:sym typeface="Garamond"/>
              </a:rPr>
              <a:t>Points</a:t>
            </a:r>
            <a:endParaRPr sz="1800" b="1" i="0" u="none" strike="noStrike" cap="none" dirty="0">
              <a:solidFill>
                <a:schemeClr val="lt1"/>
              </a:solidFill>
              <a:latin typeface="Garamond"/>
              <a:ea typeface="Garamond"/>
              <a:cs typeface="Garamond"/>
              <a:sym typeface="Garamond"/>
            </a:endParaRPr>
          </a:p>
        </p:txBody>
      </p:sp>
      <p:sp>
        <p:nvSpPr>
          <p:cNvPr id="483" name="Google Shape;483;p13"/>
          <p:cNvSpPr/>
          <p:nvPr/>
        </p:nvSpPr>
        <p:spPr>
          <a:xfrm>
            <a:off x="6248153" y="1414921"/>
            <a:ext cx="580800" cy="346500"/>
          </a:xfrm>
          <a:prstGeom prst="rect">
            <a:avLst/>
          </a:prstGeom>
          <a:solidFill>
            <a:srgbClr val="001746"/>
          </a:solidFill>
          <a:ln w="12700" cap="flat" cmpd="sng">
            <a:solidFill>
              <a:srgbClr val="00174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Garamond"/>
                <a:ea typeface="Garamond"/>
                <a:cs typeface="Garamond"/>
                <a:sym typeface="Garamond"/>
              </a:rPr>
              <a:t>1</a:t>
            </a:r>
            <a:endParaRPr sz="1800" b="0" i="0" u="none" strike="noStrike" cap="none">
              <a:solidFill>
                <a:schemeClr val="lt1"/>
              </a:solidFill>
              <a:latin typeface="Garamond"/>
              <a:ea typeface="Garamond"/>
              <a:cs typeface="Garamond"/>
              <a:sym typeface="Garamond"/>
            </a:endParaRPr>
          </a:p>
        </p:txBody>
      </p:sp>
      <p:sp>
        <p:nvSpPr>
          <p:cNvPr id="484" name="Google Shape;484;p13"/>
          <p:cNvSpPr/>
          <p:nvPr/>
        </p:nvSpPr>
        <p:spPr>
          <a:xfrm>
            <a:off x="6843678" y="1414921"/>
            <a:ext cx="4939800" cy="346500"/>
          </a:xfrm>
          <a:prstGeom prst="rect">
            <a:avLst/>
          </a:prstGeom>
          <a:solidFill>
            <a:srgbClr val="E4E9F0"/>
          </a:solidFill>
          <a:ln w="12700" cap="flat" cmpd="sng">
            <a:solidFill>
              <a:srgbClr val="E4E9F0"/>
            </a:solidFill>
            <a:prstDash val="solid"/>
            <a:miter lim="800000"/>
            <a:headEnd type="none" w="sm" len="sm"/>
            <a:tailEnd type="none" w="sm" len="sm"/>
          </a:ln>
        </p:spPr>
        <p:txBody>
          <a:bodyPr spcFirstLastPara="1" wrap="square" lIns="91425" tIns="45700" rIns="91425" bIns="45700" anchor="ctr" anchorCtr="0">
            <a:noAutofit/>
          </a:bodyPr>
          <a:lstStyle/>
          <a:p>
            <a:pPr marL="0" indent="0" algn="ctr">
              <a:buNone/>
            </a:pPr>
            <a:r>
              <a:rPr lang="en-US" sz="1800" b="1" dirty="0">
                <a:solidFill>
                  <a:srgbClr val="1D2939"/>
                </a:solidFill>
                <a:latin typeface="Garamond" pitchFamily="34" charset="0"/>
                <a:ea typeface="Garamond" pitchFamily="34" charset="-122"/>
                <a:cs typeface="Garamond" pitchFamily="34" charset="-120"/>
              </a:rPr>
              <a:t>Purest AI Infrastructure Play</a:t>
            </a:r>
            <a:endParaRPr lang="en-US" sz="1800" dirty="0"/>
          </a:p>
        </p:txBody>
      </p:sp>
      <p:sp>
        <p:nvSpPr>
          <p:cNvPr id="485" name="Google Shape;485;p13"/>
          <p:cNvSpPr txBox="1"/>
          <p:nvPr/>
        </p:nvSpPr>
        <p:spPr>
          <a:xfrm>
            <a:off x="6248150" y="1830486"/>
            <a:ext cx="5535600" cy="738623"/>
          </a:xfrm>
          <a:prstGeom prst="rect">
            <a:avLst/>
          </a:prstGeom>
          <a:noFill/>
          <a:ln>
            <a:noFill/>
          </a:ln>
        </p:spPr>
        <p:txBody>
          <a:bodyPr spcFirstLastPara="1" wrap="square" lIns="91425" tIns="45700" rIns="91425" bIns="45700" anchor="t" anchorCtr="0">
            <a:spAutoFit/>
          </a:bodyPr>
          <a:lstStyle/>
          <a:p>
            <a:pPr marL="0" indent="0">
              <a:buNone/>
            </a:pPr>
            <a:r>
              <a:rPr lang="en-US" dirty="0">
                <a:solidFill>
                  <a:srgbClr val="1D2939"/>
                </a:solidFill>
                <a:latin typeface="Garamond" pitchFamily="34" charset="0"/>
                <a:ea typeface="Garamond" pitchFamily="34" charset="-122"/>
                <a:cs typeface="Garamond" pitchFamily="34" charset="-120"/>
              </a:rPr>
              <a:t>Fastest-growing server OEM globally; $40B+ FY2026 revenue with $13B+ Blackwell Ultra backlog. AI server TAM growing at 28% CAGR to $400B+ by 2028.</a:t>
            </a:r>
            <a:endParaRPr lang="en-US" dirty="0"/>
          </a:p>
        </p:txBody>
      </p:sp>
      <p:sp>
        <p:nvSpPr>
          <p:cNvPr id="486" name="Google Shape;486;p13"/>
          <p:cNvSpPr/>
          <p:nvPr/>
        </p:nvSpPr>
        <p:spPr>
          <a:xfrm>
            <a:off x="6248153" y="2546174"/>
            <a:ext cx="580800" cy="346500"/>
          </a:xfrm>
          <a:prstGeom prst="rect">
            <a:avLst/>
          </a:prstGeom>
          <a:solidFill>
            <a:srgbClr val="001746"/>
          </a:solidFill>
          <a:ln w="12700" cap="flat" cmpd="sng">
            <a:solidFill>
              <a:srgbClr val="00174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Garamond"/>
                <a:ea typeface="Garamond"/>
                <a:cs typeface="Garamond"/>
                <a:sym typeface="Garamond"/>
              </a:rPr>
              <a:t>2</a:t>
            </a:r>
            <a:endParaRPr sz="1800" b="0" i="0" u="none" strike="noStrike" cap="none">
              <a:solidFill>
                <a:schemeClr val="lt1"/>
              </a:solidFill>
              <a:latin typeface="Garamond"/>
              <a:ea typeface="Garamond"/>
              <a:cs typeface="Garamond"/>
              <a:sym typeface="Garamond"/>
            </a:endParaRPr>
          </a:p>
        </p:txBody>
      </p:sp>
      <p:sp>
        <p:nvSpPr>
          <p:cNvPr id="487" name="Google Shape;487;p13"/>
          <p:cNvSpPr/>
          <p:nvPr/>
        </p:nvSpPr>
        <p:spPr>
          <a:xfrm>
            <a:off x="6843678" y="2546174"/>
            <a:ext cx="4939800" cy="346500"/>
          </a:xfrm>
          <a:prstGeom prst="rect">
            <a:avLst/>
          </a:prstGeom>
          <a:solidFill>
            <a:srgbClr val="E4E9F0"/>
          </a:solidFill>
          <a:ln w="12700" cap="flat" cmpd="sng">
            <a:solidFill>
              <a:srgbClr val="E4E9F0"/>
            </a:solidFill>
            <a:prstDash val="solid"/>
            <a:miter lim="800000"/>
            <a:headEnd type="none" w="sm" len="sm"/>
            <a:tailEnd type="none" w="sm" len="sm"/>
          </a:ln>
        </p:spPr>
        <p:txBody>
          <a:bodyPr spcFirstLastPara="1" wrap="square" lIns="91425" tIns="45700" rIns="91425" bIns="45700" anchor="ctr" anchorCtr="0">
            <a:noAutofit/>
          </a:bodyPr>
          <a:lstStyle/>
          <a:p>
            <a:pPr marL="0" indent="0" algn="ctr">
              <a:buNone/>
            </a:pPr>
            <a:r>
              <a:rPr lang="en-US" sz="1800" b="1" dirty="0">
                <a:solidFill>
                  <a:srgbClr val="1D2939"/>
                </a:solidFill>
                <a:latin typeface="Garamond" pitchFamily="34" charset="0"/>
                <a:ea typeface="Garamond" pitchFamily="34" charset="-122"/>
                <a:cs typeface="Garamond" pitchFamily="34" charset="-120"/>
              </a:rPr>
              <a:t>DLC Market Leadership</a:t>
            </a:r>
            <a:endParaRPr lang="en-US" sz="1800" dirty="0"/>
          </a:p>
        </p:txBody>
      </p:sp>
      <p:sp>
        <p:nvSpPr>
          <p:cNvPr id="488" name="Google Shape;488;p13"/>
          <p:cNvSpPr txBox="1"/>
          <p:nvPr/>
        </p:nvSpPr>
        <p:spPr>
          <a:xfrm>
            <a:off x="6248025" y="2959964"/>
            <a:ext cx="5535600" cy="738623"/>
          </a:xfrm>
          <a:prstGeom prst="rect">
            <a:avLst/>
          </a:prstGeom>
          <a:noFill/>
          <a:ln>
            <a:noFill/>
          </a:ln>
        </p:spPr>
        <p:txBody>
          <a:bodyPr spcFirstLastPara="1" wrap="square" lIns="91425" tIns="45700" rIns="91425" bIns="45700" anchor="t" anchorCtr="0">
            <a:spAutoFit/>
          </a:bodyPr>
          <a:lstStyle/>
          <a:p>
            <a:pPr marL="0" indent="0">
              <a:buNone/>
            </a:pPr>
            <a:r>
              <a:rPr lang="en-US" dirty="0">
                <a:solidFill>
                  <a:srgbClr val="1D2939"/>
                </a:solidFill>
                <a:latin typeface="Garamond" pitchFamily="34" charset="0"/>
                <a:ea typeface="Garamond" pitchFamily="34" charset="-122"/>
                <a:cs typeface="Garamond" pitchFamily="34" charset="-120"/>
              </a:rPr>
              <a:t>25-30% share in liquid cooling with 12-18mo tech lead. GB200 NVL72 requires 100% DLC attach, scaling SMCI's advantage with NVIDIA's roadmap.</a:t>
            </a:r>
            <a:endParaRPr lang="en-US" dirty="0"/>
          </a:p>
        </p:txBody>
      </p:sp>
      <p:sp>
        <p:nvSpPr>
          <p:cNvPr id="489" name="Google Shape;489;p13"/>
          <p:cNvSpPr/>
          <p:nvPr/>
        </p:nvSpPr>
        <p:spPr>
          <a:xfrm>
            <a:off x="6248153" y="3673864"/>
            <a:ext cx="580800" cy="346500"/>
          </a:xfrm>
          <a:prstGeom prst="rect">
            <a:avLst/>
          </a:prstGeom>
          <a:solidFill>
            <a:srgbClr val="001746"/>
          </a:solidFill>
          <a:ln w="12700" cap="flat" cmpd="sng">
            <a:solidFill>
              <a:srgbClr val="00174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Garamond"/>
                <a:ea typeface="Garamond"/>
                <a:cs typeface="Garamond"/>
                <a:sym typeface="Garamond"/>
              </a:rPr>
              <a:t>3</a:t>
            </a:r>
            <a:endParaRPr sz="1800" b="0" i="0" u="none" strike="noStrike" cap="none">
              <a:solidFill>
                <a:schemeClr val="lt1"/>
              </a:solidFill>
              <a:latin typeface="Garamond"/>
              <a:ea typeface="Garamond"/>
              <a:cs typeface="Garamond"/>
              <a:sym typeface="Garamond"/>
            </a:endParaRPr>
          </a:p>
        </p:txBody>
      </p:sp>
      <p:sp>
        <p:nvSpPr>
          <p:cNvPr id="490" name="Google Shape;490;p13"/>
          <p:cNvSpPr/>
          <p:nvPr/>
        </p:nvSpPr>
        <p:spPr>
          <a:xfrm>
            <a:off x="6843678" y="3673864"/>
            <a:ext cx="4939800" cy="346500"/>
          </a:xfrm>
          <a:prstGeom prst="rect">
            <a:avLst/>
          </a:prstGeom>
          <a:solidFill>
            <a:srgbClr val="E4E9F0"/>
          </a:solidFill>
          <a:ln w="12700" cap="flat" cmpd="sng">
            <a:solidFill>
              <a:srgbClr val="E4E9F0"/>
            </a:solidFill>
            <a:prstDash val="solid"/>
            <a:miter lim="800000"/>
            <a:headEnd type="none" w="sm" len="sm"/>
            <a:tailEnd type="none" w="sm" len="sm"/>
          </a:ln>
        </p:spPr>
        <p:txBody>
          <a:bodyPr spcFirstLastPara="1" wrap="square" lIns="91425" tIns="45700" rIns="91425" bIns="45700" anchor="ctr" anchorCtr="0">
            <a:noAutofit/>
          </a:bodyPr>
          <a:lstStyle/>
          <a:p>
            <a:pPr algn="ctr">
              <a:buSzPts val="1800"/>
            </a:pPr>
            <a:r>
              <a:rPr lang="en-US" sz="1800" b="1" dirty="0">
                <a:solidFill>
                  <a:srgbClr val="1D2939"/>
                </a:solidFill>
                <a:latin typeface="Garamond" pitchFamily="34" charset="0"/>
                <a:ea typeface="Garamond" pitchFamily="34" charset="-122"/>
                <a:cs typeface="Garamond" pitchFamily="34" charset="-120"/>
              </a:rPr>
              <a:t>Growth-Adjusted Undervaluation</a:t>
            </a:r>
            <a:endParaRPr lang="en-US" sz="1800" dirty="0"/>
          </a:p>
        </p:txBody>
      </p:sp>
      <p:sp>
        <p:nvSpPr>
          <p:cNvPr id="491" name="Google Shape;491;p13"/>
          <p:cNvSpPr txBox="1"/>
          <p:nvPr/>
        </p:nvSpPr>
        <p:spPr>
          <a:xfrm>
            <a:off x="6248025" y="4098943"/>
            <a:ext cx="5535600" cy="523180"/>
          </a:xfrm>
          <a:prstGeom prst="rect">
            <a:avLst/>
          </a:prstGeom>
          <a:noFill/>
          <a:ln>
            <a:noFill/>
          </a:ln>
        </p:spPr>
        <p:txBody>
          <a:bodyPr spcFirstLastPara="1" wrap="square" lIns="91425" tIns="45700" rIns="91425" bIns="45700" anchor="t" anchorCtr="0">
            <a:spAutoFit/>
          </a:bodyPr>
          <a:lstStyle/>
          <a:p>
            <a:pPr marL="0" indent="0">
              <a:buNone/>
            </a:pPr>
            <a:r>
              <a:rPr lang="en-US" dirty="0">
                <a:solidFill>
                  <a:srgbClr val="1D2939"/>
                </a:solidFill>
                <a:latin typeface="Garamond" pitchFamily="34" charset="0"/>
                <a:ea typeface="Garamond" pitchFamily="34" charset="-122"/>
                <a:cs typeface="Garamond" pitchFamily="34" charset="-120"/>
              </a:rPr>
              <a:t>PEG of 0.65 vs. peer average 1.2 implies ~70% growth-adjusted discount. Forward P/E ~13x at 80%+ revenue growth is compelling.</a:t>
            </a:r>
            <a:endParaRPr lang="en-US" dirty="0"/>
          </a:p>
        </p:txBody>
      </p:sp>
      <p:cxnSp>
        <p:nvCxnSpPr>
          <p:cNvPr id="492" name="Google Shape;492;p13"/>
          <p:cNvCxnSpPr/>
          <p:nvPr/>
        </p:nvCxnSpPr>
        <p:spPr>
          <a:xfrm>
            <a:off x="270932" y="711202"/>
            <a:ext cx="11633100" cy="0"/>
          </a:xfrm>
          <a:prstGeom prst="straightConnector1">
            <a:avLst/>
          </a:prstGeom>
          <a:noFill/>
          <a:ln w="9525" cap="flat" cmpd="sng">
            <a:solidFill>
              <a:srgbClr val="001746"/>
            </a:solidFill>
            <a:prstDash val="solid"/>
            <a:miter lim="800000"/>
            <a:headEnd type="none" w="sm" len="sm"/>
            <a:tailEnd type="none" w="sm" len="sm"/>
          </a:ln>
        </p:spPr>
      </p:cxnSp>
      <p:sp>
        <p:nvSpPr>
          <p:cNvPr id="493" name="Google Shape;493;p13"/>
          <p:cNvSpPr txBox="1">
            <a:spLocks noGrp="1"/>
          </p:cNvSpPr>
          <p:nvPr>
            <p:ph type="sldNum" idx="4294967295"/>
          </p:nvPr>
        </p:nvSpPr>
        <p:spPr>
          <a:xfrm>
            <a:off x="11520419" y="6466832"/>
            <a:ext cx="521100" cy="323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00000"/>
              </a:buClr>
              <a:buSzPts val="1200"/>
              <a:buFont typeface="Arial"/>
              <a:buNone/>
            </a:pPr>
            <a:r>
              <a:rPr lang="en-US"/>
              <a:t>|  </a:t>
            </a:r>
            <a:fld id="{00000000-1234-1234-1234-123412341234}" type="slidenum">
              <a:rPr lang="en-US"/>
              <a:t>22</a:t>
            </a:fld>
            <a:endParaRPr/>
          </a:p>
        </p:txBody>
      </p:sp>
      <p:sp>
        <p:nvSpPr>
          <p:cNvPr id="494" name="Google Shape;494;p13"/>
          <p:cNvSpPr/>
          <p:nvPr/>
        </p:nvSpPr>
        <p:spPr>
          <a:xfrm>
            <a:off x="408400" y="1387149"/>
            <a:ext cx="5535600" cy="2808597"/>
          </a:xfrm>
          <a:prstGeom prst="rect">
            <a:avLst/>
          </a:prstGeom>
          <a:noFill/>
          <a:ln>
            <a:noFill/>
          </a:ln>
        </p:spPr>
        <p:txBody>
          <a:bodyPr spcFirstLastPara="1" wrap="square" lIns="91425" tIns="45700" rIns="91425" bIns="45700" anchor="ctr" anchorCtr="0">
            <a:noAutofit/>
          </a:bodyPr>
          <a:lstStyle/>
          <a:p>
            <a:pPr algn="ctr">
              <a:lnSpc>
                <a:spcPct val="150000"/>
              </a:lnSpc>
              <a:buClr>
                <a:schemeClr val="dk1"/>
              </a:buClr>
              <a:buSzPts val="2700"/>
            </a:pPr>
            <a:r>
              <a:rPr lang="en-US" sz="2400" b="1" kern="0" spc="200" dirty="0">
                <a:solidFill>
                  <a:srgbClr val="1D2939"/>
                </a:solidFill>
                <a:latin typeface="Garamond" pitchFamily="34" charset="0"/>
                <a:ea typeface="Garamond" pitchFamily="34" charset="-122"/>
                <a:cs typeface="Garamond" pitchFamily="34" charset="-120"/>
              </a:rPr>
              <a:t>BLENDED TARGET PRICE:</a:t>
            </a:r>
            <a:endParaRPr lang="en-US" sz="2400" dirty="0"/>
          </a:p>
          <a:p>
            <a:pPr algn="ctr">
              <a:lnSpc>
                <a:spcPct val="150000"/>
              </a:lnSpc>
              <a:buClr>
                <a:schemeClr val="dk1"/>
              </a:buClr>
              <a:buSzPts val="2700"/>
            </a:pPr>
            <a:r>
              <a:rPr lang="en-US" sz="2400" b="1" dirty="0">
                <a:solidFill>
                  <a:srgbClr val="1D2939"/>
                </a:solidFill>
                <a:latin typeface="Garamond" pitchFamily="34" charset="0"/>
                <a:ea typeface="Garamond" pitchFamily="34" charset="-122"/>
                <a:cs typeface="Garamond" pitchFamily="34" charset="-120"/>
              </a:rPr>
              <a:t>(34%-113% Upside) </a:t>
            </a:r>
            <a:r>
              <a:rPr lang="en-US" sz="2400" b="1" cap="small" dirty="0">
                <a:solidFill>
                  <a:srgbClr val="1D2939"/>
                </a:solidFill>
                <a:latin typeface="Garamond" pitchFamily="34" charset="0"/>
                <a:ea typeface="Garamond"/>
                <a:cs typeface="Garamond"/>
                <a:sym typeface="Garamond"/>
              </a:rPr>
              <a:t>$41-$65</a:t>
            </a:r>
          </a:p>
          <a:p>
            <a:pPr algn="ctr">
              <a:lnSpc>
                <a:spcPct val="150000"/>
              </a:lnSpc>
              <a:buClr>
                <a:schemeClr val="dk1"/>
              </a:buClr>
              <a:buSzPts val="2700"/>
            </a:pPr>
            <a:endParaRPr lang="en-US" sz="2400" b="1" cap="small" dirty="0">
              <a:solidFill>
                <a:srgbClr val="1D2939"/>
              </a:solidFill>
              <a:latin typeface="Garamond" pitchFamily="34" charset="0"/>
              <a:ea typeface="Garamond"/>
              <a:cs typeface="Garamond"/>
              <a:sym typeface="Garamond"/>
            </a:endParaRPr>
          </a:p>
          <a:p>
            <a:pPr algn="ctr">
              <a:lnSpc>
                <a:spcPct val="150000"/>
              </a:lnSpc>
              <a:buClr>
                <a:schemeClr val="dk1"/>
              </a:buClr>
              <a:buSzPts val="2700"/>
            </a:pPr>
            <a:endParaRPr lang="en-US" sz="2400" b="1" cap="small" dirty="0">
              <a:solidFill>
                <a:srgbClr val="1D2939"/>
              </a:solidFill>
              <a:latin typeface="Garamond" pitchFamily="34" charset="0"/>
              <a:ea typeface="Garamond"/>
              <a:cs typeface="Garamond"/>
              <a:sym typeface="Garamond"/>
            </a:endParaRPr>
          </a:p>
          <a:p>
            <a:pPr algn="ctr">
              <a:lnSpc>
                <a:spcPct val="150000"/>
              </a:lnSpc>
              <a:buClr>
                <a:schemeClr val="dk1"/>
              </a:buClr>
              <a:buSzPts val="2700"/>
            </a:pPr>
            <a:r>
              <a:rPr lang="en-US" sz="2400" b="1" cap="small" dirty="0">
                <a:solidFill>
                  <a:schemeClr val="dk1"/>
                </a:solidFill>
                <a:latin typeface="Garamond"/>
                <a:ea typeface="Garamond"/>
                <a:cs typeface="Garamond"/>
                <a:sym typeface="Garamond"/>
              </a:rPr>
              <a:t> </a:t>
            </a:r>
          </a:p>
        </p:txBody>
      </p:sp>
      <p:sp>
        <p:nvSpPr>
          <p:cNvPr id="495" name="Google Shape;495;p13"/>
          <p:cNvSpPr/>
          <p:nvPr/>
        </p:nvSpPr>
        <p:spPr>
          <a:xfrm>
            <a:off x="408400" y="4857041"/>
            <a:ext cx="5535600" cy="282000"/>
          </a:xfrm>
          <a:prstGeom prst="rect">
            <a:avLst/>
          </a:prstGeom>
          <a:solidFill>
            <a:srgbClr val="001746"/>
          </a:solidFill>
          <a:ln w="12700" cap="flat" cmpd="sng">
            <a:solidFill>
              <a:srgbClr val="00174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Garamond"/>
                <a:ea typeface="Garamond"/>
                <a:cs typeface="Garamond"/>
                <a:sym typeface="Garamond"/>
              </a:rPr>
              <a:t>Key Metrics</a:t>
            </a:r>
            <a:endParaRPr sz="1800" b="1" i="0" u="none" strike="noStrike" cap="none">
              <a:solidFill>
                <a:schemeClr val="lt1"/>
              </a:solidFill>
              <a:latin typeface="Garamond"/>
              <a:ea typeface="Garamond"/>
              <a:cs typeface="Garamond"/>
              <a:sym typeface="Garamond"/>
            </a:endParaRPr>
          </a:p>
        </p:txBody>
      </p:sp>
      <p:sp>
        <p:nvSpPr>
          <p:cNvPr id="496" name="Google Shape;496;p13"/>
          <p:cNvSpPr/>
          <p:nvPr/>
        </p:nvSpPr>
        <p:spPr>
          <a:xfrm>
            <a:off x="9009078" y="5234652"/>
            <a:ext cx="2774400" cy="1134600"/>
          </a:xfrm>
          <a:prstGeom prst="rect">
            <a:avLst/>
          </a:prstGeom>
          <a:solidFill>
            <a:srgbClr val="001746"/>
          </a:solidFill>
          <a:ln w="12700" cap="flat" cmpd="sng">
            <a:solidFill>
              <a:srgbClr val="00174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b="1" u="sng">
                <a:solidFill>
                  <a:schemeClr val="lt1"/>
                </a:solidFill>
                <a:latin typeface="Garamond"/>
                <a:ea typeface="Garamond"/>
                <a:cs typeface="Garamond"/>
                <a:sym typeface="Garamond"/>
              </a:rPr>
              <a:t>Better Management: </a:t>
            </a:r>
            <a:endParaRPr b="1" u="sng">
              <a:solidFill>
                <a:schemeClr val="lt1"/>
              </a:solidFill>
              <a:latin typeface="Garamond"/>
              <a:ea typeface="Garamond"/>
              <a:cs typeface="Garamond"/>
              <a:sym typeface="Garamond"/>
            </a:endParaRPr>
          </a:p>
        </p:txBody>
      </p:sp>
      <p:sp>
        <p:nvSpPr>
          <p:cNvPr id="497" name="Google Shape;497;p13"/>
          <p:cNvSpPr/>
          <p:nvPr/>
        </p:nvSpPr>
        <p:spPr>
          <a:xfrm>
            <a:off x="6248235" y="5234552"/>
            <a:ext cx="2636700" cy="1134600"/>
          </a:xfrm>
          <a:prstGeom prst="rect">
            <a:avLst/>
          </a:prstGeom>
          <a:solidFill>
            <a:srgbClr val="E4E9F0"/>
          </a:solidFill>
          <a:ln w="12700" cap="flat" cmpd="sng">
            <a:solidFill>
              <a:srgbClr val="E4E9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b="1" u="sng">
                <a:solidFill>
                  <a:srgbClr val="001746"/>
                </a:solidFill>
                <a:latin typeface="Garamond"/>
                <a:ea typeface="Garamond"/>
                <a:cs typeface="Garamond"/>
                <a:sym typeface="Garamond"/>
              </a:rPr>
              <a:t>Lease Optimization: </a:t>
            </a:r>
            <a:endParaRPr b="1" u="sng">
              <a:solidFill>
                <a:srgbClr val="001746"/>
              </a:solidFill>
              <a:latin typeface="Garamond"/>
              <a:ea typeface="Garamond"/>
              <a:cs typeface="Garamond"/>
              <a:sym typeface="Garamond"/>
            </a:endParaRPr>
          </a:p>
        </p:txBody>
      </p:sp>
      <p:sp>
        <p:nvSpPr>
          <p:cNvPr id="498" name="Google Shape;498;p13"/>
          <p:cNvSpPr/>
          <p:nvPr/>
        </p:nvSpPr>
        <p:spPr>
          <a:xfrm>
            <a:off x="8115728" y="8028227"/>
            <a:ext cx="2774400" cy="1134600"/>
          </a:xfrm>
          <a:prstGeom prst="rect">
            <a:avLst/>
          </a:prstGeom>
          <a:solidFill>
            <a:srgbClr val="001746"/>
          </a:solidFill>
          <a:ln w="12700" cap="flat" cmpd="sng">
            <a:solidFill>
              <a:srgbClr val="00174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b="1" u="sng">
                <a:solidFill>
                  <a:schemeClr val="lt1"/>
                </a:solidFill>
                <a:latin typeface="Garamond"/>
                <a:ea typeface="Garamond"/>
                <a:cs typeface="Garamond"/>
                <a:sym typeface="Garamond"/>
              </a:rPr>
              <a:t>Better Management: </a:t>
            </a:r>
            <a:endParaRPr b="1" u="sng">
              <a:solidFill>
                <a:schemeClr val="lt1"/>
              </a:solidFill>
              <a:latin typeface="Garamond"/>
              <a:ea typeface="Garamond"/>
              <a:cs typeface="Garamond"/>
              <a:sym typeface="Garamond"/>
            </a:endParaRPr>
          </a:p>
          <a:p>
            <a:pPr marL="0" marR="0" lvl="0" indent="0" algn="ctr" rtl="0">
              <a:lnSpc>
                <a:spcPct val="100000"/>
              </a:lnSpc>
              <a:spcBef>
                <a:spcPts val="0"/>
              </a:spcBef>
              <a:spcAft>
                <a:spcPts val="0"/>
              </a:spcAft>
              <a:buClr>
                <a:srgbClr val="000000"/>
              </a:buClr>
              <a:buSzPts val="1400"/>
              <a:buFont typeface="Arial"/>
              <a:buNone/>
            </a:pPr>
            <a:endParaRPr>
              <a:solidFill>
                <a:schemeClr val="lt1"/>
              </a:solidFill>
              <a:latin typeface="Garamond"/>
              <a:ea typeface="Garamond"/>
              <a:cs typeface="Garamond"/>
              <a:sym typeface="Garamond"/>
            </a:endParaRPr>
          </a:p>
          <a:p>
            <a:pPr marL="0" marR="0" lvl="0" indent="0" algn="ctr" rtl="0">
              <a:lnSpc>
                <a:spcPct val="100000"/>
              </a:lnSpc>
              <a:spcBef>
                <a:spcPts val="0"/>
              </a:spcBef>
              <a:spcAft>
                <a:spcPts val="0"/>
              </a:spcAft>
              <a:buClr>
                <a:srgbClr val="000000"/>
              </a:buClr>
              <a:buSzPts val="1400"/>
              <a:buFont typeface="Arial"/>
              <a:buNone/>
            </a:pPr>
            <a:r>
              <a:rPr lang="en-US">
                <a:solidFill>
                  <a:schemeClr val="lt1"/>
                </a:solidFill>
                <a:latin typeface="Garamond"/>
                <a:ea typeface="Garamond"/>
                <a:cs typeface="Garamond"/>
                <a:sym typeface="Garamond"/>
              </a:rPr>
              <a:t>Expand asset revenue, streamline costs &amp; integrate technology</a:t>
            </a:r>
            <a:endParaRPr>
              <a:solidFill>
                <a:schemeClr val="lt1"/>
              </a:solidFill>
              <a:latin typeface="Garamond"/>
              <a:ea typeface="Garamond"/>
              <a:cs typeface="Garamond"/>
              <a:sym typeface="Garamond"/>
            </a:endParaRPr>
          </a:p>
        </p:txBody>
      </p:sp>
      <p:sp>
        <p:nvSpPr>
          <p:cNvPr id="499" name="Google Shape;499;p13"/>
          <p:cNvSpPr/>
          <p:nvPr/>
        </p:nvSpPr>
        <p:spPr>
          <a:xfrm>
            <a:off x="5354885" y="8028127"/>
            <a:ext cx="2636700" cy="1134600"/>
          </a:xfrm>
          <a:prstGeom prst="rect">
            <a:avLst/>
          </a:prstGeom>
          <a:solidFill>
            <a:srgbClr val="E4E9F0"/>
          </a:solidFill>
          <a:ln w="12700" cap="flat" cmpd="sng">
            <a:solidFill>
              <a:srgbClr val="E4E9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b="1" u="sng">
                <a:solidFill>
                  <a:srgbClr val="001746"/>
                </a:solidFill>
                <a:latin typeface="Garamond"/>
                <a:ea typeface="Garamond"/>
                <a:cs typeface="Garamond"/>
                <a:sym typeface="Garamond"/>
              </a:rPr>
              <a:t>Lease Optimization: </a:t>
            </a:r>
            <a:endParaRPr b="1" u="sng">
              <a:solidFill>
                <a:srgbClr val="001746"/>
              </a:solidFill>
              <a:latin typeface="Garamond"/>
              <a:ea typeface="Garamond"/>
              <a:cs typeface="Garamond"/>
              <a:sym typeface="Garamond"/>
            </a:endParaRPr>
          </a:p>
          <a:p>
            <a:pPr marL="0" marR="0" lvl="0" indent="0" algn="ctr" rtl="0">
              <a:lnSpc>
                <a:spcPct val="100000"/>
              </a:lnSpc>
              <a:spcBef>
                <a:spcPts val="0"/>
              </a:spcBef>
              <a:spcAft>
                <a:spcPts val="0"/>
              </a:spcAft>
              <a:buClr>
                <a:srgbClr val="000000"/>
              </a:buClr>
              <a:buSzPts val="1400"/>
              <a:buFont typeface="Arial"/>
              <a:buNone/>
            </a:pPr>
            <a:endParaRPr b="1" u="sng">
              <a:solidFill>
                <a:srgbClr val="001746"/>
              </a:solidFill>
              <a:latin typeface="Garamond"/>
              <a:ea typeface="Garamond"/>
              <a:cs typeface="Garamond"/>
              <a:sym typeface="Garamond"/>
            </a:endParaRPr>
          </a:p>
          <a:p>
            <a:pPr marL="0" lvl="0" indent="0" algn="ctr" rtl="0">
              <a:spcBef>
                <a:spcPts val="0"/>
              </a:spcBef>
              <a:spcAft>
                <a:spcPts val="0"/>
              </a:spcAft>
              <a:buClr>
                <a:schemeClr val="dk1"/>
              </a:buClr>
              <a:buSzPts val="1100"/>
              <a:buFont typeface="Arial"/>
              <a:buNone/>
            </a:pPr>
            <a:r>
              <a:rPr lang="en-US">
                <a:solidFill>
                  <a:srgbClr val="001746"/>
                </a:solidFill>
                <a:latin typeface="Garamond"/>
                <a:ea typeface="Garamond"/>
                <a:cs typeface="Garamond"/>
                <a:sym typeface="Garamond"/>
              </a:rPr>
              <a:t>Faster leasing, market expansion, risk reduction &amp; stabilize finances</a:t>
            </a:r>
            <a:endParaRPr>
              <a:solidFill>
                <a:srgbClr val="001746"/>
              </a:solidFill>
              <a:latin typeface="Garamond"/>
              <a:ea typeface="Garamond"/>
              <a:cs typeface="Garamond"/>
              <a:sym typeface="Garamond"/>
            </a:endParaRPr>
          </a:p>
        </p:txBody>
      </p:sp>
      <p:grpSp>
        <p:nvGrpSpPr>
          <p:cNvPr id="500" name="Google Shape;500;p13"/>
          <p:cNvGrpSpPr/>
          <p:nvPr/>
        </p:nvGrpSpPr>
        <p:grpSpPr>
          <a:xfrm>
            <a:off x="6248150" y="4857041"/>
            <a:ext cx="5535600" cy="1514286"/>
            <a:chOff x="6248150" y="4854966"/>
            <a:chExt cx="5535600" cy="1514286"/>
          </a:xfrm>
        </p:grpSpPr>
        <p:sp>
          <p:nvSpPr>
            <p:cNvPr id="501" name="Google Shape;501;p13"/>
            <p:cNvSpPr/>
            <p:nvPr/>
          </p:nvSpPr>
          <p:spPr>
            <a:xfrm>
              <a:off x="6248150" y="4854966"/>
              <a:ext cx="5535600" cy="282000"/>
            </a:xfrm>
            <a:prstGeom prst="rect">
              <a:avLst/>
            </a:prstGeom>
            <a:solidFill>
              <a:srgbClr val="001746"/>
            </a:solidFill>
            <a:ln w="12700" cap="flat" cmpd="sng">
              <a:solidFill>
                <a:srgbClr val="00174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dirty="0">
                  <a:solidFill>
                    <a:schemeClr val="lt1"/>
                  </a:solidFill>
                  <a:latin typeface="Garamond"/>
                  <a:ea typeface="Garamond"/>
                  <a:cs typeface="Garamond"/>
                  <a:sym typeface="Garamond"/>
                </a:rPr>
                <a:t>Strategic Priorities</a:t>
              </a:r>
              <a:endParaRPr sz="1800" b="1" i="0" u="none" strike="noStrike" cap="none" dirty="0">
                <a:solidFill>
                  <a:schemeClr val="lt1"/>
                </a:solidFill>
                <a:latin typeface="Garamond"/>
                <a:ea typeface="Garamond"/>
                <a:cs typeface="Garamond"/>
                <a:sym typeface="Garamond"/>
              </a:endParaRPr>
            </a:p>
          </p:txBody>
        </p:sp>
        <p:sp>
          <p:nvSpPr>
            <p:cNvPr id="502" name="Google Shape;502;p13"/>
            <p:cNvSpPr/>
            <p:nvPr/>
          </p:nvSpPr>
          <p:spPr>
            <a:xfrm>
              <a:off x="9009303" y="5234652"/>
              <a:ext cx="2774400" cy="1134600"/>
            </a:xfrm>
            <a:prstGeom prst="rect">
              <a:avLst/>
            </a:prstGeom>
            <a:solidFill>
              <a:srgbClr val="E4E9F0"/>
            </a:solidFill>
            <a:ln w="12700" cap="flat" cmpd="sng">
              <a:solidFill>
                <a:srgbClr val="203764"/>
              </a:solidFill>
              <a:prstDash val="solid"/>
              <a:miter lim="800000"/>
              <a:headEnd type="none" w="sm" len="sm"/>
              <a:tailEnd type="none" w="sm" len="sm"/>
            </a:ln>
          </p:spPr>
          <p:txBody>
            <a:bodyPr spcFirstLastPara="1" wrap="square" lIns="91425" tIns="45700" rIns="91425" bIns="45700" anchor="ctr" anchorCtr="0">
              <a:noAutofit/>
            </a:bodyPr>
            <a:lstStyle/>
            <a:p>
              <a:pPr marL="0" indent="0" algn="ctr">
                <a:buNone/>
              </a:pPr>
              <a:r>
                <a:rPr lang="en-US" sz="2800" b="1" dirty="0">
                  <a:solidFill>
                    <a:schemeClr val="tx1"/>
                  </a:solidFill>
                  <a:latin typeface="Garamond" pitchFamily="34" charset="0"/>
                  <a:ea typeface="Garamond" pitchFamily="34" charset="-122"/>
                  <a:cs typeface="Garamond" pitchFamily="34" charset="-120"/>
                </a:rPr>
                <a:t>Governance</a:t>
              </a:r>
              <a:endParaRPr lang="en-US" sz="2800" dirty="0">
                <a:solidFill>
                  <a:schemeClr val="tx1"/>
                </a:solidFill>
              </a:endParaRPr>
            </a:p>
            <a:p>
              <a:pPr marL="0" indent="0" algn="ctr">
                <a:buNone/>
              </a:pPr>
              <a:r>
                <a:rPr lang="en-US" sz="2800" b="1" dirty="0">
                  <a:solidFill>
                    <a:schemeClr val="tx1"/>
                  </a:solidFill>
                  <a:latin typeface="Garamond" pitchFamily="34" charset="0"/>
                  <a:ea typeface="Garamond" pitchFamily="34" charset="-122"/>
                  <a:cs typeface="Garamond" pitchFamily="34" charset="-120"/>
                </a:rPr>
                <a:t>Resolution</a:t>
              </a:r>
              <a:endParaRPr lang="en-US" sz="2800" dirty="0">
                <a:solidFill>
                  <a:schemeClr val="tx1"/>
                </a:solidFill>
              </a:endParaRPr>
            </a:p>
          </p:txBody>
        </p:sp>
        <p:sp>
          <p:nvSpPr>
            <p:cNvPr id="503" name="Google Shape;503;p13"/>
            <p:cNvSpPr/>
            <p:nvPr/>
          </p:nvSpPr>
          <p:spPr>
            <a:xfrm>
              <a:off x="6248460" y="5234552"/>
              <a:ext cx="2636700" cy="1134600"/>
            </a:xfrm>
            <a:prstGeom prst="rect">
              <a:avLst/>
            </a:prstGeom>
            <a:solidFill>
              <a:srgbClr val="E4E9F0"/>
            </a:solidFill>
            <a:ln w="12700" cap="flat" cmpd="sng">
              <a:solidFill>
                <a:srgbClr val="203764"/>
              </a:solidFill>
              <a:prstDash val="solid"/>
              <a:miter lim="800000"/>
              <a:headEnd type="none" w="sm" len="sm"/>
              <a:tailEnd type="none" w="sm" len="sm"/>
            </a:ln>
          </p:spPr>
          <p:txBody>
            <a:bodyPr spcFirstLastPara="1" wrap="square" lIns="91425" tIns="45700" rIns="91425" bIns="45700" anchor="ctr" anchorCtr="0">
              <a:noAutofit/>
            </a:bodyPr>
            <a:lstStyle/>
            <a:p>
              <a:pPr marL="0" indent="0" algn="ctr">
                <a:buNone/>
              </a:pPr>
              <a:r>
                <a:rPr lang="en-US" sz="2800" b="1" dirty="0">
                  <a:solidFill>
                    <a:schemeClr val="tx1"/>
                  </a:solidFill>
                  <a:latin typeface="Garamond" pitchFamily="34" charset="0"/>
                  <a:ea typeface="Garamond" pitchFamily="34" charset="-122"/>
                  <a:cs typeface="Garamond" pitchFamily="34" charset="-120"/>
                </a:rPr>
                <a:t>DLC</a:t>
              </a:r>
              <a:endParaRPr lang="en-US" sz="2800" dirty="0">
                <a:solidFill>
                  <a:schemeClr val="tx1"/>
                </a:solidFill>
              </a:endParaRPr>
            </a:p>
            <a:p>
              <a:pPr marL="0" indent="0" algn="ctr">
                <a:buNone/>
              </a:pPr>
              <a:r>
                <a:rPr lang="en-US" sz="2800" b="1" dirty="0">
                  <a:solidFill>
                    <a:schemeClr val="tx1"/>
                  </a:solidFill>
                  <a:latin typeface="Garamond" pitchFamily="34" charset="0"/>
                  <a:ea typeface="Garamond" pitchFamily="34" charset="-122"/>
                  <a:cs typeface="Garamond" pitchFamily="34" charset="-120"/>
                </a:rPr>
                <a:t>Expansion</a:t>
              </a:r>
              <a:endParaRPr lang="en-US" sz="2800" dirty="0">
                <a:solidFill>
                  <a:schemeClr val="tx1"/>
                </a:solidFill>
              </a:endParaRPr>
            </a:p>
          </p:txBody>
        </p:sp>
      </p:grpSp>
      <p:sp>
        <p:nvSpPr>
          <p:cNvPr id="505" name="Google Shape;505;p13"/>
          <p:cNvSpPr/>
          <p:nvPr/>
        </p:nvSpPr>
        <p:spPr>
          <a:xfrm>
            <a:off x="-1633350" y="1035671"/>
            <a:ext cx="1270500" cy="1379700"/>
          </a:xfrm>
          <a:prstGeom prst="rect">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Garamond"/>
              <a:ea typeface="Garamond"/>
              <a:cs typeface="Garamond"/>
              <a:sym typeface="Garamond"/>
            </a:endParaRPr>
          </a:p>
        </p:txBody>
      </p:sp>
      <p:sp>
        <p:nvSpPr>
          <p:cNvPr id="506" name="Google Shape;506;p13"/>
          <p:cNvSpPr/>
          <p:nvPr/>
        </p:nvSpPr>
        <p:spPr>
          <a:xfrm>
            <a:off x="3307325" y="5234650"/>
            <a:ext cx="2636700" cy="1134600"/>
          </a:xfrm>
          <a:prstGeom prst="rect">
            <a:avLst/>
          </a:prstGeom>
          <a:solidFill>
            <a:srgbClr val="E4E9F0"/>
          </a:solidFill>
          <a:ln w="12700" cap="flat" cmpd="sng">
            <a:solidFill>
              <a:srgbClr val="203764"/>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lnSpc>
                <a:spcPct val="150000"/>
              </a:lnSpc>
              <a:spcBef>
                <a:spcPts val="0"/>
              </a:spcBef>
              <a:spcAft>
                <a:spcPts val="0"/>
              </a:spcAft>
              <a:buClr>
                <a:schemeClr val="dk1"/>
              </a:buClr>
              <a:buSzPts val="2700"/>
              <a:buFont typeface="Arial"/>
              <a:buNone/>
            </a:pPr>
            <a:r>
              <a:rPr lang="en-US" sz="2600" b="1" i="0" strike="noStrike" cap="none" dirty="0">
                <a:solidFill>
                  <a:schemeClr val="dk1"/>
                </a:solidFill>
                <a:latin typeface="Garamond"/>
                <a:ea typeface="Garamond"/>
                <a:cs typeface="Garamond"/>
                <a:sym typeface="Garamond"/>
              </a:rPr>
              <a:t>54% Upside</a:t>
            </a:r>
            <a:endParaRPr sz="2600" b="1" i="0" strike="noStrike" cap="none" dirty="0">
              <a:solidFill>
                <a:schemeClr val="dk1"/>
              </a:solidFill>
              <a:latin typeface="Garamond"/>
              <a:ea typeface="Garamond"/>
              <a:cs typeface="Garamond"/>
              <a:sym typeface="Garamond"/>
            </a:endParaRPr>
          </a:p>
        </p:txBody>
      </p:sp>
      <p:sp>
        <p:nvSpPr>
          <p:cNvPr id="507" name="Google Shape;507;p13"/>
          <p:cNvSpPr/>
          <p:nvPr/>
        </p:nvSpPr>
        <p:spPr>
          <a:xfrm>
            <a:off x="401050" y="5234550"/>
            <a:ext cx="2774400" cy="1134600"/>
          </a:xfrm>
          <a:prstGeom prst="rect">
            <a:avLst/>
          </a:prstGeom>
          <a:solidFill>
            <a:srgbClr val="E4E9F0"/>
          </a:solidFill>
          <a:ln w="12700" cap="flat" cmpd="sng">
            <a:solidFill>
              <a:srgbClr val="203764"/>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ctr" rtl="0">
              <a:lnSpc>
                <a:spcPct val="150000"/>
              </a:lnSpc>
              <a:spcBef>
                <a:spcPts val="0"/>
              </a:spcBef>
              <a:spcAft>
                <a:spcPts val="0"/>
              </a:spcAft>
              <a:buClr>
                <a:schemeClr val="dk1"/>
              </a:buClr>
              <a:buSzPts val="2700"/>
              <a:buFont typeface="Arial"/>
              <a:buNone/>
            </a:pPr>
            <a:r>
              <a:rPr lang="en-US" sz="2600" b="1" cap="small" dirty="0">
                <a:solidFill>
                  <a:schemeClr val="dk1"/>
                </a:solidFill>
                <a:latin typeface="Garamond"/>
                <a:ea typeface="Garamond"/>
                <a:cs typeface="Garamond"/>
                <a:sym typeface="Garamond"/>
              </a:rPr>
              <a:t>Target: $47</a:t>
            </a:r>
            <a:endParaRPr sz="2600" b="1" dirty="0">
              <a:solidFill>
                <a:schemeClr val="dk1"/>
              </a:solidFill>
              <a:latin typeface="Garamond"/>
              <a:ea typeface="Garamond"/>
              <a:cs typeface="Garamond"/>
              <a:sym typeface="Garamond"/>
            </a:endParaRPr>
          </a:p>
        </p:txBody>
      </p:sp>
      <p:pic>
        <p:nvPicPr>
          <p:cNvPr id="31" name="Picture 4" descr="SMCI - Super Micro Computer, Inc. Trademark Registration">
            <a:extLst>
              <a:ext uri="{FF2B5EF4-FFF2-40B4-BE49-F238E27FC236}">
                <a16:creationId xmlns:a16="http://schemas.microsoft.com/office/drawing/2014/main" id="{274F8F67-21CE-4176-8E4D-8F161262568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001" b="17593"/>
          <a:stretch/>
        </p:blipFill>
        <p:spPr bwMode="auto">
          <a:xfrm>
            <a:off x="10032470" y="64180"/>
            <a:ext cx="2009003" cy="547501"/>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a:extLst>
              <a:ext uri="{FF2B5EF4-FFF2-40B4-BE49-F238E27FC236}">
                <a16:creationId xmlns:a16="http://schemas.microsoft.com/office/drawing/2014/main" id="{D8AC60F1-0EE5-4A3C-AC46-354437D37D65}"/>
              </a:ext>
            </a:extLst>
          </p:cNvPr>
          <p:cNvPicPr>
            <a:picLocks noChangeAspect="1"/>
          </p:cNvPicPr>
          <p:nvPr/>
        </p:nvPicPr>
        <p:blipFill>
          <a:blip r:embed="rId4"/>
          <a:stretch>
            <a:fillRect/>
          </a:stretch>
        </p:blipFill>
        <p:spPr>
          <a:xfrm>
            <a:off x="10160006" y="6379320"/>
            <a:ext cx="1422710" cy="464846"/>
          </a:xfrm>
          <a:prstGeom prst="rect">
            <a:avLst/>
          </a:prstGeom>
        </p:spPr>
      </p:pic>
      <p:pic>
        <p:nvPicPr>
          <p:cNvPr id="4" name="Picture 3">
            <a:extLst>
              <a:ext uri="{FF2B5EF4-FFF2-40B4-BE49-F238E27FC236}">
                <a16:creationId xmlns:a16="http://schemas.microsoft.com/office/drawing/2014/main" id="{1CAE675F-51F5-4818-B60D-2209B6284C65}"/>
              </a:ext>
            </a:extLst>
          </p:cNvPr>
          <p:cNvPicPr>
            <a:picLocks noChangeAspect="1"/>
          </p:cNvPicPr>
          <p:nvPr/>
        </p:nvPicPr>
        <p:blipFill>
          <a:blip r:embed="rId5"/>
          <a:stretch>
            <a:fillRect/>
          </a:stretch>
        </p:blipFill>
        <p:spPr>
          <a:xfrm>
            <a:off x="408375" y="4318526"/>
            <a:ext cx="5535474" cy="415738"/>
          </a:xfrm>
          <a:prstGeom prst="rect">
            <a:avLst/>
          </a:prstGeom>
        </p:spPr>
      </p:pic>
      <p:pic>
        <p:nvPicPr>
          <p:cNvPr id="34" name="Picture 2" descr="Supermicro - Wikipedia">
            <a:extLst>
              <a:ext uri="{FF2B5EF4-FFF2-40B4-BE49-F238E27FC236}">
                <a16:creationId xmlns:a16="http://schemas.microsoft.com/office/drawing/2014/main" id="{14C2A635-6A5D-4A6B-A5F4-AF728CD3E87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1946" y="2659649"/>
            <a:ext cx="2547007" cy="134356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5537</TotalTime>
  <Words>3543</Words>
  <Application>Microsoft Office PowerPoint</Application>
  <PresentationFormat>Widescreen</PresentationFormat>
  <Paragraphs>627</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Calibri</vt:lpstr>
      <vt:lpstr>Garamond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Yu, Ruthie</dc:creator>
  <cp:lastModifiedBy>User1</cp:lastModifiedBy>
  <cp:revision>54</cp:revision>
  <dcterms:created xsi:type="dcterms:W3CDTF">2023-12-22T18:32:47Z</dcterms:created>
  <dcterms:modified xsi:type="dcterms:W3CDTF">2026-02-21T04:07:17Z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0x010100B27FAD69C05A8942844D26108DED49F6</vt:lpwstr>
  </property>
</Properties>
</file>