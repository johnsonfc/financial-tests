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9" r:id="rId9"/>
    <p:sldId id="276" r:id="rId26"/>
    <p:sldId id="268" r:id="rId18"/>
  </p:sldIdLst>
  <p:sldSz cy="6858000" cx="12192000"/>
  <p:notesSz cx="6858000" cy="9144000"/>
  <p:embeddedFontLst>
    <p:embeddedFont>
      <p:font typeface="Garamond"/>
      <p:regular r:id="rId28"/>
      <p:bold r:id="rId29"/>
      <p:italic r:id="rId30"/>
      <p:boldItalic r:id="rId31"/>
    </p:embeddedFont>
    <p:embeddedFont>
      <p:font typeface="EB Garamon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joKSKhQtrFziL8iO4AvVqJMPPl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8" Type="http://schemas.openxmlformats.org/officeDocument/2006/relationships/slide" Target="slides/slide3.xml"/><Relationship Id="rId26" Type="http://schemas.openxmlformats.org/officeDocument/2006/relationships/slide" Target="slides/slide2.xml"/><Relationship Id="rId28" Type="http://schemas.openxmlformats.org/officeDocument/2006/relationships/font" Target="fonts/Garamond-regular.fntdata"/><Relationship Id="rId29" Type="http://schemas.openxmlformats.org/officeDocument/2006/relationships/font" Target="fonts/Garamond-bold.fntdata"/><Relationship Id="rId30" Type="http://schemas.openxmlformats.org/officeDocument/2006/relationships/font" Target="fonts/Garamond-italic.fntdata"/><Relationship Id="rId31" Type="http://schemas.openxmlformats.org/officeDocument/2006/relationships/font" Target="fonts/Garamond-boldItalic.fntdata"/><Relationship Id="rId32" Type="http://schemas.openxmlformats.org/officeDocument/2006/relationships/font" Target="fonts/EBGaramond-regular.fntdata"/><Relationship Id="rId33" Type="http://schemas.openxmlformats.org/officeDocument/2006/relationships/font" Target="fonts/EBGaramond-bold.fntdata"/><Relationship Id="rId34" Type="http://schemas.openxmlformats.org/officeDocument/2006/relationships/font" Target="fonts/EBGaramond-italic.fntdata"/><Relationship Id="rId35" Type="http://schemas.openxmlformats.org/officeDocument/2006/relationships/font" Target="fonts/EBGaramond-boldItalic.fntdata"/><Relationship Id="rId36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0">
                <a:latin typeface="Garamond"/>
              </a:rPr>
              <a:t>FY2025 Net Sales by Business ($B)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FY2025 Net Sales ($B)</c:v>
                </c:pt>
              </c:strCache>
            </c:strRef>
          </c:tx>
          <c:dPt>
            <c:idx val="0"/>
            <c:spPr>
              <a:solidFill>
                <a:srgbClr val="001746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9C22E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FFFF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001746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DICK'S Business</c:v>
                </c:pt>
                <c:pt idx="1">
                  <c:v>Foot Locker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14.1</c:v>
                </c:pt>
                <c:pt idx="1">
                  <c:v>3.1</c:v>
                </c:pt>
              </c:numCache>
            </c:numRef>
          </c:val>
        </c:ser>
        <c:dLbls>
          <c:numFmt formatCode="&quot;$&quot;0.0&quot;B&quot;" sourceLinked="0"/>
          <c:txPr>
            <a:bodyPr/>
            <a:lstStyle/>
            <a:p>
              <a:pPr>
                <a:defRPr sz="1100" b="1">
                  <a:latin typeface="Garamon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latin typeface="Garamond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01911d161_1_3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1f01911d161_1_3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8"/>
          <p:cNvSpPr txBox="1"/>
          <p:nvPr/>
        </p:nvSpPr>
        <p:spPr>
          <a:xfrm>
            <a:off x="3319250" y="296475"/>
            <a:ext cx="3059100" cy="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4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rgbClr val="001746"/>
          </a:solidFill>
          <a:ln cap="flat" cmpd="sng" w="12700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Diligence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94725" y="340138"/>
            <a:ext cx="868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 cap="small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Company Overview</a:t>
            </a:r>
            <a:endParaRPr b="1" i="0" sz="3000" u="none" cap="small" strike="noStrike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21225" y="1535700"/>
            <a:ext cx="3757500" cy="1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aramond"/>
              <a:buChar char="●"/>
            </a:pPr>
            <a:r>
              <a:rPr lang="en-US" sz="17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DICK'S Sporting Goods (NYSE: DKS) is the largest U.S. sporting goods retailer, founded in 1948</a:t>
            </a:r>
            <a:endParaRPr sz="17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aramond"/>
              <a:buChar char="●"/>
            </a:pPr>
            <a:r>
              <a:rPr lang="en-US" sz="17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CEO Lauren Hobart and Executive Chairman Ed Stack, son of the founder, lead the company</a:t>
            </a:r>
            <a:endParaRPr sz="17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aramond"/>
              <a:buChar char="●"/>
            </a:pPr>
            <a:r>
              <a:rPr lang="en-US" sz="17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Operates DICK'S, House of Sport, Field House and Golf Galaxy, plus ~2,400 Foot Locker stores acquired in Sept 2025</a:t>
            </a:r>
            <a:endParaRPr sz="17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aramond"/>
              <a:buChar char="●"/>
            </a:pPr>
            <a:r>
              <a:rPr lang="en-US" sz="17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Shifting its fleet toward large, experiential stores with climbing walls, batting cages and simulators</a:t>
            </a:r>
            <a:endParaRPr sz="17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7018932" y="3568050"/>
            <a:ext cx="234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7902025" y="1535700"/>
            <a:ext cx="37575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>Sells hardlines, apparel and footwear through stores and e-commerce</a:t>
            </a:r>
            <a:endParaRPr b="0" i="0" sz="17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Nike is the largest vendor at </a:t>
            </a:r>
            <a:r>
              <a:rPr lang="en-US" sz="1700" b="1">
                <a:latin typeface="Garamond"/>
                <a:ea typeface="Garamond"/>
                <a:cs typeface="Garamond"/>
                <a:sym typeface="Garamond"/>
              </a:rPr>
              <a:t>~31%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of merchandise purchases and anchors Foot Locker</a:t>
            </a:r>
            <a:endParaRPr b="0" i="0" sz="17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>Growing non-merchandise revenue via the GameChanger app and DICK'S Media Network</a:t>
            </a:r>
            <a:endParaRPr b="0" i="0" sz="17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Growth is funded by heavy store reinvestment, mostly </a:t>
            </a:r>
            <a:r>
              <a:rPr lang="en-US" sz="1700" b="1">
                <a:latin typeface="Garamond"/>
                <a:ea typeface="Garamond"/>
                <a:cs typeface="Garamond"/>
                <a:sym typeface="Garamond"/>
              </a:rPr>
              <a:t>relocations and conversions</a:t>
            </a:r>
            <a:endParaRPr b="0" i="0" sz="17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3960475" y="1533875"/>
            <a:ext cx="37575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FY2025 net sales of </a:t>
            </a:r>
            <a:r>
              <a:rPr lang="en-US" sz="1700" b="1">
                <a:latin typeface="Garamond"/>
                <a:ea typeface="Garamond"/>
                <a:cs typeface="Garamond"/>
                <a:sym typeface="Garamond"/>
              </a:rPr>
              <a:t>$17.2B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(+28%)</a:t>
            </a:r>
            <a:endParaRPr b="0" i="0" sz="17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Q2 FY26 DICK'S comps </a:t>
            </a:r>
            <a:r>
              <a:rPr lang="en-US" sz="1700" b="1">
                <a:latin typeface="Garamond"/>
                <a:ea typeface="Garamond"/>
                <a:cs typeface="Garamond"/>
                <a:sym typeface="Garamond"/>
              </a:rPr>
              <a:t>+4.9%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; Foot Locker pro forma </a:t>
            </a:r>
            <a:r>
              <a:rPr lang="en-US" sz="1700" b="1">
                <a:latin typeface="Garamond"/>
                <a:ea typeface="Garamond"/>
                <a:cs typeface="Garamond"/>
                <a:sym typeface="Garamond"/>
              </a:rPr>
              <a:t>–3.6%</a:t>
            </a:r>
            <a:endParaRPr b="0" i="0" sz="17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FY26 guide: </a:t>
            </a:r>
            <a:r>
              <a:rPr lang="en-US" sz="1700" b="1">
                <a:latin typeface="Garamond"/>
                <a:ea typeface="Garamond"/>
                <a:cs typeface="Garamond"/>
                <a:sym typeface="Garamond"/>
              </a:rPr>
              <a:t>$22.1–22.4B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sales, </a:t>
            </a:r>
            <a:r>
              <a:rPr lang="en-US" sz="1700" b="1">
                <a:latin typeface="Garamond"/>
                <a:ea typeface="Garamond"/>
                <a:cs typeface="Garamond"/>
                <a:sym typeface="Garamond"/>
              </a:rPr>
              <a:t>$13.70–14.70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EPS</a:t>
            </a:r>
            <a:endParaRPr b="0" i="0" sz="17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48" name="Google Shape;148;p3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cap="flat" cmpd="sng" w="9525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3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0" name="Google Shape;150;p3"/>
          <p:cNvSpPr txBox="1"/>
          <p:nvPr>
            <p:ph idx="4294967295" type="sldNum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270925" y="992675"/>
            <a:ext cx="3564000" cy="3657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41E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Background</a:t>
            </a:r>
            <a:endParaRPr b="1"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4183200" y="992675"/>
            <a:ext cx="3564000" cy="3657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41E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Company Health</a:t>
            </a:r>
            <a:endParaRPr b="1"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8095475" y="992675"/>
            <a:ext cx="3564000" cy="3657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41E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Revenue Streams</a:t>
            </a:r>
            <a:endParaRPr b="1"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aphicFrame>
        <p:nvGraphicFramePr>
          <p:cNvPr id="154" name="Chart 153"/>
          <p:cNvGraphicFramePr>
            <a:graphicFrameLocks noGrp="1"/>
          </p:cNvGraphicFramePr>
          <p:nvPr/>
        </p:nvGraphicFramePr>
        <p:xfrm>
          <a:off x="4069080" y="3154680"/>
          <a:ext cx="3566160" cy="315468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"/>
          <p:cNvSpPr txBox="1"/>
          <p:nvPr/>
        </p:nvSpPr>
        <p:spPr>
          <a:xfrm>
            <a:off x="302129" y="101239"/>
            <a:ext cx="82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small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Risks and Catalysts</a:t>
            </a:r>
            <a:endParaRPr b="0" i="0" sz="30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26" name="Google Shape;426;p12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cap="flat" cmpd="sng" w="9525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7" name="Google Shape;427;p12"/>
          <p:cNvSpPr/>
          <p:nvPr/>
        </p:nvSpPr>
        <p:spPr>
          <a:xfrm>
            <a:off x="6095751" y="861650"/>
            <a:ext cx="5691300" cy="206100"/>
          </a:xfrm>
          <a:prstGeom prst="rect">
            <a:avLst/>
          </a:prstGeom>
          <a:solidFill>
            <a:srgbClr val="001746"/>
          </a:solidFill>
          <a:ln cap="flat" cmpd="sng" w="12700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Mitigant &amp; Catalyst:</a:t>
            </a:r>
            <a:endParaRPr b="0" i="0" sz="12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6095751" y="1157340"/>
            <a:ext cx="5677200" cy="834300"/>
          </a:xfrm>
          <a:prstGeom prst="rect">
            <a:avLst/>
          </a:prstGeom>
          <a:solidFill>
            <a:srgbClr val="E4E9F0"/>
          </a:solidFill>
          <a:ln cap="flat" cmpd="sng" w="12700">
            <a:solidFill>
              <a:srgbClr val="E4E9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1746"/>
                </a:solidFill>
                <a:latin typeface="Garamond"/>
                <a:ea typeface="Garamond"/>
                <a:cs typeface="Garamond"/>
                <a:sym typeface="Garamond"/>
              </a:rPr>
              <a:t>Our adjustment strips conversion lift and non-merchandise revenue to a ~2.7% underlying comp. Q3 FY26 earnings (late Nov) and lapping the World Cup in Q2 FY27 test whether growth holds once new-store lifts fade.</a:t>
            </a:r>
            <a:endParaRPr b="0" i="0" sz="1200" u="none" cap="none" strike="noStrike">
              <a:solidFill>
                <a:srgbClr val="00174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32" name="Google Shape;432;p12"/>
          <p:cNvCxnSpPr>
            <a:stCxn id="433" idx="3"/>
            <a:endCxn id="430" idx="1"/>
          </p:cNvCxnSpPr>
          <p:nvPr/>
        </p:nvCxnSpPr>
        <p:spPr>
          <a:xfrm>
            <a:off x="5702161" y="1573816"/>
            <a:ext cx="393600" cy="600"/>
          </a:xfrm>
          <a:prstGeom prst="straightConnector1">
            <a:avLst/>
          </a:prstGeom>
          <a:noFill/>
          <a:ln cap="flat" cmpd="sng" w="38100">
            <a:solidFill>
              <a:srgbClr val="E4E9F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12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cap="flat" cmpd="sng" w="9525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6" name="Google Shape;436;p12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rgbClr val="001746"/>
          </a:solidFill>
          <a:ln cap="flat" cmpd="sng" w="12700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Diligence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2" name="Google Shape;442;p12"/>
          <p:cNvSpPr txBox="1"/>
          <p:nvPr>
            <p:ph idx="4294967295" type="sldNum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76213" y="1009158"/>
            <a:ext cx="3395400" cy="8343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85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Comp Growth Proves Organic, Not Conversion-Driven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448" name="Google Shape;448;p12"/>
          <p:cNvGrpSpPr/>
          <p:nvPr/>
        </p:nvGrpSpPr>
        <p:grpSpPr>
          <a:xfrm>
            <a:off x="3641161" y="861650"/>
            <a:ext cx="2061000" cy="1129316"/>
            <a:chOff x="3641161" y="861650"/>
            <a:chExt cx="2061000" cy="1129316"/>
          </a:xfrm>
        </p:grpSpPr>
        <p:sp>
          <p:nvSpPr>
            <p:cNvPr id="433" name="Google Shape;433;p12"/>
            <p:cNvSpPr/>
            <p:nvPr/>
          </p:nvSpPr>
          <p:spPr>
            <a:xfrm>
              <a:off x="3641161" y="1156666"/>
              <a:ext cx="2061000" cy="834300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rgbClr val="E4E9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High</a:t>
              </a:r>
              <a:endParaRPr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49" name="Google Shape;449;p12"/>
            <p:cNvSpPr/>
            <p:nvPr/>
          </p:nvSpPr>
          <p:spPr>
            <a:xfrm>
              <a:off x="3641161" y="861650"/>
              <a:ext cx="2061000" cy="206100"/>
            </a:xfrm>
            <a:prstGeom prst="rect">
              <a:avLst/>
            </a:prstGeom>
            <a:solidFill>
              <a:srgbClr val="001746"/>
            </a:solidFill>
            <a:ln cap="flat" cmpd="sng" w="12700">
              <a:solidFill>
                <a:srgbClr val="0017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b="0" i="0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450" name="Google Shape;450;p12"/>
          <p:cNvSpPr txBox="1"/>
          <p:nvPr/>
        </p:nvSpPr>
        <p:spPr>
          <a:xfrm>
            <a:off x="-1557050" y="0"/>
            <a:ext cx="1270500" cy="976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51" name="Google Shape;451;p12"/>
          <p:cNvCxnSpPr/>
          <p:nvPr/>
        </p:nvCxnSpPr>
        <p:spPr>
          <a:xfrm>
            <a:off x="3592936" y="2101557"/>
            <a:ext cx="8311200" cy="24900"/>
          </a:xfrm>
          <a:prstGeom prst="straightConnector1">
            <a:avLst/>
          </a:prstGeom>
          <a:noFill/>
          <a:ln cap="flat" cmpd="sng" w="9525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2" name="Google Shape;452;p12"/>
          <p:cNvSpPr/>
          <p:nvPr/>
        </p:nvSpPr>
        <p:spPr>
          <a:xfrm>
            <a:off x="6095738" y="2236349"/>
            <a:ext cx="5691300" cy="206100"/>
          </a:xfrm>
          <a:prstGeom prst="rect">
            <a:avLst/>
          </a:prstGeom>
          <a:solidFill>
            <a:srgbClr val="001746"/>
          </a:solidFill>
          <a:ln cap="flat" cmpd="sng" w="12700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Mitigant &amp; Catalyst:</a:t>
            </a:r>
            <a:endParaRPr b="0" i="0" sz="12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6095738" y="2532039"/>
            <a:ext cx="5677200" cy="834300"/>
          </a:xfrm>
          <a:prstGeom prst="rect">
            <a:avLst/>
          </a:prstGeom>
          <a:solidFill>
            <a:srgbClr val="E4E9F0"/>
          </a:solidFill>
          <a:ln cap="flat" cmpd="sng" w="12700">
            <a:solidFill>
              <a:srgbClr val="E4E9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1746"/>
                </a:solidFill>
                <a:latin typeface="Garamond"/>
                <a:ea typeface="Garamond"/>
                <a:cs typeface="Garamond"/>
                <a:sym typeface="Garamond"/>
              </a:rPr>
              <a:t>If converted stores hit ~$35M sales targets, capex becomes high-return growth. FY26 results and FY27 capex guidance (Mar 2027) show whether FCF converges with adjusted EPS or stays ~$500M below.</a:t>
            </a:r>
            <a:endParaRPr sz="1200">
              <a:solidFill>
                <a:srgbClr val="00174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54" name="Google Shape;454;p12"/>
          <p:cNvCxnSpPr>
            <a:stCxn id="455" idx="3"/>
            <a:endCxn id="453" idx="1"/>
          </p:cNvCxnSpPr>
          <p:nvPr/>
        </p:nvCxnSpPr>
        <p:spPr>
          <a:xfrm>
            <a:off x="5702149" y="2948515"/>
            <a:ext cx="393600" cy="600"/>
          </a:xfrm>
          <a:prstGeom prst="straightConnector1">
            <a:avLst/>
          </a:prstGeom>
          <a:noFill/>
          <a:ln cap="flat" cmpd="sng" w="38100">
            <a:solidFill>
              <a:srgbClr val="E4E9F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456" name="Google Shape;456;p12"/>
          <p:cNvSpPr/>
          <p:nvPr/>
        </p:nvSpPr>
        <p:spPr>
          <a:xfrm>
            <a:off x="76200" y="2383857"/>
            <a:ext cx="3395400" cy="8343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85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House of Sport Reinvestment Earns Its Return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457" name="Google Shape;457;p12"/>
          <p:cNvGrpSpPr/>
          <p:nvPr/>
        </p:nvGrpSpPr>
        <p:grpSpPr>
          <a:xfrm>
            <a:off x="3641148" y="2236349"/>
            <a:ext cx="2061000" cy="1129316"/>
            <a:chOff x="3641148" y="2236349"/>
            <a:chExt cx="2061000" cy="1129316"/>
          </a:xfrm>
        </p:grpSpPr>
        <p:sp>
          <p:nvSpPr>
            <p:cNvPr id="455" name="Google Shape;455;p12"/>
            <p:cNvSpPr/>
            <p:nvPr/>
          </p:nvSpPr>
          <p:spPr>
            <a:xfrm>
              <a:off x="3641149" y="2531365"/>
              <a:ext cx="2061000" cy="834300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rgbClr val="E4E9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Medium</a:t>
              </a:r>
              <a:endParaRPr b="1" i="0" sz="20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58" name="Google Shape;458;p12"/>
            <p:cNvSpPr/>
            <p:nvPr/>
          </p:nvSpPr>
          <p:spPr>
            <a:xfrm>
              <a:off x="3641148" y="2236349"/>
              <a:ext cx="2061000" cy="206100"/>
            </a:xfrm>
            <a:prstGeom prst="rect">
              <a:avLst/>
            </a:prstGeom>
            <a:solidFill>
              <a:srgbClr val="001746"/>
            </a:solidFill>
            <a:ln cap="flat" cmpd="sng" w="12700">
              <a:solidFill>
                <a:srgbClr val="0017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b="0" i="0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cxnSp>
        <p:nvCxnSpPr>
          <p:cNvPr id="459" name="Google Shape;459;p12"/>
          <p:cNvCxnSpPr/>
          <p:nvPr/>
        </p:nvCxnSpPr>
        <p:spPr>
          <a:xfrm>
            <a:off x="3592924" y="3476256"/>
            <a:ext cx="8311200" cy="24900"/>
          </a:xfrm>
          <a:prstGeom prst="straightConnector1">
            <a:avLst/>
          </a:prstGeom>
          <a:noFill/>
          <a:ln cap="flat" cmpd="sng" w="9525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0" name="Google Shape;460;p12"/>
          <p:cNvSpPr/>
          <p:nvPr/>
        </p:nvSpPr>
        <p:spPr>
          <a:xfrm>
            <a:off x="6095751" y="3642586"/>
            <a:ext cx="5691300" cy="206100"/>
          </a:xfrm>
          <a:prstGeom prst="rect">
            <a:avLst/>
          </a:prstGeom>
          <a:solidFill>
            <a:srgbClr val="001746"/>
          </a:solidFill>
          <a:ln cap="flat" cmpd="sng" w="12700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Mitigant &amp; Catalyst:</a:t>
            </a:r>
            <a:endParaRPr b="0" i="0" sz="12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6095751" y="3938276"/>
            <a:ext cx="5677200" cy="834300"/>
          </a:xfrm>
          <a:prstGeom prst="rect">
            <a:avLst/>
          </a:prstGeom>
          <a:solidFill>
            <a:srgbClr val="E4E9F0"/>
          </a:solidFill>
          <a:ln cap="flat" cmpd="sng" w="12700">
            <a:solidFill>
              <a:srgbClr val="E4E9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1746"/>
                </a:solidFill>
                <a:latin typeface="Garamond"/>
                <a:ea typeface="Garamond"/>
                <a:cs typeface="Garamond"/>
                <a:sym typeface="Garamond"/>
              </a:rPr>
              <a:t>A Nike recovery would turn ~31% vendor concentration into an advantage. Nike FQ2 earnings (Dec 2026) and holiday markdown levels reveal whether excess supply is being pushed onto DICK'S and Foot Locker.</a:t>
            </a:r>
            <a:endParaRPr b="0" i="0" sz="1200" u="none" cap="none" strike="noStrike">
              <a:solidFill>
                <a:srgbClr val="00174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62" name="Google Shape;462;p12"/>
          <p:cNvCxnSpPr>
            <a:stCxn id="463" idx="3"/>
            <a:endCxn id="461" idx="1"/>
          </p:cNvCxnSpPr>
          <p:nvPr/>
        </p:nvCxnSpPr>
        <p:spPr>
          <a:xfrm>
            <a:off x="5702161" y="4354752"/>
            <a:ext cx="393600" cy="600"/>
          </a:xfrm>
          <a:prstGeom prst="straightConnector1">
            <a:avLst/>
          </a:prstGeom>
          <a:noFill/>
          <a:ln cap="flat" cmpd="sng" w="38100">
            <a:solidFill>
              <a:srgbClr val="E4E9F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464" name="Google Shape;464;p12"/>
          <p:cNvSpPr/>
          <p:nvPr/>
        </p:nvSpPr>
        <p:spPr>
          <a:xfrm>
            <a:off x="76213" y="3790094"/>
            <a:ext cx="3395400" cy="8343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85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Nike Product Cycle Rebounds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465" name="Google Shape;465;p12"/>
          <p:cNvGrpSpPr/>
          <p:nvPr/>
        </p:nvGrpSpPr>
        <p:grpSpPr>
          <a:xfrm>
            <a:off x="3641161" y="3642586"/>
            <a:ext cx="2061000" cy="1129316"/>
            <a:chOff x="3641161" y="3642586"/>
            <a:chExt cx="2061000" cy="1129316"/>
          </a:xfrm>
        </p:grpSpPr>
        <p:sp>
          <p:nvSpPr>
            <p:cNvPr id="463" name="Google Shape;463;p12"/>
            <p:cNvSpPr/>
            <p:nvPr/>
          </p:nvSpPr>
          <p:spPr>
            <a:xfrm>
              <a:off x="3641161" y="3937602"/>
              <a:ext cx="2061000" cy="834300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rgbClr val="E4E9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Medium</a:t>
              </a:r>
              <a:endParaRPr b="1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66" name="Google Shape;466;p12"/>
            <p:cNvSpPr/>
            <p:nvPr/>
          </p:nvSpPr>
          <p:spPr>
            <a:xfrm>
              <a:off x="3641161" y="3642586"/>
              <a:ext cx="2061000" cy="206100"/>
            </a:xfrm>
            <a:prstGeom prst="rect">
              <a:avLst/>
            </a:prstGeom>
            <a:solidFill>
              <a:srgbClr val="001746"/>
            </a:solidFill>
            <a:ln cap="flat" cmpd="sng" w="12700">
              <a:solidFill>
                <a:srgbClr val="0017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b="0" i="0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cxnSp>
        <p:nvCxnSpPr>
          <p:cNvPr id="467" name="Google Shape;467;p12"/>
          <p:cNvCxnSpPr/>
          <p:nvPr/>
        </p:nvCxnSpPr>
        <p:spPr>
          <a:xfrm>
            <a:off x="3592936" y="4882493"/>
            <a:ext cx="8311200" cy="24900"/>
          </a:xfrm>
          <a:prstGeom prst="straightConnector1">
            <a:avLst/>
          </a:prstGeom>
          <a:noFill/>
          <a:ln cap="flat" cmpd="sng" w="9525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8" name="Google Shape;468;p12"/>
          <p:cNvSpPr/>
          <p:nvPr/>
        </p:nvSpPr>
        <p:spPr>
          <a:xfrm>
            <a:off x="6095751" y="5071011"/>
            <a:ext cx="5691300" cy="206100"/>
          </a:xfrm>
          <a:prstGeom prst="rect">
            <a:avLst/>
          </a:prstGeom>
          <a:solidFill>
            <a:srgbClr val="001746"/>
          </a:solidFill>
          <a:ln cap="flat" cmpd="sng" w="12700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Mitigant &amp; Catalyst:</a:t>
            </a:r>
            <a:endParaRPr b="0" i="0" sz="12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6095751" y="5366701"/>
            <a:ext cx="5677200" cy="834300"/>
          </a:xfrm>
          <a:prstGeom prst="rect">
            <a:avLst/>
          </a:prstGeom>
          <a:solidFill>
            <a:srgbClr val="E4E9F0"/>
          </a:solidFill>
          <a:ln cap="flat" cmpd="sng" w="12700">
            <a:solidFill>
              <a:srgbClr val="E4E9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01746"/>
                </a:solidFill>
                <a:latin typeface="Garamond"/>
                <a:ea typeface="Garamond"/>
                <a:cs typeface="Garamond"/>
                <a:sym typeface="Garamond"/>
              </a:rPr>
              <a:t>Shares fell on the Q2 FY26 EPS miss ($3.53 vs. ~$3.78), but Foot Locker enters the comp base in Q4 FY26 (–2% to 0% guided), adding a drag not yet visible in headline comps.</a:t>
            </a:r>
            <a:endParaRPr b="0" i="0" sz="1200" u="none" cap="none" strike="noStrike">
              <a:solidFill>
                <a:srgbClr val="00174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70" name="Google Shape;470;p12"/>
          <p:cNvCxnSpPr>
            <a:stCxn id="471" idx="3"/>
            <a:endCxn id="469" idx="1"/>
          </p:cNvCxnSpPr>
          <p:nvPr/>
        </p:nvCxnSpPr>
        <p:spPr>
          <a:xfrm>
            <a:off x="5702161" y="5783177"/>
            <a:ext cx="393600" cy="600"/>
          </a:xfrm>
          <a:prstGeom prst="straightConnector1">
            <a:avLst/>
          </a:prstGeom>
          <a:noFill/>
          <a:ln cap="flat" cmpd="sng" w="38100">
            <a:solidFill>
              <a:srgbClr val="E4E9F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12"/>
          <p:cNvSpPr/>
          <p:nvPr/>
        </p:nvSpPr>
        <p:spPr>
          <a:xfrm>
            <a:off x="76213" y="5218519"/>
            <a:ext cx="3395400" cy="8343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85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Bear Case Already Priced In After Q2 Miss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473" name="Google Shape;473;p12"/>
          <p:cNvGrpSpPr/>
          <p:nvPr/>
        </p:nvGrpSpPr>
        <p:grpSpPr>
          <a:xfrm>
            <a:off x="3641161" y="5071011"/>
            <a:ext cx="2061000" cy="1129316"/>
            <a:chOff x="3641161" y="5071011"/>
            <a:chExt cx="2061000" cy="1129316"/>
          </a:xfrm>
        </p:grpSpPr>
        <p:sp>
          <p:nvSpPr>
            <p:cNvPr id="471" name="Google Shape;471;p12"/>
            <p:cNvSpPr/>
            <p:nvPr/>
          </p:nvSpPr>
          <p:spPr>
            <a:xfrm>
              <a:off x="3641161" y="5366027"/>
              <a:ext cx="2061000" cy="834300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rgbClr val="E4E9F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Low</a:t>
              </a:r>
              <a:endParaRPr b="1" i="0" sz="20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74" name="Google Shape;474;p12"/>
            <p:cNvSpPr/>
            <p:nvPr/>
          </p:nvSpPr>
          <p:spPr>
            <a:xfrm>
              <a:off x="3641161" y="5071011"/>
              <a:ext cx="2061000" cy="206100"/>
            </a:xfrm>
            <a:prstGeom prst="rect">
              <a:avLst/>
            </a:prstGeom>
            <a:solidFill>
              <a:srgbClr val="001746"/>
            </a:solidFill>
            <a:ln cap="flat" cmpd="sng" w="12700">
              <a:solidFill>
                <a:srgbClr val="0017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b="0" i="0" sz="12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f01911d161_1_391"/>
          <p:cNvSpPr txBox="1"/>
          <p:nvPr/>
        </p:nvSpPr>
        <p:spPr>
          <a:xfrm>
            <a:off x="228600" y="350838"/>
            <a:ext cx="868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small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Ongoing Diligence</a:t>
            </a:r>
            <a:endParaRPr b="1" i="0" sz="3000" u="none" cap="small" strike="noStrike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306" name="Google Shape;306;g1f01911d161_1_391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cap="flat" cmpd="sng" w="9525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7" name="Google Shape;307;g1f01911d161_1_391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8" name="Google Shape;308;g1f01911d161_1_391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rgbClr val="001746"/>
          </a:solidFill>
          <a:ln cap="flat" cmpd="sng" w="12700">
            <a:solidFill>
              <a:srgbClr val="00174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Diligence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9" name="Google Shape;309;g1f01911d161_1_391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0" name="Google Shape;310;g1f01911d161_1_391"/>
          <p:cNvSpPr txBox="1"/>
          <p:nvPr>
            <p:ph idx="4294967295" type="sldNum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g1f01911d161_1_391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2" name="Google Shape;312;g1f01911d161_1_391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3" name="Google Shape;313;g1f01911d161_1_391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b="0" i="0" sz="14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4" name="Google Shape;314;g1f01911d161_1_391"/>
          <p:cNvSpPr txBox="1"/>
          <p:nvPr/>
        </p:nvSpPr>
        <p:spPr>
          <a:xfrm>
            <a:off x="272818" y="1088238"/>
            <a:ext cx="5735700" cy="401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Channel Checks:</a:t>
            </a:r>
            <a:endParaRPr b="1" i="0" sz="1600" u="none" cap="none" strike="noStrik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5" name="Google Shape;315;g1f01911d161_1_391"/>
          <p:cNvSpPr txBox="1"/>
          <p:nvPr/>
        </p:nvSpPr>
        <p:spPr>
          <a:xfrm>
            <a:off x="6166447" y="1088238"/>
            <a:ext cx="5735700" cy="401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Data &amp; Model Tracking:</a:t>
            </a:r>
            <a:endParaRPr b="1" i="0" sz="1600" u="none" cap="none" strike="noStrik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6" name="Google Shape;316;g1f01911d161_1_391"/>
          <p:cNvSpPr txBox="1"/>
          <p:nvPr/>
        </p:nvSpPr>
        <p:spPr>
          <a:xfrm>
            <a:off x="6166447" y="1711663"/>
            <a:ext cx="5735700" cy="41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Foot Traffic: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Advan and Placer.ai visits at converted stores vs. legacy stores in the same trade area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Card Panels: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Spend per visit at House of Sport vs. legacy stores to test whether visits convert to sales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Filings: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Relocation vs. new-store mix, capex, landlord allowances and depreciation each quarter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Model Sensitivities: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Flex conversion counts and per-store lift around our ~2.7% comp; bridge EPS to FCF at $1.1B capex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7" name="Google Shape;317;g1f01911d161_1_391"/>
          <p:cNvSpPr txBox="1"/>
          <p:nvPr/>
        </p:nvSpPr>
        <p:spPr>
          <a:xfrm>
            <a:off x="360288" y="1785438"/>
            <a:ext cx="57357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Experience Conversion: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Ask staff whether climbing wall, cage and simulator users shop afterward; pair with our own in-store counts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Novelty Decay: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Compare attraction usage today vs. opening months to test whether traffic fades after anniversaries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Nike Supply: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Expert calls with former Nike wholesale and DICK'S district managers on sell-through and markdowns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Garamond"/>
              <a:buChar char="●"/>
            </a:pPr>
            <a:r>
              <a:rPr lang="en-US" sz="1700" b="1" u="sng">
                <a:latin typeface="Garamond"/>
                <a:ea typeface="Garamond"/>
                <a:cs typeface="Garamond"/>
                <a:sym typeface="Garamond"/>
              </a:rPr>
              <a:t>Foot Locker:</a:t>
            </a:r>
            <a:r>
              <a:rPr lang="en-US" sz="1700">
                <a:latin typeface="Garamond"/>
                <a:ea typeface="Garamond"/>
                <a:cs typeface="Garamond"/>
                <a:sym typeface="Garamond"/>
              </a:rPr>
              <a:t xml:space="preserve"> Compare Fast Break pilot stores with legacy doors and track exposure to retro and launch styles</a:t>
            </a:r>
            <a:endParaRPr sz="17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2023-12-22T18:32:47Z</dcterms:created>
  <dc:creator>Yu, Ruthie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0x010100B27FAD69C05A8942844D26108DED49F6</vt:lpwstr>
  </property>
</Properties>
</file>