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82" r:id="rId15"/>
    <p:sldId id="270" r:id="rId16"/>
    <p:sldId id="286" r:id="rId17"/>
    <p:sldId id="266" r:id="rId18"/>
    <p:sldId id="280" r:id="rId19"/>
    <p:sldId id="275" r:id="rId20"/>
    <p:sldId id="276" r:id="rId21"/>
    <p:sldId id="285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Garamond" panose="02020404030301010803" pitchFamily="18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joKSKhQtrFziL8iO4AvVqJMPPl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5" Type="http://customschemas.google.com/relationships/presentationmetadata" Target="metadata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6e027a1db_8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2b6e027a1db_8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Both from Bloomberg</a:t>
            </a: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b6e027a1db_8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2b6e027a1db_8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b6e027a1db_8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g2b6e027a1db_8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01911d161_1_3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3" name="Google Shape;303;g1f01911d161_1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Selling Ships: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Capsize ships (175k DWT)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ACHIEVEMENT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GENIUS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INTEGRITY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INGENUITY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 TRADER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 TRADER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5 yr ship for 45.5M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15 yr ship for 23 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https://www.hellenicshippingnews.com/capesize-values-for-older-vessels-rise-in-october/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Using their underperforming ships as collateral, just as they are presently doing with 24 ships for their revolving credit facility, can enable them to access a larger amount of capital at more favorable interest rates, specifically at S+400.</a:t>
            </a:r>
            <a:br>
              <a:rPr lang="en-US"/>
            </a:br>
            <a:br>
              <a:rPr lang="en-US"/>
            </a:br>
            <a:r>
              <a:rPr lang="en-US"/>
              <a:t>By using their underperforming ships as collateral - just as they are doing with 24 ships for their revolver - Danaos can access a larger amount of capital at more favorable interest rates, specifically at a SOFR+400.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Selling Ships: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Capsize ships (175k DWT)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ACHIEVEMENT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GENIUS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INTEGRITY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INGENUITY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PEACE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 TRADER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 TRADER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5 yr ship for 45.5M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15 yr ship for 23 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https://www.hellenicshippingnews.com/capesize-values-for-older-vessels-rise-in-october/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Using their underperforming ships as collateral, just as they are presently doing with 24 ships for their revolving credit facility, can enable them to access a larger amount of capital at more favorable interest rates, specifically at S+400.</a:t>
            </a:r>
            <a:br>
              <a:rPr lang="en-US"/>
            </a:br>
            <a:br>
              <a:rPr lang="en-US"/>
            </a:br>
            <a:r>
              <a:rPr lang="en-US"/>
              <a:t>By using their underperforming ships as collateral - just as they are doing with 24 ships for their revolver - Danaos can access a larger amount of capital at more favorable interest rates, specifically at a SOFR+400.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7614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b6e027a1db_8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2b6e027a1db_8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6e027a1db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2b6e027a1db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1748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b6e027a1db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2b6e027a1db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3749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b6e027a1db_8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g2b6e027a1db_8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9670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5"/>
          <p:cNvPicPr preferRelativeResize="0"/>
          <p:nvPr/>
        </p:nvPicPr>
        <p:blipFill rotWithShape="1">
          <a:blip r:embed="rId2">
            <a:alphaModFix/>
          </a:blip>
          <a:srcRect t="42068" b="42057"/>
          <a:stretch/>
        </p:blipFill>
        <p:spPr>
          <a:xfrm>
            <a:off x="10228280" y="6523254"/>
            <a:ext cx="1369549" cy="199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41172" y="219098"/>
            <a:ext cx="1369549" cy="28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8"/>
          <p:cNvSpPr txBox="1"/>
          <p:nvPr/>
        </p:nvSpPr>
        <p:spPr>
          <a:xfrm>
            <a:off x="3319250" y="296475"/>
            <a:ext cx="30591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eg"/><Relationship Id="rId4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e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91440" y="6474365"/>
            <a:ext cx="188895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May 19, 2026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sldNum" idx="12"/>
          </p:nvPr>
        </p:nvSpPr>
        <p:spPr>
          <a:xfrm>
            <a:off x="11769025" y="6466818"/>
            <a:ext cx="269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93" name="Google Shape;93;p1"/>
          <p:cNvCxnSpPr/>
          <p:nvPr/>
        </p:nvCxnSpPr>
        <p:spPr>
          <a:xfrm>
            <a:off x="11767332" y="6510866"/>
            <a:ext cx="0" cy="23255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"/>
          <p:cNvSpPr txBox="1"/>
          <p:nvPr/>
        </p:nvSpPr>
        <p:spPr>
          <a:xfrm>
            <a:off x="3967350" y="2434800"/>
            <a:ext cx="42057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rPr lang="en-US" sz="39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NASDAQ</a:t>
            </a:r>
            <a:r>
              <a:rPr lang="en-US" sz="39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: SMCI</a:t>
            </a:r>
          </a:p>
        </p:txBody>
      </p:sp>
      <p:sp>
        <p:nvSpPr>
          <p:cNvPr id="95" name="Google Shape;95;p1"/>
          <p:cNvSpPr txBox="1"/>
          <p:nvPr/>
        </p:nvSpPr>
        <p:spPr>
          <a:xfrm>
            <a:off x="1150620" y="5606567"/>
            <a:ext cx="989076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Garamond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Johnson Chen (johnsonchen2026@gmail.com), Jacob Liu (jliufc18@gmail.com)</a:t>
            </a:r>
            <a:endParaRPr sz="2000" b="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569459" y="3428999"/>
            <a:ext cx="5053082" cy="1977501"/>
          </a:xfrm>
          <a:prstGeom prst="rect">
            <a:avLst/>
          </a:prstGeom>
          <a:noFill/>
          <a:ln w="19050" cap="flat" cmpd="sng">
            <a:solidFill>
              <a:srgbClr val="192F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small" dirty="0">
                <a:solidFill>
                  <a:srgbClr val="192F63"/>
                </a:solidFill>
                <a:latin typeface="Garamond"/>
                <a:ea typeface="Garamond"/>
                <a:cs typeface="Garamond"/>
                <a:sym typeface="Garamond"/>
              </a:rPr>
              <a:t>Current Price: $30.50</a:t>
            </a:r>
            <a:endParaRPr sz="2700" b="0" i="0" u="none" strike="noStrike" cap="small" dirty="0">
              <a:solidFill>
                <a:srgbClr val="192F6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700" cap="small" dirty="0">
                <a:solidFill>
                  <a:srgbClr val="192F63"/>
                </a:solidFill>
                <a:latin typeface="Garamond"/>
                <a:ea typeface="Garamond"/>
                <a:cs typeface="Garamond"/>
                <a:sym typeface="Garamond"/>
              </a:rPr>
              <a:t>Target: $46.00 (+51% upside) </a:t>
            </a:r>
            <a:endParaRPr sz="2700" cap="small" dirty="0">
              <a:solidFill>
                <a:srgbClr val="192F6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cap="small" dirty="0">
                <a:solidFill>
                  <a:srgbClr val="192F63"/>
                </a:solidFill>
                <a:latin typeface="Garamond"/>
                <a:ea typeface="Garamond"/>
                <a:cs typeface="Garamond"/>
                <a:sym typeface="Garamond"/>
              </a:rPr>
              <a:t>Consensus: HOLD (Reinforced)</a:t>
            </a:r>
            <a:endParaRPr sz="2700" b="0" i="0" u="none" strike="noStrike" cap="small" dirty="0">
              <a:solidFill>
                <a:srgbClr val="192F6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9625075" y="61425"/>
            <a:ext cx="2484000" cy="73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Supermicro - Wikipedia">
            <a:extLst>
              <a:ext uri="{FF2B5EF4-FFF2-40B4-BE49-F238E27FC236}">
                <a16:creationId xmlns:a16="http://schemas.microsoft.com/office/drawing/2014/main" id="{545D5F5E-F737-4B56-B022-9C8195081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256" y="303491"/>
            <a:ext cx="3649488" cy="192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95;p1">
            <a:extLst>
              <a:ext uri="{FF2B5EF4-FFF2-40B4-BE49-F238E27FC236}">
                <a16:creationId xmlns:a16="http://schemas.microsoft.com/office/drawing/2014/main" id="{7047D4BF-0704-468B-9E7D-911999BAE997}"/>
              </a:ext>
            </a:extLst>
          </p:cNvPr>
          <p:cNvSpPr txBox="1"/>
          <p:nvPr/>
        </p:nvSpPr>
        <p:spPr>
          <a:xfrm>
            <a:off x="2184000" y="5928926"/>
            <a:ext cx="7772400" cy="4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Garamond"/>
              <a:buNone/>
            </a:pPr>
            <a:r>
              <a:rPr lang="en-US" sz="1800" dirty="0">
                <a:latin typeface="Garamond"/>
                <a:ea typeface="Garamond"/>
                <a:cs typeface="Garamond"/>
                <a:sym typeface="Garamond"/>
              </a:rPr>
              <a:t>Rochester Adams High School, Troy High School (Michigan)</a:t>
            </a:r>
            <a:endParaRPr sz="1800" b="0" i="0" u="none" strike="noStrike" cap="none" dirty="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BDF8D-2A5B-43FF-A68C-77E0428F9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853925" y="1075650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53925" y="1839208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53925" y="2602756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853925" y="3401630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53925" y="4176970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53925" y="5727649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53925" y="4952316"/>
            <a:ext cx="534300" cy="547500"/>
          </a:xfrm>
          <a:prstGeom prst="ellipse">
            <a:avLst/>
          </a:prstGeom>
          <a:solidFill>
            <a:srgbClr val="001746"/>
          </a:solidFill>
          <a:ln w="1905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627295" y="1084474"/>
            <a:ext cx="636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i="0" u="none" strike="noStrike" cap="small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Target Overview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627295" y="1887306"/>
            <a:ext cx="636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Industry Overview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627295" y="3369416"/>
            <a:ext cx="636450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lang="en-US"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627295" y="2590014"/>
            <a:ext cx="636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627295" y="4125873"/>
            <a:ext cx="636450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cap="small" dirty="0">
                <a:solidFill>
                  <a:srgbClr val="3F3F3F"/>
                </a:solidFill>
                <a:latin typeface="Garamond"/>
                <a:ea typeface="Calibri"/>
                <a:cs typeface="Calibri"/>
                <a:sym typeface="Garamond"/>
              </a:rPr>
              <a:t>ESG/Overview Consideration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627295" y="4963093"/>
            <a:ext cx="636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i="0" u="none" strike="noStrike" cap="small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Risks &amp; Mitigants</a:t>
            </a:r>
            <a:endParaRPr sz="2600" b="1" i="0" u="none" strike="noStrike" cap="small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627295" y="5738426"/>
            <a:ext cx="636450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6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F</a:t>
            </a:r>
            <a:r>
              <a:rPr lang="en-US" sz="26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inal Recommendation</a:t>
            </a:r>
            <a:endParaRPr sz="2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19" name="Google Shape;119;p2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" name="Google Shape;120;p2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2</a:t>
            </a:fld>
            <a:endParaRPr/>
          </a:p>
        </p:txBody>
      </p:sp>
      <p:cxnSp>
        <p:nvCxnSpPr>
          <p:cNvPr id="121" name="Google Shape;121;p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2"/>
          <p:cNvSpPr txBox="1"/>
          <p:nvPr/>
        </p:nvSpPr>
        <p:spPr>
          <a:xfrm>
            <a:off x="228600" y="762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Agenda</a:t>
            </a:r>
            <a:endParaRPr sz="3000" b="1" i="0" u="none" strike="noStrike" cap="small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52" name="Picture 4" descr="SMCI - Super Micro Computer, Inc. Trademark Registration">
            <a:extLst>
              <a:ext uri="{FF2B5EF4-FFF2-40B4-BE49-F238E27FC236}">
                <a16:creationId xmlns:a16="http://schemas.microsoft.com/office/drawing/2014/main" id="{FA41A2C0-9B7B-4261-A9C3-4E385C1232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D7E7F8E-0B58-4F85-B23F-C4044098E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b6e027a1db_8_19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28" name="Google Shape;128;g2b6e027a1db_8_19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9" name="Google Shape;129;g2b6e027a1db_8_19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30" name="Google Shape;130;g2b6e027a1db_8_19"/>
          <p:cNvSpPr/>
          <p:nvPr/>
        </p:nvSpPr>
        <p:spPr>
          <a:xfrm>
            <a:off x="-37950" y="3908122"/>
            <a:ext cx="12267900" cy="61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2b6e027a1db_8_19"/>
          <p:cNvSpPr/>
          <p:nvPr/>
        </p:nvSpPr>
        <p:spPr>
          <a:xfrm>
            <a:off x="-37950" y="2888251"/>
            <a:ext cx="12267900" cy="10200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b6e027a1db_8_19"/>
          <p:cNvSpPr txBox="1"/>
          <p:nvPr/>
        </p:nvSpPr>
        <p:spPr>
          <a:xfrm>
            <a:off x="718260" y="2995299"/>
            <a:ext cx="89520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Garamond"/>
              <a:buAutoNum type="romanUcPeriod"/>
            </a:pPr>
            <a:r>
              <a:rPr lang="en-US" sz="35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Target &amp; Industry Overviews</a:t>
            </a:r>
            <a:endParaRPr sz="35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8" name="Picture 4" descr="SMCI - Super Micro Computer, Inc. Trademark Registration">
            <a:extLst>
              <a:ext uri="{FF2B5EF4-FFF2-40B4-BE49-F238E27FC236}">
                <a16:creationId xmlns:a16="http://schemas.microsoft.com/office/drawing/2014/main" id="{C8F3D625-C915-475F-9B18-2DB0BF262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EAEDA1-325A-45FE-B6A7-5DB640A93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194725" y="3401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Company </a:t>
            </a: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Overview  </a:t>
            </a:r>
            <a:endParaRPr sz="30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121225" y="1535700"/>
            <a:ext cx="3757500" cy="14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Super Micro Computer (NASDAQ: SMCI) designs, manufactures, and sells high-performance server and storage solutions for AI/ML, cloud, enterprise, and edge workloads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Founded in 1993 by Charles Liang (current CEO/Chairman) in San Jose, CA; vertically integrated with in-house motherboard design, chassis manufacturing, and system assembly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Fastest-growing server OEM globally, riding unprecedented AI infrastructure demand to $40B+ in projected FY2026 revenue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"Building Block Solutions" modular architecture enables rapid customization at scale with 6-12 week time-to-market vs. 6-12 months for Dell/HPE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Industry leader in Direct Liquid Cooling (DLC) rack-scale solutions, the fastest-growing product line as GPU power densities make air cooling inadequate</a:t>
            </a:r>
            <a:endParaRPr lang="en-US" dirty="0"/>
          </a:p>
        </p:txBody>
      </p:sp>
      <p:sp>
        <p:nvSpPr>
          <p:cNvPr id="144" name="Google Shape;144;p3"/>
          <p:cNvSpPr txBox="1"/>
          <p:nvPr/>
        </p:nvSpPr>
        <p:spPr>
          <a:xfrm>
            <a:off x="7018932" y="3568050"/>
            <a:ext cx="2347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7902025" y="1535700"/>
            <a:ext cx="3757500" cy="24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b="1">
                <a:solidFill>
                  <a:srgbClr val="1D2939"/>
                </a:solidFill>
                <a:latin typeface="Garamond"/>
              </a:rPr>
              <a:t>Q3 FY2026 mix: OEM/large data center $7.4B = 72% of revenue (+183% YoY)</a:t>
            </a:r>
            <a:endParaRPr lang="en-US" dirty="0"/>
          </a:p>
          <a:p>
            <a:r>
              <a:rPr b="1">
                <a:solidFill>
                  <a:srgbClr val="1D2939"/>
                </a:solidFill>
                <a:latin typeface="Garamond"/>
              </a:rPr>
              <a:t>Enterprise channel $2.8B = 28% of revenue (+46% YoY, +45% QoQ); up from 15% in Q2 FY26</a:t>
            </a:r>
          </a:p>
          <a:p>
            <a:r>
              <a:rPr b="1">
                <a:solidFill>
                  <a:srgbClr val="1D2939"/>
                </a:solidFill>
                <a:latin typeface="Garamond"/>
              </a:rPr>
              <a:t>AI-GPU related platforms &gt;80% of total revenue</a:t>
            </a:r>
          </a:p>
          <a:p>
            <a:r>
              <a:rPr b="1">
                <a:solidFill>
                  <a:srgbClr val="1D2939"/>
                </a:solidFill>
                <a:latin typeface="Garamond"/>
              </a:rPr>
              <a:t>Customer concentration Q3 FY26: top customer 27% (down from ~63% in Q2 FY26); second customer 10%</a:t>
            </a:r>
          </a:p>
          <a:p>
            <a:r>
              <a:rPr b="1">
                <a:solidFill>
                  <a:srgbClr val="1D2939"/>
                </a:solidFill>
                <a:latin typeface="Garamond"/>
              </a:rPr>
              <a:t>Geography: ~50% US, ~33% APAC, ~13% Europe, ~4% RoW</a:t>
            </a:r>
          </a:p>
        </p:txBody>
      </p:sp>
      <p:sp>
        <p:nvSpPr>
          <p:cNvPr id="146" name="Google Shape;146;p3"/>
          <p:cNvSpPr txBox="1"/>
          <p:nvPr/>
        </p:nvSpPr>
        <p:spPr>
          <a:xfrm>
            <a:off x="3960475" y="1533875"/>
            <a:ext cx="3757500" cy="4308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b="1">
                <a:solidFill>
                  <a:srgbClr val="1D2939"/>
                </a:solidFill>
                <a:latin typeface="Garamond"/>
              </a:rPr>
              <a:t>Current Price: ~$30.50 (mid-May 2026) | Market Cap ~$18.3B | EV ~$27.7B</a:t>
            </a:r>
            <a:endParaRPr lang="en-US" dirty="0"/>
          </a:p>
          <a:p>
            <a:r>
              <a:rPr b="1">
                <a:solidFill>
                  <a:srgbClr val="1D2939"/>
                </a:solidFill>
                <a:latin typeface="Garamond"/>
              </a:rPr>
              <a:t>Q3 FY2026 (reported May 5, 2026): Net sales $10.24B (+123% YoY); GAAP GM 9.9% / non-GAAP 10.1% (vs 6.3% Q2); net income $483M; diluted EPS $0.72</a:t>
            </a:r>
          </a:p>
          <a:p>
            <a:r>
              <a:rPr b="1">
                <a:solidFill>
                  <a:srgbClr val="1D2939"/>
                </a:solidFill>
                <a:latin typeface="Garamond"/>
              </a:rPr>
              <a:t>FY2026 guide REAFFIRMED at $38.9-40.4B per 8-K filed 2026-05-05; Q4 FY26 guide $11.0-12.5B; backlog at record high; AI-GPU platforms &gt;80% of revenue</a:t>
            </a:r>
          </a:p>
          <a:p>
            <a:r>
              <a:rPr b="1">
                <a:solidFill>
                  <a:srgbClr val="1D2939"/>
                </a:solidFill>
                <a:latin typeface="Garamond"/>
              </a:rPr>
              <a:t>Governance: DOJ indicted 3 individuals on Mar 19, 2026 (~$2.5B alleged China diversion) — SMCI NOT charged; 2nd internal investigation underway (Munger Tolles/AlixPartners/BDO); class action pending (Bhuva, lead-plaintiff deadline May 26, 2026)</a:t>
            </a:r>
          </a:p>
        </p:txBody>
      </p:sp>
      <p:cxnSp>
        <p:nvCxnSpPr>
          <p:cNvPr id="148" name="Google Shape;148;p3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3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0" name="Google Shape;150;p3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270925" y="992675"/>
            <a:ext cx="35640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Background</a:t>
            </a:r>
            <a:endParaRPr sz="1600" b="1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4183200" y="992675"/>
            <a:ext cx="35640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Company Health</a:t>
            </a:r>
            <a:endParaRPr sz="1600" b="1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8095475" y="992675"/>
            <a:ext cx="35640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Revenue Streams</a:t>
            </a:r>
            <a:endParaRPr sz="1600" b="1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9" name="Picture 4" descr="SMCI - Super Micro Computer, Inc. Trademark Registration">
            <a:extLst>
              <a:ext uri="{FF2B5EF4-FFF2-40B4-BE49-F238E27FC236}">
                <a16:creationId xmlns:a16="http://schemas.microsoft.com/office/drawing/2014/main" id="{804F6BC1-7981-41AB-B00C-EF268C96D0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6" name="Picture 2">
            <a:extLst>
              <a:ext uri="{FF2B5EF4-FFF2-40B4-BE49-F238E27FC236}">
                <a16:creationId xmlns:a16="http://schemas.microsoft.com/office/drawing/2014/main" id="{75C14E42-EA71-4201-A842-92FE9DB2E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431" y="4406485"/>
            <a:ext cx="2726087" cy="174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8761D3F-E893-4166-A264-2CB30B0A7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228600" y="3508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Industry Overview  </a:t>
            </a:r>
            <a:endParaRPr sz="30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1030275" y="1433826"/>
            <a:ext cx="4926000" cy="475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Global AI server TAM projected to grow from ~$125B (2024) to $400B+ (2028) at ~34% CAGR, driven by LLM training, enterprise AI deployment, and sovereign AI initiatives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Liquid cooling solutions are the fastest-growing sub-segment: ~$5B (2024) to ~$25B (2028) at ~50% CAGR as power densities exceed 100kW/rack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NVIDIA GPU roadmap (H100 to H200 to B200 to GB200 NVL72) drives sustained upgrade demand; each generation increases rack power from ~40kW to ~120kW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server market set to grow 55% in 2025 alone to ~$252B (Bloomberg Intelligence); </a:t>
            </a:r>
            <a:r>
              <a:rPr lang="en-US" sz="1600" dirty="0" err="1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hyperscaler</a:t>
            </a: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capex budgets continuing to expand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GPT-5 class models require 10x+ the compute of GPT-4; AI inference workloads projected to exceed training by 2027</a:t>
            </a:r>
            <a:endParaRPr lang="en-US" sz="1600" dirty="0"/>
          </a:p>
        </p:txBody>
      </p:sp>
      <p:sp>
        <p:nvSpPr>
          <p:cNvPr id="161" name="Google Shape;161;p5"/>
          <p:cNvSpPr txBox="1"/>
          <p:nvPr/>
        </p:nvSpPr>
        <p:spPr>
          <a:xfrm>
            <a:off x="6201624" y="1428463"/>
            <a:ext cx="4926000" cy="2903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Generative AI training compute scaling 10x+ per generation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Enterprise AI inference deployment at scale (exceeds training by 2027)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 center power/cooling constraints (&gt;100kW/rack = liquid cooling required)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Sovereign AI: Governments investing in domestic AI compute infrastructure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Edge AI expansion for latency-sensitive inference applications</a:t>
            </a:r>
            <a:endParaRPr lang="en-US" sz="1600" dirty="0"/>
          </a:p>
        </p:txBody>
      </p:sp>
      <p:cxnSp>
        <p:nvCxnSpPr>
          <p:cNvPr id="164" name="Google Shape;164;p5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5" name="Google Shape;165;p5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1" name="Google Shape;171;p5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990163" y="965919"/>
            <a:ext cx="49638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AI Infrastructure Market</a:t>
            </a:r>
            <a:endParaRPr sz="1600" b="1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6220965" y="965900"/>
            <a:ext cx="4963800" cy="365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Key Growth Catalysts</a:t>
            </a:r>
          </a:p>
        </p:txBody>
      </p:sp>
      <p:pic>
        <p:nvPicPr>
          <p:cNvPr id="18" name="Picture 4" descr="SMCI - Super Micro Computer, Inc. Trademark Registration">
            <a:extLst>
              <a:ext uri="{FF2B5EF4-FFF2-40B4-BE49-F238E27FC236}">
                <a16:creationId xmlns:a16="http://schemas.microsoft.com/office/drawing/2014/main" id="{720F57C7-3320-4575-A398-122C53EA9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DC2B300C-C027-4B65-B97F-8916639E6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692942"/>
              </p:ext>
            </p:extLst>
          </p:nvPr>
        </p:nvGraphicFramePr>
        <p:xfrm>
          <a:off x="6258765" y="4224605"/>
          <a:ext cx="4926000" cy="1762030"/>
        </p:xfrm>
        <a:graphic>
          <a:graphicData uri="http://schemas.openxmlformats.org/drawingml/2006/table">
            <a:tbl>
              <a:tblPr/>
              <a:tblGrid>
                <a:gridCol w="1423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4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Segment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2024E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2028P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CAGR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Servers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~$125B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~$400B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~34%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Liquid Cooling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~$5B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~$25B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~50%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HPC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~$45B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~$75B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~14%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Total DC Infra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~$350B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~$600B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~15%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993C0580-19C6-4726-A9AC-53FE87848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/>
        </p:nvSpPr>
        <p:spPr>
          <a:xfrm>
            <a:off x="228600" y="3508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Industry Overview </a:t>
            </a:r>
            <a:endParaRPr sz="30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260325" y="998800"/>
            <a:ext cx="11633100" cy="401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Competitive Edge in Industry</a:t>
            </a:r>
            <a:endParaRPr sz="16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1" name="Google Shape;181;p6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87" name="Google Shape;187;p6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6" name="Picture 4" descr="SMCI - Super Micro Computer, Inc. Trademark Registration">
            <a:extLst>
              <a:ext uri="{FF2B5EF4-FFF2-40B4-BE49-F238E27FC236}">
                <a16:creationId xmlns:a16="http://schemas.microsoft.com/office/drawing/2014/main" id="{059891F1-52BC-4AF7-A2B1-571FF02D8B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62552387-EE0F-4827-B60C-81A2AE5B5106}"/>
              </a:ext>
            </a:extLst>
          </p:cNvPr>
          <p:cNvSpPr/>
          <p:nvPr/>
        </p:nvSpPr>
        <p:spPr>
          <a:xfrm>
            <a:off x="1889760" y="1536794"/>
            <a:ext cx="84124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205019C7-107A-46C9-BA5E-541598348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455690"/>
              </p:ext>
            </p:extLst>
          </p:nvPr>
        </p:nvGraphicFramePr>
        <p:xfrm>
          <a:off x="1889760" y="1628234"/>
          <a:ext cx="8412480" cy="2194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Factor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SMCI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Dell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HPE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ODMs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Time-to-Market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6-12 weeks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6-12 months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6-12 months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3-6 months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Customization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Very High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Medium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Medium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High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Liquid Cooling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Leader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Developing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Developing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Limited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Gross Margin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F04438"/>
                          </a:solidFill>
                          <a:latin typeface="Garamond"/>
                        </a:rPr>
                        <a:t>9-10% (Q3 FY26 recovery)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20-21%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30-32%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4-6%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Server Focus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Primary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~15% of rev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~20% of rev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Contract-based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Mkt Share (AI)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~15-20%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#1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#3-4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Varies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Services/SW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Limited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Extensive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Extensive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None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Text 11">
            <a:extLst>
              <a:ext uri="{FF2B5EF4-FFF2-40B4-BE49-F238E27FC236}">
                <a16:creationId xmlns:a16="http://schemas.microsoft.com/office/drawing/2014/main" id="{10A0D1EB-921F-4E63-A41E-50B982DF311C}"/>
              </a:ext>
            </a:extLst>
          </p:cNvPr>
          <p:cNvSpPr/>
          <p:nvPr/>
        </p:nvSpPr>
        <p:spPr>
          <a:xfrm>
            <a:off x="1889760" y="400567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Competitive Dynamics:</a:t>
            </a:r>
            <a:endParaRPr lang="en-US" sz="10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02AD7BAB-9464-4C9C-8E02-CCBFA6231ACE}"/>
              </a:ext>
            </a:extLst>
          </p:cNvPr>
          <p:cNvSpPr/>
          <p:nvPr/>
        </p:nvSpPr>
        <p:spPr>
          <a:xfrm>
            <a:off x="1889760" y="4279994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Speed is the core differentiator: When NVIDIA launches a new GPU, SMCI has validated designs within weeks vs. 6-12 months for Dell/HPE. In a market where every quarter of delay = lost AI training revenue, this speed premium is substantial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Dell ($104B TTM rev) has a massive enterprise sales force and full-stack solutions; HPE ($34B) has strong gov't relationships and GreenLake as-a-service. Both are investing aggressively in liquid cooling.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ODMs (Quanta, Wistron, Foxconn) build custom hyperscaler designs at 4-6% margins with no brand/IP; in-house designs (Google TPU, Amazon Trainium) are a long-term structural threat to all OEMs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SMCI holds ~25-30% share in liquid cooling specifically (market leader) but margins (6-11%) are well below Dell (20-21%) and HPE (30-32%), reflecting a volume/speed model vs. premium pricing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C213A25-725D-41EF-AF90-31D3CC183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b6e027a1db_8_49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197" name="Google Shape;197;g2b6e027a1db_8_49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8" name="Google Shape;198;g2b6e027a1db_8_49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9" name="Google Shape;199;g2b6e027a1db_8_49"/>
          <p:cNvSpPr/>
          <p:nvPr/>
        </p:nvSpPr>
        <p:spPr>
          <a:xfrm>
            <a:off x="-37950" y="3908122"/>
            <a:ext cx="12267900" cy="61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2b6e027a1db_8_49"/>
          <p:cNvSpPr/>
          <p:nvPr/>
        </p:nvSpPr>
        <p:spPr>
          <a:xfrm>
            <a:off x="-37950" y="2888251"/>
            <a:ext cx="12267900" cy="10200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2b6e027a1db_8_49"/>
          <p:cNvSpPr txBox="1"/>
          <p:nvPr/>
        </p:nvSpPr>
        <p:spPr>
          <a:xfrm>
            <a:off x="718260" y="2995299"/>
            <a:ext cx="89520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II.</a:t>
            </a:r>
            <a:r>
              <a:rPr lang="en-US" sz="35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  Thesis Points</a:t>
            </a:r>
            <a:endParaRPr sz="35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8" name="Picture 4" descr="SMCI - Super Micro Computer, Inc. Trademark Registration">
            <a:extLst>
              <a:ext uri="{FF2B5EF4-FFF2-40B4-BE49-F238E27FC236}">
                <a16:creationId xmlns:a16="http://schemas.microsoft.com/office/drawing/2014/main" id="{D040149D-30D1-41E7-B189-8FE19EBAB2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1C22BD-1E88-457C-8F71-B41209D00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228600" y="345625"/>
            <a:ext cx="9931406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8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Thesis 1: AI INFRASTRUCTURE PICK &amp; SHOVEL PLAY </a:t>
            </a:r>
            <a:endParaRPr sz="28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813872" y="904169"/>
            <a:ext cx="5092500" cy="350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Strong AI Growth Sentiment &amp; Positioning</a:t>
            </a:r>
            <a:endParaRPr sz="17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737672" y="1226696"/>
            <a:ext cx="5092500" cy="4755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600">
                <a:solidFill>
                  <a:srgbClr val="1D2939"/>
                </a:solidFill>
                <a:latin typeface="Garamond"/>
              </a:rPr>
              <a:t>LEDE: Top-customer concentration collapsed 63% (Q2 FY26) -&gt; 27% (Q3 FY26); enterprise channel doubled to 28% of revenue (+46% YoY). Directly weakens the Nortel failed-lookalike comparison.</a:t>
            </a:r>
            <a:endParaRPr lang="en-US" sz="1600" dirty="0"/>
          </a:p>
          <a:p>
            <a:r>
              <a:rPr sz="1600">
                <a:solidFill>
                  <a:srgbClr val="1D2939"/>
                </a:solidFill>
                <a:latin typeface="Garamond"/>
              </a:rPr>
              <a:t>FY2026 revenue guide REAFFIRMED at $38.9-40.4B per 8-K filed May 5, 2026; record-high backlog; AI-GPU platforms &gt;80% of revenue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Hyperscaler FY26 capex guides (MSFT/GOOGL/AMZN/META) — all raised in last 2 cycles, combined ~$320B+ guided minimums; SMCI sits at the demand-receiving end of that capex chain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Caveat (Q4 FY26 test): AR concentration Customer A 32.2% (10-Q smci-20260331) is higher than revenue concentration 27% -&gt; Q4 FY26 (Aug 11, 2026) confirms whether diversification is structural or billing-timing</a:t>
            </a:r>
          </a:p>
        </p:txBody>
      </p:sp>
      <p:cxnSp>
        <p:nvCxnSpPr>
          <p:cNvPr id="211" name="Google Shape;211;p7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8" name="Google Shape;218;p7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6263558" y="892199"/>
            <a:ext cx="50442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DLC Structure Market </a:t>
            </a:r>
            <a:endParaRPr sz="1600" b="1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1" name="Picture 4" descr="SMCI - Super Micro Computer, Inc. Trademark Registration">
            <a:extLst>
              <a:ext uri="{FF2B5EF4-FFF2-40B4-BE49-F238E27FC236}">
                <a16:creationId xmlns:a16="http://schemas.microsoft.com/office/drawing/2014/main" id="{90D68447-5CD1-4255-BCBC-47C6924A2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Google Shape;222;p7">
            <a:extLst>
              <a:ext uri="{FF2B5EF4-FFF2-40B4-BE49-F238E27FC236}">
                <a16:creationId xmlns:a16="http://schemas.microsoft.com/office/drawing/2014/main" id="{0E2724C7-1955-437D-A3D2-1F3B7720DA59}"/>
              </a:ext>
            </a:extLst>
          </p:cNvPr>
          <p:cNvSpPr txBox="1"/>
          <p:nvPr/>
        </p:nvSpPr>
        <p:spPr>
          <a:xfrm>
            <a:off x="6252213" y="1226696"/>
            <a:ext cx="5000100" cy="524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600">
                <a:solidFill>
                  <a:srgbClr val="1D2939"/>
                </a:solidFill>
                <a:latin typeface="Garamond"/>
              </a:rPr>
              <a:t>Direct Liquid Cooling: SMCI in volume shipments of NVIDIA GB300 NVL72 / B300; DLC-2 captures up to 98% of system heat at up to 1,400W/GPU</a:t>
            </a:r>
            <a:endParaRPr lang="en-US" sz="1600" dirty="0"/>
          </a:p>
          <a:p>
            <a:r>
              <a:rPr sz="1600">
                <a:solidFill>
                  <a:srgbClr val="1D2939"/>
                </a:solidFill>
                <a:latin typeface="Garamond"/>
              </a:rPr>
              <a:t>Dell'Oro: data-center liquid cooling market ~$7B by 2029 (Jan 2026 report); transitioning from optional to mandatory at &gt;100kW/rack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Process moat (6-12wk vs Dell/HPE 6-12mo) + DLC-2 capacity is the durable application-layer edge; not facilitation, not commoditized yet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1B19B5-E601-4763-AEA5-BD1CD29A4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pic>
        <p:nvPicPr>
          <p:cNvPr id="224" name="Picture 223" descr="chart_concentration_cli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371600"/>
            <a:ext cx="5212080" cy="2538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/>
        </p:nvSpPr>
        <p:spPr>
          <a:xfrm>
            <a:off x="228600" y="350850"/>
            <a:ext cx="962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Thesis </a:t>
            </a:r>
            <a:r>
              <a:rPr lang="en-US" sz="30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: Margins and Reversal </a:t>
            </a:r>
            <a:endParaRPr sz="30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31" name="Google Shape;231;p10"/>
          <p:cNvCxnSpPr/>
          <p:nvPr/>
        </p:nvCxnSpPr>
        <p:spPr>
          <a:xfrm>
            <a:off x="270932" y="773327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2" name="Google Shape;232;p10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5" name="Google Shape;235;p10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9" name="Google Shape;239;p10"/>
          <p:cNvSpPr txBox="1"/>
          <p:nvPr/>
        </p:nvSpPr>
        <p:spPr>
          <a:xfrm>
            <a:off x="452993" y="962275"/>
            <a:ext cx="56550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Margin Reversal</a:t>
            </a:r>
            <a:endParaRPr b="1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0" name="Picture 4" descr="SMCI - Super Micro Computer, Inc. Trademark Registration">
            <a:extLst>
              <a:ext uri="{FF2B5EF4-FFF2-40B4-BE49-F238E27FC236}">
                <a16:creationId xmlns:a16="http://schemas.microsoft.com/office/drawing/2014/main" id="{9D22B986-95B1-42EE-8F91-BE0995B773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" name="Table 0">
            <a:extLst>
              <a:ext uri="{FF2B5EF4-FFF2-40B4-BE49-F238E27FC236}">
                <a16:creationId xmlns:a16="http://schemas.microsoft.com/office/drawing/2014/main" id="{82A2F082-7D4B-4BE1-A251-6D76BAF18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46850"/>
              </p:ext>
            </p:extLst>
          </p:nvPr>
        </p:nvGraphicFramePr>
        <p:xfrm>
          <a:off x="464986" y="1460485"/>
          <a:ext cx="5643007" cy="2076095"/>
        </p:xfrm>
        <a:graphic>
          <a:graphicData uri="http://schemas.openxmlformats.org/drawingml/2006/table">
            <a:tbl>
              <a:tblPr/>
              <a:tblGrid>
                <a:gridCol w="1154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6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Period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Gross Margin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Commentary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FY2020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15.7%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Pre-AI baseline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FY2023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18.0%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PEAK - AI premium pricing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FY2024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13.8%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Compression begins - volume/price trade-off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FY2025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11.1%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Significant deterioration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Q1 FY2026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04438"/>
                          </a:solidFill>
                          <a:latin typeface="Garamond"/>
                        </a:rPr>
                        <a:t>9.5%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Garamond"/>
                        </a:rPr>
                        <a:t>Pre-Q2 expedite charges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Garamond"/>
                        </a:rPr>
                        <a:t>Q2 FY2026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04438"/>
                          </a:solidFill>
                          <a:latin typeface="Garamond"/>
                        </a:rPr>
                        <a:t>6.3% GAAP / 6.4% NG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04438"/>
                          </a:solidFill>
                          <a:latin typeface="Garamond"/>
                        </a:rPr>
                        <a:t>Trough — one-time expedite (CFO)</a:t>
                      </a:r>
                      <a:endParaRPr lang="en-US" sz="11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Google Shape;230;p10">
            <a:extLst>
              <a:ext uri="{FF2B5EF4-FFF2-40B4-BE49-F238E27FC236}">
                <a16:creationId xmlns:a16="http://schemas.microsoft.com/office/drawing/2014/main" id="{5ABB7CE3-69AE-43F4-B29C-87FC3E1EB28A}"/>
              </a:ext>
            </a:extLst>
          </p:cNvPr>
          <p:cNvSpPr txBox="1"/>
          <p:nvPr/>
        </p:nvSpPr>
        <p:spPr>
          <a:xfrm>
            <a:off x="413700" y="3558255"/>
            <a:ext cx="5682300" cy="2631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sz="1600">
                <a:solidFill>
                  <a:srgbClr val="1D2939"/>
                </a:solidFill>
                <a:latin typeface="Garamond"/>
              </a:rPr>
              <a:t>LEDE: Q3 FY26 non-GAAP GM 10.1% (9.9% GAAP) EXCEEDS the 8% bullish-inflection threshold from the original report by ~210bp; +370bp QoQ recovery from Q2's 6.4%</a:t>
            </a:r>
            <a:endParaRPr lang="en-US" sz="1600" dirty="0"/>
          </a:p>
          <a:p>
            <a:r>
              <a:rPr sz="1600">
                <a:solidFill>
                  <a:srgbClr val="1D2939"/>
                </a:solidFill>
                <a:latin typeface="Garamond"/>
              </a:rPr>
              <a:t>Q2 compression: 'heavy one-time expedite charges from a large December deployment' per CFO Weigand — did not recur in Q3 and not expected to repeat at that scale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Structural mix shift: DCBBS GM 'consistently above 20%' per CEO Liang; expected to contribute &gt;25% of profit; software bookings &gt;$46M in Q3 FY26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Q4 FY26 GAAP GM guide 8.2-8.4% — sustained recovery, ABOVE the 8% original-thesis threshold; non-GAAP EPS guide $0.65-0.79</a:t>
            </a:r>
          </a:p>
          <a:p>
            <a:r>
              <a:rPr sz="1600">
                <a:solidFill>
                  <a:srgbClr val="1D2939"/>
                </a:solidFill>
                <a:latin typeface="Garamond"/>
              </a:rPr>
              <a:t>Our view (reinforced): margins now likely stabilize at 9-11% over 12-18 months as DCBBS mix grows; deferred revenue $1.47B vs $0.37B at FY25 close (+298%) is a hard balance-sheet signal of attach growth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750EDE88-A803-4616-B9FE-D19B9453B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pic>
        <p:nvPicPr>
          <p:cNvPr id="1028" name="Picture 4" descr="Dell | Austin TX">
            <a:extLst>
              <a:ext uri="{FF2B5EF4-FFF2-40B4-BE49-F238E27FC236}">
                <a16:creationId xmlns:a16="http://schemas.microsoft.com/office/drawing/2014/main" id="{7426C255-41A8-40EF-9E57-CF91FA14C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2" t="23935" r="6183" b="26518"/>
          <a:stretch/>
        </p:blipFill>
        <p:spPr bwMode="auto">
          <a:xfrm>
            <a:off x="6972772" y="4361648"/>
            <a:ext cx="3187234" cy="182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wlett Packard Enterprise | Better Buildings &amp; Better Plants Initiative">
            <a:extLst>
              <a:ext uri="{FF2B5EF4-FFF2-40B4-BE49-F238E27FC236}">
                <a16:creationId xmlns:a16="http://schemas.microsoft.com/office/drawing/2014/main" id="{780959D2-9922-42D6-883B-837C39782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512" y="2825094"/>
            <a:ext cx="3052958" cy="128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isco - Wikipedia">
            <a:extLst>
              <a:ext uri="{FF2B5EF4-FFF2-40B4-BE49-F238E27FC236}">
                <a16:creationId xmlns:a16="http://schemas.microsoft.com/office/drawing/2014/main" id="{1D99E0B0-8ED1-4FEB-ADB1-6D3CF1B83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9512" y="966451"/>
            <a:ext cx="3052958" cy="161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1032" descr="chart_margin_recove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1371600"/>
            <a:ext cx="5212080" cy="24613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"/>
          <p:cNvSpPr txBox="1"/>
          <p:nvPr/>
        </p:nvSpPr>
        <p:spPr>
          <a:xfrm>
            <a:off x="228600" y="350838"/>
            <a:ext cx="10782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sz="2400" b="1">
                <a:solidFill>
                  <a:srgbClr val="1D2939"/>
                </a:solidFill>
                <a:latin typeface="Garamond"/>
              </a:rPr>
              <a:t>THESIS 3: GOVERNANCE DISCOUNT (REFRAMED — MULTI-STAGE CLOSURE PATH)</a:t>
            </a:r>
            <a:endParaRPr lang="en-US" sz="2400" dirty="0"/>
          </a:p>
        </p:txBody>
      </p:sp>
      <p:sp>
        <p:nvSpPr>
          <p:cNvPr id="252" name="Google Shape;252;p11"/>
          <p:cNvSpPr txBox="1"/>
          <p:nvPr/>
        </p:nvSpPr>
        <p:spPr>
          <a:xfrm>
            <a:off x="270924" y="923150"/>
            <a:ext cx="11633099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Individual Factor Chart Ratings</a:t>
            </a:r>
            <a:endParaRPr sz="16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56" name="Google Shape;256;p11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7" name="Google Shape;257;p11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0" name="Google Shape;260;p11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7" name="Picture 4" descr="SMCI - Super Micro Computer, Inc. Trademark Registration">
            <a:extLst>
              <a:ext uri="{FF2B5EF4-FFF2-40B4-BE49-F238E27FC236}">
                <a16:creationId xmlns:a16="http://schemas.microsoft.com/office/drawing/2014/main" id="{41AEB70C-D662-4787-BF87-D5E00DF5F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193A5B-E1C8-45F8-88BC-4EE4EA16B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12A83EBB-82AE-4A2A-B60A-4A9D07378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879812"/>
              </p:ext>
            </p:extLst>
          </p:nvPr>
        </p:nvGraphicFramePr>
        <p:xfrm>
          <a:off x="270923" y="1356356"/>
          <a:ext cx="11633099" cy="2133600"/>
        </p:xfrm>
        <a:graphic>
          <a:graphicData uri="http://schemas.openxmlformats.org/drawingml/2006/table">
            <a:tbl>
              <a:tblPr/>
              <a:tblGrid>
                <a:gridCol w="2528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2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Factor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Assessment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Rating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Auditor Stability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Garamond"/>
                        </a:rPr>
                        <a:t>EY resigned Oct 2024 -&gt; BDO; FY25 10-K opinion clean on financials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04438"/>
                          </a:solidFill>
                          <a:latin typeface="Garamond"/>
                        </a:rPr>
                        <a:t>AMBER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Internal Controls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Garamond"/>
                        </a:rPr>
                        <a:t>BDO adverse ICFR as of Jun 30 2024 (FY24); remediation underway; FY26 10-K opinion = key test Aug 2026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04438"/>
                          </a:solidFill>
                          <a:latin typeface="Garamond"/>
                        </a:rPr>
                        <a:t>AMBER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SEC/DOJ Investigation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Garamond"/>
                        </a:rPr>
                        <a:t>DOJ indicted 3 individuals Mar 19 2026; SMCI NOT charged; SEC investigation separately ongoing; 2nd internal investigation in progress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F04438"/>
                          </a:solidFill>
                          <a:latin typeface="Garamond"/>
                        </a:rPr>
                        <a:t>REFRAMED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Board Independence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Majority independent post-Special Committee reforms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Improved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CEO Control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Charles Liang: Founder/CEO/Chairman since 1993; ~10-12% ownership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Mixed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8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Related Party Txns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$17.5M SEC settlement in 2020 for prior accounting issues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Elevated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1">
            <a:extLst>
              <a:ext uri="{FF2B5EF4-FFF2-40B4-BE49-F238E27FC236}">
                <a16:creationId xmlns:a16="http://schemas.microsoft.com/office/drawing/2014/main" id="{D17B6F95-15BA-4418-83A5-DD9C4332C85A}"/>
              </a:ext>
            </a:extLst>
          </p:cNvPr>
          <p:cNvSpPr/>
          <p:nvPr/>
        </p:nvSpPr>
        <p:spPr>
          <a:xfrm>
            <a:off x="270923" y="3672844"/>
            <a:ext cx="1163309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>
                <a:solidFill>
                  <a:srgbClr val="1D2939"/>
                </a:solidFill>
                <a:latin typeface="Garamond"/>
              </a:rPr>
              <a:t>Mar 19, 2026: DOJ unsealed indictment of 3 individuals over alleged ~$2.5B China diversion (2024-25). Indicted: co-founder/board director Yih-Shyan 'Wally' Liaw (resigned, pleaded not guilty); Taiwan GM Ruei-Tsang 'Steven' Chang (terminated, fugitive); contractor Ting-Wei 'Willy' Sun. CRITICALLY: SMCI itself NOT charged, NOT a named defendant.</a:t>
            </a:r>
            <a:endParaRPr lang="en-US" dirty="0"/>
          </a:p>
          <a:p>
            <a:r>
              <a:rPr>
                <a:solidFill>
                  <a:srgbClr val="1D2939"/>
                </a:solidFill>
                <a:latin typeface="Garamond"/>
              </a:rPr>
              <a:t>Apr 7, 2026: 2nd independent investigation launched (Scott Angel + Tally Liu lead independent directors; Munger Tolles &amp; Olson + AlixPartners; coordinating with BDO USA). No timeline disclosed.</a:t>
            </a:r>
          </a:p>
          <a:p>
            <a:r>
              <a:rPr>
                <a:solidFill>
                  <a:srgbClr val="1D2939"/>
                </a:solidFill>
                <a:latin typeface="Garamond"/>
              </a:rPr>
              <a:t>May 26, 2026: securities class-action lead-plaintiff deadline (Bhuva v. SMCI, No. 26-cv-02606 N.D. Cal.) — names SMCI, Liang, Weigand; class period Apr 30 2024 - Mar 19 2026 (capped damages).</a:t>
            </a:r>
          </a:p>
          <a:p>
            <a:r>
              <a:rPr>
                <a:solidFill>
                  <a:srgbClr val="1D2939"/>
                </a:solidFill>
                <a:latin typeface="Garamond"/>
              </a:rPr>
              <a:t>Reframed thesis: worst-tail (corporate indictment) AVOIDED. Discount closes 50-100% over 18-24 months via SEQUENTIAL stream resolution: (1) class-action MTD ruling, (2) 2nd investigation conclusion, (3) SEC closure. Boeing post-737-MAX analog: staged recovery on each stream close.</a:t>
            </a:r>
          </a:p>
          <a:p>
            <a:r>
              <a:rPr>
                <a:solidFill>
                  <a:srgbClr val="1D2939"/>
                </a:solidFill>
                <a:latin typeface="Garamond"/>
              </a:rPr>
              <a:t>Catalyst (positive): each stream close historically compresses ~15-25% of similar discounts; SMCI currently at 16x EV/EBITDA vs peer 21x = ~24% EV/EBITDA discount, ~60% P/E discount.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6e027a1db_8_58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296" name="Google Shape;296;g2b6e027a1db_8_58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7" name="Google Shape;297;g2b6e027a1db_8_58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98" name="Google Shape;298;g2b6e027a1db_8_58"/>
          <p:cNvSpPr/>
          <p:nvPr/>
        </p:nvSpPr>
        <p:spPr>
          <a:xfrm>
            <a:off x="-37950" y="3908122"/>
            <a:ext cx="12267900" cy="61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2b6e027a1db_8_58"/>
          <p:cNvSpPr/>
          <p:nvPr/>
        </p:nvSpPr>
        <p:spPr>
          <a:xfrm>
            <a:off x="-37950" y="2888251"/>
            <a:ext cx="12267900" cy="10200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2b6e027a1db_8_58"/>
          <p:cNvSpPr txBox="1"/>
          <p:nvPr/>
        </p:nvSpPr>
        <p:spPr>
          <a:xfrm>
            <a:off x="718260" y="2995299"/>
            <a:ext cx="89520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III.	 </a:t>
            </a:r>
            <a:r>
              <a:rPr lang="en-US" sz="35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Valuation </a:t>
            </a:r>
            <a:endParaRPr sz="35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8" name="Picture 4" descr="SMCI - Super Micro Computer, Inc. Trademark Registration">
            <a:extLst>
              <a:ext uri="{FF2B5EF4-FFF2-40B4-BE49-F238E27FC236}">
                <a16:creationId xmlns:a16="http://schemas.microsoft.com/office/drawing/2014/main" id="{0810390D-1876-4877-B60E-04A77B5E92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5A3333-7D19-433A-AEA4-4FB39598F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01911d161_1_391"/>
          <p:cNvSpPr txBox="1"/>
          <p:nvPr/>
        </p:nvSpPr>
        <p:spPr>
          <a:xfrm>
            <a:off x="228599" y="434538"/>
            <a:ext cx="10327341" cy="2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FINANCIAL PROJECTIONS (FY2024A - FY2029E) </a:t>
            </a:r>
            <a:endParaRPr lang="en-US" sz="2800" dirty="0"/>
          </a:p>
        </p:txBody>
      </p:sp>
      <p:cxnSp>
        <p:nvCxnSpPr>
          <p:cNvPr id="306" name="Google Shape;306;g1f01911d161_1_391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7" name="Google Shape;307;g1f01911d161_1_391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8" name="Google Shape;308;g1f01911d161_1_391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09" name="Google Shape;309;g1f01911d161_1_391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0" name="Google Shape;310;g1f01911d161_1_391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11" name="Google Shape;311;g1f01911d161_1_391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2" name="Google Shape;312;g1f01911d161_1_391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13" name="Google Shape;313;g1f01911d161_1_391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5" name="Picture 4" descr="SMCI - Super Micro Computer, Inc. Trademark Registration">
            <a:extLst>
              <a:ext uri="{FF2B5EF4-FFF2-40B4-BE49-F238E27FC236}">
                <a16:creationId xmlns:a16="http://schemas.microsoft.com/office/drawing/2014/main" id="{2E3790A9-3EFE-4552-A988-2F978A368B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56DF3F8D-CDA9-4ECC-B6E4-12052D760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82071"/>
              </p:ext>
            </p:extLst>
          </p:nvPr>
        </p:nvGraphicFramePr>
        <p:xfrm>
          <a:off x="270931" y="1235559"/>
          <a:ext cx="9921942" cy="3189640"/>
        </p:xfrm>
        <a:graphic>
          <a:graphicData uri="http://schemas.openxmlformats.org/drawingml/2006/table">
            <a:tbl>
              <a:tblPr/>
              <a:tblGrid>
                <a:gridCol w="2126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93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Line Item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FY2024A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FY2025A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FY2026E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FY2027E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FY2028E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FY2029E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Revenue ($M)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$14,989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Garamond"/>
                        </a:rPr>
                        <a:t>$21,970 (actual)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Garamond"/>
                        </a:rPr>
                        <a:t>$39,650 (guide mid)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$52,000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$60,000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$66,000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YoY Growth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110%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47%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82%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Gross Margin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13.8%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11.1%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>
                          <a:solidFill>
                            <a:srgbClr val="F04438"/>
                          </a:solidFill>
                          <a:latin typeface="Garamond"/>
                        </a:rPr>
                        <a:t>8.5-9.0% (Q3 actual 10.1% NG; Q4 guide 8.2-8.4% GAAP)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9.5%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10.5%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11.0%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Operating Income ($M)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$1,211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$1,248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$1,800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$3,224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$4,380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$5,148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Op Margin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8.1%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5.7%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4.5%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6.2%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7.3%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7.8%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Net Income ($M)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$1,153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$1,049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$1,271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$2,480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$3,468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$4,139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Diluted EPS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$1.92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$1.75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$2.02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$3.87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$5.33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$6.26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EBITDA ($M)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$1,187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$1,430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$2,200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$3,744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$4,980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$5,808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9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EBITDA Margin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7.9%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6.5%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5.5%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7.2%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8.3%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8.8%</a:t>
                      </a:r>
                      <a:endParaRPr lang="en-US" sz="14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Text 12">
            <a:extLst>
              <a:ext uri="{FF2B5EF4-FFF2-40B4-BE49-F238E27FC236}">
                <a16:creationId xmlns:a16="http://schemas.microsoft.com/office/drawing/2014/main" id="{8728C3F0-3269-4D2A-850E-32E6A4BFC8EC}"/>
              </a:ext>
            </a:extLst>
          </p:cNvPr>
          <p:cNvSpPr/>
          <p:nvPr/>
        </p:nvSpPr>
        <p:spPr>
          <a:xfrm>
            <a:off x="228599" y="5252421"/>
            <a:ext cx="9964274" cy="10139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1100">
                <a:solidFill>
                  <a:srgbClr val="1D2939"/>
                </a:solidFill>
                <a:latin typeface="Garamond"/>
              </a:rPr>
              <a:t>FY2026 revenue: guide range $38.9-40.4B reaffirmed per 8-K 2026-05-05; midpoint $39.65B used</a:t>
            </a:r>
            <a:endParaRPr lang="en-US" sz="1100" dirty="0"/>
          </a:p>
          <a:p>
            <a:r>
              <a:rPr sz="1100">
                <a:solidFill>
                  <a:srgbClr val="1D2939"/>
                </a:solidFill>
                <a:latin typeface="Garamond"/>
              </a:rPr>
              <a:t>FY2026 gross margin: weighted ~8.5-9.0% — Q3 FY26 already at 10.1% non-GAAP (above 8% original-thesis threshold); Q4 guide 8.2-8.4% GAAP sustains recovery</a:t>
            </a:r>
          </a:p>
          <a:p>
            <a:r>
              <a:rPr sz="1100">
                <a:solidFill>
                  <a:srgbClr val="1D2939"/>
                </a:solidFill>
                <a:latin typeface="Garamond"/>
              </a:rPr>
              <a:t>FY27-29: growth decelerates as base effect compounds; GM recovers toward application-layer equilibrium 10-11%; not facilitation multiples</a:t>
            </a:r>
          </a:p>
          <a:p>
            <a:r>
              <a:rPr sz="1100">
                <a:solidFill>
                  <a:srgbClr val="1D2939"/>
                </a:solidFill>
                <a:latin typeface="Garamond"/>
              </a:rPr>
              <a:t>Net debt updated to ~$7.48B (debt $8.773B - cash $1.290B per Q3 FY26 8-K); 692M diluted shares</a:t>
            </a: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E67FDB4-E29B-4A46-BEC9-2CFBB4AE7374}"/>
              </a:ext>
            </a:extLst>
          </p:cNvPr>
          <p:cNvSpPr/>
          <p:nvPr/>
        </p:nvSpPr>
        <p:spPr>
          <a:xfrm>
            <a:off x="228599" y="4799619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Assumptions: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8A3E9FF-271B-41B0-8887-E08238CC2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/>
          <p:nvPr/>
        </p:nvSpPr>
        <p:spPr>
          <a:xfrm>
            <a:off x="228600" y="350838"/>
            <a:ext cx="868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VALUATION ANALYSIS </a:t>
            </a:r>
            <a:endParaRPr sz="3000" b="1" i="0" u="none" strike="noStrike" cap="small" dirty="0">
              <a:solidFill>
                <a:srgbClr val="3F3F3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25" name="Google Shape;325;p9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6" name="Google Shape;326;p9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2" name="Google Shape;332;p9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8" name="Picture 4" descr="SMCI - Super Micro Computer, Inc. Trademark Registration">
            <a:extLst>
              <a:ext uri="{FF2B5EF4-FFF2-40B4-BE49-F238E27FC236}">
                <a16:creationId xmlns:a16="http://schemas.microsoft.com/office/drawing/2014/main" id="{2A2EBA07-DE96-4F47-86DE-09E4A439B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A2856A-46D2-482C-94CC-806E8E2DE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pic>
        <p:nvPicPr>
          <p:cNvPr id="15" name="Google Shape;416;g3c9abbef817_0_12" title="Picture3.png">
            <a:extLst>
              <a:ext uri="{FF2B5EF4-FFF2-40B4-BE49-F238E27FC236}">
                <a16:creationId xmlns:a16="http://schemas.microsoft.com/office/drawing/2014/main" id="{C0A99BA8-6A9D-406F-BD2E-08A42723DE5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005" y="914538"/>
            <a:ext cx="11192943" cy="5028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/>
          <p:nvPr/>
        </p:nvSpPr>
        <p:spPr>
          <a:xfrm>
            <a:off x="228600" y="403412"/>
            <a:ext cx="9654988" cy="31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DCF SENSITIVITY </a:t>
            </a:r>
            <a:endParaRPr lang="en-US" sz="3200" dirty="0"/>
          </a:p>
        </p:txBody>
      </p:sp>
      <p:cxnSp>
        <p:nvCxnSpPr>
          <p:cNvPr id="325" name="Google Shape;325;p9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6" name="Google Shape;326;p9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32" name="Google Shape;332;p9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8" name="Picture 4" descr="SMCI - Super Micro Computer, Inc. Trademark Registration">
            <a:extLst>
              <a:ext uri="{FF2B5EF4-FFF2-40B4-BE49-F238E27FC236}">
                <a16:creationId xmlns:a16="http://schemas.microsoft.com/office/drawing/2014/main" id="{2A2EBA07-DE96-4F47-86DE-09E4A439B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950718-0FC5-4A77-BFD9-46CEAC3E6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pic>
        <p:nvPicPr>
          <p:cNvPr id="16" name="Google Shape;433;p9" title="Picture1.png">
            <a:extLst>
              <a:ext uri="{FF2B5EF4-FFF2-40B4-BE49-F238E27FC236}">
                <a16:creationId xmlns:a16="http://schemas.microsoft.com/office/drawing/2014/main" id="{2FE0ECE5-0E14-4E0B-9B4E-731FBB88D0C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75" y="805603"/>
            <a:ext cx="6626374" cy="553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435;p9" title="Picture4.png">
            <a:extLst>
              <a:ext uri="{FF2B5EF4-FFF2-40B4-BE49-F238E27FC236}">
                <a16:creationId xmlns:a16="http://schemas.microsoft.com/office/drawing/2014/main" id="{21A8D7DA-890D-485C-AD66-661F00FC04E1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1301" y="2166875"/>
            <a:ext cx="4654550" cy="140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434;p9" title="Picture2.png">
            <a:extLst>
              <a:ext uri="{FF2B5EF4-FFF2-40B4-BE49-F238E27FC236}">
                <a16:creationId xmlns:a16="http://schemas.microsoft.com/office/drawing/2014/main" id="{065786D8-4124-4B52-893F-A58A0A285AC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81288" y="4120427"/>
            <a:ext cx="4654566" cy="131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137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6e027a1db_8_67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343" name="Google Shape;343;g2b6e027a1db_8_67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g2b6e027a1db_8_67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45" name="Google Shape;345;g2b6e027a1db_8_67"/>
          <p:cNvSpPr/>
          <p:nvPr/>
        </p:nvSpPr>
        <p:spPr>
          <a:xfrm>
            <a:off x="-37950" y="3908122"/>
            <a:ext cx="12267900" cy="61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2b6e027a1db_8_67"/>
          <p:cNvSpPr/>
          <p:nvPr/>
        </p:nvSpPr>
        <p:spPr>
          <a:xfrm>
            <a:off x="-37950" y="2888251"/>
            <a:ext cx="12267900" cy="10200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2b6e027a1db_8_67"/>
          <p:cNvSpPr txBox="1"/>
          <p:nvPr/>
        </p:nvSpPr>
        <p:spPr>
          <a:xfrm>
            <a:off x="718260" y="2995299"/>
            <a:ext cx="89520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IV.	ESG/Overview Considerations </a:t>
            </a:r>
            <a:endParaRPr sz="35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8" name="Picture 4" descr="SMCI - Super Micro Computer, Inc. Trademark Registration">
            <a:extLst>
              <a:ext uri="{FF2B5EF4-FFF2-40B4-BE49-F238E27FC236}">
                <a16:creationId xmlns:a16="http://schemas.microsoft.com/office/drawing/2014/main" id="{906E0856-82CD-4168-8F8F-0B3AF0866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B8036-FABA-4CE5-884C-F8D2EB71F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6e027a1db_6_0"/>
          <p:cNvSpPr txBox="1"/>
          <p:nvPr/>
        </p:nvSpPr>
        <p:spPr>
          <a:xfrm>
            <a:off x="228600" y="350850"/>
            <a:ext cx="962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ESG CONSIDERATIONS </a:t>
            </a:r>
            <a:endParaRPr lang="en-US" sz="3200" dirty="0"/>
          </a:p>
        </p:txBody>
      </p:sp>
      <p:cxnSp>
        <p:nvCxnSpPr>
          <p:cNvPr id="271" name="Google Shape;271;g2b6e027a1db_6_0"/>
          <p:cNvCxnSpPr/>
          <p:nvPr/>
        </p:nvCxnSpPr>
        <p:spPr>
          <a:xfrm>
            <a:off x="270932" y="773327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2" name="Google Shape;272;g2b6e027a1db_6_0"/>
          <p:cNvSpPr/>
          <p:nvPr/>
        </p:nvSpPr>
        <p:spPr>
          <a:xfrm>
            <a:off x="4183178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3" name="Google Shape;273;g2b6e027a1db_6_0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4" name="Google Shape;274;g2b6e027a1db_6_0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5" name="Google Shape;275;g2b6e027a1db_6_0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76" name="Google Shape;276;g2b6e027a1db_6_0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7" name="Google Shape;277;g2b6e027a1db_6_0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0" name="Google Shape;280;g2b6e027a1db_6_0"/>
          <p:cNvSpPr txBox="1"/>
          <p:nvPr/>
        </p:nvSpPr>
        <p:spPr>
          <a:xfrm>
            <a:off x="335789" y="960363"/>
            <a:ext cx="11337544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ESG Risk Assessment</a:t>
            </a:r>
            <a:endParaRPr lang="en-US" sz="1400" dirty="0"/>
          </a:p>
        </p:txBody>
      </p:sp>
      <p:sp>
        <p:nvSpPr>
          <p:cNvPr id="290" name="Google Shape;290;g2b6e027a1db_6_0"/>
          <p:cNvSpPr/>
          <p:nvPr/>
        </p:nvSpPr>
        <p:spPr>
          <a:xfrm>
            <a:off x="-1463800" y="10654"/>
            <a:ext cx="1270500" cy="10461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" name="Picture 4" descr="SMCI - Super Micro Computer, Inc. Trademark Registration">
            <a:extLst>
              <a:ext uri="{FF2B5EF4-FFF2-40B4-BE49-F238E27FC236}">
                <a16:creationId xmlns:a16="http://schemas.microsoft.com/office/drawing/2014/main" id="{6A6D28EB-181B-4CD7-976F-01FDE5976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929CDC-2743-491D-9664-ADEA568C0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graphicFrame>
        <p:nvGraphicFramePr>
          <p:cNvPr id="38" name="Table 0">
            <a:extLst>
              <a:ext uri="{FF2B5EF4-FFF2-40B4-BE49-F238E27FC236}">
                <a16:creationId xmlns:a16="http://schemas.microsoft.com/office/drawing/2014/main" id="{C758EEBB-4619-4E4D-9EBD-EAF49BE3E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25889"/>
              </p:ext>
            </p:extLst>
          </p:nvPr>
        </p:nvGraphicFramePr>
        <p:xfrm>
          <a:off x="335788" y="1392075"/>
          <a:ext cx="5654999" cy="1016000"/>
        </p:xfrm>
        <a:graphic>
          <a:graphicData uri="http://schemas.openxmlformats.org/drawingml/2006/table">
            <a:tbl>
              <a:tblPr/>
              <a:tblGrid>
                <a:gridCol w="131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7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Category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Rating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Trend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Assessment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Environment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Positive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Improving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DLC = 40% power savings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Social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Neutral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Stable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6,000+ employees; STEM impact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Governance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Negative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Improving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D2939"/>
                          </a:solidFill>
                          <a:latin typeface="Garamond"/>
                        </a:rPr>
                        <a:t>DOJ acted on individuals not SMCI; 2nd probe + class action + SEC streams in progress; staged closure path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Overall ESG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42/100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Mixed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Below Avg (CSRHub)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 5">
            <a:extLst>
              <a:ext uri="{FF2B5EF4-FFF2-40B4-BE49-F238E27FC236}">
                <a16:creationId xmlns:a16="http://schemas.microsoft.com/office/drawing/2014/main" id="{A9CB503A-EE30-48C7-92A3-30E5D4CE57D3}"/>
              </a:ext>
            </a:extLst>
          </p:cNvPr>
          <p:cNvSpPr/>
          <p:nvPr/>
        </p:nvSpPr>
        <p:spPr>
          <a:xfrm>
            <a:off x="335788" y="269939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Governance (Primary Risk)</a:t>
            </a:r>
            <a:endParaRPr lang="en-US" sz="12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8A476573-48AC-4FF7-8101-CC419E9B9909}"/>
              </a:ext>
            </a:extLst>
          </p:cNvPr>
          <p:cNvSpPr/>
          <p:nvPr/>
        </p:nvSpPr>
        <p:spPr>
          <a:xfrm>
            <a:off x="335788" y="3076027"/>
            <a:ext cx="565499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sz="1100">
                <a:solidFill>
                  <a:srgbClr val="1D2939"/>
                </a:solidFill>
                <a:latin typeface="Garamond"/>
              </a:rPr>
              <a:t>Mar 19 2026: DOJ indicted 3 individuals; SMCI NOT charged</a:t>
            </a:r>
            <a:endParaRPr lang="en-US" sz="1100" dirty="0"/>
          </a:p>
          <a:p>
            <a:r>
              <a:rPr sz="1100">
                <a:solidFill>
                  <a:srgbClr val="1D2939"/>
                </a:solidFill>
                <a:latin typeface="Garamond"/>
              </a:rPr>
              <a:t>Apr 7 2026: 2nd independent investigation underway (Angel/Liu; Munger Tolles; AlixPartners; BDO)</a:t>
            </a:r>
          </a:p>
          <a:p>
            <a:r>
              <a:rPr sz="1100">
                <a:solidFill>
                  <a:srgbClr val="1D2939"/>
                </a:solidFill>
                <a:latin typeface="Garamond"/>
              </a:rPr>
              <a:t>May 26 2026: securities class-action lead-plaintiff deadline (Bhuva)</a:t>
            </a:r>
          </a:p>
          <a:p>
            <a:r>
              <a:rPr sz="1100">
                <a:solidFill>
                  <a:srgbClr val="1D2939"/>
                </a:solidFill>
                <a:latin typeface="Garamond"/>
              </a:rPr>
              <a:t>Catalysts (sequential): class-action MTD ruling (Q4'26-Q1'27) + 2nd investigation conclusion (unknown) + SEC closure (unknown) + BDO clean ICFR on FY26 10-K (Aug'26)</a:t>
            </a: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0288F0A8-71D9-4624-BFEC-D6BE1590951B}"/>
              </a:ext>
            </a:extLst>
          </p:cNvPr>
          <p:cNvSpPr/>
          <p:nvPr/>
        </p:nvSpPr>
        <p:spPr>
          <a:xfrm>
            <a:off x="335787" y="4766504"/>
            <a:ext cx="5654998" cy="1015999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474055-2EEE-4E74-9E2A-11083061C3D0}"/>
              </a:ext>
            </a:extLst>
          </p:cNvPr>
          <p:cNvSpPr txBox="1"/>
          <p:nvPr/>
        </p:nvSpPr>
        <p:spPr>
          <a:xfrm>
            <a:off x="303359" y="4773544"/>
            <a:ext cx="57198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Board Independence: </a:t>
            </a:r>
            <a:r>
              <a:rPr lang="en-US" sz="14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67% refreshed post-2024  |  </a:t>
            </a:r>
            <a:r>
              <a:rPr lang="en-US" sz="1400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CEO Ownership: </a:t>
            </a:r>
            <a:r>
              <a:rPr lang="en-US" sz="14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~10-12% (aligned)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Capital Allocation: </a:t>
            </a:r>
            <a:r>
              <a:rPr lang="en-US" sz="14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dividends/buybacks; reinvesting in Malaysia/Taiwan capacity + $6B+ inventory buildup</a:t>
            </a: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1623E-6B92-47D8-A452-C3B7898C50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522" y="1370163"/>
            <a:ext cx="5261309" cy="4812264"/>
          </a:xfrm>
          <a:prstGeom prst="rect">
            <a:avLst/>
          </a:prstGeom>
        </p:spPr>
      </p:pic>
      <p:sp>
        <p:nvSpPr>
          <p:cNvPr id="25" name="Google Shape;278;g2b6e027a1db_6_0">
            <a:extLst>
              <a:ext uri="{FF2B5EF4-FFF2-40B4-BE49-F238E27FC236}">
                <a16:creationId xmlns:a16="http://schemas.microsoft.com/office/drawing/2014/main" id="{70C96841-4122-4DD9-9C85-C3CCC22095CF}"/>
              </a:ext>
            </a:extLst>
          </p:cNvPr>
          <p:cNvSpPr/>
          <p:nvPr/>
        </p:nvSpPr>
        <p:spPr>
          <a:xfrm>
            <a:off x="7221366" y="6488163"/>
            <a:ext cx="1270500" cy="2820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2765013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6e027a1db_6_0"/>
          <p:cNvSpPr txBox="1"/>
          <p:nvPr/>
        </p:nvSpPr>
        <p:spPr>
          <a:xfrm>
            <a:off x="228600" y="350850"/>
            <a:ext cx="962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AI: OPPORTUNITY &amp; RISK ANALYSIS </a:t>
            </a:r>
            <a:endParaRPr lang="en-US" sz="3200" dirty="0"/>
          </a:p>
        </p:txBody>
      </p:sp>
      <p:cxnSp>
        <p:nvCxnSpPr>
          <p:cNvPr id="271" name="Google Shape;271;g2b6e027a1db_6_0"/>
          <p:cNvCxnSpPr/>
          <p:nvPr/>
        </p:nvCxnSpPr>
        <p:spPr>
          <a:xfrm>
            <a:off x="270932" y="773327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2" name="Google Shape;272;g2b6e027a1db_6_0"/>
          <p:cNvSpPr/>
          <p:nvPr/>
        </p:nvSpPr>
        <p:spPr>
          <a:xfrm>
            <a:off x="4183178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3" name="Google Shape;273;g2b6e027a1db_6_0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4" name="Google Shape;274;g2b6e027a1db_6_0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5" name="Google Shape;275;g2b6e027a1db_6_0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76" name="Google Shape;276;g2b6e027a1db_6_0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7" name="Google Shape;277;g2b6e027a1db_6_0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8" name="Google Shape;278;g2b6e027a1db_6_0"/>
          <p:cNvSpPr/>
          <p:nvPr/>
        </p:nvSpPr>
        <p:spPr>
          <a:xfrm>
            <a:off x="7221366" y="6486133"/>
            <a:ext cx="1270500" cy="2820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9" name="Google Shape;279;g2b6e027a1db_6_0"/>
          <p:cNvSpPr txBox="1"/>
          <p:nvPr/>
        </p:nvSpPr>
        <p:spPr>
          <a:xfrm>
            <a:off x="308021" y="1317338"/>
            <a:ext cx="5682300" cy="3026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SMCI is arguably the most direct public equity beneficiary of AI development: every LLM trained and every inference served requires server hardware that SMCI manufactures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compute scaling follows a 10x+ rule per model generation (GPT-3 to GPT-4 to GPT-5); this exponential demand directly drives SMCI's $40B+ FY2026 revenue trajectory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NVIDIA's GPU roadmap (H100 → B200 → GB200 → Rubin) creates recurring upgrade cycles; each generation requires new server platforms = repeat design wins for SMCI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Liquid cooling becomes mandatory as AI model scale increases rack power from 40kW to 120kW+; SMCI's DLC leadership (25-30% share) scales directly with AI complexity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Enterprise AI adoption is in early innings: only ~5% of enterprises have deployed production AI infrastructure, implying 10-20x expansion of addressable market through 2030</a:t>
            </a:r>
            <a:endParaRPr lang="en-US" sz="1200" dirty="0"/>
          </a:p>
        </p:txBody>
      </p:sp>
      <p:sp>
        <p:nvSpPr>
          <p:cNvPr id="280" name="Google Shape;280;g2b6e027a1db_6_0"/>
          <p:cNvSpPr txBox="1"/>
          <p:nvPr/>
        </p:nvSpPr>
        <p:spPr>
          <a:xfrm>
            <a:off x="335789" y="960363"/>
            <a:ext cx="5655000" cy="3657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041E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AI As Opportunity </a:t>
            </a:r>
            <a:endParaRPr b="1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1" name="Google Shape;281;g2b6e027a1db_6_0"/>
          <p:cNvSpPr txBox="1"/>
          <p:nvPr/>
        </p:nvSpPr>
        <p:spPr>
          <a:xfrm>
            <a:off x="6201221" y="1438813"/>
            <a:ext cx="5682600" cy="2298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Custom silicon threat: Google (TPUs), Amazon (</a:t>
            </a:r>
            <a:r>
              <a:rPr lang="en-US" sz="1200" dirty="0" err="1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Trainium</a:t>
            </a: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), Microsoft (Maia) designing in-house AI chips that bypass OEMs; if 30%+ of AI compute shifts to custom silicon, SMCI's TAM contracts materially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 efficiency breakthroughs: Model distillation, mixture-of-experts, and sparse architectures could reduce compute per unit of AI capability, slowing hardware demand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Commoditization risk: Software-defined DC architectures could reduce hardware differentiation; SMCI's speed advantage may erode as workloads standardize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Geopolitical: US export controls on AI chips to China (~22% APAC rev) could intensify; sovereign AI may partially offset</a:t>
            </a:r>
            <a:endParaRPr lang="en-US" sz="1200" dirty="0"/>
          </a:p>
        </p:txBody>
      </p:sp>
      <p:sp>
        <p:nvSpPr>
          <p:cNvPr id="282" name="Google Shape;282;g2b6e027a1db_6_0"/>
          <p:cNvSpPr txBox="1"/>
          <p:nvPr/>
        </p:nvSpPr>
        <p:spPr>
          <a:xfrm>
            <a:off x="6201379" y="960363"/>
            <a:ext cx="5682600" cy="365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AI AS Risk</a:t>
            </a:r>
            <a:endParaRPr b="1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0" name="Google Shape;290;g2b6e027a1db_6_0"/>
          <p:cNvSpPr/>
          <p:nvPr/>
        </p:nvSpPr>
        <p:spPr>
          <a:xfrm>
            <a:off x="-1463800" y="10654"/>
            <a:ext cx="1270500" cy="1046100"/>
          </a:xfrm>
          <a:prstGeom prst="rect">
            <a:avLst/>
          </a:prstGeom>
          <a:solidFill>
            <a:srgbClr val="041E41"/>
          </a:solidFill>
          <a:ln w="12700" cap="flat" cmpd="sng">
            <a:solidFill>
              <a:srgbClr val="041E4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" name="Picture 4" descr="SMCI - Super Micro Computer, Inc. Trademark Registration">
            <a:extLst>
              <a:ext uri="{FF2B5EF4-FFF2-40B4-BE49-F238E27FC236}">
                <a16:creationId xmlns:a16="http://schemas.microsoft.com/office/drawing/2014/main" id="{6A6D28EB-181B-4CD7-976F-01FDE5976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929CDC-2743-491D-9664-ADEA568C0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F61432EF-6DA2-4564-BB66-5C947298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38066"/>
              </p:ext>
            </p:extLst>
          </p:nvPr>
        </p:nvGraphicFramePr>
        <p:xfrm>
          <a:off x="335789" y="4465048"/>
          <a:ext cx="5654532" cy="1468350"/>
        </p:xfrm>
        <a:graphic>
          <a:graphicData uri="http://schemas.openxmlformats.org/drawingml/2006/table">
            <a:tbl>
              <a:tblPr/>
              <a:tblGrid>
                <a:gridCol w="144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6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1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Growth Driver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Current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By 2028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Impact on SMCI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Server TAM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~$150B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$400B+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28% CAGR = demand runway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DLC Attach Rate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~20%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60-70%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100% on GB200 NVL72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Enterprise AI Adoption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~5%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25-30%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New customer segments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Hyperscaler Capex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D2939"/>
                          </a:solidFill>
                          <a:latin typeface="Garamond"/>
                        </a:rPr>
                        <a:t>~$320B+ FY26 guided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D2939"/>
                          </a:solidFill>
                          <a:latin typeface="Garamond"/>
                        </a:rPr>
                        <a:t>$500B+/yr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$13B+ SMCI backlog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Inference vs Training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30/70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70/30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Volume shift favors OEMs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1">
            <a:extLst>
              <a:ext uri="{FF2B5EF4-FFF2-40B4-BE49-F238E27FC236}">
                <a16:creationId xmlns:a16="http://schemas.microsoft.com/office/drawing/2014/main" id="{CA4F5D7F-7CF8-424E-B1C3-E273079F82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31900"/>
              </p:ext>
            </p:extLst>
          </p:nvPr>
        </p:nvGraphicFramePr>
        <p:xfrm>
          <a:off x="6201221" y="4465047"/>
          <a:ext cx="5654532" cy="1468350"/>
        </p:xfrm>
        <a:graphic>
          <a:graphicData uri="http://schemas.openxmlformats.org/drawingml/2006/table">
            <a:tbl>
              <a:tblPr/>
              <a:tblGrid>
                <a:gridCol w="198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1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Risk Factor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Prob.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Impact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Timeline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Custom silicon displaces OEMs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HIGH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3-5 years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efficiency reduces compute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Low-Med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Medium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2-4 years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HW commoditization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Medium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Medium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3-5 years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Export control expansion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Med-High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HIGH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0-12 months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7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 capex cycle downturn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Low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V. HIGH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D293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12-24 months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p7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7221314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183178" y="6491516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8" name="Google Shape;218;p7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1" name="Picture 4" descr="SMCI - Super Micro Computer, Inc. Trademark Registration">
            <a:extLst>
              <a:ext uri="{FF2B5EF4-FFF2-40B4-BE49-F238E27FC236}">
                <a16:creationId xmlns:a16="http://schemas.microsoft.com/office/drawing/2014/main" id="{90D68447-5CD1-4255-BCBC-47C6924A20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3F98EEF1-9F46-4E7C-874D-1A274FDB9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963390"/>
              </p:ext>
            </p:extLst>
          </p:nvPr>
        </p:nvGraphicFramePr>
        <p:xfrm>
          <a:off x="270931" y="978651"/>
          <a:ext cx="11633100" cy="2530980"/>
        </p:xfrm>
        <a:graphic>
          <a:graphicData uri="http://schemas.openxmlformats.org/drawingml/2006/table">
            <a:tbl>
              <a:tblPr/>
              <a:tblGrid>
                <a:gridCol w="2023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3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Force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Rating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Trend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Key Driver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Customer Power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4/5 Unfavorable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Worsening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Garamond"/>
                        </a:rPr>
                        <a:t>Top customer 27% Q3 FY26 (was 63% Q2); enterprise channel 28% of rev — diversifying. AR concentration (Cust-A 32.2%) is the Q4 test.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Competitive Rivalry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3/5 Moderate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Intensifying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Dell/HPE investing aggressively in AI + liquid cooling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Supplier Power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4/5 Unfavorable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NVIDIA ~80%+ share in DC GPUs; allocation = revenue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Substitutes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2B76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2/5 Favorable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 substitute for on-prem AI training at scale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8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Barriers to Entry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79009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3/5 Moderate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Stable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12-18mo validation cycles + thermal expertise required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">
            <a:extLst>
              <a:ext uri="{FF2B5EF4-FFF2-40B4-BE49-F238E27FC236}">
                <a16:creationId xmlns:a16="http://schemas.microsoft.com/office/drawing/2014/main" id="{BEEFF73F-D8AF-4136-B5A6-61C7E1739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943343"/>
              </p:ext>
            </p:extLst>
          </p:nvPr>
        </p:nvGraphicFramePr>
        <p:xfrm>
          <a:off x="270930" y="3644101"/>
          <a:ext cx="11633101" cy="2369720"/>
        </p:xfrm>
        <a:graphic>
          <a:graphicData uri="http://schemas.openxmlformats.org/drawingml/2006/table">
            <a:tbl>
              <a:tblPr/>
              <a:tblGrid>
                <a:gridCol w="2034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Moat Source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Strength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Durability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E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Assessment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Intangible Assets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2-3 years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Patents, NVIDIA relationship, first to GB200 NVL72; narrowing as Dell/HPE invest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Switching Costs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1-2 yr/cycle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DLC infra is sticky (piping, manifolds, CDUs); customers maintained orders despite governance controversy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Cost Advantages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0443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Weak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Permanent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Garamond"/>
                        </a:rPr>
                        <a:t>GM 9-10% Q3 FY26 (recovered from 6.3% trough) vs DELL ~10% / HPE ~13% — consistent with application-layer; not facilitation premium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Efficient Scale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Moderate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3-5 years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5,000+ racks/month capacity; market supports 3-5 players profitably</a:t>
                      </a:r>
                      <a:endParaRPr lang="en-US" sz="12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516991A8-B72B-4953-88A4-CA6E7FE46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sp>
        <p:nvSpPr>
          <p:cNvPr id="19" name="Google Shape;206;p7">
            <a:extLst>
              <a:ext uri="{FF2B5EF4-FFF2-40B4-BE49-F238E27FC236}">
                <a16:creationId xmlns:a16="http://schemas.microsoft.com/office/drawing/2014/main" id="{F05714D9-FD50-460C-A1DC-DC56FA4A234E}"/>
              </a:ext>
            </a:extLst>
          </p:cNvPr>
          <p:cNvSpPr txBox="1"/>
          <p:nvPr/>
        </p:nvSpPr>
        <p:spPr>
          <a:xfrm>
            <a:off x="228600" y="443753"/>
            <a:ext cx="10658475" cy="26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MOAT ANALYSIS &amp; PORTER'S FIVE FORCES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96018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b6e027a1db_8_76"/>
          <p:cNvSpPr txBox="1">
            <a:spLocks noGrp="1"/>
          </p:cNvSpPr>
          <p:nvPr>
            <p:ph type="sldNum" idx="12"/>
          </p:nvPr>
        </p:nvSpPr>
        <p:spPr>
          <a:xfrm>
            <a:off x="11748073" y="6466825"/>
            <a:ext cx="293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en-US" sz="1500" cap="small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fld>
            <a:endParaRPr sz="1500" cap="small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16" name="Google Shape;416;g2b6e027a1db_8_76"/>
          <p:cNvCxnSpPr/>
          <p:nvPr/>
        </p:nvCxnSpPr>
        <p:spPr>
          <a:xfrm>
            <a:off x="11746228" y="6510872"/>
            <a:ext cx="0" cy="2325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7" name="Google Shape;417;g2b6e027a1db_8_76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418" name="Google Shape;418;g2b6e027a1db_8_76"/>
          <p:cNvSpPr/>
          <p:nvPr/>
        </p:nvSpPr>
        <p:spPr>
          <a:xfrm>
            <a:off x="-37950" y="3908122"/>
            <a:ext cx="12267900" cy="615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2b6e027a1db_8_76"/>
          <p:cNvSpPr/>
          <p:nvPr/>
        </p:nvSpPr>
        <p:spPr>
          <a:xfrm>
            <a:off x="-37950" y="2888251"/>
            <a:ext cx="12267900" cy="1020000"/>
          </a:xfrm>
          <a:prstGeom prst="rect">
            <a:avLst/>
          </a:prstGeom>
          <a:solidFill>
            <a:srgbClr val="002060"/>
          </a:solidFill>
          <a:ln w="9525" cap="flat" cmpd="sng">
            <a:solidFill>
              <a:srgbClr val="233A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2b6e027a1db_8_76"/>
          <p:cNvSpPr txBox="1"/>
          <p:nvPr/>
        </p:nvSpPr>
        <p:spPr>
          <a:xfrm>
            <a:off x="718260" y="2995299"/>
            <a:ext cx="89520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5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V</a:t>
            </a:r>
            <a:r>
              <a:rPr lang="en-US" sz="3500" b="1" i="0" u="none" strike="noStrike" cap="none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.	 </a:t>
            </a:r>
            <a:r>
              <a:rPr lang="en-US" sz="3500" b="1" dirty="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Risks &amp; Mitigants</a:t>
            </a:r>
            <a:endParaRPr sz="3500" b="1" i="0" u="none" strike="noStrike" cap="none" dirty="0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8" name="Picture 4" descr="SMCI - Super Micro Computer, Inc. Trademark Registration">
            <a:extLst>
              <a:ext uri="{FF2B5EF4-FFF2-40B4-BE49-F238E27FC236}">
                <a16:creationId xmlns:a16="http://schemas.microsoft.com/office/drawing/2014/main" id="{B46796C7-C320-4911-948A-4B3BF6D2C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BB9A05-D45B-45EC-8333-9EF705BF8B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"/>
          <p:cNvSpPr txBox="1"/>
          <p:nvPr/>
        </p:nvSpPr>
        <p:spPr>
          <a:xfrm>
            <a:off x="302129" y="101239"/>
            <a:ext cx="82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Risks </a:t>
            </a:r>
            <a:r>
              <a:rPr lang="en-US" sz="30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&amp;</a:t>
            </a: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 Mitigants </a:t>
            </a:r>
            <a:endParaRPr sz="3000" b="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26" name="Google Shape;426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7" name="Google Shape;427;p12"/>
          <p:cNvSpPr/>
          <p:nvPr/>
        </p:nvSpPr>
        <p:spPr>
          <a:xfrm>
            <a:off x="6095751" y="861650"/>
            <a:ext cx="5691300" cy="2061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Mitigation:</a:t>
            </a:r>
            <a:endParaRPr sz="12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095751" y="1157340"/>
            <a:ext cx="5677200" cy="8343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1D2939"/>
                </a:solidFill>
                <a:latin typeface="Garamond"/>
              </a:rPr>
              <a:t>Mitigation: Q3 FY26 non-GAAP GM 10.1% — already above the 8% original-thesis threshold (Q2 trough was one-time expedite per CFO). Q4 FY26 GAAP guide 8.2-8.4% sustains recovery. DCBBS GM &gt;20% (CEO) is the structural mix-shift driver.</a:t>
            </a:r>
            <a:endParaRPr lang="en-US" sz="1200" dirty="0"/>
          </a:p>
        </p:txBody>
      </p:sp>
      <p:cxnSp>
        <p:nvCxnSpPr>
          <p:cNvPr id="432" name="Google Shape;432;p12"/>
          <p:cNvCxnSpPr>
            <a:stCxn id="433" idx="3"/>
            <a:endCxn id="430" idx="1"/>
          </p:cNvCxnSpPr>
          <p:nvPr/>
        </p:nvCxnSpPr>
        <p:spPr>
          <a:xfrm>
            <a:off x="5702161" y="1573816"/>
            <a:ext cx="393600" cy="60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12"/>
          <p:cNvCxnSpPr/>
          <p:nvPr/>
        </p:nvCxnSpPr>
        <p:spPr>
          <a:xfrm>
            <a:off x="3541869" y="9091594"/>
            <a:ext cx="970200" cy="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6" name="Google Shape;436;p12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Value Adds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2" name="Google Shape;442;p12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76213" y="1009158"/>
            <a:ext cx="3395400" cy="8343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1D2939"/>
                </a:solidFill>
                <a:latin typeface="Garamond"/>
              </a:rPr>
              <a:t>Gross Margin Risk:</a:t>
            </a:r>
            <a:endParaRPr lang="en-US" sz="1400" dirty="0"/>
          </a:p>
          <a:p>
            <a:r>
              <a:rPr sz="1400">
                <a:solidFill>
                  <a:srgbClr val="1D2939"/>
                </a:solidFill>
                <a:latin typeface="Garamond"/>
              </a:rPr>
              <a:t>Recovery vs structural: Q3 FY26 9.9% GAAP / 10.1% NG</a:t>
            </a:r>
          </a:p>
        </p:txBody>
      </p:sp>
      <p:grpSp>
        <p:nvGrpSpPr>
          <p:cNvPr id="448" name="Google Shape;448;p12"/>
          <p:cNvGrpSpPr/>
          <p:nvPr/>
        </p:nvGrpSpPr>
        <p:grpSpPr>
          <a:xfrm>
            <a:off x="3641161" y="861650"/>
            <a:ext cx="2061000" cy="1129316"/>
            <a:chOff x="3641161" y="861650"/>
            <a:chExt cx="2061000" cy="1129316"/>
          </a:xfrm>
        </p:grpSpPr>
        <p:sp>
          <p:nvSpPr>
            <p:cNvPr id="433" name="Google Shape;433;p12"/>
            <p:cNvSpPr/>
            <p:nvPr/>
          </p:nvSpPr>
          <p:spPr>
            <a:xfrm>
              <a:off x="3641161" y="1156666"/>
              <a:ext cx="2061000" cy="83430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E4E9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 b="1" dirty="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High</a:t>
              </a:r>
              <a:endParaRPr sz="1200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49" name="Google Shape;449;p12"/>
            <p:cNvSpPr/>
            <p:nvPr/>
          </p:nvSpPr>
          <p:spPr>
            <a:xfrm>
              <a:off x="3641161" y="861650"/>
              <a:ext cx="2061000" cy="206100"/>
            </a:xfrm>
            <a:prstGeom prst="rect">
              <a:avLst/>
            </a:prstGeom>
            <a:solidFill>
              <a:srgbClr val="001746"/>
            </a:solidFill>
            <a:ln w="12700" cap="flat" cmpd="sng">
              <a:solidFill>
                <a:srgbClr val="0017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450" name="Google Shape;450;p12"/>
          <p:cNvSpPr txBox="1"/>
          <p:nvPr/>
        </p:nvSpPr>
        <p:spPr>
          <a:xfrm>
            <a:off x="-1557050" y="0"/>
            <a:ext cx="1270500" cy="976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51" name="Google Shape;451;p12"/>
          <p:cNvCxnSpPr/>
          <p:nvPr/>
        </p:nvCxnSpPr>
        <p:spPr>
          <a:xfrm>
            <a:off x="3592936" y="2101557"/>
            <a:ext cx="8311200" cy="2490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2" name="Google Shape;452;p12"/>
          <p:cNvSpPr/>
          <p:nvPr/>
        </p:nvSpPr>
        <p:spPr>
          <a:xfrm>
            <a:off x="6095738" y="2236349"/>
            <a:ext cx="5691300" cy="2061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Mitigation:</a:t>
            </a:r>
            <a:endParaRPr sz="12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6095738" y="2532039"/>
            <a:ext cx="5677200" cy="8343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1D2939"/>
                </a:solidFill>
                <a:latin typeface="Garamond"/>
              </a:rPr>
              <a:t>Mitigation: DOJ chose individuals over corporation (not charged); 2024 Special Committee found no senior fraud; BDO financial statements 'present fairly'; FY25 10-K filed clean; 2nd probe scoped to export-controls; class-period closed -&gt; damages bounded; ~$1.3B cash absorbs plausible $100-500M settlement.</a:t>
            </a:r>
            <a:endParaRPr lang="en-US" sz="1200" dirty="0"/>
          </a:p>
        </p:txBody>
      </p:sp>
      <p:cxnSp>
        <p:nvCxnSpPr>
          <p:cNvPr id="454" name="Google Shape;454;p12"/>
          <p:cNvCxnSpPr>
            <a:stCxn id="455" idx="3"/>
            <a:endCxn id="453" idx="1"/>
          </p:cNvCxnSpPr>
          <p:nvPr/>
        </p:nvCxnSpPr>
        <p:spPr>
          <a:xfrm>
            <a:off x="5702149" y="2948515"/>
            <a:ext cx="393600" cy="60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56" name="Google Shape;456;p12"/>
          <p:cNvSpPr/>
          <p:nvPr/>
        </p:nvSpPr>
        <p:spPr>
          <a:xfrm>
            <a:off x="76200" y="2383857"/>
            <a:ext cx="3395400" cy="8343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1D2939"/>
                </a:solidFill>
                <a:latin typeface="Garamond"/>
              </a:rPr>
              <a:t>Governance / Legal Risk:</a:t>
            </a:r>
            <a:endParaRPr lang="en-US" sz="1400" dirty="0"/>
          </a:p>
          <a:p>
            <a:r>
              <a:rPr sz="1400">
                <a:solidFill>
                  <a:srgbClr val="1D2939"/>
                </a:solidFill>
                <a:latin typeface="Garamond"/>
              </a:rPr>
              <a:t>DOJ indicted individuals Mar 19; class action + 2nd probe + SEC streams open</a:t>
            </a:r>
          </a:p>
        </p:txBody>
      </p:sp>
      <p:grpSp>
        <p:nvGrpSpPr>
          <p:cNvPr id="457" name="Google Shape;457;p12"/>
          <p:cNvGrpSpPr/>
          <p:nvPr/>
        </p:nvGrpSpPr>
        <p:grpSpPr>
          <a:xfrm>
            <a:off x="3641148" y="2236349"/>
            <a:ext cx="2061000" cy="1129316"/>
            <a:chOff x="3641148" y="2236349"/>
            <a:chExt cx="2061000" cy="1129316"/>
          </a:xfrm>
        </p:grpSpPr>
        <p:sp>
          <p:nvSpPr>
            <p:cNvPr id="455" name="Google Shape;455;p12"/>
            <p:cNvSpPr/>
            <p:nvPr/>
          </p:nvSpPr>
          <p:spPr>
            <a:xfrm>
              <a:off x="3641149" y="2531365"/>
              <a:ext cx="2061000" cy="83430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E4E9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000" b="1" i="0" u="none" strike="noStrike" cap="none" dirty="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High</a:t>
              </a:r>
              <a:endParaRPr sz="2000" b="1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3641148" y="2236349"/>
              <a:ext cx="2061000" cy="206100"/>
            </a:xfrm>
            <a:prstGeom prst="rect">
              <a:avLst/>
            </a:prstGeom>
            <a:solidFill>
              <a:srgbClr val="001746"/>
            </a:solidFill>
            <a:ln w="12700" cap="flat" cmpd="sng">
              <a:solidFill>
                <a:srgbClr val="0017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cxnSp>
        <p:nvCxnSpPr>
          <p:cNvPr id="459" name="Google Shape;459;p12"/>
          <p:cNvCxnSpPr/>
          <p:nvPr/>
        </p:nvCxnSpPr>
        <p:spPr>
          <a:xfrm>
            <a:off x="3592924" y="3476256"/>
            <a:ext cx="8311200" cy="2490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0" name="Google Shape;460;p12"/>
          <p:cNvSpPr/>
          <p:nvPr/>
        </p:nvSpPr>
        <p:spPr>
          <a:xfrm>
            <a:off x="6095751" y="3642586"/>
            <a:ext cx="5691300" cy="2061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Mitigation:</a:t>
            </a:r>
            <a:endParaRPr sz="12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095751" y="3938276"/>
            <a:ext cx="5677200" cy="8343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1D2939"/>
                </a:solidFill>
                <a:latin typeface="Garamond"/>
              </a:rPr>
              <a:t>Mitigation: Q3 FY26 already shows concentration 63%-&gt;27%, enterprise channel doubled to 28% of rev. Backlog at record high; deferred revenue $1.47B (+298% vs FY25 close). Multi-vendor strategy (AMD MI300X) reduces single-source dependency.</a:t>
            </a:r>
            <a:endParaRPr lang="en-US" sz="1200" dirty="0"/>
          </a:p>
        </p:txBody>
      </p:sp>
      <p:cxnSp>
        <p:nvCxnSpPr>
          <p:cNvPr id="462" name="Google Shape;462;p12"/>
          <p:cNvCxnSpPr>
            <a:stCxn id="463" idx="3"/>
            <a:endCxn id="461" idx="1"/>
          </p:cNvCxnSpPr>
          <p:nvPr/>
        </p:nvCxnSpPr>
        <p:spPr>
          <a:xfrm>
            <a:off x="5702161" y="4354752"/>
            <a:ext cx="393600" cy="60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64" name="Google Shape;464;p12"/>
          <p:cNvSpPr/>
          <p:nvPr/>
        </p:nvSpPr>
        <p:spPr>
          <a:xfrm>
            <a:off x="76213" y="3790094"/>
            <a:ext cx="3395400" cy="8343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sz="1400">
                <a:solidFill>
                  <a:srgbClr val="1D2939"/>
                </a:solidFill>
                <a:latin typeface="Garamond"/>
              </a:rPr>
              <a:t>Customer Concentration Risk:</a:t>
            </a:r>
            <a:endParaRPr lang="en-US" sz="1400" dirty="0"/>
          </a:p>
          <a:p>
            <a:r>
              <a:rPr sz="1400">
                <a:solidFill>
                  <a:srgbClr val="1D2939"/>
                </a:solidFill>
                <a:latin typeface="Garamond"/>
              </a:rPr>
              <a:t>Top customer 27% Q3 FY26 (was 63% Q2); AR Cust-A 32.2%</a:t>
            </a:r>
          </a:p>
        </p:txBody>
      </p:sp>
      <p:grpSp>
        <p:nvGrpSpPr>
          <p:cNvPr id="465" name="Google Shape;465;p12"/>
          <p:cNvGrpSpPr/>
          <p:nvPr/>
        </p:nvGrpSpPr>
        <p:grpSpPr>
          <a:xfrm>
            <a:off x="3641161" y="3642586"/>
            <a:ext cx="2061000" cy="1129316"/>
            <a:chOff x="3641161" y="3642586"/>
            <a:chExt cx="2061000" cy="1129316"/>
          </a:xfrm>
        </p:grpSpPr>
        <p:sp>
          <p:nvSpPr>
            <p:cNvPr id="463" name="Google Shape;463;p12"/>
            <p:cNvSpPr/>
            <p:nvPr/>
          </p:nvSpPr>
          <p:spPr>
            <a:xfrm>
              <a:off x="3641161" y="3937602"/>
              <a:ext cx="2061000" cy="83430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E4E9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Medium</a:t>
              </a:r>
              <a:endParaRPr sz="20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66" name="Google Shape;466;p12"/>
            <p:cNvSpPr/>
            <p:nvPr/>
          </p:nvSpPr>
          <p:spPr>
            <a:xfrm>
              <a:off x="3641161" y="3642586"/>
              <a:ext cx="2061000" cy="206100"/>
            </a:xfrm>
            <a:prstGeom prst="rect">
              <a:avLst/>
            </a:prstGeom>
            <a:solidFill>
              <a:srgbClr val="001746"/>
            </a:solidFill>
            <a:ln w="12700" cap="flat" cmpd="sng">
              <a:solidFill>
                <a:srgbClr val="0017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cxnSp>
        <p:nvCxnSpPr>
          <p:cNvPr id="467" name="Google Shape;467;p12"/>
          <p:cNvCxnSpPr/>
          <p:nvPr/>
        </p:nvCxnSpPr>
        <p:spPr>
          <a:xfrm>
            <a:off x="3592936" y="4882493"/>
            <a:ext cx="8311200" cy="2490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8" name="Google Shape;468;p12"/>
          <p:cNvSpPr/>
          <p:nvPr/>
        </p:nvSpPr>
        <p:spPr>
          <a:xfrm>
            <a:off x="6095751" y="5071011"/>
            <a:ext cx="5691300" cy="2061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Mitigation:</a:t>
            </a:r>
            <a:endParaRPr sz="12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6095751" y="5366701"/>
            <a:ext cx="5677200" cy="8343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SMCI diversifying with AMD MI300X/MI400 platforms. Strong NVIDIA partnership depth (first to ship GB200 NVL72) suggests favorable allocation. Multi-vendor strategy reduces single-supplier risk over 12-18 month horizon.</a:t>
            </a:r>
            <a:endParaRPr lang="en-US" sz="1200" dirty="0"/>
          </a:p>
        </p:txBody>
      </p:sp>
      <p:cxnSp>
        <p:nvCxnSpPr>
          <p:cNvPr id="470" name="Google Shape;470;p12"/>
          <p:cNvCxnSpPr>
            <a:stCxn id="471" idx="3"/>
            <a:endCxn id="469" idx="1"/>
          </p:cNvCxnSpPr>
          <p:nvPr/>
        </p:nvCxnSpPr>
        <p:spPr>
          <a:xfrm>
            <a:off x="5702161" y="5783177"/>
            <a:ext cx="393600" cy="60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72" name="Google Shape;472;p12"/>
          <p:cNvSpPr/>
          <p:nvPr/>
        </p:nvSpPr>
        <p:spPr>
          <a:xfrm>
            <a:off x="76213" y="5218519"/>
            <a:ext cx="3395400" cy="834300"/>
          </a:xfrm>
          <a:prstGeom prst="homePlate">
            <a:avLst>
              <a:gd name="adj" fmla="val 50000"/>
            </a:avLst>
          </a:prstGeom>
          <a:solidFill>
            <a:schemeClr val="lt1"/>
          </a:solidFill>
          <a:ln w="2857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NVIDIA Supplier Dependency: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~80%+ DC GPU Supply Control</a:t>
            </a:r>
            <a:endParaRPr lang="en-US" sz="1400" dirty="0"/>
          </a:p>
        </p:txBody>
      </p:sp>
      <p:grpSp>
        <p:nvGrpSpPr>
          <p:cNvPr id="473" name="Google Shape;473;p12"/>
          <p:cNvGrpSpPr/>
          <p:nvPr/>
        </p:nvGrpSpPr>
        <p:grpSpPr>
          <a:xfrm>
            <a:off x="3641161" y="5071011"/>
            <a:ext cx="2061000" cy="1129316"/>
            <a:chOff x="3641161" y="5071011"/>
            <a:chExt cx="2061000" cy="1129316"/>
          </a:xfrm>
        </p:grpSpPr>
        <p:sp>
          <p:nvSpPr>
            <p:cNvPr id="471" name="Google Shape;471;p12"/>
            <p:cNvSpPr/>
            <p:nvPr/>
          </p:nvSpPr>
          <p:spPr>
            <a:xfrm>
              <a:off x="3641161" y="5366027"/>
              <a:ext cx="2061000" cy="834300"/>
            </a:xfrm>
            <a:prstGeom prst="rect">
              <a:avLst/>
            </a:prstGeom>
            <a:solidFill>
              <a:srgbClr val="002060"/>
            </a:solidFill>
            <a:ln w="12700" cap="flat" cmpd="sng">
              <a:solidFill>
                <a:srgbClr val="E4E9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2000" b="1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Low</a:t>
              </a:r>
              <a:endParaRPr sz="20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74" name="Google Shape;474;p12"/>
            <p:cNvSpPr/>
            <p:nvPr/>
          </p:nvSpPr>
          <p:spPr>
            <a:xfrm>
              <a:off x="3641161" y="5071011"/>
              <a:ext cx="2061000" cy="206100"/>
            </a:xfrm>
            <a:prstGeom prst="rect">
              <a:avLst/>
            </a:prstGeom>
            <a:solidFill>
              <a:srgbClr val="001746"/>
            </a:solidFill>
            <a:ln w="12700" cap="flat" cmpd="sng">
              <a:solidFill>
                <a:srgbClr val="0017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Level of Risk</a:t>
              </a:r>
              <a:endParaRPr sz="12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pic>
        <p:nvPicPr>
          <p:cNvPr id="52" name="Picture 4" descr="SMCI - Super Micro Computer, Inc. Trademark Registration">
            <a:extLst>
              <a:ext uri="{FF2B5EF4-FFF2-40B4-BE49-F238E27FC236}">
                <a16:creationId xmlns:a16="http://schemas.microsoft.com/office/drawing/2014/main" id="{22D2215F-E59D-4C68-A15E-65BDCEF8D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5956326-E46B-4226-9132-B2B5E8DBBD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"/>
          <p:cNvSpPr txBox="1"/>
          <p:nvPr/>
        </p:nvSpPr>
        <p:spPr>
          <a:xfrm>
            <a:off x="302129" y="101239"/>
            <a:ext cx="82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CATALYSTS &amp; TIMELINE </a:t>
            </a:r>
            <a:endParaRPr sz="3000" b="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26" name="Google Shape;426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4" name="Google Shape;434;p12"/>
          <p:cNvCxnSpPr/>
          <p:nvPr/>
        </p:nvCxnSpPr>
        <p:spPr>
          <a:xfrm>
            <a:off x="3541869" y="9091594"/>
            <a:ext cx="970200" cy="0"/>
          </a:xfrm>
          <a:prstGeom prst="straightConnector1">
            <a:avLst/>
          </a:prstGeom>
          <a:noFill/>
          <a:ln w="38100" cap="flat" cmpd="sng">
            <a:solidFill>
              <a:srgbClr val="E4E9F0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435" name="Google Shape;435;p12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6" name="Google Shape;436;p12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722134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ESG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8740461" y="6486133"/>
            <a:ext cx="1270500" cy="282000"/>
          </a:xfrm>
          <a:prstGeom prst="rect">
            <a:avLst/>
          </a:prstGeom>
          <a:solidFill>
            <a:srgbClr val="041E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Risks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Value Adds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2" name="Google Shape;442;p12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1145042" y="6486133"/>
            <a:ext cx="12705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Company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664119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83196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Theses</a:t>
            </a: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5702272" y="6486133"/>
            <a:ext cx="1270500" cy="282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Valuation</a:t>
            </a:r>
            <a:endParaRPr sz="1400" b="0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-1557050" y="0"/>
            <a:ext cx="1270500" cy="976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2" name="Picture 4" descr="SMCI - Super Micro Computer, Inc. Trademark Registration">
            <a:extLst>
              <a:ext uri="{FF2B5EF4-FFF2-40B4-BE49-F238E27FC236}">
                <a16:creationId xmlns:a16="http://schemas.microsoft.com/office/drawing/2014/main" id="{22D2215F-E59D-4C68-A15E-65BDCEF8D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FF9423-E239-4C67-8D62-25E69E41F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5" y="810724"/>
            <a:ext cx="11353489" cy="54214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3E102F8-4445-478A-94FA-AC8A761A4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sp>
        <p:nvSpPr>
          <p:cNvPr id="451" name="TextBox 450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A2540"/>
                </a:solidFill>
                <a:latin typeface="Calibri"/>
              </a:rPr>
              <a:t>12-Month Catalyst Calendar — Reinforced Thesis</a:t>
            </a:r>
          </a:p>
        </p:txBody>
      </p:sp>
      <p:graphicFrame>
        <p:nvGraphicFramePr>
          <p:cNvPr id="452" name="Table 451"/>
          <p:cNvGraphicFramePr>
            <a:graphicFrameLocks noGrp="1"/>
          </p:cNvGraphicFramePr>
          <p:nvPr/>
        </p:nvGraphicFramePr>
        <p:xfrm>
          <a:off x="457200" y="15544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852160"/>
                <a:gridCol w="1371600"/>
                <a:gridCol w="2468880"/>
              </a:tblGrid>
              <a:tr h="42062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/>
                        <a:t>May 26, 2026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Class-action lead-plaintiff deadline (Bhuva v. SMCI)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Procedural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Neutral / structural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Jun-Jul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Consolidated complaint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Informational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Bear if expanded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 b="1"/>
                        <a:t>Aug 11, 2026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Q4 / FY26 earnings — CRITICAL: (a) FY26 in $38.9-40.4B? (b) Q4 GAAP GM 8.2-8.4% holds? (c) concentration trend continues?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Operational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/>
                        <a:t>Critical</a:t>
                      </a:r>
                    </a:p>
                  </a:txBody>
                  <a:tcPr>
                    <a:solidFill>
                      <a:srgbClr val="FBF7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Aug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NVIDIA earnings (next cycle) — Blackwell + Rubin commentary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Bull if DC accel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Hyperscaler earnings cycle — FY27 capex guides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Bull if capex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Q4 2026 / Q1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Class-action motion to dismiss ruling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Bull if 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Unknown (any 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2nd independent investigation conclusion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Binary / no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Q1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NVDA Rubin GPU ramp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Indirect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50"/>
                        <a:t>Q2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SEC enforcement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Regulatory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3" name="TextBox 452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A4A48"/>
                </a:solidFill>
              </a:rPr>
              <a:t>Gold rows = imminent (May 26) and most informational (Aug 11). Source: SMCI 8-K 2026-05-05; Bhuva docket; rgrdlaw.com — all accessed 2026-05-19.</a:t>
            </a:r>
          </a:p>
        </p:txBody>
      </p:sp>
    </p:spTree>
    <p:extLst>
      <p:ext uri="{BB962C8B-B14F-4D97-AF65-F5344CB8AC3E}">
        <p14:creationId xmlns:p14="http://schemas.microsoft.com/office/powerpoint/2010/main" val="129919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 txBox="1"/>
          <p:nvPr/>
        </p:nvSpPr>
        <p:spPr>
          <a:xfrm>
            <a:off x="212554" y="101601"/>
            <a:ext cx="82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small" dirty="0">
                <a:solidFill>
                  <a:srgbClr val="3F3F3F"/>
                </a:solidFill>
                <a:latin typeface="Garamond"/>
                <a:ea typeface="Garamond"/>
                <a:cs typeface="Garamond"/>
                <a:sym typeface="Garamond"/>
              </a:rPr>
              <a:t>Final Recommendation </a:t>
            </a:r>
            <a:endParaRPr sz="3000" b="0" i="0" u="none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480" name="Google Shape;480;p13"/>
          <p:cNvCxnSpPr/>
          <p:nvPr/>
        </p:nvCxnSpPr>
        <p:spPr>
          <a:xfrm>
            <a:off x="270932" y="711202"/>
            <a:ext cx="11633201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1" name="Google Shape;481;p13"/>
          <p:cNvSpPr/>
          <p:nvPr/>
        </p:nvSpPr>
        <p:spPr>
          <a:xfrm>
            <a:off x="408394" y="925925"/>
            <a:ext cx="55356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Sensitivity Analysis</a:t>
            </a:r>
            <a:endParaRPr sz="1800" b="1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6248153" y="925925"/>
            <a:ext cx="55356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Investment </a:t>
            </a:r>
            <a:r>
              <a:rPr lang="en-US" sz="1800" b="1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Points</a:t>
            </a:r>
            <a:endParaRPr sz="1800" b="1" i="0" u="none" strike="noStrike" cap="none" dirty="0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6248153" y="1414921"/>
            <a:ext cx="580800" cy="3465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6843678" y="1414921"/>
            <a:ext cx="4939800" cy="3465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1D2939"/>
                </a:solidFill>
                <a:latin typeface="Garamond"/>
              </a:rPr>
              <a:t>AI Growth + Diversifying Customer Mix</a:t>
            </a:r>
            <a:endParaRPr lang="en-US" sz="1800" dirty="0"/>
          </a:p>
        </p:txBody>
      </p:sp>
      <p:sp>
        <p:nvSpPr>
          <p:cNvPr id="485" name="Google Shape;485;p13"/>
          <p:cNvSpPr txBox="1"/>
          <p:nvPr/>
        </p:nvSpPr>
        <p:spPr>
          <a:xfrm>
            <a:off x="6248150" y="1830486"/>
            <a:ext cx="5535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buNone/>
            </a:pPr>
            <a:r>
              <a:rPr>
                <a:solidFill>
                  <a:srgbClr val="1D2939"/>
                </a:solidFill>
                <a:latin typeface="Garamond"/>
              </a:rPr>
              <a:t>Customer concentration 63% -&gt; 27% in one quarter; enterprise channel doubled to 28% of revenue (+46% YoY). FY2026 revenue guide REAFFIRMED at $38.9-40.4B per 8-K filed 2026-05-05. AI-GPU platforms &gt;80% of revenue; record-high backlog.</a:t>
            </a:r>
            <a:endParaRPr lang="en-US" dirty="0"/>
          </a:p>
        </p:txBody>
      </p:sp>
      <p:sp>
        <p:nvSpPr>
          <p:cNvPr id="486" name="Google Shape;486;p13"/>
          <p:cNvSpPr/>
          <p:nvPr/>
        </p:nvSpPr>
        <p:spPr>
          <a:xfrm>
            <a:off x="6248153" y="2546174"/>
            <a:ext cx="580800" cy="3465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6843678" y="2546174"/>
            <a:ext cx="4939800" cy="3465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1D2939"/>
                </a:solidFill>
                <a:latin typeface="Garamond"/>
              </a:rPr>
              <a:t>Margin Recovery Confirmed</a:t>
            </a:r>
            <a:endParaRPr lang="en-US" sz="1800" dirty="0"/>
          </a:p>
        </p:txBody>
      </p:sp>
      <p:sp>
        <p:nvSpPr>
          <p:cNvPr id="488" name="Google Shape;488;p13"/>
          <p:cNvSpPr txBox="1"/>
          <p:nvPr/>
        </p:nvSpPr>
        <p:spPr>
          <a:xfrm>
            <a:off x="6248025" y="2959964"/>
            <a:ext cx="5535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buNone/>
            </a:pPr>
            <a:r>
              <a:rPr>
                <a:solidFill>
                  <a:srgbClr val="1D2939"/>
                </a:solidFill>
                <a:latin typeface="Garamond"/>
              </a:rPr>
              <a:t>Q3 FY26 non-GAAP gross margin 10.1% (9.9% GAAP) EXCEEDS the 8% original-thesis bullish-inflection threshold by ~210bp. Q2 trough was one-time expedite (CFO). Q4 FY26 GAAP guide 8.2-8.4% sustains the recovery.</a:t>
            </a:r>
            <a:endParaRPr lang="en-US" dirty="0"/>
          </a:p>
        </p:txBody>
      </p:sp>
      <p:sp>
        <p:nvSpPr>
          <p:cNvPr id="489" name="Google Shape;489;p13"/>
          <p:cNvSpPr/>
          <p:nvPr/>
        </p:nvSpPr>
        <p:spPr>
          <a:xfrm>
            <a:off x="6248153" y="3673864"/>
            <a:ext cx="580800" cy="3465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 sz="18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843678" y="3673864"/>
            <a:ext cx="4939800" cy="3465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E4E9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r>
              <a:rPr sz="1800" b="1">
                <a:solidFill>
                  <a:srgbClr val="1D2939"/>
                </a:solidFill>
                <a:latin typeface="Garamond"/>
              </a:rPr>
              <a:t>Governance Discount — Reframed</a:t>
            </a:r>
            <a:endParaRPr lang="en-US" sz="1800" dirty="0"/>
          </a:p>
        </p:txBody>
      </p:sp>
      <p:sp>
        <p:nvSpPr>
          <p:cNvPr id="491" name="Google Shape;491;p13"/>
          <p:cNvSpPr txBox="1"/>
          <p:nvPr/>
        </p:nvSpPr>
        <p:spPr>
          <a:xfrm>
            <a:off x="6248025" y="4098943"/>
            <a:ext cx="55356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buNone/>
            </a:pPr>
            <a:r>
              <a:rPr>
                <a:solidFill>
                  <a:srgbClr val="1D2939"/>
                </a:solidFill>
                <a:latin typeface="Garamond"/>
              </a:rPr>
              <a:t>DOJ acted Mar 19 2026 on 3 individuals; SMCI NOT charged. Multi-stage closure path (class-action MTD, 2nd investigation, SEC) historically closes 50-100% of governance discounts within 18-24 months. Reinforced PT $46 reconciles original $46 PT within 2%.</a:t>
            </a:r>
            <a:endParaRPr lang="en-US" dirty="0"/>
          </a:p>
        </p:txBody>
      </p:sp>
      <p:cxnSp>
        <p:nvCxnSpPr>
          <p:cNvPr id="492" name="Google Shape;492;p13"/>
          <p:cNvCxnSpPr/>
          <p:nvPr/>
        </p:nvCxnSpPr>
        <p:spPr>
          <a:xfrm>
            <a:off x="270932" y="711202"/>
            <a:ext cx="11633100" cy="0"/>
          </a:xfrm>
          <a:prstGeom prst="straightConnector1">
            <a:avLst/>
          </a:prstGeom>
          <a:noFill/>
          <a:ln w="9525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3" name="Google Shape;493;p13"/>
          <p:cNvSpPr txBox="1">
            <a:spLocks noGrp="1"/>
          </p:cNvSpPr>
          <p:nvPr>
            <p:ph type="sldNum" idx="4294967295"/>
          </p:nvPr>
        </p:nvSpPr>
        <p:spPr>
          <a:xfrm>
            <a:off x="11520419" y="6466832"/>
            <a:ext cx="521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  </a:t>
            </a: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408400" y="1387149"/>
            <a:ext cx="5535600" cy="28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50000"/>
              </a:lnSpc>
              <a:buClr>
                <a:schemeClr val="dk1"/>
              </a:buClr>
              <a:buSzPts val="2700"/>
            </a:pPr>
            <a:r>
              <a:rPr lang="en-US" sz="2400" b="1" kern="0" spc="200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BLENDED TARGET PRICE:</a:t>
            </a:r>
            <a:endParaRPr lang="en-US" sz="2400" dirty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2700"/>
            </a:pPr>
            <a:r>
              <a:rPr lang="en-US" sz="2400" b="1" dirty="0">
                <a:solidFill>
                  <a:srgbClr val="1D293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(34%-113% Upside) </a:t>
            </a:r>
            <a:r>
              <a:rPr lang="en-US" sz="2400" b="1" cap="small" dirty="0">
                <a:solidFill>
                  <a:srgbClr val="1D2939"/>
                </a:solidFill>
                <a:latin typeface="Garamond" pitchFamily="34" charset="0"/>
                <a:ea typeface="Garamond"/>
                <a:cs typeface="Garamond"/>
                <a:sym typeface="Garamond"/>
              </a:rPr>
              <a:t>$41-$65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2700"/>
            </a:pPr>
            <a:endParaRPr lang="en-US" sz="2400" b="1" cap="small" dirty="0">
              <a:solidFill>
                <a:srgbClr val="1D2939"/>
              </a:solidFill>
              <a:latin typeface="Garamond" pitchFamily="34" charset="0"/>
              <a:ea typeface="Garamond"/>
              <a:cs typeface="Garamond"/>
              <a:sym typeface="Garamond"/>
            </a:endParaRPr>
          </a:p>
          <a:p>
            <a:pPr algn="ctr">
              <a:lnSpc>
                <a:spcPct val="150000"/>
              </a:lnSpc>
              <a:buClr>
                <a:schemeClr val="dk1"/>
              </a:buClr>
              <a:buSzPts val="2700"/>
            </a:pPr>
            <a:endParaRPr lang="en-US" sz="2400" b="1" cap="small" dirty="0">
              <a:solidFill>
                <a:srgbClr val="1D2939"/>
              </a:solidFill>
              <a:latin typeface="Garamond" pitchFamily="34" charset="0"/>
              <a:ea typeface="Garamond"/>
              <a:cs typeface="Garamond"/>
              <a:sym typeface="Garamond"/>
            </a:endParaRPr>
          </a:p>
          <a:p>
            <a:pPr algn="ctr">
              <a:lnSpc>
                <a:spcPct val="150000"/>
              </a:lnSpc>
              <a:buClr>
                <a:schemeClr val="dk1"/>
              </a:buClr>
              <a:buSzPts val="2700"/>
            </a:pPr>
            <a:r>
              <a:rPr lang="en-US" sz="2400" b="1" cap="small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</a:p>
        </p:txBody>
      </p:sp>
      <p:sp>
        <p:nvSpPr>
          <p:cNvPr id="495" name="Google Shape;495;p13"/>
          <p:cNvSpPr/>
          <p:nvPr/>
        </p:nvSpPr>
        <p:spPr>
          <a:xfrm>
            <a:off x="408400" y="4857041"/>
            <a:ext cx="5535600" cy="282000"/>
          </a:xfrm>
          <a:prstGeom prst="rect">
            <a:avLst/>
          </a:prstGeom>
          <a:solidFill>
            <a:srgbClr val="001746"/>
          </a:solidFill>
          <a:ln w="12700" cap="flat" cmpd="sng">
            <a:solidFill>
              <a:srgbClr val="00174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Key Metrics</a:t>
            </a:r>
            <a:endParaRPr sz="1800" b="1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500" name="Google Shape;500;p13"/>
          <p:cNvGrpSpPr/>
          <p:nvPr/>
        </p:nvGrpSpPr>
        <p:grpSpPr>
          <a:xfrm>
            <a:off x="6248150" y="4857041"/>
            <a:ext cx="5535600" cy="1514286"/>
            <a:chOff x="6248150" y="4854966"/>
            <a:chExt cx="5535600" cy="1514286"/>
          </a:xfrm>
        </p:grpSpPr>
        <p:sp>
          <p:nvSpPr>
            <p:cNvPr id="501" name="Google Shape;501;p13"/>
            <p:cNvSpPr/>
            <p:nvPr/>
          </p:nvSpPr>
          <p:spPr>
            <a:xfrm>
              <a:off x="6248150" y="4854966"/>
              <a:ext cx="5535600" cy="282000"/>
            </a:xfrm>
            <a:prstGeom prst="rect">
              <a:avLst/>
            </a:prstGeom>
            <a:solidFill>
              <a:srgbClr val="001746"/>
            </a:solidFill>
            <a:ln w="12700" cap="flat" cmpd="sng">
              <a:solidFill>
                <a:srgbClr val="0017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dirty="0">
                  <a:solidFill>
                    <a:schemeClr val="lt1"/>
                  </a:solidFill>
                  <a:latin typeface="Garamond"/>
                  <a:ea typeface="Garamond"/>
                  <a:cs typeface="Garamond"/>
                  <a:sym typeface="Garamond"/>
                </a:rPr>
                <a:t>Strategic Priorities</a:t>
              </a:r>
              <a:endParaRPr sz="1800" b="1" i="0" u="none" strike="noStrike" cap="none" dirty="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9009303" y="5234652"/>
              <a:ext cx="2774400" cy="1134600"/>
            </a:xfrm>
            <a:prstGeom prst="rect">
              <a:avLst/>
            </a:prstGeom>
            <a:solidFill>
              <a:srgbClr val="E4E9F0"/>
            </a:solidFill>
            <a:ln w="12700" cap="flat" cmpd="sng">
              <a:solidFill>
                <a:srgbClr val="2037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Garamond" pitchFamily="34" charset="0"/>
                  <a:ea typeface="Garamond" pitchFamily="34" charset="-122"/>
                  <a:cs typeface="Garamond" pitchFamily="34" charset="-120"/>
                </a:rPr>
                <a:t>Governance</a:t>
              </a:r>
              <a:endParaRPr lang="en-US" sz="2800" dirty="0">
                <a:solidFill>
                  <a:schemeClr val="tx1"/>
                </a:solidFill>
              </a:endParaRPr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Garamond" pitchFamily="34" charset="0"/>
                  <a:ea typeface="Garamond" pitchFamily="34" charset="-122"/>
                  <a:cs typeface="Garamond" pitchFamily="34" charset="-120"/>
                </a:rPr>
                <a:t>Resolution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6248460" y="5234552"/>
              <a:ext cx="2636700" cy="1134600"/>
            </a:xfrm>
            <a:prstGeom prst="rect">
              <a:avLst/>
            </a:prstGeom>
            <a:solidFill>
              <a:srgbClr val="E4E9F0"/>
            </a:solidFill>
            <a:ln w="12700" cap="flat" cmpd="sng">
              <a:solidFill>
                <a:srgbClr val="2037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Garamond" pitchFamily="34" charset="0"/>
                  <a:ea typeface="Garamond" pitchFamily="34" charset="-122"/>
                  <a:cs typeface="Garamond" pitchFamily="34" charset="-120"/>
                </a:rPr>
                <a:t>DLC</a:t>
              </a:r>
              <a:endParaRPr lang="en-US" sz="2800" dirty="0">
                <a:solidFill>
                  <a:schemeClr val="tx1"/>
                </a:solidFill>
              </a:endParaRPr>
            </a:p>
            <a:p>
              <a:pPr marL="0" indent="0" algn="ctr">
                <a:buNone/>
              </a:pPr>
              <a:r>
                <a:rPr lang="en-US" sz="2800" b="1" dirty="0">
                  <a:solidFill>
                    <a:schemeClr val="tx1"/>
                  </a:solidFill>
                  <a:latin typeface="Garamond" pitchFamily="34" charset="0"/>
                  <a:ea typeface="Garamond" pitchFamily="34" charset="-122"/>
                  <a:cs typeface="Garamond" pitchFamily="34" charset="-120"/>
                </a:rPr>
                <a:t>Expansion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</p:grpSp>
      <p:sp>
        <p:nvSpPr>
          <p:cNvPr id="505" name="Google Shape;505;p13"/>
          <p:cNvSpPr/>
          <p:nvPr/>
        </p:nvSpPr>
        <p:spPr>
          <a:xfrm>
            <a:off x="-1633350" y="1035671"/>
            <a:ext cx="1270500" cy="13797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3307325" y="5234650"/>
            <a:ext cx="2636700" cy="11346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2037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600" b="1" i="0" strike="noStrike" cap="none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+51% Upside</a:t>
            </a:r>
            <a:endParaRPr sz="2600" b="1" i="0" strike="noStrike" cap="none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01050" y="5234550"/>
            <a:ext cx="2774400" cy="1134600"/>
          </a:xfrm>
          <a:prstGeom prst="rect">
            <a:avLst/>
          </a:prstGeom>
          <a:solidFill>
            <a:srgbClr val="E4E9F0"/>
          </a:solidFill>
          <a:ln w="12700" cap="flat" cmpd="sng">
            <a:solidFill>
              <a:srgbClr val="2037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lang="en-US" sz="2600" b="1" cap="small" dirty="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Target: $46</a:t>
            </a:r>
            <a:endParaRPr sz="2600" b="1" dirty="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31" name="Picture 4" descr="SMCI - Super Micro Computer, Inc. Trademark Registration">
            <a:extLst>
              <a:ext uri="{FF2B5EF4-FFF2-40B4-BE49-F238E27FC236}">
                <a16:creationId xmlns:a16="http://schemas.microsoft.com/office/drawing/2014/main" id="{274F8F67-21CE-4176-8E4D-8F1612625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1" b="17593"/>
          <a:stretch/>
        </p:blipFill>
        <p:spPr bwMode="auto">
          <a:xfrm>
            <a:off x="10032470" y="64180"/>
            <a:ext cx="2009003" cy="54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8AC60F1-0EE5-4A3C-AC46-354437D37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6" y="6379320"/>
            <a:ext cx="1422710" cy="464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AE675F-51F5-4818-B60D-2209B6284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75" y="4318526"/>
            <a:ext cx="5535474" cy="415738"/>
          </a:xfrm>
          <a:prstGeom prst="rect">
            <a:avLst/>
          </a:prstGeom>
        </p:spPr>
      </p:pic>
      <p:pic>
        <p:nvPicPr>
          <p:cNvPr id="34" name="Picture 2" descr="Supermicro - Wikipedia">
            <a:extLst>
              <a:ext uri="{FF2B5EF4-FFF2-40B4-BE49-F238E27FC236}">
                <a16:creationId xmlns:a16="http://schemas.microsoft.com/office/drawing/2014/main" id="{14C2A635-6A5D-4A6B-A5F4-AF728CD3E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946" y="2659649"/>
            <a:ext cx="2547007" cy="134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5537</TotalTime>
  <Words>3543</Words>
  <Application>Microsoft Office PowerPoint</Application>
  <PresentationFormat>Widescreen</PresentationFormat>
  <Paragraphs>627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Calibri</vt:lpstr>
      <vt:lpstr>Garamond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Yu, Ruthie</dc:creator>
  <cp:lastModifiedBy>User1</cp:lastModifiedBy>
  <cp:revision>54</cp:revision>
  <dcterms:created xsi:type="dcterms:W3CDTF">2023-12-22T18:32:47Z</dcterms:created>
  <dcterms:modified xsi:type="dcterms:W3CDTF">2026-02-21T04:07:17Z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0x010100B27FAD69C05A8942844D26108DED49F6</vt:lpwstr>
  </property>
</Properties>
</file>