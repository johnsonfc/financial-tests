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3F3F3F"/>
                </a:solidFill>
                <a:latin typeface="Garamond"/>
              </a:rPr>
              <a:t>Revenue % Exposure by Country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exposure</c:v>
                </c:pt>
              </c:strCache>
            </c:strRef>
          </c:tx>
          <c:dPt>
            <c:idx val="0"/>
            <c:spPr>
              <a:solidFill>
                <a:srgbClr val="002060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5A5A5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476779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FA9C8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3F3F3F"/>
              </a:solidFill>
              <a:ln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B38600"/>
              </a:solidFill>
              <a:ln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041E41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FFFFF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3F3F3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3F3F3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FFFFF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3F3F3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FFFFF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3F3F3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FFFFF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China</c:v>
                </c:pt>
                <c:pt idx="1">
                  <c:v>Japan</c:v>
                </c:pt>
                <c:pt idx="2">
                  <c:v>Germany</c:v>
                </c:pt>
                <c:pt idx="3">
                  <c:v>India</c:v>
                </c:pt>
                <c:pt idx="4">
                  <c:v>UK</c:v>
                </c:pt>
                <c:pt idx="5">
                  <c:v>France</c:v>
                </c:pt>
                <c:pt idx="6">
                  <c:v>South Korea</c:v>
                </c:pt>
                <c:pt idx="7">
                  <c:v>Italy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10.5</c:v>
                </c:pt>
                <c:pt idx="1">
                  <c:v>8.9</c:v>
                </c:pt>
                <c:pt idx="2">
                  <c:v>7.6</c:v>
                </c:pt>
                <c:pt idx="3">
                  <c:v>6.4</c:v>
                </c:pt>
                <c:pt idx="4">
                  <c:v>6.0</c:v>
                </c:pt>
                <c:pt idx="5">
                  <c:v>5.2</c:v>
                </c:pt>
                <c:pt idx="6">
                  <c:v>4.4</c:v>
                </c:pt>
                <c:pt idx="7">
                  <c:v>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0">
                  <a:solidFill>
                    <a:srgbClr val="3F3F3F"/>
                  </a:solidFill>
                  <a:latin typeface="Garamond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 b="0">
              <a:solidFill>
                <a:srgbClr val="3F3F3F"/>
              </a:solidFill>
              <a:latin typeface="Garamon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3F3F3F"/>
          </a:solidFill>
          <a:latin typeface="Garamon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3F3F3F"/>
                </a:solidFill>
                <a:latin typeface="Garamond"/>
              </a:rPr>
              <a:t>Global Shipping Container Market ($bn)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002060"/>
            </a:solidFill>
          </c:spPr>
          <c:cat>
            <c:strRef>
              <c:f>Sheet1!$A$2:$A$10</c:f>
              <c:strCache>
                <c:ptCount val="9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  <c:pt idx="8">
                  <c:v>2028</c:v>
                </c:pt>
              </c:strCache>
            </c:strRef>
          </c:cat>
          <c:val>
            <c:numRef>
              <c:f>Sheet1!$B$2:$B$10</c:f>
              <c:numCache>
                <c:formatCode>0.0</c:formatCode>
                <c:ptCount val="9"/>
                <c:pt idx="0">
                  <c:v>6.41</c:v>
                </c:pt>
                <c:pt idx="1">
                  <c:v>7.18</c:v>
                </c:pt>
                <c:pt idx="2">
                  <c:v>8.04</c:v>
                </c:pt>
                <c:pt idx="3">
                  <c:v>9.01</c:v>
                </c:pt>
                <c:pt idx="4">
                  <c:v>10.09</c:v>
                </c:pt>
                <c:pt idx="5">
                  <c:v>11.3</c:v>
                </c:pt>
                <c:pt idx="6">
                  <c:v>12.65</c:v>
                </c:pt>
                <c:pt idx="7">
                  <c:v>14.17</c:v>
                </c:pt>
                <c:pt idx="8">
                  <c:v>15.87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0">
                  <a:solidFill>
                    <a:srgbClr val="3F3F3F"/>
                  </a:solidFill>
                  <a:latin typeface="Garamon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100" b="0">
                <a:solidFill>
                  <a:srgbClr val="3F3F3F"/>
                </a:solidFill>
                <a:latin typeface="Garamon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3F3F3F"/>
                </a:solidFill>
                <a:latin typeface="Garamon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3F3F3F"/>
          </a:solidFill>
          <a:latin typeface="Garamon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Sources</c:v>
                </c:pt>
              </c:strCache>
            </c:strRef>
          </c:tx>
          <c:dPt>
            <c:idx val="0"/>
            <c:spPr>
              <a:solidFill>
                <a:srgbClr val="002060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5A5A5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476779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FA9C8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FFFFF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3F3F3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3F3F3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FFFFF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100" b="0">
                      <a:solidFill>
                        <a:srgbClr val="3F3F3F"/>
                      </a:solidFill>
                      <a:latin typeface="Garamond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Term loans</c:v>
                </c:pt>
                <c:pt idx="1">
                  <c:v>Senior secured</c:v>
                </c:pt>
                <c:pt idx="2">
                  <c:v>Senior unsecured</c:v>
                </c:pt>
                <c:pt idx="3">
                  <c:v>Mgmt rollover</c:v>
                </c:pt>
                <c:pt idx="4">
                  <c:v>Sponsor equity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522.74</c:v>
                </c:pt>
                <c:pt idx="1">
                  <c:v>326.72</c:v>
                </c:pt>
                <c:pt idx="2">
                  <c:v>326.72</c:v>
                </c:pt>
                <c:pt idx="3">
                  <c:v>220.0</c:v>
                </c:pt>
                <c:pt idx="4">
                  <c:v>798.5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0">
                  <a:solidFill>
                    <a:srgbClr val="3F3F3F"/>
                  </a:solidFill>
                  <a:latin typeface="Garamon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 b="0">
              <a:solidFill>
                <a:srgbClr val="3F3F3F"/>
              </a:solidFill>
              <a:latin typeface="Garamon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 b="0">
          <a:solidFill>
            <a:srgbClr val="3F3F3F"/>
          </a:solidFill>
          <a:latin typeface="Garamond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Dividends</c:v>
                </c:pt>
              </c:strCache>
            </c:strRef>
          </c:tx>
          <c:spPr>
            <a:solidFill>
              <a:srgbClr val="002060"/>
            </a:solidFill>
          </c:spPr>
          <c:dLbls>
            <c:numFmt formatCode="#,##0;(#,##0);;" sourceLinked="0"/>
            <c:txPr>
              <a:bodyPr/>
              <a:lstStyle/>
              <a:p>
                <a:pPr>
                  <a:defRPr sz="1100" b="0">
                    <a:solidFill>
                      <a:srgbClr val="FFFFFF"/>
                    </a:solidFill>
                    <a:latin typeface="Garamon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2023P</c:v>
                </c:pt>
                <c:pt idx="1">
                  <c:v>2024P</c:v>
                </c:pt>
                <c:pt idx="2">
                  <c:v>2025P</c:v>
                </c:pt>
                <c:pt idx="3">
                  <c:v>2026P</c:v>
                </c:pt>
                <c:pt idx="4">
                  <c:v>2027P</c:v>
                </c:pt>
                <c:pt idx="5">
                  <c:v>2028P</c:v>
                </c:pt>
                <c:pt idx="6">
                  <c:v>2029P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0</c:v>
                </c:pt>
                <c:pt idx="1">
                  <c:v>170.82</c:v>
                </c:pt>
                <c:pt idx="2">
                  <c:v>168.07</c:v>
                </c:pt>
                <c:pt idx="3">
                  <c:v>96.55</c:v>
                </c:pt>
                <c:pt idx="4">
                  <c:v>339.88</c:v>
                </c:pt>
                <c:pt idx="5">
                  <c:v>286.52</c:v>
                </c:pt>
                <c:pt idx="6">
                  <c:v>282.52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 of ships</c:v>
                </c:pt>
              </c:strCache>
            </c:strRef>
          </c:tx>
          <c:spPr>
            <a:solidFill>
              <a:srgbClr val="FFC000"/>
            </a:solidFill>
          </c:spPr>
          <c:dLbls>
            <c:numFmt formatCode="#,##0;(#,##0);;" sourceLinked="0"/>
            <c:txPr>
              <a:bodyPr/>
              <a:lstStyle/>
              <a:p>
                <a:pPr>
                  <a:defRPr sz="1100" b="0">
                    <a:solidFill>
                      <a:srgbClr val="3F3F3F"/>
                    </a:solidFill>
                    <a:latin typeface="Garamon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2023P</c:v>
                </c:pt>
                <c:pt idx="1">
                  <c:v>2024P</c:v>
                </c:pt>
                <c:pt idx="2">
                  <c:v>2025P</c:v>
                </c:pt>
                <c:pt idx="3">
                  <c:v>2026P</c:v>
                </c:pt>
                <c:pt idx="4">
                  <c:v>2027P</c:v>
                </c:pt>
                <c:pt idx="5">
                  <c:v>2028P</c:v>
                </c:pt>
                <c:pt idx="6">
                  <c:v>2029P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32.2</c:v>
                </c:pt>
                <c:pt idx="3">
                  <c:v>32.2</c:v>
                </c:pt>
                <c:pt idx="4">
                  <c:v>32.2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Sponsor equity at exit</c:v>
                </c:pt>
              </c:strCache>
            </c:strRef>
          </c:tx>
          <c:spPr>
            <a:solidFill>
              <a:srgbClr val="A5A5A5"/>
            </a:solidFill>
          </c:spPr>
          <c:dLbls>
            <c:numFmt formatCode="#,##0;(#,##0);;" sourceLinked="0"/>
            <c:txPr>
              <a:bodyPr/>
              <a:lstStyle/>
              <a:p>
                <a:pPr>
                  <a:defRPr sz="1100" b="0">
                    <a:solidFill>
                      <a:srgbClr val="3F3F3F"/>
                    </a:solidFill>
                    <a:latin typeface="Garamon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2023P</c:v>
                </c:pt>
                <c:pt idx="1">
                  <c:v>2024P</c:v>
                </c:pt>
                <c:pt idx="2">
                  <c:v>2025P</c:v>
                </c:pt>
                <c:pt idx="3">
                  <c:v>2026P</c:v>
                </c:pt>
                <c:pt idx="4">
                  <c:v>2027P</c:v>
                </c:pt>
                <c:pt idx="5">
                  <c:v>2028P</c:v>
                </c:pt>
                <c:pt idx="6">
                  <c:v>2029P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637.32</c:v>
                </c:pt>
              </c:numCache>
            </c:numRef>
          </c:val>
        </c:ser>
        <c:dLbls>
          <c:numFmt formatCode="#,##0;(#,##0);;" sourceLinked="0"/>
          <c:txPr>
            <a:bodyPr/>
            <a:lstStyle/>
            <a:p>
              <a:pPr>
                <a:defRPr sz="1100" b="0">
                  <a:solidFill>
                    <a:srgbClr val="3F3F3F"/>
                  </a:solidFill>
                  <a:latin typeface="Garamond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100" b="0">
                <a:solidFill>
                  <a:srgbClr val="3F3F3F"/>
                </a:solidFill>
                <a:latin typeface="Garamon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3F3F3F"/>
                </a:solidFill>
                <a:latin typeface="Garamon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3F3F3F"/>
              </a:solidFill>
              <a:latin typeface="Garamon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3F3F3F"/>
          </a:solidFill>
          <a:latin typeface="Garamon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exhibits from Bloomberg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304" y="2331720"/>
            <a:ext cx="9144000" cy="621792"/>
          </a:xfrm>
        </p:spPr>
        <p:txBody>
          <a:bodyPr anchor="b" lIns="91440" rIns="91440" tIns="45720" bIns="45720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900" b="1" cap="small">
                <a:solidFill>
                  <a:srgbClr val="3F3F3F"/>
                </a:solidFill>
                <a:latin typeface="Garamond"/>
                <a:ea typeface="Garamond"/>
                <a:cs typeface="Garamon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304" y="5715000"/>
            <a:ext cx="9144000" cy="512064"/>
          </a:xfrm>
        </p:spPr>
        <p:txBody>
          <a:bodyPr anchor="b" lIns="91440" rIns="91440" tIns="45720" bIns="45720" wrap="square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cap="none">
                <a:solidFill>
                  <a:srgbClr val="000000"/>
                </a:solidFill>
                <a:latin typeface="Garamond"/>
                <a:ea typeface="Garamond"/>
                <a:cs typeface="Garamond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 Band"/>
          <p:cNvSpPr/>
          <p:nvPr/>
        </p:nvSpPr>
        <p:spPr>
          <a:xfrm>
            <a:off x="-38404" y="2888589"/>
            <a:ext cx="12268504" cy="1019556"/>
          </a:xfrm>
          <a:prstGeom prst="rect">
            <a:avLst/>
          </a:prstGeom>
          <a:solidFill>
            <a:srgbClr val="002060"/>
          </a:solidFill>
          <a:ln w="9525">
            <a:solidFill>
              <a:srgbClr val="233A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Divider Stripe"/>
          <p:cNvSpPr/>
          <p:nvPr/>
        </p:nvSpPr>
        <p:spPr>
          <a:xfrm>
            <a:off x="-38404" y="3908145"/>
            <a:ext cx="12268504" cy="612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804" y="2888589"/>
            <a:ext cx="10515600" cy="1019556"/>
          </a:xfrm>
        </p:spPr>
        <p:txBody>
          <a:bodyPr anchor="ctr" lIns="91440" rIns="91440" tIns="91440" bIns="91440" wrap="square">
            <a:noAutofit/>
          </a:bodyPr>
          <a:lstStyle>
            <a:lvl1pPr marL="685800" indent="-685800" algn="l">
              <a:lnSpc>
                <a:spcPct val="100000"/>
              </a:lnSpc>
              <a:spcBef>
                <a:spcPts val="0"/>
              </a:spcBef>
              <a:buNone/>
              <a:defRPr sz="3500" b="1" cap="none">
                <a:solidFill>
                  <a:srgbClr val="FFFFFF"/>
                </a:solidFill>
                <a:latin typeface="Garamond"/>
                <a:ea typeface="Garamond"/>
                <a:cs typeface="Garamon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51129"/>
            <a:ext cx="10012680" cy="365760"/>
          </a:xfrm>
        </p:spPr>
        <p:txBody>
          <a:bodyPr anchor="b" lIns="91440" rIns="91440" tIns="45720" bIns="45720" wrap="square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="1" cap="small">
                <a:solidFill>
                  <a:srgbClr val="3F3F3F"/>
                </a:solidFill>
                <a:latin typeface="Garamond"/>
                <a:ea typeface="Garamond"/>
                <a:cs typeface="Garamon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cxnSp>
        <p:nvCxnSpPr>
          <p:cNvPr id="3" name="Title Rule"/>
          <p:cNvCxnSpPr/>
          <p:nvPr/>
        </p:nvCxnSpPr>
        <p:spPr>
          <a:xfrm>
            <a:off x="270662" y="711403"/>
            <a:ext cx="11632996" cy="0"/>
          </a:xfrm>
          <a:prstGeom prst="line">
            <a:avLst/>
          </a:prstGeom>
          <a:ln w="9525">
            <a:solidFill>
              <a:srgbClr val="001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351129"/>
            <a:ext cx="10012680" cy="3657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147483660" name="Target Logo" descr="Target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43328" y="219456"/>
            <a:ext cx="1367645" cy="279806"/>
          </a:xfrm>
          <a:prstGeom prst="rect">
            <a:avLst/>
          </a:prstGeom>
        </p:spPr>
      </p:pic>
      <p:pic>
        <p:nvPicPr>
          <p:cNvPr id="2147483661" name="Sponsor Wordmark" descr="Sponsor Wordmark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60771" y="6561734"/>
            <a:ext cx="1214948" cy="12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3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sz="3000" b="1" cap="small">
          <a:solidFill>
            <a:srgbClr val="3F3F3F"/>
          </a:solidFill>
          <a:latin typeface="Garamond"/>
          <a:ea typeface="Garamond"/>
          <a:cs typeface="Garamond"/>
        </a:defRPr>
      </a:lvl1pPr>
    </p:titleStyle>
    <p:bodyStyle>
      <a:lvl1pPr marL="457200" indent="-336499" algn="l">
        <a:lnSpc>
          <a:spcPct val="100000"/>
        </a:lnSpc>
        <a:spcBef>
          <a:spcPts val="0"/>
        </a:spcBef>
        <a:buClr>
          <a:srgbClr val="000000"/>
        </a:buClr>
        <a:buFont typeface="Garamond"/>
        <a:buChar char="●"/>
        <a:defRPr sz="1700" b="0" cap="none">
          <a:solidFill>
            <a:srgbClr val="000000"/>
          </a:solidFill>
          <a:latin typeface="Garamond"/>
          <a:ea typeface="Garamond"/>
          <a:cs typeface="Garamond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NYSE: DAC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Michael Attisha, Ryan Zimmerman, Jack Gibbs, David Chen, Abhi Chundru</a:t>
            </a:r>
          </a:p>
        </p:txBody>
      </p:sp>
      <p:pic>
        <p:nvPicPr>
          <p:cNvPr id="4" name="Picture 3" descr="dana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791" y="630021"/>
            <a:ext cx="5466112" cy="1118311"/>
          </a:xfrm>
          <a:prstGeom prst="rect">
            <a:avLst/>
          </a:prstGeom>
        </p:spPr>
      </p:pic>
      <p:sp>
        <p:nvSpPr>
          <p:cNvPr id="5" name="KPI Box"/>
          <p:cNvSpPr/>
          <p:nvPr/>
        </p:nvSpPr>
        <p:spPr>
          <a:xfrm>
            <a:off x="3841280" y="3332988"/>
            <a:ext cx="4509135" cy="2111121"/>
          </a:xfrm>
          <a:prstGeom prst="rect">
            <a:avLst/>
          </a:prstGeom>
          <a:noFill/>
          <a:ln w="19050">
            <a:solidFill>
              <a:srgbClr val="192F63"/>
            </a:solidFill>
          </a:ln>
        </p:spPr>
        <p:txBody>
          <a:bodyPr rtlCol="0" anchor="ctr" tIns="91440" bIns="91440" wrap="square">
            <a:noAutofit/>
          </a:bodyPr>
          <a:lstStyle/>
          <a:p>
            <a:pPr algn="ctr" marL="0" indent="0">
              <a:lnSpc>
                <a:spcPct val="150000"/>
              </a:lnSpc>
              <a:buNone/>
            </a:pPr>
            <a:r>
              <a:rPr sz="2700" b="0" u="none" cap="small">
                <a:solidFill>
                  <a:srgbClr val="192F63"/>
                </a:solidFill>
                <a:latin typeface="Garamond"/>
                <a:ea typeface="Garamond"/>
                <a:cs typeface="Garamond"/>
              </a:rPr>
              <a:t>Current Price: $74.31</a:t>
            </a:r>
          </a:p>
          <a:p>
            <a:pPr algn="ctr" marL="0" indent="0">
              <a:lnSpc>
                <a:spcPct val="150000"/>
              </a:lnSpc>
              <a:buNone/>
            </a:pPr>
            <a:r>
              <a:rPr sz="2700" b="0" u="none" cap="small">
                <a:solidFill>
                  <a:srgbClr val="192F63"/>
                </a:solidFill>
                <a:latin typeface="Garamond"/>
                <a:ea typeface="Garamond"/>
                <a:cs typeface="Garamond"/>
              </a:rPr>
              <a:t>MOIC: 2.60x</a:t>
            </a:r>
          </a:p>
          <a:p>
            <a:pPr algn="ctr" marL="0" indent="0">
              <a:lnSpc>
                <a:spcPct val="150000"/>
              </a:lnSpc>
              <a:buNone/>
            </a:pPr>
            <a:r>
              <a:rPr sz="2700" b="0" u="none" cap="small">
                <a:solidFill>
                  <a:srgbClr val="192F63"/>
                </a:solidFill>
                <a:latin typeface="Garamond"/>
                <a:ea typeface="Garamond"/>
                <a:cs typeface="Garamond"/>
              </a:rPr>
              <a:t>IRR: 28.2%</a:t>
            </a:r>
          </a:p>
        </p:txBody>
      </p:sp>
      <p:pic>
        <p:nvPicPr>
          <p:cNvPr id="6" name="Picture 5" descr="sponsor_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771" y="6561734"/>
            <a:ext cx="1214948" cy="123444"/>
          </a:xfrm>
          <a:prstGeom prst="rect">
            <a:avLst/>
          </a:prstGeom>
        </p:spPr>
      </p:pic>
      <p:sp>
        <p:nvSpPr>
          <p:cNvPr id="7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Agenda 1"/>
          <p:cNvSpPr/>
          <p:nvPr/>
        </p:nvSpPr>
        <p:spPr>
          <a:xfrm>
            <a:off x="854049" y="1078992"/>
            <a:ext cx="534009" cy="547725"/>
          </a:xfrm>
          <a:prstGeom prst="ellipse">
            <a:avLst/>
          </a:prstGeom>
          <a:solidFill>
            <a:srgbClr val="001746"/>
          </a:solidFill>
          <a:ln w="19050">
            <a:solidFill>
              <a:srgbClr val="FFC000"/>
            </a:solidFill>
          </a:ln>
        </p:spPr>
        <p:txBody>
          <a:bodyPr rtlCol="0" anchor="ctr" tIns="0" bIns="0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106424"/>
            <a:ext cx="9601200" cy="49377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marL="0" indent="0">
              <a:buNone/>
            </a:pPr>
            <a:r>
              <a:rPr sz="2600" b="1" u="none" cap="small">
                <a:solidFill>
                  <a:srgbClr val="3F3F3F"/>
                </a:solidFill>
                <a:latin typeface="Garamond"/>
                <a:ea typeface="Garamond"/>
                <a:cs typeface="Garamond"/>
              </a:rPr>
              <a:t>Target Overview</a:t>
            </a:r>
          </a:p>
        </p:txBody>
      </p:sp>
      <p:sp>
        <p:nvSpPr>
          <p:cNvPr id="5" name="Agenda 2"/>
          <p:cNvSpPr/>
          <p:nvPr/>
        </p:nvSpPr>
        <p:spPr>
          <a:xfrm>
            <a:off x="854049" y="1865376"/>
            <a:ext cx="534009" cy="547725"/>
          </a:xfrm>
          <a:prstGeom prst="ellipse">
            <a:avLst/>
          </a:prstGeom>
          <a:solidFill>
            <a:srgbClr val="001746"/>
          </a:solidFill>
          <a:ln w="19050">
            <a:solidFill>
              <a:srgbClr val="FFC000"/>
            </a:solidFill>
          </a:ln>
        </p:spPr>
        <p:txBody>
          <a:bodyPr rtlCol="0" anchor="ctr" tIns="0" bIns="0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1892807"/>
            <a:ext cx="9601200" cy="49377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marL="0" indent="0">
              <a:buNone/>
            </a:pPr>
            <a:r>
              <a:rPr sz="2600" b="1" u="none" cap="small">
                <a:solidFill>
                  <a:srgbClr val="3F3F3F"/>
                </a:solidFill>
                <a:latin typeface="Garamond"/>
                <a:ea typeface="Garamond"/>
                <a:cs typeface="Garamond"/>
              </a:rPr>
              <a:t>Industry Overview</a:t>
            </a:r>
          </a:p>
        </p:txBody>
      </p:sp>
      <p:sp>
        <p:nvSpPr>
          <p:cNvPr id="7" name="Agenda 3"/>
          <p:cNvSpPr/>
          <p:nvPr/>
        </p:nvSpPr>
        <p:spPr>
          <a:xfrm>
            <a:off x="854049" y="2651760"/>
            <a:ext cx="534009" cy="547725"/>
          </a:xfrm>
          <a:prstGeom prst="ellipse">
            <a:avLst/>
          </a:prstGeom>
          <a:solidFill>
            <a:srgbClr val="001746"/>
          </a:solidFill>
          <a:ln w="19050">
            <a:solidFill>
              <a:srgbClr val="FFC000"/>
            </a:solidFill>
          </a:ln>
        </p:spPr>
        <p:txBody>
          <a:bodyPr rtlCol="0" anchor="ctr" tIns="0" bIns="0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679191"/>
            <a:ext cx="9601200" cy="49377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marL="0" indent="0">
              <a:buNone/>
            </a:pPr>
            <a:r>
              <a:rPr sz="2600" b="1" u="none" cap="small">
                <a:solidFill>
                  <a:srgbClr val="3F3F3F"/>
                </a:solidFill>
                <a:latin typeface="Garamond"/>
                <a:ea typeface="Garamond"/>
                <a:cs typeface="Garamond"/>
              </a:rPr>
              <a:t>Theses</a:t>
            </a:r>
          </a:p>
        </p:txBody>
      </p:sp>
      <p:sp>
        <p:nvSpPr>
          <p:cNvPr id="9" name="Agenda 4"/>
          <p:cNvSpPr/>
          <p:nvPr/>
        </p:nvSpPr>
        <p:spPr>
          <a:xfrm>
            <a:off x="854049" y="3438144"/>
            <a:ext cx="534009" cy="547725"/>
          </a:xfrm>
          <a:prstGeom prst="ellipse">
            <a:avLst/>
          </a:prstGeom>
          <a:solidFill>
            <a:srgbClr val="001746"/>
          </a:solidFill>
          <a:ln w="19050">
            <a:solidFill>
              <a:srgbClr val="FFC000"/>
            </a:solidFill>
          </a:ln>
        </p:spPr>
        <p:txBody>
          <a:bodyPr rtlCol="0" anchor="ctr" tIns="0" bIns="0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465575"/>
            <a:ext cx="9601200" cy="49377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marL="0" indent="0">
              <a:buNone/>
            </a:pPr>
            <a:r>
              <a:rPr sz="2600" b="1" u="none" cap="small">
                <a:solidFill>
                  <a:srgbClr val="3F3F3F"/>
                </a:solidFill>
                <a:latin typeface="Garamond"/>
                <a:ea typeface="Garamond"/>
                <a:cs typeface="Garamond"/>
              </a:rPr>
              <a:t>Value Add &amp; Downside Protection</a:t>
            </a:r>
          </a:p>
        </p:txBody>
      </p:sp>
      <p:sp>
        <p:nvSpPr>
          <p:cNvPr id="11" name="Agenda 5"/>
          <p:cNvSpPr/>
          <p:nvPr/>
        </p:nvSpPr>
        <p:spPr>
          <a:xfrm>
            <a:off x="854049" y="4224528"/>
            <a:ext cx="534009" cy="547725"/>
          </a:xfrm>
          <a:prstGeom prst="ellipse">
            <a:avLst/>
          </a:prstGeom>
          <a:solidFill>
            <a:srgbClr val="001746"/>
          </a:solidFill>
          <a:ln w="19050">
            <a:solidFill>
              <a:srgbClr val="FFC000"/>
            </a:solidFill>
          </a:ln>
        </p:spPr>
        <p:txBody>
          <a:bodyPr rtlCol="0" anchor="ctr" tIns="0" bIns="0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4251960"/>
            <a:ext cx="9601200" cy="49377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marL="0" indent="0">
              <a:buNone/>
            </a:pPr>
            <a:r>
              <a:rPr sz="2600" b="1" u="none" cap="small">
                <a:solidFill>
                  <a:srgbClr val="3F3F3F"/>
                </a:solidFill>
                <a:latin typeface="Garamond"/>
                <a:ea typeface="Garamond"/>
                <a:cs typeface="Garamond"/>
              </a:rPr>
              <a:t>Valuation</a:t>
            </a:r>
          </a:p>
        </p:txBody>
      </p:sp>
      <p:sp>
        <p:nvSpPr>
          <p:cNvPr id="13" name="Agenda 6"/>
          <p:cNvSpPr/>
          <p:nvPr/>
        </p:nvSpPr>
        <p:spPr>
          <a:xfrm>
            <a:off x="854049" y="5010912"/>
            <a:ext cx="534009" cy="547725"/>
          </a:xfrm>
          <a:prstGeom prst="ellipse">
            <a:avLst/>
          </a:prstGeom>
          <a:solidFill>
            <a:srgbClr val="001746"/>
          </a:solidFill>
          <a:ln w="19050">
            <a:solidFill>
              <a:srgbClr val="FFC000"/>
            </a:solidFill>
          </a:ln>
        </p:spPr>
        <p:txBody>
          <a:bodyPr rtlCol="0" anchor="ctr" tIns="0" bIns="0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5038344"/>
            <a:ext cx="9601200" cy="49377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marL="0" indent="0">
              <a:buNone/>
            </a:pPr>
            <a:r>
              <a:rPr sz="2600" b="1" u="none" cap="small">
                <a:solidFill>
                  <a:srgbClr val="3F3F3F"/>
                </a:solidFill>
                <a:latin typeface="Garamond"/>
                <a:ea typeface="Garamond"/>
                <a:cs typeface="Garamond"/>
              </a:rPr>
              <a:t>Risks &amp; Mitigants</a:t>
            </a:r>
          </a:p>
        </p:txBody>
      </p:sp>
      <p:sp>
        <p:nvSpPr>
          <p:cNvPr id="15" name="Agenda 7"/>
          <p:cNvSpPr/>
          <p:nvPr/>
        </p:nvSpPr>
        <p:spPr>
          <a:xfrm>
            <a:off x="854049" y="5797296"/>
            <a:ext cx="534009" cy="547725"/>
          </a:xfrm>
          <a:prstGeom prst="ellipse">
            <a:avLst/>
          </a:prstGeom>
          <a:solidFill>
            <a:srgbClr val="001746"/>
          </a:solidFill>
          <a:ln w="19050">
            <a:solidFill>
              <a:srgbClr val="FFC000"/>
            </a:solidFill>
          </a:ln>
        </p:spPr>
        <p:txBody>
          <a:bodyPr rtlCol="0" anchor="ctr" tIns="0" bIns="0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5824728"/>
            <a:ext cx="9601200" cy="493776"/>
          </a:xfrm>
          <a:prstGeom prst="rect">
            <a:avLst/>
          </a:prstGeom>
          <a:noFill/>
        </p:spPr>
        <p:txBody>
          <a:bodyPr wrap="square" tIns="0" bIns="0" anchor="ctr">
            <a:noAutofit/>
          </a:bodyPr>
          <a:lstStyle/>
          <a:p>
            <a:pPr marL="0" indent="0">
              <a:buNone/>
            </a:pPr>
            <a:r>
              <a:rPr sz="2600" b="1" u="none" cap="small">
                <a:solidFill>
                  <a:srgbClr val="3F3F3F"/>
                </a:solidFill>
                <a:latin typeface="Garamond"/>
                <a:ea typeface="Garamond"/>
                <a:cs typeface="Garamond"/>
              </a:rPr>
              <a:t>Appendix</a:t>
            </a:r>
          </a:p>
        </p:txBody>
      </p:sp>
      <p:sp>
        <p:nvSpPr>
          <p:cNvPr id="17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I.	Target &amp; Industry Overviews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Overview</a:t>
            </a:r>
          </a:p>
        </p:txBody>
      </p:sp>
      <p:sp>
        <p:nvSpPr>
          <p:cNvPr id="3" name="Header: Background"/>
          <p:cNvSpPr/>
          <p:nvPr/>
        </p:nvSpPr>
        <p:spPr>
          <a:xfrm>
            <a:off x="270662" y="914400"/>
            <a:ext cx="3694785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Background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270662" y="1353312"/>
            <a:ext cx="3694785" cy="3607053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Danaos (NYSE: DAC) is a Greek maritime company that owns and leases vessels to shipping operators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John Coustas, current CEO, inherited the company from his father Dimitri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Largest independent charter company for container ships (Liners)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Diverse and well-maintained fleet focused on efficient, eco-friendly container vessels</a:t>
            </a:r>
          </a:p>
        </p:txBody>
      </p:sp>
      <p:sp>
        <p:nvSpPr>
          <p:cNvPr id="5" name="Header: Company Health"/>
          <p:cNvSpPr/>
          <p:nvPr/>
        </p:nvSpPr>
        <p:spPr>
          <a:xfrm>
            <a:off x="4239768" y="914400"/>
            <a:ext cx="3694785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Company Health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4239768" y="1353312"/>
            <a:ext cx="3694785" cy="1499869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Current EV near </a:t>
            </a:r>
            <a:r>
              <a:rPr sz="1700" b="1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15-year low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Exceptional financial health: Total Debt/EBITDA of </a:t>
            </a:r>
            <a:r>
              <a:rPr sz="1700" b="1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0.62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Contracted EBITDA over the next five years exceeds current EV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239768" y="3017774"/>
          <a:ext cx="3694785" cy="331901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Header: Revenue Streams"/>
          <p:cNvSpPr/>
          <p:nvPr/>
        </p:nvSpPr>
        <p:spPr>
          <a:xfrm>
            <a:off x="8208873" y="914400"/>
            <a:ext cx="3694785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Revenue Streams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8208873" y="1353312"/>
            <a:ext cx="3694785" cy="3343655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Generates revenue through contracts with container ship companies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Current average charter term is ~</a:t>
            </a:r>
            <a:r>
              <a:rPr sz="1700" b="1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2 years</a:t>
            </a: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; leases are locked in at near-COVID rates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Long-term lease structure insulates Danaos from volatile spot shipping rates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Diversified, modern fleet supports sustained revenue growth</a:t>
            </a:r>
          </a:p>
        </p:txBody>
      </p:sp>
      <p:sp>
        <p:nvSpPr>
          <p:cNvPr id="10" name="Tracker: Company (active)"/>
          <p:cNvSpPr/>
          <p:nvPr/>
        </p:nvSpPr>
        <p:spPr>
          <a:xfrm>
            <a:off x="1144828" y="6485839"/>
            <a:ext cx="1270406" cy="281635"/>
          </a:xfrm>
          <a:prstGeom prst="rect">
            <a:avLst/>
          </a:prstGeom>
          <a:solidFill>
            <a:srgbClr val="041E41"/>
          </a:solidFill>
          <a:ln w="12700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Company</a:t>
            </a:r>
          </a:p>
        </p:txBody>
      </p:sp>
      <p:sp>
        <p:nvSpPr>
          <p:cNvPr id="11" name="Tracker: Industry"/>
          <p:cNvSpPr/>
          <p:nvPr/>
        </p:nvSpPr>
        <p:spPr>
          <a:xfrm>
            <a:off x="2663952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</a:t>
            </a:r>
          </a:p>
        </p:txBody>
      </p:sp>
      <p:sp>
        <p:nvSpPr>
          <p:cNvPr id="12" name="Tracker: Theses"/>
          <p:cNvSpPr/>
          <p:nvPr/>
        </p:nvSpPr>
        <p:spPr>
          <a:xfrm>
            <a:off x="4183075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Theses</a:t>
            </a:r>
          </a:p>
        </p:txBody>
      </p:sp>
      <p:sp>
        <p:nvSpPr>
          <p:cNvPr id="13" name="Tracker: Value Adds"/>
          <p:cNvSpPr/>
          <p:nvPr/>
        </p:nvSpPr>
        <p:spPr>
          <a:xfrm>
            <a:off x="570219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Value Adds</a:t>
            </a:r>
          </a:p>
        </p:txBody>
      </p:sp>
      <p:sp>
        <p:nvSpPr>
          <p:cNvPr id="14" name="Tracker: Valuation"/>
          <p:cNvSpPr/>
          <p:nvPr/>
        </p:nvSpPr>
        <p:spPr>
          <a:xfrm>
            <a:off x="7221321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Valuation</a:t>
            </a:r>
          </a:p>
        </p:txBody>
      </p:sp>
      <p:sp>
        <p:nvSpPr>
          <p:cNvPr id="15" name="Tracker: Risks"/>
          <p:cNvSpPr/>
          <p:nvPr/>
        </p:nvSpPr>
        <p:spPr>
          <a:xfrm>
            <a:off x="8740444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Risks</a:t>
            </a:r>
          </a:p>
        </p:txBody>
      </p:sp>
      <p:sp>
        <p:nvSpPr>
          <p:cNvPr id="16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Overview</a:t>
            </a:r>
          </a:p>
        </p:txBody>
      </p:sp>
      <p:sp>
        <p:nvSpPr>
          <p:cNvPr id="3" name="Header: Industry Dynamics"/>
          <p:cNvSpPr/>
          <p:nvPr/>
        </p:nvSpPr>
        <p:spPr>
          <a:xfrm>
            <a:off x="270662" y="914400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 Dynamics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270662" y="1353312"/>
            <a:ext cx="5679338" cy="1763267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Liner companies (Maersk, MSC, ZIM) handle point-to-point logistics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Liners lease nearly half of their ships from charterers like Danaos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Chartering gives liners operational and capital-structure flexibility</a:t>
            </a:r>
          </a:p>
        </p:txBody>
      </p:sp>
      <p:sp>
        <p:nvSpPr>
          <p:cNvPr id="5" name="Header: Industry Drivers"/>
          <p:cNvSpPr/>
          <p:nvPr/>
        </p:nvSpPr>
        <p:spPr>
          <a:xfrm>
            <a:off x="270662" y="3281171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 Drivers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270662" y="3720084"/>
            <a:ext cx="5679338" cy="1499869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E-commerce growth is reshaping shipping logistics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Globalization in developing and emerging markets lifts shipping demand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Projected CAGR of the shipping market is </a:t>
            </a:r>
            <a:r>
              <a:rPr sz="1700" b="1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7.4%</a:t>
            </a: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 through </a:t>
            </a:r>
            <a:r>
              <a:rPr sz="1700" b="1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2031</a:t>
            </a:r>
          </a:p>
        </p:txBody>
      </p:sp>
      <p:sp>
        <p:nvSpPr>
          <p:cNvPr id="7" name="Header: Industry Whims"/>
          <p:cNvSpPr/>
          <p:nvPr/>
        </p:nvSpPr>
        <p:spPr>
          <a:xfrm>
            <a:off x="6224320" y="914400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 Whims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224320" y="1353312"/>
            <a:ext cx="5679338" cy="1499869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Occasionally exposed to supply and demand shocks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Environmental rules will reduce future cargo-ship supply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Geopolitical conflict in the Middle East adds route risk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24320" y="3017774"/>
          <a:ext cx="5679338" cy="309041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24320" y="6108192"/>
            <a:ext cx="5679338" cy="228600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r>
              <a:rPr sz="900" b="0" u="none">
                <a:solidFill>
                  <a:srgbClr val="888888"/>
                </a:solidFill>
                <a:latin typeface="Garamond"/>
                <a:ea typeface="Garamond"/>
                <a:cs typeface="Garamond"/>
              </a:rPr>
              <a:t>Source: Grand View Research via Statista (2020–2028 projected)</a:t>
            </a:r>
          </a:p>
        </p:txBody>
      </p:sp>
      <p:sp>
        <p:nvSpPr>
          <p:cNvPr id="11" name="Tracker: Company"/>
          <p:cNvSpPr/>
          <p:nvPr/>
        </p:nvSpPr>
        <p:spPr>
          <a:xfrm>
            <a:off x="114482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Company</a:t>
            </a:r>
          </a:p>
        </p:txBody>
      </p:sp>
      <p:sp>
        <p:nvSpPr>
          <p:cNvPr id="12" name="Tracker: Industry (active)"/>
          <p:cNvSpPr/>
          <p:nvPr/>
        </p:nvSpPr>
        <p:spPr>
          <a:xfrm>
            <a:off x="2663952" y="6485839"/>
            <a:ext cx="1270406" cy="281635"/>
          </a:xfrm>
          <a:prstGeom prst="rect">
            <a:avLst/>
          </a:prstGeom>
          <a:solidFill>
            <a:srgbClr val="041E41"/>
          </a:solidFill>
          <a:ln w="12700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</a:t>
            </a:r>
          </a:p>
        </p:txBody>
      </p:sp>
      <p:sp>
        <p:nvSpPr>
          <p:cNvPr id="13" name="Tracker: Theses"/>
          <p:cNvSpPr/>
          <p:nvPr/>
        </p:nvSpPr>
        <p:spPr>
          <a:xfrm>
            <a:off x="4183075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Theses</a:t>
            </a:r>
          </a:p>
        </p:txBody>
      </p:sp>
      <p:sp>
        <p:nvSpPr>
          <p:cNvPr id="14" name="Tracker: Value Adds"/>
          <p:cNvSpPr/>
          <p:nvPr/>
        </p:nvSpPr>
        <p:spPr>
          <a:xfrm>
            <a:off x="570219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Value Adds</a:t>
            </a:r>
          </a:p>
        </p:txBody>
      </p:sp>
      <p:sp>
        <p:nvSpPr>
          <p:cNvPr id="15" name="Tracker: Valuation"/>
          <p:cNvSpPr/>
          <p:nvPr/>
        </p:nvSpPr>
        <p:spPr>
          <a:xfrm>
            <a:off x="7221321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Valuation</a:t>
            </a:r>
          </a:p>
        </p:txBody>
      </p:sp>
      <p:sp>
        <p:nvSpPr>
          <p:cNvPr id="16" name="Tracker: Risks"/>
          <p:cNvSpPr/>
          <p:nvPr/>
        </p:nvSpPr>
        <p:spPr>
          <a:xfrm>
            <a:off x="8740444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Risks</a:t>
            </a:r>
          </a:p>
        </p:txBody>
      </p:sp>
      <p:sp>
        <p:nvSpPr>
          <p:cNvPr id="17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Overview</a:t>
            </a:r>
          </a:p>
        </p:txBody>
      </p:sp>
      <p:sp>
        <p:nvSpPr>
          <p:cNvPr id="3" name="Header: Current Global Environment"/>
          <p:cNvSpPr/>
          <p:nvPr/>
        </p:nvSpPr>
        <p:spPr>
          <a:xfrm>
            <a:off x="270662" y="914400"/>
            <a:ext cx="11632996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Current Global Environment</a:t>
            </a:r>
          </a:p>
        </p:txBody>
      </p:sp>
      <p:pic>
        <p:nvPicPr>
          <p:cNvPr id="4" name="Picture 3" descr="World map of container shipping route densit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90" y="1444752"/>
            <a:ext cx="4997282" cy="3017520"/>
          </a:xfrm>
          <a:prstGeom prst="rect">
            <a:avLst/>
          </a:prstGeom>
        </p:spPr>
      </p:pic>
      <p:sp>
        <p:nvSpPr>
          <p:cNvPr id="5" name="Caption: Current Shipping Routes"/>
          <p:cNvSpPr/>
          <p:nvPr/>
        </p:nvSpPr>
        <p:spPr>
          <a:xfrm>
            <a:off x="270662" y="4626864"/>
            <a:ext cx="5679338" cy="36576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Current Shipping Routes</a:t>
            </a:r>
          </a:p>
        </p:txBody>
      </p:sp>
      <p:pic>
        <p:nvPicPr>
          <p:cNvPr id="6" name="Picture 5" descr="Bloomberg chart of idle container ship capacity, 2020 to 20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20" y="1444752"/>
            <a:ext cx="5679338" cy="2996186"/>
          </a:xfrm>
          <a:prstGeom prst="rect">
            <a:avLst/>
          </a:prstGeom>
        </p:spPr>
      </p:pic>
      <p:sp>
        <p:nvSpPr>
          <p:cNvPr id="7" name="Caption: Idleness of Container Ships"/>
          <p:cNvSpPr/>
          <p:nvPr/>
        </p:nvSpPr>
        <p:spPr>
          <a:xfrm>
            <a:off x="6224320" y="4605530"/>
            <a:ext cx="5679338" cy="36576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Idleness of Container Ships</a:t>
            </a:r>
          </a:p>
        </p:txBody>
      </p:sp>
      <p:sp>
        <p:nvSpPr>
          <p:cNvPr id="8" name="Tracker: Company"/>
          <p:cNvSpPr/>
          <p:nvPr/>
        </p:nvSpPr>
        <p:spPr>
          <a:xfrm>
            <a:off x="114482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Company</a:t>
            </a:r>
          </a:p>
        </p:txBody>
      </p:sp>
      <p:sp>
        <p:nvSpPr>
          <p:cNvPr id="9" name="Tracker: Industry (active)"/>
          <p:cNvSpPr/>
          <p:nvPr/>
        </p:nvSpPr>
        <p:spPr>
          <a:xfrm>
            <a:off x="2663952" y="6485839"/>
            <a:ext cx="1270406" cy="281635"/>
          </a:xfrm>
          <a:prstGeom prst="rect">
            <a:avLst/>
          </a:prstGeom>
          <a:solidFill>
            <a:srgbClr val="041E41"/>
          </a:solidFill>
          <a:ln w="12700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</a:t>
            </a:r>
          </a:p>
        </p:txBody>
      </p:sp>
      <p:sp>
        <p:nvSpPr>
          <p:cNvPr id="10" name="Tracker: Theses"/>
          <p:cNvSpPr/>
          <p:nvPr/>
        </p:nvSpPr>
        <p:spPr>
          <a:xfrm>
            <a:off x="4183075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Theses</a:t>
            </a:r>
          </a:p>
        </p:txBody>
      </p:sp>
      <p:sp>
        <p:nvSpPr>
          <p:cNvPr id="11" name="Tracker: Value Adds"/>
          <p:cNvSpPr/>
          <p:nvPr/>
        </p:nvSpPr>
        <p:spPr>
          <a:xfrm>
            <a:off x="570219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Value Adds</a:t>
            </a:r>
          </a:p>
        </p:txBody>
      </p:sp>
      <p:sp>
        <p:nvSpPr>
          <p:cNvPr id="12" name="Tracker: Valuation"/>
          <p:cNvSpPr/>
          <p:nvPr/>
        </p:nvSpPr>
        <p:spPr>
          <a:xfrm>
            <a:off x="7221321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Valuation</a:t>
            </a:r>
          </a:p>
        </p:txBody>
      </p:sp>
      <p:sp>
        <p:nvSpPr>
          <p:cNvPr id="13" name="Tracker: Risks"/>
          <p:cNvSpPr/>
          <p:nvPr/>
        </p:nvSpPr>
        <p:spPr>
          <a:xfrm>
            <a:off x="8740444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Risks</a:t>
            </a:r>
          </a:p>
        </p:txBody>
      </p:sp>
      <p:sp>
        <p:nvSpPr>
          <p:cNvPr id="14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II.	Thesis Points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Thesis 1: Discounted Entry Price (Buying the Dip)</a:t>
            </a:r>
          </a:p>
        </p:txBody>
      </p:sp>
      <p:sp>
        <p:nvSpPr>
          <p:cNvPr id="3" name="Header: Previous Capital ROI"/>
          <p:cNvSpPr/>
          <p:nvPr/>
        </p:nvSpPr>
        <p:spPr>
          <a:xfrm>
            <a:off x="270662" y="914400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Previous Capital ROI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270662" y="1353312"/>
            <a:ext cx="5679338" cy="1236471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Danaos' previous capital expenditures yielded a 6–10% ROI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The Eagle Bulk stake outperformed after its merger with Star Bulk</a:t>
            </a:r>
          </a:p>
        </p:txBody>
      </p:sp>
      <p:sp>
        <p:nvSpPr>
          <p:cNvPr id="5" name="Header: Undervalued on Multiples"/>
          <p:cNvSpPr/>
          <p:nvPr/>
        </p:nvSpPr>
        <p:spPr>
          <a:xfrm>
            <a:off x="270662" y="2754375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Undervalued on Multiples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270662" y="3193287"/>
            <a:ext cx="5679338" cy="973073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Trades at a </a:t>
            </a:r>
            <a:r>
              <a:rPr sz="1700" b="1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57% discount to NAV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P/TBV of </a:t>
            </a:r>
            <a:r>
              <a:rPr sz="1700" b="1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0.45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EV/EBITDA of </a:t>
            </a:r>
            <a:r>
              <a:rPr sz="1700" b="1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2.04</a:t>
            </a: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 vs. an industry median of </a:t>
            </a:r>
            <a:r>
              <a:rPr sz="1700" b="1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5.26</a:t>
            </a:r>
          </a:p>
        </p:txBody>
      </p:sp>
      <p:sp>
        <p:nvSpPr>
          <p:cNvPr id="7" name="Header: Low Debt"/>
          <p:cNvSpPr/>
          <p:nvPr/>
        </p:nvSpPr>
        <p:spPr>
          <a:xfrm>
            <a:off x="6224320" y="914400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Low Debt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224320" y="1353312"/>
            <a:ext cx="5679338" cy="1236471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Long-term debt of $447M sits below projected 2023 EBIT of $540M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Paid down </a:t>
            </a:r>
            <a:r>
              <a:rPr sz="1700" b="1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$889M in 2022</a:t>
            </a: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; Debt/EBITDA of 0.50 vs. 3.55 industry median</a:t>
            </a:r>
          </a:p>
        </p:txBody>
      </p:sp>
      <p:pic>
        <p:nvPicPr>
          <p:cNvPr id="9" name="Picture 8" descr="z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8" y="2891535"/>
            <a:ext cx="1618013" cy="1516887"/>
          </a:xfrm>
          <a:prstGeom prst="rect">
            <a:avLst/>
          </a:prstGeom>
        </p:spPr>
      </p:pic>
      <p:pic>
        <p:nvPicPr>
          <p:cNvPr id="10" name="Picture 9" descr="dorian_l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380" y="2891535"/>
            <a:ext cx="1516887" cy="1516887"/>
          </a:xfrm>
          <a:prstGeom prst="rect">
            <a:avLst/>
          </a:prstGeom>
        </p:spPr>
      </p:pic>
      <p:pic>
        <p:nvPicPr>
          <p:cNvPr id="11" name="Picture 10" descr="costam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480" y="4767171"/>
            <a:ext cx="2565349" cy="1348033"/>
          </a:xfrm>
          <a:prstGeom prst="rect">
            <a:avLst/>
          </a:prstGeom>
        </p:spPr>
      </p:pic>
      <p:pic>
        <p:nvPicPr>
          <p:cNvPr id="12" name="Picture 11" descr="sf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380" y="4682743"/>
            <a:ext cx="1516887" cy="1516887"/>
          </a:xfrm>
          <a:prstGeom prst="rect">
            <a:avLst/>
          </a:prstGeom>
        </p:spPr>
      </p:pic>
      <p:sp>
        <p:nvSpPr>
          <p:cNvPr id="13" name="Tracker: Company"/>
          <p:cNvSpPr/>
          <p:nvPr/>
        </p:nvSpPr>
        <p:spPr>
          <a:xfrm>
            <a:off x="114482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Company</a:t>
            </a:r>
          </a:p>
        </p:txBody>
      </p:sp>
      <p:sp>
        <p:nvSpPr>
          <p:cNvPr id="14" name="Tracker: Industry"/>
          <p:cNvSpPr/>
          <p:nvPr/>
        </p:nvSpPr>
        <p:spPr>
          <a:xfrm>
            <a:off x="2663952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</a:t>
            </a:r>
          </a:p>
        </p:txBody>
      </p:sp>
      <p:sp>
        <p:nvSpPr>
          <p:cNvPr id="15" name="Tracker: Theses (active)"/>
          <p:cNvSpPr/>
          <p:nvPr/>
        </p:nvSpPr>
        <p:spPr>
          <a:xfrm>
            <a:off x="4183075" y="6485839"/>
            <a:ext cx="1270406" cy="281635"/>
          </a:xfrm>
          <a:prstGeom prst="rect">
            <a:avLst/>
          </a:prstGeom>
          <a:solidFill>
            <a:srgbClr val="041E41"/>
          </a:solidFill>
          <a:ln w="12700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Theses</a:t>
            </a:r>
          </a:p>
        </p:txBody>
      </p:sp>
      <p:sp>
        <p:nvSpPr>
          <p:cNvPr id="16" name="Tracker: Value Adds"/>
          <p:cNvSpPr/>
          <p:nvPr/>
        </p:nvSpPr>
        <p:spPr>
          <a:xfrm>
            <a:off x="570219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Value Adds</a:t>
            </a:r>
          </a:p>
        </p:txBody>
      </p:sp>
      <p:sp>
        <p:nvSpPr>
          <p:cNvPr id="17" name="Tracker: Valuation"/>
          <p:cNvSpPr/>
          <p:nvPr/>
        </p:nvSpPr>
        <p:spPr>
          <a:xfrm>
            <a:off x="7221321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Valuation</a:t>
            </a:r>
          </a:p>
        </p:txBody>
      </p:sp>
      <p:sp>
        <p:nvSpPr>
          <p:cNvPr id="18" name="Tracker: Risks"/>
          <p:cNvSpPr/>
          <p:nvPr/>
        </p:nvSpPr>
        <p:spPr>
          <a:xfrm>
            <a:off x="8740444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Risks</a:t>
            </a:r>
          </a:p>
        </p:txBody>
      </p:sp>
      <p:sp>
        <p:nvSpPr>
          <p:cNvPr id="19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Thesis 2: Market Pricing Reversion</a:t>
            </a:r>
          </a:p>
        </p:txBody>
      </p:sp>
      <p:sp>
        <p:nvSpPr>
          <p:cNvPr id="3" name="Header: High Market Pessimism"/>
          <p:cNvSpPr/>
          <p:nvPr/>
        </p:nvSpPr>
        <p:spPr>
          <a:xfrm>
            <a:off x="270662" y="914400"/>
            <a:ext cx="6075571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High Market Pessimism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270662" y="1353312"/>
            <a:ext cx="6075571" cy="1499869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Consensus expects charter rates to fall well below Covid peaks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Rates rose sharply while overall ship supply shrank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Expanded shipping demand suggests the pessimism is overblown</a:t>
            </a:r>
          </a:p>
        </p:txBody>
      </p:sp>
      <p:sp>
        <p:nvSpPr>
          <p:cNvPr id="5" name="Header: Long-Term Leases"/>
          <p:cNvSpPr/>
          <p:nvPr/>
        </p:nvSpPr>
        <p:spPr>
          <a:xfrm>
            <a:off x="270662" y="3017774"/>
            <a:ext cx="6075571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Long-Term Leases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270662" y="3456686"/>
            <a:ext cx="6075571" cy="1236471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Long-term contracts secure most revenue and blunt rate drops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Retiring older vessels will tighten supply of smaller charter ships</a:t>
            </a:r>
          </a:p>
        </p:txBody>
      </p:sp>
      <p:sp>
        <p:nvSpPr>
          <p:cNvPr id="7" name="Header: 1-Year Timecharter Rates, Jan-17 to Jan-23"/>
          <p:cNvSpPr/>
          <p:nvPr/>
        </p:nvSpPr>
        <p:spPr>
          <a:xfrm>
            <a:off x="6620553" y="914400"/>
            <a:ext cx="5283105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1-Year Timecharter Rates, Jan-17 to Jan-23</a:t>
            </a:r>
          </a:p>
        </p:txBody>
      </p:sp>
      <p:pic>
        <p:nvPicPr>
          <p:cNvPr id="8" name="Picture 7" descr="Line chart of 1-year timecharter rates by vessel size, January 2017 to January 20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919" y="1353312"/>
            <a:ext cx="4520373" cy="3436315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9" name="Stat Callout"/>
          <p:cNvSpPr/>
          <p:nvPr/>
        </p:nvSpPr>
        <p:spPr>
          <a:xfrm>
            <a:off x="6620553" y="4954219"/>
            <a:ext cx="2527252" cy="645566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rtlCol="0" anchor="ctr" tIns="91440" bIns="91440" wrap="square">
            <a:noAutofit/>
          </a:bodyPr>
          <a:lstStyle/>
          <a:p>
            <a:pPr algn="ctr" marL="0" indent="0">
              <a:buNone/>
            </a:pPr>
            <a:r>
              <a:rPr sz="1300" b="1" u="sng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59% increase</a:t>
            </a:r>
            <a:r>
              <a:rPr sz="13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 in 8,500 TEU charter rate</a:t>
            </a:r>
          </a:p>
        </p:txBody>
      </p:sp>
      <p:sp>
        <p:nvSpPr>
          <p:cNvPr id="10" name="Stat Callout"/>
          <p:cNvSpPr/>
          <p:nvPr/>
        </p:nvSpPr>
        <p:spPr>
          <a:xfrm>
            <a:off x="9376406" y="4954219"/>
            <a:ext cx="2527252" cy="645566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rtlCol="0" anchor="ctr" tIns="91440" bIns="91440" wrap="square">
            <a:noAutofit/>
          </a:bodyPr>
          <a:lstStyle/>
          <a:p>
            <a:pPr algn="ctr" marL="0" indent="0">
              <a:buNone/>
            </a:pPr>
            <a:r>
              <a:rPr sz="1300" b="1" u="sng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79% increase</a:t>
            </a:r>
            <a:r>
              <a:rPr sz="13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 in 6,500 TEU charter rate</a:t>
            </a:r>
          </a:p>
        </p:txBody>
      </p:sp>
      <p:sp>
        <p:nvSpPr>
          <p:cNvPr id="11" name="Stat Callout"/>
          <p:cNvSpPr/>
          <p:nvPr/>
        </p:nvSpPr>
        <p:spPr>
          <a:xfrm>
            <a:off x="6620553" y="5691225"/>
            <a:ext cx="2527252" cy="645566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rtlCol="0" anchor="ctr" tIns="91440" bIns="91440" wrap="square">
            <a:noAutofit/>
          </a:bodyPr>
          <a:lstStyle/>
          <a:p>
            <a:pPr algn="ctr" marL="0" indent="0">
              <a:buNone/>
            </a:pPr>
            <a:r>
              <a:rPr sz="1300" b="1" u="sng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83% increase</a:t>
            </a:r>
            <a:r>
              <a:rPr sz="13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 in 4,500 TEU charter rate</a:t>
            </a:r>
          </a:p>
        </p:txBody>
      </p:sp>
      <p:sp>
        <p:nvSpPr>
          <p:cNvPr id="12" name="Stat Callout"/>
          <p:cNvSpPr/>
          <p:nvPr/>
        </p:nvSpPr>
        <p:spPr>
          <a:xfrm>
            <a:off x="9376406" y="5691225"/>
            <a:ext cx="2527252" cy="645566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rtlCol="0" anchor="ctr" tIns="91440" bIns="91440" wrap="square">
            <a:noAutofit/>
          </a:bodyPr>
          <a:lstStyle/>
          <a:p>
            <a:pPr algn="ctr" marL="0" indent="0">
              <a:buNone/>
            </a:pPr>
            <a:r>
              <a:rPr sz="1300" b="1" u="sng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103% increase</a:t>
            </a:r>
            <a:r>
              <a:rPr sz="13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 in 3,500 TEU charter rate</a:t>
            </a:r>
          </a:p>
        </p:txBody>
      </p:sp>
      <p:sp>
        <p:nvSpPr>
          <p:cNvPr id="13" name="Tracker: Company"/>
          <p:cNvSpPr/>
          <p:nvPr/>
        </p:nvSpPr>
        <p:spPr>
          <a:xfrm>
            <a:off x="114482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Company</a:t>
            </a:r>
          </a:p>
        </p:txBody>
      </p:sp>
      <p:sp>
        <p:nvSpPr>
          <p:cNvPr id="14" name="Tracker: Industry"/>
          <p:cNvSpPr/>
          <p:nvPr/>
        </p:nvSpPr>
        <p:spPr>
          <a:xfrm>
            <a:off x="2663952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</a:t>
            </a:r>
          </a:p>
        </p:txBody>
      </p:sp>
      <p:sp>
        <p:nvSpPr>
          <p:cNvPr id="15" name="Tracker: Theses (active)"/>
          <p:cNvSpPr/>
          <p:nvPr/>
        </p:nvSpPr>
        <p:spPr>
          <a:xfrm>
            <a:off x="4183075" y="6485839"/>
            <a:ext cx="1270406" cy="281635"/>
          </a:xfrm>
          <a:prstGeom prst="rect">
            <a:avLst/>
          </a:prstGeom>
          <a:solidFill>
            <a:srgbClr val="041E41"/>
          </a:solidFill>
          <a:ln w="12700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Theses</a:t>
            </a:r>
          </a:p>
        </p:txBody>
      </p:sp>
      <p:sp>
        <p:nvSpPr>
          <p:cNvPr id="16" name="Tracker: Value Adds"/>
          <p:cNvSpPr/>
          <p:nvPr/>
        </p:nvSpPr>
        <p:spPr>
          <a:xfrm>
            <a:off x="570219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Value Adds</a:t>
            </a:r>
          </a:p>
        </p:txBody>
      </p:sp>
      <p:sp>
        <p:nvSpPr>
          <p:cNvPr id="17" name="Tracker: Valuation"/>
          <p:cNvSpPr/>
          <p:nvPr/>
        </p:nvSpPr>
        <p:spPr>
          <a:xfrm>
            <a:off x="7221321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Valuation</a:t>
            </a:r>
          </a:p>
        </p:txBody>
      </p:sp>
      <p:sp>
        <p:nvSpPr>
          <p:cNvPr id="18" name="Tracker: Risks"/>
          <p:cNvSpPr/>
          <p:nvPr/>
        </p:nvSpPr>
        <p:spPr>
          <a:xfrm>
            <a:off x="8740444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Risks</a:t>
            </a:r>
          </a:p>
        </p:txBody>
      </p:sp>
      <p:sp>
        <p:nvSpPr>
          <p:cNvPr id="19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III.	Value Add &amp; Downside Protection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Add: Increasing Operational Efficiency</a:t>
            </a:r>
          </a:p>
        </p:txBody>
      </p:sp>
      <p:sp>
        <p:nvSpPr>
          <p:cNvPr id="3" name="Header: Lease Optimization"/>
          <p:cNvSpPr/>
          <p:nvPr/>
        </p:nvSpPr>
        <p:spPr>
          <a:xfrm>
            <a:off x="270662" y="914400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Lease Optimization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270662" y="1353312"/>
            <a:ext cx="5679338" cy="1763267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1" u="sng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Problem:</a:t>
            </a: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 7 ships are not leased out, racking up maintenance costs with no revenue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1" u="sng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Solution:</a:t>
            </a: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 Faster leasing lifts revenue while putting idle ships to use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1" u="sng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Expansion:</a:t>
            </a: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 New geographies and customer segments reduce route concentration</a:t>
            </a:r>
          </a:p>
        </p:txBody>
      </p:sp>
      <p:sp>
        <p:nvSpPr>
          <p:cNvPr id="5" name="Header: Management Efficiency"/>
          <p:cNvSpPr/>
          <p:nvPr/>
        </p:nvSpPr>
        <p:spPr>
          <a:xfrm>
            <a:off x="6224320" y="914400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Management Efficiency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6224320" y="1353312"/>
            <a:ext cx="5679338" cy="1763267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1" u="sng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Asset Management:</a:t>
            </a: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 Grow fees from managing vessels for other owners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1" u="sng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Cost Management:</a:t>
            </a: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 Streamline maintenance, repair and logistics</a:t>
            </a:r>
          </a:p>
          <a:p>
            <a:pPr marL="457200" indent="-336499">
              <a:buClr>
                <a:srgbClr val="000000"/>
              </a:buClr>
              <a:buSzPts val="1700"/>
              <a:buFont typeface="Garamond"/>
              <a:buChar char="●"/>
            </a:pPr>
            <a:r>
              <a:rPr sz="1700" b="1" u="sng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Technology:</a:t>
            </a:r>
            <a:r>
              <a:rPr sz="17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 Analytics for fleet management and predictive maintenance</a:t>
            </a:r>
          </a:p>
        </p:txBody>
      </p:sp>
      <p:sp>
        <p:nvSpPr>
          <p:cNvPr id="7" name="Tracker: Company"/>
          <p:cNvSpPr/>
          <p:nvPr/>
        </p:nvSpPr>
        <p:spPr>
          <a:xfrm>
            <a:off x="114482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Company</a:t>
            </a:r>
          </a:p>
        </p:txBody>
      </p:sp>
      <p:sp>
        <p:nvSpPr>
          <p:cNvPr id="8" name="Tracker: Industry"/>
          <p:cNvSpPr/>
          <p:nvPr/>
        </p:nvSpPr>
        <p:spPr>
          <a:xfrm>
            <a:off x="2663952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</a:t>
            </a:r>
          </a:p>
        </p:txBody>
      </p:sp>
      <p:sp>
        <p:nvSpPr>
          <p:cNvPr id="9" name="Tracker: Theses"/>
          <p:cNvSpPr/>
          <p:nvPr/>
        </p:nvSpPr>
        <p:spPr>
          <a:xfrm>
            <a:off x="4183075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Theses</a:t>
            </a:r>
          </a:p>
        </p:txBody>
      </p:sp>
      <p:sp>
        <p:nvSpPr>
          <p:cNvPr id="10" name="Tracker: Value Adds (active)"/>
          <p:cNvSpPr/>
          <p:nvPr/>
        </p:nvSpPr>
        <p:spPr>
          <a:xfrm>
            <a:off x="5702198" y="6485839"/>
            <a:ext cx="1270406" cy="281635"/>
          </a:xfrm>
          <a:prstGeom prst="rect">
            <a:avLst/>
          </a:prstGeom>
          <a:solidFill>
            <a:srgbClr val="041E41"/>
          </a:solidFill>
          <a:ln w="12700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Value Adds</a:t>
            </a:r>
          </a:p>
        </p:txBody>
      </p:sp>
      <p:sp>
        <p:nvSpPr>
          <p:cNvPr id="11" name="Tracker: Valuation"/>
          <p:cNvSpPr/>
          <p:nvPr/>
        </p:nvSpPr>
        <p:spPr>
          <a:xfrm>
            <a:off x="7221321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Valuation</a:t>
            </a:r>
          </a:p>
        </p:txBody>
      </p:sp>
      <p:sp>
        <p:nvSpPr>
          <p:cNvPr id="12" name="Tracker: Risks"/>
          <p:cNvSpPr/>
          <p:nvPr/>
        </p:nvSpPr>
        <p:spPr>
          <a:xfrm>
            <a:off x="8740444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Risks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IV.	Valuation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</a:t>
            </a:r>
          </a:p>
        </p:txBody>
      </p:sp>
      <p:sp>
        <p:nvSpPr>
          <p:cNvPr id="3" name="Header: Sources of Funds ($M)"/>
          <p:cNvSpPr/>
          <p:nvPr/>
        </p:nvSpPr>
        <p:spPr>
          <a:xfrm>
            <a:off x="270662" y="914400"/>
            <a:ext cx="7441891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Sources of Funds ($M)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662" y="1353312"/>
          <a:ext cx="7441889" cy="2316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508502"/>
                <a:gridCol w="1087017"/>
                <a:gridCol w="1254251"/>
                <a:gridCol w="1254251"/>
                <a:gridCol w="1337868"/>
              </a:tblGrid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Source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EBIT turns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$ investment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% ownership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Rate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Term Loan 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0.40x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261.37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SOFR + 4%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Term Loan B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0.40x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261.37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SOFR + 4%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Senior Secured Note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0.50x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326.72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10% fixed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Senior Unsecured Note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0.50x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326.72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12% fixed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Management rollover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0.34x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220.00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21.6%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Sponsor equity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1.22x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798.50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78.4%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Total sources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$2,194.69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100.0%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Header: Capital Structure Mix"/>
          <p:cNvSpPr/>
          <p:nvPr/>
        </p:nvSpPr>
        <p:spPr>
          <a:xfrm>
            <a:off x="7986874" y="914400"/>
            <a:ext cx="3916785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Capital Structure Mix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86874" y="1353312"/>
          <a:ext cx="3916785" cy="498347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racker: Company"/>
          <p:cNvSpPr/>
          <p:nvPr/>
        </p:nvSpPr>
        <p:spPr>
          <a:xfrm>
            <a:off x="114482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Company</a:t>
            </a:r>
          </a:p>
        </p:txBody>
      </p:sp>
      <p:sp>
        <p:nvSpPr>
          <p:cNvPr id="8" name="Tracker: Industry"/>
          <p:cNvSpPr/>
          <p:nvPr/>
        </p:nvSpPr>
        <p:spPr>
          <a:xfrm>
            <a:off x="2663952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</a:t>
            </a:r>
          </a:p>
        </p:txBody>
      </p:sp>
      <p:sp>
        <p:nvSpPr>
          <p:cNvPr id="9" name="Tracker: Theses"/>
          <p:cNvSpPr/>
          <p:nvPr/>
        </p:nvSpPr>
        <p:spPr>
          <a:xfrm>
            <a:off x="4183075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Theses</a:t>
            </a:r>
          </a:p>
        </p:txBody>
      </p:sp>
      <p:sp>
        <p:nvSpPr>
          <p:cNvPr id="10" name="Tracker: Value Adds"/>
          <p:cNvSpPr/>
          <p:nvPr/>
        </p:nvSpPr>
        <p:spPr>
          <a:xfrm>
            <a:off x="570219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Value Adds</a:t>
            </a:r>
          </a:p>
        </p:txBody>
      </p:sp>
      <p:sp>
        <p:nvSpPr>
          <p:cNvPr id="11" name="Tracker: Valuation (active)"/>
          <p:cNvSpPr/>
          <p:nvPr/>
        </p:nvSpPr>
        <p:spPr>
          <a:xfrm>
            <a:off x="7221321" y="6485839"/>
            <a:ext cx="1270406" cy="281635"/>
          </a:xfrm>
          <a:prstGeom prst="rect">
            <a:avLst/>
          </a:prstGeom>
          <a:solidFill>
            <a:srgbClr val="041E41"/>
          </a:solidFill>
          <a:ln w="12700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Valuation</a:t>
            </a:r>
          </a:p>
        </p:txBody>
      </p:sp>
      <p:sp>
        <p:nvSpPr>
          <p:cNvPr id="12" name="Tracker: Risks"/>
          <p:cNvSpPr/>
          <p:nvPr/>
        </p:nvSpPr>
        <p:spPr>
          <a:xfrm>
            <a:off x="8740444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Risks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Returns</a:t>
            </a:r>
          </a:p>
        </p:txBody>
      </p:sp>
      <p:sp>
        <p:nvSpPr>
          <p:cNvPr id="3" name="Header: Bull Case"/>
          <p:cNvSpPr/>
          <p:nvPr/>
        </p:nvSpPr>
        <p:spPr>
          <a:xfrm>
            <a:off x="270662" y="914400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Bull Case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662" y="1353312"/>
          <a:ext cx="5679338" cy="2895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72276"/>
                <a:gridCol w="1807062"/>
              </a:tblGrid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Exit EV / EBIT multiple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3.26x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2029 EBIT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$431.95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Implied enterprise value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$1,406.35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Gross debt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$653.44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Cash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$60.00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Implied equity value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$812.91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Sponsor equity at exit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$637.32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Sponsor entry equity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$798.50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MOIC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2.60x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IRR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5" name="Header: Bear Case"/>
          <p:cNvSpPr/>
          <p:nvPr/>
        </p:nvSpPr>
        <p:spPr>
          <a:xfrm>
            <a:off x="6224320" y="914400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Bear Case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24320" y="1353312"/>
          <a:ext cx="5679338" cy="2895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72276"/>
                <a:gridCol w="1807062"/>
              </a:tblGrid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Exit EV / EBIT multiple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3.26x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2029 EBIT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$341.43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Implied enterprise value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$1,111.64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Gross debt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$653.44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Cash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$60.00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Implied equity value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$518.20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Sponsor equity at exit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$406.27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Sponsor entry equity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$798.50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MOIC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1.75x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IRR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16%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7" name="Tracker: Company"/>
          <p:cNvSpPr/>
          <p:nvPr/>
        </p:nvSpPr>
        <p:spPr>
          <a:xfrm>
            <a:off x="114482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Company</a:t>
            </a:r>
          </a:p>
        </p:txBody>
      </p:sp>
      <p:sp>
        <p:nvSpPr>
          <p:cNvPr id="8" name="Tracker: Industry"/>
          <p:cNvSpPr/>
          <p:nvPr/>
        </p:nvSpPr>
        <p:spPr>
          <a:xfrm>
            <a:off x="2663952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</a:t>
            </a:r>
          </a:p>
        </p:txBody>
      </p:sp>
      <p:sp>
        <p:nvSpPr>
          <p:cNvPr id="9" name="Tracker: Theses"/>
          <p:cNvSpPr/>
          <p:nvPr/>
        </p:nvSpPr>
        <p:spPr>
          <a:xfrm>
            <a:off x="4183075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Theses</a:t>
            </a:r>
          </a:p>
        </p:txBody>
      </p:sp>
      <p:sp>
        <p:nvSpPr>
          <p:cNvPr id="10" name="Tracker: Value Adds"/>
          <p:cNvSpPr/>
          <p:nvPr/>
        </p:nvSpPr>
        <p:spPr>
          <a:xfrm>
            <a:off x="570219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Value Adds</a:t>
            </a:r>
          </a:p>
        </p:txBody>
      </p:sp>
      <p:sp>
        <p:nvSpPr>
          <p:cNvPr id="11" name="Tracker: Valuation (active)"/>
          <p:cNvSpPr/>
          <p:nvPr/>
        </p:nvSpPr>
        <p:spPr>
          <a:xfrm>
            <a:off x="7221321" y="6485839"/>
            <a:ext cx="1270406" cy="281635"/>
          </a:xfrm>
          <a:prstGeom prst="rect">
            <a:avLst/>
          </a:prstGeom>
          <a:solidFill>
            <a:srgbClr val="041E41"/>
          </a:solidFill>
          <a:ln w="12700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Valuation</a:t>
            </a:r>
          </a:p>
        </p:txBody>
      </p:sp>
      <p:sp>
        <p:nvSpPr>
          <p:cNvPr id="12" name="Tracker: Risks"/>
          <p:cNvSpPr/>
          <p:nvPr/>
        </p:nvSpPr>
        <p:spPr>
          <a:xfrm>
            <a:off x="8740444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Risks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Sponsor Cash Flows (Bull Case, $M)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0662" y="914400"/>
          <a:ext cx="11632996" cy="2628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662" y="3707891"/>
          <a:ext cx="11632993" cy="1447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50603"/>
                <a:gridCol w="1211770"/>
                <a:gridCol w="1211770"/>
                <a:gridCol w="1211770"/>
                <a:gridCol w="1211770"/>
                <a:gridCol w="1211770"/>
                <a:gridCol w="1211770"/>
                <a:gridCol w="1211770"/>
              </a:tblGrid>
              <a:tr h="289560"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2023P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2024P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2025P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2026P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2027P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2028P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2029P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    Sponsor equity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(798.50)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637.32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    Dividends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170.82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168.07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96.55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339.88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286.52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282.52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    Sale of ships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32.20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32.20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32.20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Cash inflows / (outflows)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(798.50)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170.82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200.27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128.75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372.08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286.52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919.84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002060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racker: Company"/>
          <p:cNvSpPr/>
          <p:nvPr/>
        </p:nvSpPr>
        <p:spPr>
          <a:xfrm>
            <a:off x="114482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Company</a:t>
            </a:r>
          </a:p>
        </p:txBody>
      </p:sp>
      <p:sp>
        <p:nvSpPr>
          <p:cNvPr id="6" name="Tracker: Industry"/>
          <p:cNvSpPr/>
          <p:nvPr/>
        </p:nvSpPr>
        <p:spPr>
          <a:xfrm>
            <a:off x="2663952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</a:t>
            </a:r>
          </a:p>
        </p:txBody>
      </p:sp>
      <p:sp>
        <p:nvSpPr>
          <p:cNvPr id="7" name="Tracker: Theses"/>
          <p:cNvSpPr/>
          <p:nvPr/>
        </p:nvSpPr>
        <p:spPr>
          <a:xfrm>
            <a:off x="4183075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Theses</a:t>
            </a:r>
          </a:p>
        </p:txBody>
      </p:sp>
      <p:sp>
        <p:nvSpPr>
          <p:cNvPr id="8" name="Tracker: Value Adds"/>
          <p:cNvSpPr/>
          <p:nvPr/>
        </p:nvSpPr>
        <p:spPr>
          <a:xfrm>
            <a:off x="570219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Value Adds</a:t>
            </a:r>
          </a:p>
        </p:txBody>
      </p:sp>
      <p:sp>
        <p:nvSpPr>
          <p:cNvPr id="9" name="Tracker: Valuation (active)"/>
          <p:cNvSpPr/>
          <p:nvPr/>
        </p:nvSpPr>
        <p:spPr>
          <a:xfrm>
            <a:off x="7221321" y="6485839"/>
            <a:ext cx="1270406" cy="281635"/>
          </a:xfrm>
          <a:prstGeom prst="rect">
            <a:avLst/>
          </a:prstGeom>
          <a:solidFill>
            <a:srgbClr val="041E41"/>
          </a:solidFill>
          <a:ln w="12700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Valuation</a:t>
            </a:r>
          </a:p>
        </p:txBody>
      </p:sp>
      <p:sp>
        <p:nvSpPr>
          <p:cNvPr id="10" name="Tracker: Risks"/>
          <p:cNvSpPr/>
          <p:nvPr/>
        </p:nvSpPr>
        <p:spPr>
          <a:xfrm>
            <a:off x="8740444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Risks</a:t>
            </a:r>
          </a:p>
        </p:txBody>
      </p:sp>
      <p:sp>
        <p:nvSpPr>
          <p:cNvPr id="11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V.	Risks &amp; Mitigants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Mitigants</a:t>
            </a:r>
          </a:p>
        </p:txBody>
      </p:sp>
      <p:sp>
        <p:nvSpPr>
          <p:cNvPr id="3" name="Risk 1"/>
          <p:cNvSpPr/>
          <p:nvPr/>
        </p:nvSpPr>
        <p:spPr>
          <a:xfrm>
            <a:off x="75895" y="1164031"/>
            <a:ext cx="3395167" cy="833932"/>
          </a:xfrm>
          <a:prstGeom prst="homePlate">
            <a:avLst/>
          </a:prstGeom>
          <a:solidFill>
            <a:srgbClr val="FFFFFF"/>
          </a:solidFill>
          <a:ln w="28575">
            <a:solidFill>
              <a:srgbClr val="002060"/>
            </a:solidFill>
          </a:ln>
        </p:spPr>
        <p:txBody>
          <a:bodyPr rtlCol="0" anchor="ctr" tIns="91440" bIns="91440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Environmental regulation raises operating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41140" y="868680"/>
            <a:ext cx="2061057" cy="205740"/>
          </a:xfrm>
          <a:prstGeom prst="rect">
            <a:avLst/>
          </a:prstGeom>
          <a:solidFill>
            <a:srgbClr val="001746"/>
          </a:solidFill>
          <a:ln w="12700">
            <a:solidFill>
              <a:srgbClr val="001746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Level of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41140" y="1164031"/>
            <a:ext cx="2061057" cy="833932"/>
          </a:xfrm>
          <a:prstGeom prst="rect">
            <a:avLst/>
          </a:prstGeom>
          <a:solidFill>
            <a:srgbClr val="002060"/>
          </a:solidFill>
          <a:ln w="12700">
            <a:solidFill>
              <a:srgbClr val="E4E9F0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20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868680"/>
            <a:ext cx="5691225" cy="205740"/>
          </a:xfrm>
          <a:prstGeom prst="rect">
            <a:avLst/>
          </a:prstGeom>
          <a:solidFill>
            <a:srgbClr val="001746"/>
          </a:solidFill>
          <a:ln w="12700">
            <a:solidFill>
              <a:srgbClr val="001746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Mitigation: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390" y="1164031"/>
            <a:ext cx="5691225" cy="833932"/>
          </a:xfrm>
          <a:prstGeom prst="rect">
            <a:avLst/>
          </a:prstGeom>
          <a:solidFill>
            <a:srgbClr val="E4E9F0"/>
          </a:solidFill>
          <a:ln w="12700">
            <a:solidFill>
              <a:srgbClr val="E4E9F0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001746"/>
                </a:solidFill>
                <a:latin typeface="Garamond"/>
                <a:ea typeface="Garamond"/>
                <a:cs typeface="Garamond"/>
              </a:rPr>
              <a:t>Route optimization and slow steaming cut fuel use and emissions without major new investment, keeping the fleet compliant.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02198" y="1580997"/>
            <a:ext cx="393192" cy="0"/>
          </a:xfrm>
          <a:prstGeom prst="line">
            <a:avLst/>
          </a:prstGeom>
          <a:ln w="3810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92677" y="2116836"/>
            <a:ext cx="8310982" cy="0"/>
          </a:xfrm>
          <a:prstGeom prst="line">
            <a:avLst/>
          </a:prstGeom>
          <a:ln w="9525">
            <a:solidFill>
              <a:srgbClr val="001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sk 2"/>
          <p:cNvSpPr/>
          <p:nvPr/>
        </p:nvSpPr>
        <p:spPr>
          <a:xfrm>
            <a:off x="75895" y="2531059"/>
            <a:ext cx="3395167" cy="833932"/>
          </a:xfrm>
          <a:prstGeom prst="homePlate">
            <a:avLst/>
          </a:prstGeom>
          <a:solidFill>
            <a:srgbClr val="FFFFFF"/>
          </a:solidFill>
          <a:ln w="28575">
            <a:solidFill>
              <a:srgbClr val="002060"/>
            </a:solidFill>
          </a:ln>
        </p:spPr>
        <p:txBody>
          <a:bodyPr rtlCol="0" anchor="ctr" tIns="91440" bIns="91440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Charter-rate swings hit overall returns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41140" y="2235708"/>
            <a:ext cx="2061057" cy="205740"/>
          </a:xfrm>
          <a:prstGeom prst="rect">
            <a:avLst/>
          </a:prstGeom>
          <a:solidFill>
            <a:srgbClr val="001746"/>
          </a:solidFill>
          <a:ln w="12700">
            <a:solidFill>
              <a:srgbClr val="001746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Level of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41140" y="2531059"/>
            <a:ext cx="2061057" cy="833932"/>
          </a:xfrm>
          <a:prstGeom prst="rect">
            <a:avLst/>
          </a:prstGeom>
          <a:solidFill>
            <a:srgbClr val="002060"/>
          </a:solidFill>
          <a:ln w="12700">
            <a:solidFill>
              <a:srgbClr val="E4E9F0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20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Medium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390" y="2235708"/>
            <a:ext cx="5691225" cy="205740"/>
          </a:xfrm>
          <a:prstGeom prst="rect">
            <a:avLst/>
          </a:prstGeom>
          <a:solidFill>
            <a:srgbClr val="001746"/>
          </a:solidFill>
          <a:ln w="12700">
            <a:solidFill>
              <a:srgbClr val="001746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Mitigation: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390" y="2531059"/>
            <a:ext cx="5691225" cy="833932"/>
          </a:xfrm>
          <a:prstGeom prst="rect">
            <a:avLst/>
          </a:prstGeom>
          <a:solidFill>
            <a:srgbClr val="E4E9F0"/>
          </a:solidFill>
          <a:ln w="12700">
            <a:solidFill>
              <a:srgbClr val="E4E9F0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001746"/>
                </a:solidFill>
                <a:latin typeface="Garamond"/>
                <a:ea typeface="Garamond"/>
                <a:cs typeface="Garamond"/>
              </a:rPr>
              <a:t>The model carries bull and bear cases, plus a sale of old and idle ships that protects sponsor returns if rates sour.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02198" y="2948025"/>
            <a:ext cx="393192" cy="0"/>
          </a:xfrm>
          <a:prstGeom prst="line">
            <a:avLst/>
          </a:prstGeom>
          <a:ln w="3810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92677" y="3483863"/>
            <a:ext cx="8310982" cy="0"/>
          </a:xfrm>
          <a:prstGeom prst="line">
            <a:avLst/>
          </a:prstGeom>
          <a:ln w="9525">
            <a:solidFill>
              <a:srgbClr val="001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sk 3"/>
          <p:cNvSpPr/>
          <p:nvPr/>
        </p:nvSpPr>
        <p:spPr>
          <a:xfrm>
            <a:off x="75895" y="3898087"/>
            <a:ext cx="3395167" cy="833932"/>
          </a:xfrm>
          <a:prstGeom prst="homePlate">
            <a:avLst/>
          </a:prstGeom>
          <a:solidFill>
            <a:srgbClr val="FFFFFF"/>
          </a:solidFill>
          <a:ln w="28575">
            <a:solidFill>
              <a:srgbClr val="002060"/>
            </a:solidFill>
          </a:ln>
        </p:spPr>
        <p:txBody>
          <a:bodyPr rtlCol="0" anchor="ctr" tIns="91440" bIns="91440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Global demand shocks hit shipping volumes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41140" y="3602735"/>
            <a:ext cx="2061057" cy="205740"/>
          </a:xfrm>
          <a:prstGeom prst="rect">
            <a:avLst/>
          </a:prstGeom>
          <a:solidFill>
            <a:srgbClr val="001746"/>
          </a:solidFill>
          <a:ln w="12700">
            <a:solidFill>
              <a:srgbClr val="001746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Level of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41140" y="3898087"/>
            <a:ext cx="2061057" cy="833932"/>
          </a:xfrm>
          <a:prstGeom prst="rect">
            <a:avLst/>
          </a:prstGeom>
          <a:solidFill>
            <a:srgbClr val="002060"/>
          </a:solidFill>
          <a:ln w="12700">
            <a:solidFill>
              <a:srgbClr val="E4E9F0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20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390" y="3602735"/>
            <a:ext cx="5691225" cy="205740"/>
          </a:xfrm>
          <a:prstGeom prst="rect">
            <a:avLst/>
          </a:prstGeom>
          <a:solidFill>
            <a:srgbClr val="001746"/>
          </a:solidFill>
          <a:ln w="12700">
            <a:solidFill>
              <a:srgbClr val="001746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Mitigation: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390" y="3898087"/>
            <a:ext cx="5691225" cy="833932"/>
          </a:xfrm>
          <a:prstGeom prst="rect">
            <a:avLst/>
          </a:prstGeom>
          <a:solidFill>
            <a:srgbClr val="E4E9F0"/>
          </a:solidFill>
          <a:ln w="12700">
            <a:solidFill>
              <a:srgbClr val="E4E9F0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001746"/>
                </a:solidFill>
                <a:latin typeface="Garamond"/>
                <a:ea typeface="Garamond"/>
                <a:cs typeface="Garamond"/>
              </a:rPr>
              <a:t>Long-term contracts, financial discipline and buying assets at cycle lows turn volatility into opportunity.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02198" y="4315053"/>
            <a:ext cx="393192" cy="0"/>
          </a:xfrm>
          <a:prstGeom prst="line">
            <a:avLst/>
          </a:prstGeom>
          <a:ln w="3810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92677" y="4850892"/>
            <a:ext cx="8310982" cy="0"/>
          </a:xfrm>
          <a:prstGeom prst="line">
            <a:avLst/>
          </a:prstGeom>
          <a:ln w="9525">
            <a:solidFill>
              <a:srgbClr val="001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isk 4"/>
          <p:cNvSpPr/>
          <p:nvPr/>
        </p:nvSpPr>
        <p:spPr>
          <a:xfrm>
            <a:off x="75895" y="5265115"/>
            <a:ext cx="3395167" cy="833932"/>
          </a:xfrm>
          <a:prstGeom prst="homePlate">
            <a:avLst/>
          </a:prstGeom>
          <a:solidFill>
            <a:srgbClr val="FFFFFF"/>
          </a:solidFill>
          <a:ln w="28575">
            <a:solidFill>
              <a:srgbClr val="002060"/>
            </a:solidFill>
          </a:ln>
        </p:spPr>
        <p:txBody>
          <a:bodyPr rtlCol="0" anchor="ctr" tIns="91440" bIns="91440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Concentrated ownership: CEO holds 45%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41140" y="4969764"/>
            <a:ext cx="2061057" cy="205740"/>
          </a:xfrm>
          <a:prstGeom prst="rect">
            <a:avLst/>
          </a:prstGeom>
          <a:solidFill>
            <a:srgbClr val="001746"/>
          </a:solidFill>
          <a:ln w="12700">
            <a:solidFill>
              <a:srgbClr val="001746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Level of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41140" y="5265115"/>
            <a:ext cx="2061057" cy="833932"/>
          </a:xfrm>
          <a:prstGeom prst="rect">
            <a:avLst/>
          </a:prstGeom>
          <a:solidFill>
            <a:srgbClr val="002060"/>
          </a:solidFill>
          <a:ln w="12700">
            <a:solidFill>
              <a:srgbClr val="E4E9F0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20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5390" y="4969764"/>
            <a:ext cx="5691225" cy="205740"/>
          </a:xfrm>
          <a:prstGeom prst="rect">
            <a:avLst/>
          </a:prstGeom>
          <a:solidFill>
            <a:srgbClr val="001746"/>
          </a:solidFill>
          <a:ln w="12700">
            <a:solidFill>
              <a:srgbClr val="001746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Mitigation: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5390" y="5265115"/>
            <a:ext cx="5691225" cy="833932"/>
          </a:xfrm>
          <a:prstGeom prst="rect">
            <a:avLst/>
          </a:prstGeom>
          <a:solidFill>
            <a:srgbClr val="E4E9F0"/>
          </a:solidFill>
          <a:ln w="12700">
            <a:solidFill>
              <a:srgbClr val="E4E9F0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200" b="0" u="none">
                <a:solidFill>
                  <a:srgbClr val="001746"/>
                </a:solidFill>
                <a:latin typeface="Garamond"/>
                <a:ea typeface="Garamond"/>
                <a:cs typeface="Garamond"/>
              </a:rPr>
              <a:t>The equity rollover lets the CEO keep a stake, aligning management with the sponsor through the hold.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702198" y="5682081"/>
            <a:ext cx="393192" cy="0"/>
          </a:xfrm>
          <a:prstGeom prst="line">
            <a:avLst/>
          </a:prstGeom>
          <a:ln w="38100">
            <a:solidFill>
              <a:srgbClr val="E4E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racker: Company"/>
          <p:cNvSpPr/>
          <p:nvPr/>
        </p:nvSpPr>
        <p:spPr>
          <a:xfrm>
            <a:off x="114482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Company</a:t>
            </a:r>
          </a:p>
        </p:txBody>
      </p:sp>
      <p:sp>
        <p:nvSpPr>
          <p:cNvPr id="31" name="Tracker: Industry"/>
          <p:cNvSpPr/>
          <p:nvPr/>
        </p:nvSpPr>
        <p:spPr>
          <a:xfrm>
            <a:off x="2663952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Industry</a:t>
            </a:r>
          </a:p>
        </p:txBody>
      </p:sp>
      <p:sp>
        <p:nvSpPr>
          <p:cNvPr id="32" name="Tracker: Theses"/>
          <p:cNvSpPr/>
          <p:nvPr/>
        </p:nvSpPr>
        <p:spPr>
          <a:xfrm>
            <a:off x="4183075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Theses</a:t>
            </a:r>
          </a:p>
        </p:txBody>
      </p:sp>
      <p:sp>
        <p:nvSpPr>
          <p:cNvPr id="33" name="Tracker: Value Adds"/>
          <p:cNvSpPr/>
          <p:nvPr/>
        </p:nvSpPr>
        <p:spPr>
          <a:xfrm>
            <a:off x="5702198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Value Adds</a:t>
            </a:r>
          </a:p>
        </p:txBody>
      </p:sp>
      <p:sp>
        <p:nvSpPr>
          <p:cNvPr id="34" name="Tracker: Valuation"/>
          <p:cNvSpPr/>
          <p:nvPr/>
        </p:nvSpPr>
        <p:spPr>
          <a:xfrm>
            <a:off x="7221321" y="6485839"/>
            <a:ext cx="1270406" cy="28163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Valuation</a:t>
            </a:r>
          </a:p>
        </p:txBody>
      </p:sp>
      <p:sp>
        <p:nvSpPr>
          <p:cNvPr id="35" name="Tracker: Risks (active)"/>
          <p:cNvSpPr/>
          <p:nvPr/>
        </p:nvSpPr>
        <p:spPr>
          <a:xfrm>
            <a:off x="8740444" y="6485839"/>
            <a:ext cx="1270406" cy="281635"/>
          </a:xfrm>
          <a:prstGeom prst="rect">
            <a:avLst/>
          </a:prstGeom>
          <a:solidFill>
            <a:srgbClr val="041E41"/>
          </a:solidFill>
          <a:ln w="12700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4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Risks</a:t>
            </a:r>
          </a:p>
        </p:txBody>
      </p:sp>
      <p:sp>
        <p:nvSpPr>
          <p:cNvPr id="36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Header: Sensitivity Analysis"/>
          <p:cNvSpPr/>
          <p:nvPr/>
        </p:nvSpPr>
        <p:spPr>
          <a:xfrm>
            <a:off x="270662" y="914400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Sensitivity Analysis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270662" y="1353312"/>
            <a:ext cx="5679338" cy="988568"/>
          </a:xfrm>
          <a:prstGeom prst="rect">
            <a:avLst/>
          </a:prstGeom>
          <a:noFill/>
        </p:spPr>
        <p:txBody>
          <a:bodyPr wrap="square" tIns="91440" bIns="91440" anchor="t">
            <a:noAutofit/>
          </a:bodyPr>
          <a:lstStyle/>
          <a:p>
            <a:pPr algn="ctr" marL="0" indent="0">
              <a:buNone/>
            </a:pPr>
            <a:r>
              <a:rPr sz="2600" b="1" u="none" cap="small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Entry &amp; Exit EBIT Multiple: 3.26x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0662" y="2506472"/>
          <a:ext cx="5679337" cy="1737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41947"/>
                <a:gridCol w="767478"/>
                <a:gridCol w="767478"/>
                <a:gridCol w="767478"/>
                <a:gridCol w="767478"/>
                <a:gridCol w="767478"/>
              </a:tblGrid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Premium paid  \  Term A / EBIT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0.40x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0.45x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0.50x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0.55x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u="none">
                          <a:solidFill>
                            <a:srgbClr val="FFFFFF"/>
                          </a:solidFill>
                          <a:latin typeface="Garamond"/>
                          <a:ea typeface="Garamond"/>
                          <a:cs typeface="Garamond"/>
                        </a:rPr>
                        <a:t>0.60x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2060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55%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42%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46%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47%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56%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41%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41%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48%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42%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40%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29%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u="none">
                          <a:solidFill>
                            <a:srgbClr val="000000"/>
                          </a:solidFill>
                          <a:latin typeface="Garamond"/>
                          <a:ea typeface="Garamond"/>
                          <a:cs typeface="Garamond"/>
                        </a:rPr>
                        <a:t>33%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Header: Key Metrics"/>
          <p:cNvSpPr/>
          <p:nvPr/>
        </p:nvSpPr>
        <p:spPr>
          <a:xfrm>
            <a:off x="270662" y="5047488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Key Metrics</a:t>
            </a:r>
          </a:p>
        </p:txBody>
      </p:sp>
      <p:sp>
        <p:nvSpPr>
          <p:cNvPr id="7" name="Metric Tile"/>
          <p:cNvSpPr/>
          <p:nvPr/>
        </p:nvSpPr>
        <p:spPr>
          <a:xfrm>
            <a:off x="270662" y="5486400"/>
            <a:ext cx="2784805" cy="914400"/>
          </a:xfrm>
          <a:prstGeom prst="rect">
            <a:avLst/>
          </a:prstGeom>
          <a:solidFill>
            <a:srgbClr val="E4E9F0"/>
          </a:solidFill>
          <a:ln w="12700">
            <a:solidFill>
              <a:srgbClr val="203764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2600" b="1" u="none" cap="small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MOIC: 2.60x</a:t>
            </a:r>
          </a:p>
        </p:txBody>
      </p:sp>
      <p:sp>
        <p:nvSpPr>
          <p:cNvPr id="8" name="Metric Tile"/>
          <p:cNvSpPr/>
          <p:nvPr/>
        </p:nvSpPr>
        <p:spPr>
          <a:xfrm>
            <a:off x="3165195" y="5486400"/>
            <a:ext cx="2784805" cy="914400"/>
          </a:xfrm>
          <a:prstGeom prst="rect">
            <a:avLst/>
          </a:prstGeom>
          <a:solidFill>
            <a:srgbClr val="E4E9F0"/>
          </a:solidFill>
          <a:ln w="12700">
            <a:solidFill>
              <a:srgbClr val="203764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2600" b="1" u="none" cap="small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IRR: 28.2%</a:t>
            </a:r>
          </a:p>
        </p:txBody>
      </p:sp>
      <p:sp>
        <p:nvSpPr>
          <p:cNvPr id="9" name="Header: Investment Theses"/>
          <p:cNvSpPr/>
          <p:nvPr/>
        </p:nvSpPr>
        <p:spPr>
          <a:xfrm>
            <a:off x="6224320" y="914400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Investment Theses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4320" y="1353312"/>
            <a:ext cx="580644" cy="346557"/>
          </a:xfrm>
          <a:prstGeom prst="rect">
            <a:avLst/>
          </a:prstGeom>
          <a:solidFill>
            <a:srgbClr val="001746"/>
          </a:solidFill>
          <a:ln w="12700">
            <a:solidFill>
              <a:srgbClr val="001746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8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9595" y="1353312"/>
            <a:ext cx="5084064" cy="346557"/>
          </a:xfrm>
          <a:prstGeom prst="rect">
            <a:avLst/>
          </a:prstGeom>
          <a:solidFill>
            <a:srgbClr val="E4E9F0"/>
          </a:solidFill>
          <a:ln w="12700">
            <a:solidFill>
              <a:srgbClr val="E4E9F0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800" b="1" u="none">
                <a:solidFill>
                  <a:srgbClr val="001746"/>
                </a:solidFill>
                <a:latin typeface="Garamond"/>
                <a:ea typeface="Garamond"/>
                <a:cs typeface="Garamond"/>
              </a:rPr>
              <a:t>Discounted Entry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4320" y="1754733"/>
            <a:ext cx="5679338" cy="58724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sz="1600" b="0" u="none">
                <a:solidFill>
                  <a:srgbClr val="1E1E1E"/>
                </a:solidFill>
                <a:latin typeface="Garamond"/>
                <a:ea typeface="Garamond"/>
                <a:cs typeface="Garamond"/>
              </a:rPr>
              <a:t>Strong ROI and market leadership; trades at a deep discount with low debt, leaving room for strategic leverage.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4320" y="2451709"/>
            <a:ext cx="580644" cy="346557"/>
          </a:xfrm>
          <a:prstGeom prst="rect">
            <a:avLst/>
          </a:prstGeom>
          <a:solidFill>
            <a:srgbClr val="001746"/>
          </a:solidFill>
          <a:ln w="12700">
            <a:solidFill>
              <a:srgbClr val="001746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8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9595" y="2451709"/>
            <a:ext cx="5084064" cy="346557"/>
          </a:xfrm>
          <a:prstGeom prst="rect">
            <a:avLst/>
          </a:prstGeom>
          <a:solidFill>
            <a:srgbClr val="E4E9F0"/>
          </a:solidFill>
          <a:ln w="12700">
            <a:solidFill>
              <a:srgbClr val="E4E9F0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800" b="1" u="none">
                <a:solidFill>
                  <a:srgbClr val="001746"/>
                </a:solidFill>
                <a:latin typeface="Garamond"/>
                <a:ea typeface="Garamond"/>
                <a:cs typeface="Garamond"/>
              </a:rPr>
              <a:t>Market Pricing Reversion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4320" y="2853131"/>
            <a:ext cx="5679338" cy="58724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sz="1600" b="0" u="none">
                <a:solidFill>
                  <a:srgbClr val="1E1E1E"/>
                </a:solidFill>
                <a:latin typeface="Garamond"/>
                <a:ea typeface="Garamond"/>
                <a:cs typeface="Garamond"/>
              </a:rPr>
              <a:t>Long-term contracts and fleet renewal let Danaos weather the correction from COVID peaks.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4320" y="3550107"/>
            <a:ext cx="580644" cy="346557"/>
          </a:xfrm>
          <a:prstGeom prst="rect">
            <a:avLst/>
          </a:prstGeom>
          <a:solidFill>
            <a:srgbClr val="001746"/>
          </a:solidFill>
          <a:ln w="12700">
            <a:solidFill>
              <a:srgbClr val="001746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800" b="0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9595" y="3550107"/>
            <a:ext cx="5084064" cy="346557"/>
          </a:xfrm>
          <a:prstGeom prst="rect">
            <a:avLst/>
          </a:prstGeom>
          <a:solidFill>
            <a:srgbClr val="E4E9F0"/>
          </a:solidFill>
          <a:ln w="12700">
            <a:solidFill>
              <a:srgbClr val="E4E9F0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800" b="1" u="none">
                <a:solidFill>
                  <a:srgbClr val="001746"/>
                </a:solidFill>
                <a:latin typeface="Garamond"/>
                <a:ea typeface="Garamond"/>
                <a:cs typeface="Garamond"/>
              </a:rPr>
              <a:t>Resilient Contracts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4320" y="3951528"/>
            <a:ext cx="5679338" cy="58724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sz="1600" b="0" u="none">
                <a:solidFill>
                  <a:srgbClr val="1E1E1E"/>
                </a:solidFill>
                <a:latin typeface="Garamond"/>
                <a:ea typeface="Garamond"/>
                <a:cs typeface="Garamond"/>
              </a:rPr>
              <a:t>Robust contracts secure revenue, backed by liner companies' strong balance sheets.</a:t>
            </a:r>
          </a:p>
        </p:txBody>
      </p:sp>
      <p:sp>
        <p:nvSpPr>
          <p:cNvPr id="19" name="Header: Value Adds"/>
          <p:cNvSpPr/>
          <p:nvPr/>
        </p:nvSpPr>
        <p:spPr>
          <a:xfrm>
            <a:off x="6224320" y="4813096"/>
            <a:ext cx="5679338" cy="365760"/>
          </a:xfrm>
          <a:prstGeom prst="rect">
            <a:avLst/>
          </a:prstGeom>
          <a:solidFill>
            <a:srgbClr val="002060"/>
          </a:solidFill>
          <a:ln w="9525">
            <a:solidFill>
              <a:srgbClr val="041E41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1600" b="1" u="none">
                <a:solidFill>
                  <a:srgbClr val="FFFFFF"/>
                </a:solidFill>
                <a:latin typeface="Garamond"/>
                <a:ea typeface="Garamond"/>
                <a:cs typeface="Garamond"/>
              </a:rPr>
              <a:t>Value Adds</a:t>
            </a:r>
          </a:p>
        </p:txBody>
      </p:sp>
      <p:sp>
        <p:nvSpPr>
          <p:cNvPr id="20" name="Metric Tile"/>
          <p:cNvSpPr/>
          <p:nvPr/>
        </p:nvSpPr>
        <p:spPr>
          <a:xfrm>
            <a:off x="6224320" y="5252008"/>
            <a:ext cx="2784805" cy="914400"/>
          </a:xfrm>
          <a:prstGeom prst="rect">
            <a:avLst/>
          </a:prstGeom>
          <a:solidFill>
            <a:srgbClr val="E4E9F0"/>
          </a:solidFill>
          <a:ln w="12700">
            <a:solidFill>
              <a:srgbClr val="203764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2600" b="1" u="none" cap="small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Lease Optimization</a:t>
            </a:r>
          </a:p>
        </p:txBody>
      </p:sp>
      <p:sp>
        <p:nvSpPr>
          <p:cNvPr id="21" name="Metric Tile"/>
          <p:cNvSpPr/>
          <p:nvPr/>
        </p:nvSpPr>
        <p:spPr>
          <a:xfrm>
            <a:off x="9118854" y="5252008"/>
            <a:ext cx="2784805" cy="914400"/>
          </a:xfrm>
          <a:prstGeom prst="rect">
            <a:avLst/>
          </a:prstGeom>
          <a:solidFill>
            <a:srgbClr val="E4E9F0"/>
          </a:solidFill>
          <a:ln w="12700">
            <a:solidFill>
              <a:srgbClr val="203764"/>
            </a:solidFill>
          </a:ln>
        </p:spPr>
        <p:txBody>
          <a:bodyPr rtlCol="0" anchor="ctr" wrap="square">
            <a:noAutofit/>
          </a:bodyPr>
          <a:lstStyle/>
          <a:p>
            <a:pPr algn="ctr" marL="0" indent="0">
              <a:buNone/>
            </a:pPr>
            <a:r>
              <a:rPr sz="2600" b="1" u="none" cap="small">
                <a:solidFill>
                  <a:srgbClr val="000000"/>
                </a:solidFill>
                <a:latin typeface="Garamond"/>
                <a:ea typeface="Garamond"/>
                <a:cs typeface="Garamond"/>
              </a:rPr>
              <a:t>Management Efficiency</a:t>
            </a:r>
          </a:p>
        </p:txBody>
      </p:sp>
      <p:sp>
        <p:nvSpPr>
          <p:cNvPr id="22" name="Page Number"/>
          <p:cNvSpPr txBox="1"/>
          <p:nvPr/>
        </p:nvSpPr>
        <p:spPr>
          <a:xfrm>
            <a:off x="11475720" y="6466636"/>
            <a:ext cx="685800" cy="322783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r>
              <a:rPr sz="1200" b="0" u="none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|  </a:t>
            </a:r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 Navy">
  <a:themeElements>
    <a:clrScheme name="Pitch Navy">
      <a:dk1>
        <a:srgbClr val="000000"/>
      </a:dk1>
      <a:lt1>
        <a:srgbClr val="FFFFFF"/>
      </a:lt1>
      <a:dk2>
        <a:srgbClr val="002060"/>
      </a:dk2>
      <a:lt2>
        <a:srgbClr val="E4E9F0"/>
      </a:lt2>
      <a:accent1>
        <a:srgbClr val="002060"/>
      </a:accent1>
      <a:accent2>
        <a:srgbClr val="FFC000"/>
      </a:accent2>
      <a:accent3>
        <a:srgbClr val="A5A5A5"/>
      </a:accent3>
      <a:accent4>
        <a:srgbClr val="041E41"/>
      </a:accent4>
      <a:accent5>
        <a:srgbClr val="476779"/>
      </a:accent5>
      <a:accent6>
        <a:srgbClr val="8FA9C8"/>
      </a:accent6>
      <a:hlink>
        <a:srgbClr val="0563C1"/>
      </a:hlink>
      <a:folHlink>
        <a:srgbClr val="954F72"/>
      </a:folHlink>
    </a:clrScheme>
    <a:fontScheme name="Pitch Navy">
      <a:majorFont>
        <a:latin typeface="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Danaos LBO Pitch</dc:title>
  <dc:subject/>
  <dc:creator>Michael Attisha, Ryan Zimmerman, Jack Gibbs, David Chen, Abhi Chundru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