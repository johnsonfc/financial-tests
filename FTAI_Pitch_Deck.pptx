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Bear (13.7 / 20)</c:v>
                </c:pt>
              </c:strCache>
            </c:strRef>
          </c:tx>
          <c:spPr>
            <a:solidFill>
              <a:srgbClr val="002060"/>
            </a:solidFill>
          </c:spPr>
          <c:cat>
            <c:strRef>
              <c:f>Sheet1!$A$2:$A$5</c:f>
              <c:strCache>
                <c:ptCount val="4"/>
                <c:pt idx="0">
                  <c:v>Edge</c:v>
                </c:pt>
                <c:pt idx="1">
                  <c:v>Materiality</c:v>
                </c:pt>
                <c:pt idx="2">
                  <c:v>Testability</c:v>
                </c:pt>
                <c:pt idx="3">
                  <c:v>Evidence</c:v>
                </c:pt>
              </c:strCache>
            </c:strRef>
          </c:cat>
          <c:val>
            <c:numRef>
              <c:f>Sheet1!$B$2:$B$5</c:f>
              <c:numCache>
                <c:formatCode>0.0</c:formatCode>
                <c:ptCount val="4"/>
                <c:pt idx="0">
                  <c:v>3.4</c:v>
                </c:pt>
                <c:pt idx="1">
                  <c:v>2.4</c:v>
                </c:pt>
                <c:pt idx="2">
                  <c:v>4.6</c:v>
                </c:pt>
                <c:pt idx="3">
                  <c:v>3.3</c:v>
                </c:pt>
              </c:numCache>
            </c:numRef>
          </c:val>
        </c:ser>
        <c:ser>
          <c:idx val="1"/>
          <c:order val="1"/>
          <c:tx>
            <c:strRef>
              <c:f>Sheet1!$C$1</c:f>
              <c:strCache>
                <c:ptCount val="1"/>
                <c:pt idx="0">
                  <c:v>Bull (12.1 / 20)</c:v>
                </c:pt>
              </c:strCache>
            </c:strRef>
          </c:tx>
          <c:spPr>
            <a:solidFill>
              <a:srgbClr val="FFC000"/>
            </a:solidFill>
          </c:spPr>
          <c:cat>
            <c:strRef>
              <c:f>Sheet1!$A$2:$A$5</c:f>
              <c:strCache>
                <c:ptCount val="4"/>
                <c:pt idx="0">
                  <c:v>Edge</c:v>
                </c:pt>
                <c:pt idx="1">
                  <c:v>Materiality</c:v>
                </c:pt>
                <c:pt idx="2">
                  <c:v>Testability</c:v>
                </c:pt>
                <c:pt idx="3">
                  <c:v>Evidence</c:v>
                </c:pt>
              </c:strCache>
            </c:strRef>
          </c:cat>
          <c:val>
            <c:numRef>
              <c:f>Sheet1!$C$2:$C$5</c:f>
              <c:numCache>
                <c:formatCode>0.0</c:formatCode>
                <c:ptCount val="4"/>
                <c:pt idx="0">
                  <c:v>2.7</c:v>
                </c:pt>
                <c:pt idx="1">
                  <c:v>2.0</c:v>
                </c:pt>
                <c:pt idx="2">
                  <c:v>4.3</c:v>
                </c:pt>
                <c:pt idx="3">
                  <c:v>3.1</c:v>
                </c:pt>
              </c:numCache>
            </c:numRef>
          </c:val>
        </c:ser>
        <c:dLbls>
          <c:numFmt formatCode="0.0" sourceLinked="0"/>
          <c:txPr>
            <a:bodyPr/>
            <a:lstStyle/>
            <a:p>
              <a:pPr>
                <a:defRPr sz="1100" b="0">
                  <a:solidFill>
                    <a:srgbClr val="3F3F3F"/>
                  </a:solidFill>
                  <a:latin typeface="Garamond"/>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legend>
      <c:legendPos val="b"/>
      <c:overlay val="0"/>
      <c:txPr>
        <a:bodyPr/>
        <a:lstStyle/>
        <a:p>
          <a:pPr>
            <a:defRPr sz="1100" b="0">
              <a:solidFill>
                <a:srgbClr val="3F3F3F"/>
              </a:solidFill>
              <a:latin typeface="Garamond"/>
            </a:defRPr>
          </a:pPr>
        </a:p>
      </c:txPr>
    </c:legend>
    <c:dispBlanksAs val="gap"/>
  </c:chart>
  <c:txPr>
    <a:bodyPr/>
    <a:lstStyle/>
    <a:p>
      <a:pPr>
        <a:defRPr sz="1200" b="0">
          <a:solidFill>
            <a:srgbClr val="3F3F3F"/>
          </a:solidFill>
          <a:latin typeface="Garamo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TTM segment EBITDA</c:v>
                </c:pt>
              </c:strCache>
            </c:strRef>
          </c:tx>
          <c:dPt>
            <c:idx val="0"/>
            <c:spPr>
              <a:solidFill>
                <a:srgbClr val="002060"/>
              </a:solidFill>
              <a:ln>
                <a:solidFill>
                  <a:srgbClr val="FFFFFF"/>
                </a:solidFill>
              </a:ln>
            </c:spPr>
          </c:dPt>
          <c:dPt>
            <c:idx val="1"/>
            <c:spPr>
              <a:solidFill>
                <a:srgbClr val="FFC000"/>
              </a:solidFill>
              <a:ln>
                <a:solidFill>
                  <a:srgbClr val="FFFFFF"/>
                </a:solidFill>
              </a:ln>
            </c:spPr>
          </c:dPt>
          <c:dLbls>
            <c:dLbl>
              <c:idx val="0"/>
              <c:spPr/>
              <c:txPr>
                <a:bodyPr/>
                <a:lstStyle/>
                <a:p>
                  <a:pPr>
                    <a:defRPr sz="1100" b="0">
                      <a:solidFill>
                        <a:srgbClr val="FFFFFF"/>
                      </a:solidFill>
                      <a:latin typeface="Garamond"/>
                    </a:defRPr>
                  </a:pPr>
                </a:p>
              </c:txPr>
              <c:showLegendKey val="0"/>
              <c:showVal val="1"/>
              <c:showCatName val="0"/>
              <c:showSerName val="0"/>
              <c:showPercent val="0"/>
              <c:showBubbleSize val="0"/>
            </c:dLbl>
            <c:dLbl>
              <c:idx val="1"/>
              <c:spPr/>
              <c:txPr>
                <a:bodyPr/>
                <a:lstStyle/>
                <a:p>
                  <a:pPr>
                    <a:defRPr sz="1100" b="0">
                      <a:solidFill>
                        <a:srgbClr val="3F3F3F"/>
                      </a:solidFill>
                      <a:latin typeface="Garamond"/>
                    </a:defRPr>
                  </a:pPr>
                </a:p>
              </c:txP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Aerospace Products</c:v>
                </c:pt>
                <c:pt idx="1">
                  <c:v>Aviation Leasing</c:v>
                </c:pt>
              </c:strCache>
            </c:strRef>
          </c:cat>
          <c:val>
            <c:numRef>
              <c:f>Sheet1!$B$2:$B$3</c:f>
              <c:numCache>
                <c:formatCode>#,##0</c:formatCode>
                <c:ptCount val="2"/>
                <c:pt idx="0">
                  <c:v>848</c:v>
                </c:pt>
                <c:pt idx="1">
                  <c:v>489</c:v>
                </c:pt>
              </c:numCache>
            </c:numRef>
          </c:val>
        </c:ser>
        <c:dLbls>
          <c:numFmt formatCode="#,##0" sourceLinked="0"/>
          <c:txPr>
            <a:bodyPr/>
            <a:lstStyle/>
            <a:p>
              <a:pPr>
                <a:defRPr sz="1100" b="0">
                  <a:solidFill>
                    <a:srgbClr val="3F3F3F"/>
                  </a:solidFill>
                  <a:latin typeface="Garamond"/>
                </a:defRPr>
              </a:pPr>
            </a:p>
          </c:txPr>
          <c:showLegendKey val="0"/>
          <c:showVal val="1"/>
          <c:showCatName val="0"/>
          <c:showSerName val="0"/>
          <c:showPercent val="0"/>
          <c:showBubbleSize val="0"/>
          <c:showLeaderLines val="1"/>
        </c:dLbls>
        <c:firstSliceAng val="0"/>
        <c:holeSize val="50"/>
      </c:doughnutChart>
    </c:plotArea>
    <c:legend>
      <c:legendPos val="b"/>
      <c:layout/>
      <c:overlay val="0"/>
      <c:txPr>
        <a:bodyPr/>
        <a:lstStyle/>
        <a:p>
          <a:pPr>
            <a:defRPr sz="1100" b="0">
              <a:solidFill>
                <a:srgbClr val="3F3F3F"/>
              </a:solidFill>
              <a:latin typeface="Garamond"/>
            </a:defRPr>
          </a:pPr>
        </a:p>
      </c:txPr>
    </c:legend>
    <c:plotVisOnly val="1"/>
    <c:dispBlanksAs val="gap"/>
    <c:showDLblsOverMax val="0"/>
  </c:chart>
  <c:txPr>
    <a:bodyPr/>
    <a:lstStyle/>
    <a:p>
      <a:pPr>
        <a:defRPr sz="1200" b="0">
          <a:solidFill>
            <a:srgbClr val="3F3F3F"/>
          </a:solidFill>
          <a:latin typeface="Garamond"/>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Total Adj. EBITDA</c:v>
                </c:pt>
              </c:strCache>
            </c:strRef>
          </c:tx>
          <c:spPr>
            <a:solidFill>
              <a:srgbClr val="002060"/>
            </a:solidFill>
          </c:spPr>
          <c:cat>
            <c:strRef>
              <c:f>Sheet1!$A$2:$A$6</c:f>
              <c:strCache>
                <c:ptCount val="5"/>
                <c:pt idx="0">
                  <c:v>FY23</c:v>
                </c:pt>
                <c:pt idx="1">
                  <c:v>FY24</c:v>
                </c:pt>
                <c:pt idx="2">
                  <c:v>FY25</c:v>
                </c:pt>
                <c:pt idx="3">
                  <c:v>2026E</c:v>
                </c:pt>
                <c:pt idx="4">
                  <c:v>2027 Plan</c:v>
                </c:pt>
              </c:strCache>
            </c:strRef>
          </c:cat>
          <c:val>
            <c:numRef>
              <c:f>Sheet1!$B$2:$B$6</c:f>
              <c:numCache>
                <c:formatCode>#,##0</c:formatCode>
                <c:ptCount val="5"/>
                <c:pt idx="0">
                  <c:v>597</c:v>
                </c:pt>
                <c:pt idx="1">
                  <c:v>862</c:v>
                </c:pt>
                <c:pt idx="2">
                  <c:v>1191</c:v>
                </c:pt>
                <c:pt idx="3">
                  <c:v>1332</c:v>
                </c:pt>
                <c:pt idx="4">
                  <c:v>2150</c:v>
                </c:pt>
              </c:numCache>
            </c:numRef>
          </c:val>
        </c:ser>
        <c:ser>
          <c:idx val="1"/>
          <c:order val="1"/>
          <c:tx>
            <c:strRef>
              <c:f>Sheet1!$C$1</c:f>
              <c:strCache>
                <c:ptCount val="1"/>
                <c:pt idx="0">
                  <c:v>Aerospace Products</c:v>
                </c:pt>
              </c:strCache>
            </c:strRef>
          </c:tx>
          <c:spPr>
            <a:solidFill>
              <a:srgbClr val="FFC000"/>
            </a:solidFill>
          </c:spPr>
          <c:cat>
            <c:strRef>
              <c:f>Sheet1!$A$2:$A$6</c:f>
              <c:strCache>
                <c:ptCount val="5"/>
                <c:pt idx="0">
                  <c:v>FY23</c:v>
                </c:pt>
                <c:pt idx="1">
                  <c:v>FY24</c:v>
                </c:pt>
                <c:pt idx="2">
                  <c:v>FY25</c:v>
                </c:pt>
                <c:pt idx="3">
                  <c:v>2026E</c:v>
                </c:pt>
                <c:pt idx="4">
                  <c:v>2027 Plan</c:v>
                </c:pt>
              </c:strCache>
            </c:strRef>
          </c:cat>
          <c:val>
            <c:numRef>
              <c:f>Sheet1!$C$2:$C$6</c:f>
              <c:numCache>
                <c:formatCode>#,##0</c:formatCode>
                <c:ptCount val="5"/>
                <c:pt idx="0">
                  <c:v>160</c:v>
                </c:pt>
                <c:pt idx="1">
                  <c:v>381</c:v>
                </c:pt>
                <c:pt idx="2">
                  <c:v>671</c:v>
                </c:pt>
                <c:pt idx="3">
                  <c:v>1050</c:v>
                </c:pt>
                <c:pt idx="4">
                  <c:v>1400</c:v>
                </c:pt>
              </c:numCache>
            </c:numRef>
          </c:val>
        </c:ser>
        <c:dLbls>
          <c:numFmt formatCode="#,##0" sourceLinked="0"/>
          <c:txPr>
            <a:bodyPr/>
            <a:lstStyle/>
            <a:p>
              <a:pPr>
                <a:defRPr sz="1100" b="0">
                  <a:solidFill>
                    <a:srgbClr val="3F3F3F"/>
                  </a:solidFill>
                  <a:latin typeface="Garamond"/>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legend>
      <c:legendPos val="b"/>
      <c:overlay val="0"/>
      <c:txPr>
        <a:bodyPr/>
        <a:lstStyle/>
        <a:p>
          <a:pPr>
            <a:defRPr sz="1100" b="0">
              <a:solidFill>
                <a:srgbClr val="3F3F3F"/>
              </a:solidFill>
              <a:latin typeface="Garamond"/>
            </a:defRPr>
          </a:pPr>
        </a:p>
      </c:txPr>
    </c:legend>
    <c:dispBlanksAs val="gap"/>
  </c:chart>
  <c:txPr>
    <a:bodyPr/>
    <a:lstStyle/>
    <a:p>
      <a:pPr>
        <a:defRPr sz="1200" b="0">
          <a:solidFill>
            <a:srgbClr val="3F3F3F"/>
          </a:solidFill>
          <a:latin typeface="Garamo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Modules</c:v>
                </c:pt>
              </c:strCache>
            </c:strRef>
          </c:tx>
          <c:spPr>
            <a:solidFill>
              <a:srgbClr val="002060"/>
            </a:solidFill>
          </c:spPr>
          <c:cat>
            <c:strRef>
              <c:f>Sheet1!$A$2:$A$4</c:f>
              <c:strCache>
                <c:ptCount val="3"/>
                <c:pt idx="0">
                  <c:v>2023</c:v>
                </c:pt>
                <c:pt idx="1">
                  <c:v>2025</c:v>
                </c:pt>
                <c:pt idx="2">
                  <c:v>2026 Target</c:v>
                </c:pt>
              </c:strCache>
            </c:strRef>
          </c:cat>
          <c:val>
            <c:numRef>
              <c:f>Sheet1!$B$2:$B$4</c:f>
              <c:numCache>
                <c:formatCode>#,##0</c:formatCode>
                <c:ptCount val="3"/>
                <c:pt idx="0">
                  <c:v>178</c:v>
                </c:pt>
                <c:pt idx="1">
                  <c:v>757</c:v>
                </c:pt>
                <c:pt idx="2">
                  <c:v>1200</c:v>
                </c:pt>
              </c:numCache>
            </c:numRef>
          </c:val>
        </c:ser>
        <c:dLbls>
          <c:numFmt formatCode="#,##0" sourceLinked="0"/>
          <c:txPr>
            <a:bodyPr/>
            <a:lstStyle/>
            <a:p>
              <a:pPr>
                <a:defRPr sz="1100" b="0">
                  <a:solidFill>
                    <a:srgbClr val="3F3F3F"/>
                  </a:solidFill>
                  <a:latin typeface="Garamond"/>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dispBlanksAs val="gap"/>
  </c:chart>
  <c:txPr>
    <a:bodyPr/>
    <a:lstStyle/>
    <a:p>
      <a:pPr>
        <a:defRPr sz="1200" b="0">
          <a:solidFill>
            <a:srgbClr val="3F3F3F"/>
          </a:solidFill>
          <a:latin typeface="Garamo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AP EBITDA margin</c:v>
                </c:pt>
              </c:strCache>
            </c:strRef>
          </c:tx>
          <c:spPr>
            <a:ln w="28575">
              <a:solidFill>
                <a:srgbClr val="002060"/>
              </a:solidFill>
            </a:ln>
          </c:spPr>
          <c:marker>
            <c:symbol val="none"/>
          </c:marker>
          <c:cat>
            <c:strRef>
              <c:f>Sheet1!$A$2:$A$5</c:f>
              <c:strCache>
                <c:ptCount val="4"/>
                <c:pt idx="0">
                  <c:v>FY2025</c:v>
                </c:pt>
                <c:pt idx="1">
                  <c:v>Q4'25</c:v>
                </c:pt>
                <c:pt idx="2">
                  <c:v>Q1'26</c:v>
                </c:pt>
                <c:pt idx="3">
                  <c:v>Q2'26</c:v>
                </c:pt>
              </c:strCache>
            </c:strRef>
          </c:cat>
          <c:val>
            <c:numRef>
              <c:f>Sheet1!$B$2:$B$5</c:f>
              <c:numCache>
                <c:formatCode>0.0</c:formatCode>
                <c:ptCount val="4"/>
                <c:pt idx="0">
                  <c:v>34.7</c:v>
                </c:pt>
                <c:pt idx="1">
                  <c:v>35.0</c:v>
                </c:pt>
                <c:pt idx="2">
                  <c:v>29.9</c:v>
                </c:pt>
                <c:pt idx="3">
                  <c:v>28.5</c:v>
                </c:pt>
              </c:numCache>
            </c:numRef>
          </c:val>
          <c:smooth val="0"/>
        </c:ser>
        <c:dLbls>
          <c:numFmt formatCode="0.0" sourceLinked="0"/>
          <c:txPr>
            <a:bodyPr/>
            <a:lstStyle/>
            <a:p>
              <a:pPr>
                <a:defRPr sz="1100" b="0">
                  <a:solidFill>
                    <a:srgbClr val="3F3F3F"/>
                  </a:solidFill>
                  <a:latin typeface="Garamond"/>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40495176"/>
        <c:crosses val="autoZero"/>
        <c:auto val="1"/>
        <c:lblAlgn val="ctr"/>
        <c:lblOffset val="100"/>
        <c:noMultiLvlLbl val="0"/>
      </c:catAx>
      <c:valAx>
        <c:axId val="2140495176"/>
        <c:scaling/>
        <c:delete val="0"/>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118791784"/>
        <c:crosses val="autoZero"/>
      </c:valAx>
    </c:plotArea>
    <c:plotVisOnly val="1"/>
    <c:dispBlanksAs val="gap"/>
    <c:showDLblsOverMax val="0"/>
  </c:chart>
  <c:txPr>
    <a:bodyPr/>
    <a:lstStyle/>
    <a:p>
      <a:pPr>
        <a:defRPr sz="1200" b="0">
          <a:solidFill>
            <a:srgbClr val="3F3F3F"/>
          </a:solidFill>
          <a:latin typeface="Garamo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F3F3F"/>
                </a:solidFill>
                <a:latin typeface="Garamond"/>
              </a:rPr>
              <a:t>Quarterly Dividend per Share ($)</a:t>
            </a:r>
          </a:p>
        </c:rich>
      </c:tx>
      <c:layout/>
      <c:overlay val="0"/>
    </c:title>
    <c:autoTitleDeleted val="0"/>
    <c:plotArea>
      <c:barChart>
        <c:barDir val="col"/>
        <c:grouping val="clustered"/>
        <c:ser>
          <c:idx val="0"/>
          <c:order val="0"/>
          <c:tx>
            <c:strRef>
              <c:f>Sheet1!$B$1</c:f>
              <c:strCache>
                <c:ptCount val="1"/>
                <c:pt idx="0">
                  <c:v>Dividend per share</c:v>
                </c:pt>
              </c:strCache>
            </c:strRef>
          </c:tx>
          <c:spPr>
            <a:solidFill>
              <a:srgbClr val="002060"/>
            </a:solidFill>
          </c:spPr>
          <c:cat>
            <c:strRef>
              <c:f>Sheet1!$A$2:$A$6</c:f>
              <c:strCache>
                <c:ptCount val="5"/>
                <c:pt idx="0">
                  <c:v>Q2'25</c:v>
                </c:pt>
                <c:pt idx="1">
                  <c:v>Q3'25</c:v>
                </c:pt>
                <c:pt idx="2">
                  <c:v>Q4'25</c:v>
                </c:pt>
                <c:pt idx="3">
                  <c:v>Q1'26</c:v>
                </c:pt>
                <c:pt idx="4">
                  <c:v>Q2'26</c:v>
                </c:pt>
              </c:strCache>
            </c:strRef>
          </c:cat>
          <c:val>
            <c:numRef>
              <c:f>Sheet1!$B$2:$B$6</c:f>
              <c:numCache>
                <c:formatCode>$0.00</c:formatCode>
                <c:ptCount val="5"/>
                <c:pt idx="0">
                  <c:v>0.3</c:v>
                </c:pt>
                <c:pt idx="1">
                  <c:v>0.35</c:v>
                </c:pt>
                <c:pt idx="2">
                  <c:v>0.4</c:v>
                </c:pt>
                <c:pt idx="3">
                  <c:v>0.45</c:v>
                </c:pt>
                <c:pt idx="4">
                  <c:v>0.5</c:v>
                </c:pt>
              </c:numCache>
            </c:numRef>
          </c:val>
        </c:ser>
        <c:dLbls>
          <c:numFmt formatCode="$0.00" sourceLinked="0"/>
          <c:txPr>
            <a:bodyPr/>
            <a:lstStyle/>
            <a:p>
              <a:pPr>
                <a:defRPr sz="1100" b="0">
                  <a:solidFill>
                    <a:srgbClr val="3F3F3F"/>
                  </a:solidFill>
                  <a:latin typeface="Garamond"/>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dispBlanksAs val="gap"/>
  </c:chart>
  <c:txPr>
    <a:bodyPr/>
    <a:lstStyle/>
    <a:p>
      <a:pPr>
        <a:defRPr sz="1200" b="0">
          <a:solidFill>
            <a:srgbClr val="3F3F3F"/>
          </a:solidFill>
          <a:latin typeface="Garamo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Retirement assumption</c:v>
                </c:pt>
              </c:strCache>
            </c:strRef>
          </c:tx>
          <c:spPr>
            <a:solidFill>
              <a:srgbClr val="002060"/>
            </a:solidFill>
          </c:spPr>
          <c:cat>
            <c:strRef>
              <c:f>Sheet1!$A$2:$A$5</c:f>
              <c:strCache>
                <c:ptCount val="4"/>
                <c:pt idx="0">
                  <c:v>2025 view</c:v>
                </c:pt>
                <c:pt idx="1">
                  <c:v>Jan 2026</c:v>
                </c:pt>
                <c:pt idx="2">
                  <c:v>Mid-2026</c:v>
                </c:pt>
                <c:pt idx="3">
                  <c:v>Sep 2026</c:v>
                </c:pt>
              </c:strCache>
            </c:strRef>
          </c:cat>
          <c:val>
            <c:numRef>
              <c:f>Sheet1!$B$2:$B$5</c:f>
              <c:numCache>
                <c:formatCode>0.0#</c:formatCode>
                <c:ptCount val="4"/>
                <c:pt idx="0">
                  <c:v>3.5</c:v>
                </c:pt>
                <c:pt idx="1">
                  <c:v>2.5</c:v>
                </c:pt>
                <c:pt idx="2">
                  <c:v>2.0</c:v>
                </c:pt>
                <c:pt idx="3">
                  <c:v>1.75</c:v>
                </c:pt>
              </c:numCache>
            </c:numRef>
          </c:val>
        </c:ser>
        <c:dLbls>
          <c:numFmt formatCode="0.0#" sourceLinked="0"/>
          <c:txPr>
            <a:bodyPr/>
            <a:lstStyle/>
            <a:p>
              <a:pPr>
                <a:defRPr sz="1100" b="0">
                  <a:solidFill>
                    <a:srgbClr val="3F3F3F"/>
                  </a:solidFill>
                  <a:latin typeface="Garamond"/>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dispBlanksAs val="gap"/>
  </c:chart>
  <c:txPr>
    <a:bodyPr/>
    <a:lstStyle/>
    <a:p>
      <a:pPr>
        <a:defRPr sz="1200" b="0">
          <a:solidFill>
            <a:srgbClr val="3F3F3F"/>
          </a:solidFill>
          <a:latin typeface="Garamo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Adj. EBITDA margin</c:v>
                </c:pt>
              </c:strCache>
            </c:strRef>
          </c:tx>
          <c:spPr>
            <a:solidFill>
              <a:srgbClr val="002060"/>
            </a:solidFill>
          </c:spPr>
          <c:cat>
            <c:strRef>
              <c:f>Sheet1!$A$2:$A$4</c:f>
              <c:strCache>
                <c:ptCount val="3"/>
                <c:pt idx="0">
                  <c:v>FTAI Aerospace Products</c:v>
                </c:pt>
                <c:pt idx="1">
                  <c:v>StandardAero</c:v>
                </c:pt>
                <c:pt idx="2">
                  <c:v>AerSale</c:v>
                </c:pt>
              </c:strCache>
            </c:strRef>
          </c:cat>
          <c:val>
            <c:numRef>
              <c:f>Sheet1!$B$2:$B$4</c:f>
              <c:numCache>
                <c:formatCode>0.0</c:formatCode>
                <c:ptCount val="3"/>
                <c:pt idx="0">
                  <c:v>34.7</c:v>
                </c:pt>
                <c:pt idx="1">
                  <c:v>13.3</c:v>
                </c:pt>
                <c:pt idx="2">
                  <c:v>13.7</c:v>
                </c:pt>
              </c:numCache>
            </c:numRef>
          </c:val>
        </c:ser>
        <c:dLbls>
          <c:numFmt formatCode="0.0" sourceLinked="0"/>
          <c:txPr>
            <a:bodyPr/>
            <a:lstStyle/>
            <a:p>
              <a:pPr>
                <a:defRPr sz="1100" b="0">
                  <a:solidFill>
                    <a:srgbClr val="3F3F3F"/>
                  </a:solidFill>
                  <a:latin typeface="Garamond"/>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dispBlanksAs val="gap"/>
  </c:chart>
  <c:txPr>
    <a:bodyPr/>
    <a:lstStyle/>
    <a:p>
      <a:pPr>
        <a:defRPr sz="1200" b="0">
          <a:solidFill>
            <a:srgbClr val="3F3F3F"/>
          </a:solidFill>
          <a:latin typeface="Garamo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2027 Power EBITDA</c:v>
                </c:pt>
              </c:strCache>
            </c:strRef>
          </c:tx>
          <c:spPr>
            <a:solidFill>
              <a:srgbClr val="002060"/>
            </a:solidFill>
          </c:spPr>
          <c:cat>
            <c:strRef>
              <c:f>Sheet1!$A$2:$A$5</c:f>
              <c:strCache>
                <c:ptCount val="4"/>
                <c:pt idx="0">
                  <c:v>Bear (S3)</c:v>
                </c:pt>
                <c:pt idx="1">
                  <c:v>Plan</c:v>
                </c:pt>
                <c:pt idx="2">
                  <c:v>Bull (L2)</c:v>
                </c:pt>
                <c:pt idx="3">
                  <c:v>Release high</c:v>
                </c:pt>
              </c:strCache>
            </c:strRef>
          </c:cat>
          <c:val>
            <c:numRef>
              <c:f>Sheet1!$B$2:$B$5</c:f>
              <c:numCache>
                <c:formatCode>#,##0</c:formatCode>
                <c:ptCount val="4"/>
                <c:pt idx="0">
                  <c:v>300</c:v>
                </c:pt>
                <c:pt idx="1">
                  <c:v>450</c:v>
                </c:pt>
                <c:pt idx="2">
                  <c:v>600</c:v>
                </c:pt>
                <c:pt idx="3">
                  <c:v>750</c:v>
                </c:pt>
              </c:numCache>
            </c:numRef>
          </c:val>
        </c:ser>
        <c:dLbls>
          <c:numFmt formatCode="#,##0" sourceLinked="0"/>
          <c:txPr>
            <a:bodyPr/>
            <a:lstStyle/>
            <a:p>
              <a:pPr>
                <a:defRPr sz="1100" b="0">
                  <a:solidFill>
                    <a:srgbClr val="3F3F3F"/>
                  </a:solidFill>
                  <a:latin typeface="Garamond"/>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dispBlanksAs val="gap"/>
  </c:chart>
  <c:txPr>
    <a:bodyPr/>
    <a:lstStyle/>
    <a:p>
      <a:pPr>
        <a:defRPr sz="1200" b="0">
          <a:solidFill>
            <a:srgbClr val="3F3F3F"/>
          </a:solidFill>
          <a:latin typeface="Garamo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Q2'26 Leasing EBITDA ($M)</c:v>
                </c:pt>
              </c:strCache>
            </c:strRef>
          </c:tx>
          <c:dPt>
            <c:idx val="0"/>
            <c:spPr>
              <a:solidFill>
                <a:srgbClr val="002060"/>
              </a:solidFill>
              <a:ln>
                <a:solidFill>
                  <a:srgbClr val="FFFFFF"/>
                </a:solidFill>
              </a:ln>
            </c:spPr>
          </c:dPt>
          <c:dPt>
            <c:idx val="1"/>
            <c:spPr>
              <a:solidFill>
                <a:srgbClr val="FFC000"/>
              </a:solidFill>
              <a:ln>
                <a:solidFill>
                  <a:srgbClr val="FFFFFF"/>
                </a:solidFill>
              </a:ln>
            </c:spPr>
          </c:dPt>
          <c:dPt>
            <c:idx val="2"/>
            <c:spPr>
              <a:solidFill>
                <a:srgbClr val="A5A5A5"/>
              </a:solidFill>
              <a:ln>
                <a:solidFill>
                  <a:srgbClr val="FFFFFF"/>
                </a:solidFill>
              </a:ln>
            </c:spPr>
          </c:dPt>
          <c:dLbls>
            <c:dLbl>
              <c:idx val="0"/>
              <c:spPr/>
              <c:txPr>
                <a:bodyPr/>
                <a:lstStyle/>
                <a:p>
                  <a:pPr>
                    <a:defRPr sz="1100" b="0">
                      <a:solidFill>
                        <a:srgbClr val="FFFFFF"/>
                      </a:solidFill>
                      <a:latin typeface="Garamond"/>
                    </a:defRPr>
                  </a:pPr>
                </a:p>
              </c:txPr>
              <c:showLegendKey val="0"/>
              <c:showVal val="1"/>
              <c:showCatName val="0"/>
              <c:showSerName val="0"/>
              <c:showPercent val="0"/>
              <c:showBubbleSize val="0"/>
            </c:dLbl>
            <c:dLbl>
              <c:idx val="1"/>
              <c:spPr/>
              <c:txPr>
                <a:bodyPr/>
                <a:lstStyle/>
                <a:p>
                  <a:pPr>
                    <a:defRPr sz="1100" b="0">
                      <a:solidFill>
                        <a:srgbClr val="3F3F3F"/>
                      </a:solidFill>
                      <a:latin typeface="Garamond"/>
                    </a:defRPr>
                  </a:pPr>
                </a:p>
              </c:txPr>
              <c:showLegendKey val="0"/>
              <c:showVal val="1"/>
              <c:showCatName val="0"/>
              <c:showSerName val="0"/>
              <c:showPercent val="0"/>
              <c:showBubbleSize val="0"/>
            </c:dLbl>
            <c:dLbl>
              <c:idx val="2"/>
              <c:spPr/>
              <c:txPr>
                <a:bodyPr/>
                <a:lstStyle/>
                <a:p>
                  <a:pPr>
                    <a:defRPr sz="1100" b="0">
                      <a:solidFill>
                        <a:srgbClr val="3F3F3F"/>
                      </a:solidFill>
                      <a:latin typeface="Garamond"/>
                    </a:defRPr>
                  </a:pPr>
                </a:p>
              </c:txPr>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Balance-sheet leasing + gains</c:v>
                </c:pt>
                <c:pt idx="1">
                  <c:v>SCI fees + co-invest</c:v>
                </c:pt>
                <c:pt idx="2">
                  <c:v>Insurance recoveries</c:v>
                </c:pt>
              </c:strCache>
            </c:strRef>
          </c:cat>
          <c:val>
            <c:numRef>
              <c:f>Sheet1!$B$2:$B$4</c:f>
              <c:numCache>
                <c:formatCode>#,##0</c:formatCode>
                <c:ptCount val="3"/>
                <c:pt idx="0">
                  <c:v>48</c:v>
                </c:pt>
                <c:pt idx="1">
                  <c:v>35</c:v>
                </c:pt>
                <c:pt idx="2">
                  <c:v>5</c:v>
                </c:pt>
              </c:numCache>
            </c:numRef>
          </c:val>
        </c:ser>
        <c:dLbls>
          <c:numFmt formatCode="#,##0" sourceLinked="0"/>
          <c:txPr>
            <a:bodyPr/>
            <a:lstStyle/>
            <a:p>
              <a:pPr>
                <a:defRPr sz="1100" b="0">
                  <a:solidFill>
                    <a:srgbClr val="3F3F3F"/>
                  </a:solidFill>
                  <a:latin typeface="Garamond"/>
                </a:defRPr>
              </a:pPr>
            </a:p>
          </c:txPr>
          <c:showLegendKey val="0"/>
          <c:showVal val="1"/>
          <c:showCatName val="0"/>
          <c:showSerName val="0"/>
          <c:showPercent val="0"/>
          <c:showBubbleSize val="0"/>
          <c:showLeaderLines val="1"/>
        </c:dLbls>
        <c:firstSliceAng val="0"/>
        <c:holeSize val="50"/>
      </c:doughnutChart>
    </c:plotArea>
    <c:legend>
      <c:legendPos val="b"/>
      <c:layout/>
      <c:overlay val="0"/>
      <c:txPr>
        <a:bodyPr/>
        <a:lstStyle/>
        <a:p>
          <a:pPr>
            <a:defRPr sz="1100" b="0">
              <a:solidFill>
                <a:srgbClr val="3F3F3F"/>
              </a:solidFill>
              <a:latin typeface="Garamond"/>
            </a:defRPr>
          </a:pPr>
        </a:p>
      </c:txPr>
    </c:legend>
    <c:plotVisOnly val="1"/>
    <c:dispBlanksAs val="gap"/>
    <c:showDLblsOverMax val="0"/>
  </c:chart>
  <c:txPr>
    <a:bodyPr/>
    <a:lstStyle/>
    <a:p>
      <a:pPr>
        <a:defRPr sz="1200" b="0">
          <a:solidFill>
            <a:srgbClr val="3F3F3F"/>
          </a:solidFill>
          <a:latin typeface="Garamond"/>
        </a:defRPr>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Implied by $167 price</c:v>
                </c:pt>
              </c:strCache>
            </c:strRef>
          </c:tx>
          <c:spPr>
            <a:solidFill>
              <a:srgbClr val="002060"/>
            </a:solidFill>
          </c:spPr>
          <c:dLbls>
            <c:numFmt formatCode="0.0;-0.0;;" sourceLinked="0"/>
            <c:txPr>
              <a:bodyPr/>
              <a:lstStyle/>
              <a:p>
                <a:pPr>
                  <a:defRPr sz="1100" b="0">
                    <a:solidFill>
                      <a:srgbClr val="FFFFFF"/>
                    </a:solidFill>
                    <a:latin typeface="Garamond"/>
                  </a:defRPr>
                </a:pPr>
              </a:p>
            </c:txPr>
            <c:dLblPos val="ctr"/>
            <c:showLegendKey val="0"/>
            <c:showVal val="1"/>
            <c:showCatName val="0"/>
            <c:showSerName val="0"/>
            <c:showPercent val="0"/>
            <c:showBubbleSize val="0"/>
            <c:showLeaderLines val="1"/>
          </c:dLbls>
          <c:cat>
            <c:strRef>
              <c:f>Sheet1!$A$2:$A$6</c:f>
              <c:strCache>
                <c:ptCount val="5"/>
                <c:pt idx="0">
                  <c:v>WACC 8.5%</c:v>
                </c:pt>
                <c:pt idx="1">
                  <c:v>WACC 9%</c:v>
                </c:pt>
                <c:pt idx="2">
                  <c:v>WACC 10% (base)</c:v>
                </c:pt>
                <c:pt idx="3">
                  <c:v>WACC 11%</c:v>
                </c:pt>
                <c:pt idx="4">
                  <c:v>Street target</c:v>
                </c:pt>
              </c:strCache>
            </c:strRef>
          </c:cat>
          <c:val>
            <c:numRef>
              <c:f>Sheet1!$B$2:$B$6</c:f>
              <c:numCache>
                <c:formatCode>0.0</c:formatCode>
                <c:ptCount val="5"/>
                <c:pt idx="0">
                  <c:v>0.4</c:v>
                </c:pt>
                <c:pt idx="1">
                  <c:v>0.9</c:v>
                </c:pt>
                <c:pt idx="2">
                  <c:v>1.9</c:v>
                </c:pt>
                <c:pt idx="3">
                  <c:v>2.9</c:v>
                </c:pt>
                <c:pt idx="4">
                  <c:v>0</c:v>
                </c:pt>
              </c:numCache>
            </c:numRef>
          </c:val>
        </c:ser>
        <c:ser>
          <c:idx val="1"/>
          <c:order val="1"/>
          <c:tx>
            <c:strRef>
              <c:f>Sheet1!$C$1</c:f>
              <c:strCache>
                <c:ptCount val="1"/>
                <c:pt idx="0">
                  <c:v>Implied by $316 mean target (10% WACC)</c:v>
                </c:pt>
              </c:strCache>
            </c:strRef>
          </c:tx>
          <c:spPr>
            <a:solidFill>
              <a:srgbClr val="FFC000"/>
            </a:solidFill>
          </c:spPr>
          <c:dLbls>
            <c:numFmt formatCode="0.0;-0.0;;" sourceLinked="0"/>
            <c:txPr>
              <a:bodyPr/>
              <a:lstStyle/>
              <a:p>
                <a:pPr>
                  <a:defRPr sz="1100" b="0">
                    <a:solidFill>
                      <a:srgbClr val="3F3F3F"/>
                    </a:solidFill>
                    <a:latin typeface="Garamond"/>
                  </a:defRPr>
                </a:pPr>
              </a:p>
            </c:txPr>
            <c:dLblPos val="ctr"/>
            <c:showLegendKey val="0"/>
            <c:showVal val="1"/>
            <c:showCatName val="0"/>
            <c:showSerName val="0"/>
            <c:showPercent val="0"/>
            <c:showBubbleSize val="0"/>
            <c:showLeaderLines val="1"/>
          </c:dLbls>
          <c:cat>
            <c:strRef>
              <c:f>Sheet1!$A$2:$A$6</c:f>
              <c:strCache>
                <c:ptCount val="5"/>
                <c:pt idx="0">
                  <c:v>WACC 8.5%</c:v>
                </c:pt>
                <c:pt idx="1">
                  <c:v>WACC 9%</c:v>
                </c:pt>
                <c:pt idx="2">
                  <c:v>WACC 10% (base)</c:v>
                </c:pt>
                <c:pt idx="3">
                  <c:v>WACC 11%</c:v>
                </c:pt>
                <c:pt idx="4">
                  <c:v>Street target</c:v>
                </c:pt>
              </c:strCache>
            </c:strRef>
          </c:cat>
          <c:val>
            <c:numRef>
              <c:f>Sheet1!$C$2:$C$6</c:f>
              <c:numCache>
                <c:formatCode>0.0</c:formatCode>
                <c:ptCount val="5"/>
                <c:pt idx="0">
                  <c:v>0</c:v>
                </c:pt>
                <c:pt idx="1">
                  <c:v>0</c:v>
                </c:pt>
                <c:pt idx="2">
                  <c:v>0</c:v>
                </c:pt>
                <c:pt idx="3">
                  <c:v>0</c:v>
                </c:pt>
                <c:pt idx="4">
                  <c:v>5.4</c:v>
                </c:pt>
              </c:numCache>
            </c:numRef>
          </c:val>
        </c:ser>
        <c:dLbls>
          <c:numFmt formatCode="0.0;-0.0;;" sourceLinked="0"/>
          <c:txPr>
            <a:bodyPr/>
            <a:lstStyle/>
            <a:p>
              <a:pPr>
                <a:defRPr sz="1100" b="0">
                  <a:solidFill>
                    <a:srgbClr val="3F3F3F"/>
                  </a:solidFill>
                  <a:latin typeface="Garamond"/>
                </a:defRPr>
              </a:pPr>
            </a:p>
          </c:txPr>
          <c:dLblPos val="ct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legend>
      <c:legendPos val="b"/>
      <c:overlay val="0"/>
      <c:txPr>
        <a:bodyPr/>
        <a:lstStyle/>
        <a:p>
          <a:pPr>
            <a:defRPr sz="1100" b="0">
              <a:solidFill>
                <a:srgbClr val="3F3F3F"/>
              </a:solidFill>
              <a:latin typeface="Garamond"/>
            </a:defRPr>
          </a:pPr>
        </a:p>
      </c:txPr>
    </c:legend>
    <c:dispBlanksAs val="gap"/>
  </c:chart>
  <c:txPr>
    <a:bodyPr/>
    <a:lstStyle/>
    <a:p>
      <a:pPr>
        <a:defRPr sz="1200" b="0">
          <a:solidFill>
            <a:srgbClr val="3F3F3F"/>
          </a:solidFill>
          <a:latin typeface="Garamond"/>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 per share</c:v>
                </c:pt>
              </c:strCache>
            </c:strRef>
          </c:tx>
          <c:spPr>
            <a:solidFill>
              <a:srgbClr val="002060"/>
            </a:solidFill>
          </c:spPr>
          <c:cat>
            <c:strRef>
              <c:f>Sheet1!$A$2:$A$7</c:f>
              <c:strCache>
                <c:ptCount val="6"/>
                <c:pt idx="0">
                  <c:v>Leasing +/-1x</c:v>
                </c:pt>
                <c:pt idx="1">
                  <c:v>AP margin +/-1pp</c:v>
                </c:pt>
                <c:pt idx="2">
                  <c:v>AP EBITDA +/-$100M</c:v>
                </c:pt>
                <c:pt idx="3">
                  <c:v>Power +/-$150M</c:v>
                </c:pt>
                <c:pt idx="4">
                  <c:v>WACC +/-1pp</c:v>
                </c:pt>
                <c:pt idx="5">
                  <c:v>Post-2027 growth +/-1pp</c:v>
                </c:pt>
              </c:strCache>
            </c:strRef>
          </c:cat>
          <c:val>
            <c:numRef>
              <c:f>Sheet1!$B$2:$B$7</c:f>
              <c:numCache>
                <c:formatCode>$0</c:formatCode>
                <c:ptCount val="6"/>
                <c:pt idx="0">
                  <c:v>4</c:v>
                </c:pt>
                <c:pt idx="1">
                  <c:v>4</c:v>
                </c:pt>
                <c:pt idx="2">
                  <c:v>9</c:v>
                </c:pt>
                <c:pt idx="3">
                  <c:v>14</c:v>
                </c:pt>
                <c:pt idx="4">
                  <c:v>25</c:v>
                </c:pt>
                <c:pt idx="5">
                  <c:v>25</c:v>
                </c:pt>
              </c:numCache>
            </c:numRef>
          </c:val>
        </c:ser>
        <c:dLbls>
          <c:numFmt formatCode="$0" sourceLinked="0"/>
          <c:txPr>
            <a:bodyPr/>
            <a:lstStyle/>
            <a:p>
              <a:pPr>
                <a:defRPr sz="1100" b="0">
                  <a:solidFill>
                    <a:srgbClr val="3F3F3F"/>
                  </a:solidFill>
                  <a:latin typeface="Garamond"/>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b"/>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dispBlanksAs val="gap"/>
  </c:chart>
  <c:txPr>
    <a:bodyPr/>
    <a:lstStyle/>
    <a:p>
      <a:pPr>
        <a:defRPr sz="1200" b="0">
          <a:solidFill>
            <a:srgbClr val="3F3F3F"/>
          </a:solidFill>
          <a:latin typeface="Garamond"/>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Scenario value</c:v>
                </c:pt>
              </c:strCache>
            </c:strRef>
          </c:tx>
          <c:spPr>
            <a:solidFill>
              <a:srgbClr val="002060"/>
            </a:solidFill>
          </c:spPr>
          <c:dLbls>
            <c:numFmt formatCode="$#,##0;($#,##0);;" sourceLinked="0"/>
            <c:txPr>
              <a:bodyPr/>
              <a:lstStyle/>
              <a:p>
                <a:pPr>
                  <a:defRPr sz="1100" b="0">
                    <a:solidFill>
                      <a:srgbClr val="FFFFFF"/>
                    </a:solidFill>
                    <a:latin typeface="Garamond"/>
                  </a:defRPr>
                </a:pPr>
              </a:p>
            </c:txPr>
            <c:dLblPos val="ctr"/>
            <c:showLegendKey val="0"/>
            <c:showVal val="1"/>
            <c:showCatName val="0"/>
            <c:showSerName val="0"/>
            <c:showPercent val="0"/>
            <c:showBubbleSize val="0"/>
            <c:showLeaderLines val="1"/>
          </c:dLbls>
          <c:cat>
            <c:strRef>
              <c:f>Sheet1!$A$2:$A$6</c:f>
              <c:strCache>
                <c:ptCount val="5"/>
                <c:pt idx="0">
                  <c:v>Bear (30%)</c:v>
                </c:pt>
                <c:pt idx="1">
                  <c:v>Base (45%)</c:v>
                </c:pt>
                <c:pt idx="2">
                  <c:v>Bull (25%)</c:v>
                </c:pt>
                <c:pt idx="3">
                  <c:v>Weighted</c:v>
                </c:pt>
                <c:pt idx="4">
                  <c:v>Price today</c:v>
                </c:pt>
              </c:strCache>
            </c:strRef>
          </c:cat>
          <c:val>
            <c:numRef>
              <c:f>Sheet1!$B$2:$B$6</c:f>
              <c:numCache>
                <c:formatCode>$#,##0</c:formatCode>
                <c:ptCount val="5"/>
                <c:pt idx="0">
                  <c:v>89</c:v>
                </c:pt>
                <c:pt idx="1">
                  <c:v>172</c:v>
                </c:pt>
                <c:pt idx="2">
                  <c:v>306</c:v>
                </c:pt>
                <c:pt idx="3">
                  <c:v>0</c:v>
                </c:pt>
                <c:pt idx="4">
                  <c:v>0</c:v>
                </c:pt>
              </c:numCache>
            </c:numRef>
          </c:val>
        </c:ser>
        <c:ser>
          <c:idx val="1"/>
          <c:order val="1"/>
          <c:tx>
            <c:strRef>
              <c:f>Sheet1!$C$1</c:f>
              <c:strCache>
                <c:ptCount val="1"/>
                <c:pt idx="0">
                  <c:v>Probability-weighted</c:v>
                </c:pt>
              </c:strCache>
            </c:strRef>
          </c:tx>
          <c:spPr>
            <a:solidFill>
              <a:srgbClr val="FFC000"/>
            </a:solidFill>
          </c:spPr>
          <c:dLbls>
            <c:numFmt formatCode="$#,##0;($#,##0);;" sourceLinked="0"/>
            <c:txPr>
              <a:bodyPr/>
              <a:lstStyle/>
              <a:p>
                <a:pPr>
                  <a:defRPr sz="1100" b="0">
                    <a:solidFill>
                      <a:srgbClr val="3F3F3F"/>
                    </a:solidFill>
                    <a:latin typeface="Garamond"/>
                  </a:defRPr>
                </a:pPr>
              </a:p>
            </c:txPr>
            <c:dLblPos val="ctr"/>
            <c:showLegendKey val="0"/>
            <c:showVal val="1"/>
            <c:showCatName val="0"/>
            <c:showSerName val="0"/>
            <c:showPercent val="0"/>
            <c:showBubbleSize val="0"/>
            <c:showLeaderLines val="1"/>
          </c:dLbls>
          <c:cat>
            <c:strRef>
              <c:f>Sheet1!$A$2:$A$6</c:f>
              <c:strCache>
                <c:ptCount val="5"/>
                <c:pt idx="0">
                  <c:v>Bear (30%)</c:v>
                </c:pt>
                <c:pt idx="1">
                  <c:v>Base (45%)</c:v>
                </c:pt>
                <c:pt idx="2">
                  <c:v>Bull (25%)</c:v>
                </c:pt>
                <c:pt idx="3">
                  <c:v>Weighted</c:v>
                </c:pt>
                <c:pt idx="4">
                  <c:v>Price today</c:v>
                </c:pt>
              </c:strCache>
            </c:strRef>
          </c:cat>
          <c:val>
            <c:numRef>
              <c:f>Sheet1!$C$2:$C$6</c:f>
              <c:numCache>
                <c:formatCode>$#,##0</c:formatCode>
                <c:ptCount val="5"/>
                <c:pt idx="0">
                  <c:v>0</c:v>
                </c:pt>
                <c:pt idx="1">
                  <c:v>0</c:v>
                </c:pt>
                <c:pt idx="2">
                  <c:v>0</c:v>
                </c:pt>
                <c:pt idx="3">
                  <c:v>181</c:v>
                </c:pt>
                <c:pt idx="4">
                  <c:v>0</c:v>
                </c:pt>
              </c:numCache>
            </c:numRef>
          </c:val>
        </c:ser>
        <c:ser>
          <c:idx val="2"/>
          <c:order val="2"/>
          <c:tx>
            <c:strRef>
              <c:f>Sheet1!$D$1</c:f>
              <c:strCache>
                <c:ptCount val="1"/>
                <c:pt idx="0">
                  <c:v>Price today</c:v>
                </c:pt>
              </c:strCache>
            </c:strRef>
          </c:tx>
          <c:spPr>
            <a:solidFill>
              <a:srgbClr val="A5A5A5"/>
            </a:solidFill>
          </c:spPr>
          <c:dLbls>
            <c:numFmt formatCode="$#,##0;($#,##0);;" sourceLinked="0"/>
            <c:txPr>
              <a:bodyPr/>
              <a:lstStyle/>
              <a:p>
                <a:pPr>
                  <a:defRPr sz="1100" b="0">
                    <a:solidFill>
                      <a:srgbClr val="3F3F3F"/>
                    </a:solidFill>
                    <a:latin typeface="Garamond"/>
                  </a:defRPr>
                </a:pPr>
              </a:p>
            </c:txPr>
            <c:dLblPos val="ctr"/>
            <c:showLegendKey val="0"/>
            <c:showVal val="1"/>
            <c:showCatName val="0"/>
            <c:showSerName val="0"/>
            <c:showPercent val="0"/>
            <c:showBubbleSize val="0"/>
            <c:showLeaderLines val="1"/>
          </c:dLbls>
          <c:cat>
            <c:strRef>
              <c:f>Sheet1!$A$2:$A$6</c:f>
              <c:strCache>
                <c:ptCount val="5"/>
                <c:pt idx="0">
                  <c:v>Bear (30%)</c:v>
                </c:pt>
                <c:pt idx="1">
                  <c:v>Base (45%)</c:v>
                </c:pt>
                <c:pt idx="2">
                  <c:v>Bull (25%)</c:v>
                </c:pt>
                <c:pt idx="3">
                  <c:v>Weighted</c:v>
                </c:pt>
                <c:pt idx="4">
                  <c:v>Price today</c:v>
                </c:pt>
              </c:strCache>
            </c:strRef>
          </c:cat>
          <c:val>
            <c:numRef>
              <c:f>Sheet1!$D$2:$D$6</c:f>
              <c:numCache>
                <c:formatCode>$#,##0</c:formatCode>
                <c:ptCount val="5"/>
                <c:pt idx="0">
                  <c:v>0</c:v>
                </c:pt>
                <c:pt idx="1">
                  <c:v>0</c:v>
                </c:pt>
                <c:pt idx="2">
                  <c:v>0</c:v>
                </c:pt>
                <c:pt idx="3">
                  <c:v>0</c:v>
                </c:pt>
                <c:pt idx="4">
                  <c:v>167</c:v>
                </c:pt>
              </c:numCache>
            </c:numRef>
          </c:val>
        </c:ser>
        <c:dLbls>
          <c:numFmt formatCode="$#,##0;($#,##0);;" sourceLinked="0"/>
          <c:txPr>
            <a:bodyPr/>
            <a:lstStyle/>
            <a:p>
              <a:pPr>
                <a:defRPr sz="1100" b="0">
                  <a:solidFill>
                    <a:srgbClr val="3F3F3F"/>
                  </a:solidFill>
                  <a:latin typeface="Garamond"/>
                </a:defRPr>
              </a:pPr>
            </a:p>
          </c:txPr>
          <c:dLblPos val="ct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1100" b="0">
                <a:solidFill>
                  <a:srgbClr val="3F3F3F"/>
                </a:solidFill>
                <a:latin typeface="Garamond"/>
              </a:defRPr>
            </a:pPr>
          </a:p>
        </c:txPr>
        <c:crossAx val="2113994440"/>
        <c:crosses val="autoZero"/>
        <c:auto val="1"/>
        <c:lblAlgn val="ctr"/>
        <c:lblOffset val="100"/>
        <c:noMultiLvlLbl val="0"/>
      </c:catAx>
      <c:valAx>
        <c:axId val="2113994440"/>
        <c:scaling/>
        <c:delete/>
        <c:axPos val="l"/>
        <c:majorGridlines>
          <c:spPr>
            <a:ln w="6350">
              <a:solidFill>
                <a:srgbClr val="D9D9D9"/>
              </a:solidFill>
            </a:ln>
          </c:spPr>
        </c:majorGridlines>
        <c:majorTickMark val="out"/>
        <c:minorTickMark val="none"/>
        <c:tickLblPos val="nextTo"/>
        <c:spPr>
          <a:ln>
            <a:noFill/>
          </a:ln>
        </c:spPr>
        <c:txPr>
          <a:bodyPr/>
          <a:lstStyle/>
          <a:p>
            <a:pPr>
              <a:defRPr sz="1100" b="0">
                <a:solidFill>
                  <a:srgbClr val="3F3F3F"/>
                </a:solidFill>
                <a:latin typeface="Garamond"/>
              </a:defRPr>
            </a:pPr>
          </a:p>
        </c:txPr>
        <c:crossAx val="2068027336"/>
        <c:crosses val="autoZero"/>
      </c:valAx>
    </c:plotArea>
    <c:legend>
      <c:legendPos val="b"/>
      <c:overlay val="0"/>
      <c:txPr>
        <a:bodyPr/>
        <a:lstStyle/>
        <a:p>
          <a:pPr>
            <a:defRPr sz="1100" b="0">
              <a:solidFill>
                <a:srgbClr val="3F3F3F"/>
              </a:solidFill>
              <a:latin typeface="Garamond"/>
            </a:defRPr>
          </a:pPr>
        </a:p>
      </c:txPr>
    </c:legend>
    <c:dispBlanksAs val="gap"/>
  </c:chart>
  <c:txPr>
    <a:bodyPr/>
    <a:lstStyle/>
    <a:p>
      <a:pPr>
        <a:defRPr sz="1200" b="0">
          <a:solidFill>
            <a:srgbClr val="3F3F3F"/>
          </a:solidFill>
          <a:latin typeface="Garamo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pass. The price already assumes management's 2027 plan arrives on time and then grows ~1.9% a year forever (10% WACC). The 24-month probability-weighted value is ~$181 (+8%, ~4%/yr), below a ~10% cost of equity. Sources: FTAI_Company_Evaluation.md and FTAI_Bull_Bear_Theses.md.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Consensus: MarketBeat (9/23/26) rating split and mean target; short interest from MarketBeat (single source). Price-implied growth from the reverse DCF (10% WACC, 76% steady-state cash conversion, $20.6B diluted EV). Scores: each thesis is scored 1-5 on Edge, Materiality, Testability and Evidence. The chart shows each side's average per dimension. The bear side averages 13.7/20 and the bull side 12.1/20, which is within the symmetry band.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Argued as a short-seller who has done the work. Score = Edge + Materiality + Testability + Evidence (each 1-5). Ties are broken by Evidence, then Materiality. Consensus to ours shows the Street or price view of each thesis's single variable against ours. Full blocks with evidence tags, catalysts and dated falsifiers are in FTAI_Bull_Bear_Theses.md.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Argued as a long PM deciding how much to own. L4 is labeled Consensus (Edge 1) because the Street already expects a re-rating; it ranks third on Materiality. Full blocks are in FTAI_Bull_Bear_Theses.md.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three per side by score; these carry forward to the evaluation framework (MY_THESIS) and then the red-team pass. Value-if-right uses 9.6x 2027 EBITDA and 104M diluted shares. Dependency note: S3 and S4 are one bet against Power. S2, S5 and S10 share one driver (competitive and OEM pressure). L1, L7 and L9 rest on airlines accepting used/PMA-based modules. L4 is the valuation of L1 and L2 being delivered.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variable appears in at least one bull and one bear thesis. 'Price implies' comes from the reverse DCF or plan arithmetic (2027 share: $4.7B plan AP revenue over a $22-25B market). Q3'26 consensus EPS is $1.54 (Earnings Whispers, single source).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data: FTAI quarterly releases, Q3'25-Q2'26. Corporate &amp; Other includes FTAI Power start-up costs. Facilities and capacity: Q1'26 and Q2'26 earnings calls. 2027 plan: Q2'26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data: TradingView / stockinvest.us (10/2/26). Balance sheet: Q2'26 10-Q (6/30/26). EV uses 104.1M diluted shares (Q2'26 net income / diluted EPS), $3.50B notes, ~$0.07B preferred (2.6M shares at an assumed $25) and $0.34B cash. FY23 AP EBITDA (~$160M) is rounded from secondary sources. 2026E total = $1,525M segment guide less the H1'26 corporate run-rate; 2027 total = $2.3B plan less ~$150M corporate (estimate). GAAP FCF was -$954M on an aggregator's mid-2025 TTM; the company's "Adjusted FCF" definition differs.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Modules: FY23 release (178 modules to 30 customers), Q4'25 call (757 in 2025), Q2'26 release (1,200 target, raised from 1,050). Margins: AP Adj. EBITDA / AP revenue (FY25 671.3/1,936.2; Q4'25 35% per call; Q1'26 29.9%; Q2'26 28.5%). Incremental margin = YoY change in AP EBITDA / change in AP revenue (Q1'26 91.6/379.2 = 24%; Q2'26 84.8/383.4 = 22%). Per module: Q2'26 $875M / 296 modules and $249.7M / 296; a year earlier $164.9M / 184 = $896K.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Turnaround times and PMA savings: FTAI market-sizing materials via In Practise (undated, single source). Spare-engine rent: Willis Lease Q1'26 lease-rate factor of 1.04% a month. MRE revenue: Q2'26 release ($182.8M of $875M AP revenue). Customer count: FY23 release. GMF: release of 9/23/26. StandardAero engine-services revenue: FY2025 release. CFM materials agreement: Barchart (single source).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Dividends: quarterly releases. Buyback: authorization through Sept 2029 (Simply Wall St, single source). Series C: redemption notice of 5/15/26. Notes: Q2'26 10-Q. CEO pay: 2026 proxy (2024 compensation). Insider trades: Form 4 coverage (Investing.com, MarketBeat, QuiverQuant). Muddy Waters (1/15/25) and Snowcap (1/29/25) allegations; Audit Committee review 8-K (2/20/25); auditor change 8-K (6/17/25); class action per law-firm notices (single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Installed base: StandardAero S-1 (~23,000 CFM56 engines). Shop visits and retirements: GE Aerospace Q4'25 call (1/22/26), Q2'26 call (7/16/26) and remarks at the Morgan Stanley Laguna conference (Sept 2026), via Aviation Week. Chart bars are midpoints of GE's stated ranges (3-4%, 2-3%, ~2%, 1.5-2%). LEAP-1B durability kit: Leeham (7/16/26). Market size: FTAI decks (CFM56 + V2500 spend). Fuel and profits: IATA, June 2026. Rates: FOMC 9/16/26; 10-year per Damodaran (9/1/26).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Peers' FY2025 results: StandardAero release (2/25/26), Willis Lease release (3/10/26), AerSale release (3/5/26). FTAI AP: FY2025 segment data (671.3 / 1,936.2). Willis Lease is left out of the margin chart because a lessor's EBITDA excludes depreciation, its main cost. Willis Lease Module Shop: release of 2/11/26; CFM partnership: Willis Lease Q4'25 call. The moat verdict uses Helmer's 7 Powers.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J&amp;F Power Systems release (7/22/26). Unit size and 2027 plan: Barclays conference (5/6/26) and Q4'25 call. 2027 Power EBITDA: Q2'26 call ($450M, "intentionally conservative") and the order release ($450-750M). EO 14420: Baker McKenzie and Vinson &amp; Elkins summaries (2026); DOE rules due 12/24/26. Jereh: OFAC settlement of 12/12/18 ($2.77M). Bull (L2) and bear (S3) values are from the thesis file.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SCI I: FTAI release (hard cap upsized to $2.0B); ~$6B / ~300 aircraft / ~600 engines per the Barclays and Laguna conferences. SCI II: launch (Aviation Finance, 8/20/26) and $2.0B warehouse facility (FTAI release, 8/26). Co-invest: 15% per the Q2'26 call. ABS: MRE 2026-1 pricing (5/22/26). Leasing mix: Q2'26 call (approximate split of $88.2M). Guide cut: Q2'26 release.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models/ftai/run_ftai.py. Inputs: price $167.03, 104.1M diluted shares, $3,496M notes, $337M cash, ~$65M preferred; diluted EV $20,612M. 2027 total EBITDA = $2.3B segment plan less ~$150M corporate = $2,150M. Steady-state unlevered cash conversion 76% (15% cash tax on EBITDA, ~$200M a year of capex and SCI co-investment). The gold bar is the growth the Street's mean target ($316) implies at a 10% WACC. Peer multiples come from aggregators with mixed bases (trailing and forward); treat them as indicative.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Sensitivities are per share at 104M diluted shares: growth and WACC from the reverse DCF (averages of the up and down moves: growth -$22/+$28, WACC -$21/+$28); EBITDA changes at 9.6x 2027 EBITDA. Base rates: Mauboussin (2007) ROIC persistence (single source); Mauboussin &amp; Callahan, Bayes and Base Rates 2.0 (5/13/26): companies with $2-5B of revenue average 6.9%/yr 5-year growth (SD 11.1%); Damodaran (Jan 2026) aerospace/defense WACC of 7.6%.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24-month scenarios: exit EV/EBITDA on 2029E EBITDA at Oct 2028, net debt and shares at exit, plus ~$4 of dividends. With a 14x bull multiple the weighted value is $198 (+19%, ~9%/yr), still at or below the hurdle. Intrinsic SOTP: AP uses plateau-then-run-off paths; Power uses a plateau and a fade; Leasing/SCI is valued at an EBITDA multiple; corporate cost is capitalized. Base-case value is $89-104 across 4-6 year plateaus and 13-25 year run-offs.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levels are judgment calls weighted by probability and value at stake (see the thesis scores). Each mitigation names the evidence that would ease the risk, so these double as signposts.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Thresholds come from the evaluation's signposts and the theses' dated falsifiers. Q3'26 consensus EPS is $1.54 (Earnings Whispers, single source). The second-half requirement: $1,050M guide less H1 AP EBITDA of $472.3M = ~$578M.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price embeds plan delivery plus perpetual durability, and the expected 24-month return (~4%/yr) is below a ~10% hurdle. Not a short: near-term catalysts skew positive, short interest is 10.4% and a $500M buyback is authorized. The sensitivity table shows base-case intrinsic value per share by WACC and by how long AP holds its peak after 2028.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evidence trail: FTAI_Company_Evaluation.md (Appendix B lists every URL) and FTAI_Bull_Bear_Theses.md (sources added since the evaluation). The environment's network policy blocked SEC EDGAR and FTAI's investor-relations site, so filings were read through search extracts and cross-checked where possible; single-source figures are flagged in those files.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1524304" y="2331720"/>
            <a:ext cx="9144000" cy="621792"/>
          </a:xfrm>
        </p:spPr>
        <p:txBody>
          <a:bodyPr anchor="b" lIns="91440" rIns="91440" tIns="45720" bIns="45720" wrap="square">
            <a:noAutofit/>
          </a:bodyPr>
          <a:lstStyle>
            <a:lvl1pPr marL="0" indent="0" algn="ctr">
              <a:lnSpc>
                <a:spcPct val="100000"/>
              </a:lnSpc>
              <a:spcBef>
                <a:spcPts val="0"/>
              </a:spcBef>
              <a:buNone/>
              <a:defRPr sz="3900" b="1" cap="small">
                <a:solidFill>
                  <a:srgbClr val="3F3F3F"/>
                </a:solidFill>
                <a:latin typeface="Garamond"/>
                <a:ea typeface="Garamond"/>
                <a:cs typeface="Garamond"/>
              </a:defRPr>
            </a:lvl1pPr>
          </a:lstStyle>
          <a:p>
            <a:r>
              <a:rPr lang="en-US" smtClean="0"/>
              <a:t>Click to edit Master title style</a:t>
            </a:r>
            <a:endParaRPr lang="en-US"/>
          </a:p>
        </p:txBody>
      </p:sp>
      <p:sp>
        <p:nvSpPr>
          <p:cNvPr id="3" name="Subtitle 2"/>
          <p:cNvSpPr>
            <a:spLocks noGrp="1"/>
          </p:cNvSpPr>
          <p:nvPr>
            <p:ph type="subTitle" idx="1"/>
          </p:nvPr>
        </p:nvSpPr>
        <p:spPr>
          <a:xfrm>
            <a:off x="1524304" y="5715000"/>
            <a:ext cx="9144000" cy="512064"/>
          </a:xfrm>
        </p:spPr>
        <p:txBody>
          <a:bodyPr anchor="b" lIns="91440" rIns="91440" tIns="45720" bIns="45720" wrap="square">
            <a:noAutofit/>
          </a:bodyPr>
          <a:lstStyle>
            <a:lvl1pPr marL="0" indent="0" algn="ctr">
              <a:lnSpc>
                <a:spcPct val="100000"/>
              </a:lnSpc>
              <a:spcBef>
                <a:spcPts val="0"/>
              </a:spcBef>
              <a:buNone/>
              <a:defRPr sz="2000" b="0" cap="none">
                <a:solidFill>
                  <a:srgbClr val="000000"/>
                </a:solidFill>
                <a:latin typeface="Garamond"/>
                <a:ea typeface="Garamond"/>
                <a:cs typeface="Garamond"/>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Divider">
    <p:spTree>
      <p:nvGrpSpPr>
        <p:cNvPr id="1" name=""/>
        <p:cNvGrpSpPr/>
        <p:nvPr/>
      </p:nvGrpSpPr>
      <p:grpSpPr>
        <a:xfrm>
          <a:off x="0" y="0"/>
          <a:ext cx="0" cy="0"/>
          <a:chOff x="0" y="0"/>
          <a:chExt cx="0" cy="0"/>
        </a:xfrm>
      </p:grpSpPr>
      <p:sp>
        <p:nvSpPr>
          <p:cNvPr id="3" name="Divider Band"/>
          <p:cNvSpPr/>
          <p:nvPr/>
        </p:nvSpPr>
        <p:spPr>
          <a:xfrm>
            <a:off x="-38404" y="2888589"/>
            <a:ext cx="12268504" cy="1019556"/>
          </a:xfrm>
          <a:prstGeom prst="rect">
            <a:avLst/>
          </a:prstGeom>
          <a:solidFill>
            <a:srgbClr val="002060"/>
          </a:solidFill>
          <a:ln w="9525">
            <a:solidFill>
              <a:srgbClr val="233A44"/>
            </a:solidFill>
          </a:ln>
        </p:spPr>
        <p:txBody>
          <a:bodyPr rtlCol="0" anchor="ctr"/>
          <a:lstStyle/>
          <a:p>
            <a:pPr algn="ctr"/>
          </a:p>
        </p:txBody>
      </p:sp>
      <p:sp>
        <p:nvSpPr>
          <p:cNvPr id="4" name="Divider Stripe"/>
          <p:cNvSpPr/>
          <p:nvPr/>
        </p:nvSpPr>
        <p:spPr>
          <a:xfrm>
            <a:off x="-38404" y="3908145"/>
            <a:ext cx="12268504" cy="61264"/>
          </a:xfrm>
          <a:prstGeom prst="rect">
            <a:avLst/>
          </a:prstGeom>
          <a:solidFill>
            <a:srgbClr val="FFC000"/>
          </a:solidFill>
          <a:ln>
            <a:noFill/>
          </a:ln>
        </p:spPr>
        <p:txBody>
          <a:bodyPr rtlCol="0" anchor="ctr"/>
          <a:lstStyle/>
          <a:p>
            <a:pPr algn="ctr"/>
          </a:p>
        </p:txBody>
      </p:sp>
      <p:sp>
        <p:nvSpPr>
          <p:cNvPr id="2" name="Title 1"/>
          <p:cNvSpPr>
            <a:spLocks noGrp="1"/>
          </p:cNvSpPr>
          <p:nvPr>
            <p:ph type="title"/>
          </p:nvPr>
        </p:nvSpPr>
        <p:spPr>
          <a:xfrm>
            <a:off x="717804" y="2888589"/>
            <a:ext cx="10515600" cy="1019556"/>
          </a:xfrm>
        </p:spPr>
        <p:txBody>
          <a:bodyPr anchor="ctr" lIns="91440" rIns="91440" tIns="91440" bIns="91440" wrap="square">
            <a:noAutofit/>
          </a:bodyPr>
          <a:lstStyle>
            <a:lvl1pPr marL="685800" indent="-685800" algn="l">
              <a:lnSpc>
                <a:spcPct val="100000"/>
              </a:lnSpc>
              <a:spcBef>
                <a:spcPts val="0"/>
              </a:spcBef>
              <a:buNone/>
              <a:defRPr sz="3500" b="1" cap="none">
                <a:solidFill>
                  <a:srgbClr val="FFFFFF"/>
                </a:solidFill>
                <a:latin typeface="Garamond"/>
                <a:ea typeface="Garamond"/>
                <a:cs typeface="Garamond"/>
              </a:defRPr>
            </a:lvl1pPr>
          </a:lstStyle>
          <a:p>
            <a:r>
              <a:rPr lang="en-US" smtClean="0"/>
              <a:t>Click to edit Master title style</a:t>
            </a:r>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351129"/>
            <a:ext cx="10012680" cy="365760"/>
          </a:xfrm>
        </p:spPr>
        <p:txBody>
          <a:bodyPr anchor="b" lIns="91440" rIns="91440" tIns="45720" bIns="45720" wrap="square">
            <a:noAutofit/>
          </a:bodyPr>
          <a:lstStyle>
            <a:lvl1pPr marL="0" indent="0" algn="l">
              <a:lnSpc>
                <a:spcPct val="100000"/>
              </a:lnSpc>
              <a:spcBef>
                <a:spcPts val="0"/>
              </a:spcBef>
              <a:buNone/>
              <a:defRPr sz="3000" b="1" cap="small">
                <a:solidFill>
                  <a:srgbClr val="3F3F3F"/>
                </a:solidFill>
                <a:latin typeface="Garamond"/>
                <a:ea typeface="Garamond"/>
                <a:cs typeface="Garamond"/>
              </a:defRPr>
            </a:lvl1pPr>
          </a:lstStyle>
          <a:p>
            <a:r>
              <a:rPr lang="en-US" smtClean="0"/>
              <a:t>Click to edit Master title style</a:t>
            </a:r>
            <a:endParaRPr lang="en-US"/>
          </a:p>
        </p:txBody>
      </p:sp>
      <p:cxnSp>
        <p:nvCxnSpPr>
          <p:cNvPr id="3" name="Title Rule"/>
          <p:cNvCxnSpPr/>
          <p:nvPr/>
        </p:nvCxnSpPr>
        <p:spPr>
          <a:xfrm>
            <a:off x="270662" y="711403"/>
            <a:ext cx="11632996" cy="0"/>
          </a:xfrm>
          <a:prstGeom prst="line">
            <a:avLst/>
          </a:prstGeom>
          <a:ln w="9525">
            <a:solidFill>
              <a:srgbClr val="001746"/>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slideLayout" Target="../slideLayouts/slideLayout3.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8600" y="351129"/>
            <a:ext cx="10012680" cy="365760"/>
          </a:xfrm>
          <a:prstGeom prst="rect">
            <a:avLst/>
          </a:prstGeom>
        </p:spPr>
        <p:txBody>
          <a:bodyPr vert="horz" lIns="91440" tIns="45720" rIns="91440" bIns="45720" rtlCol="0" anchor="b">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2147483660" name="Target Name"/>
          <p:cNvSpPr/>
          <p:nvPr/>
        </p:nvSpPr>
        <p:spPr>
          <a:xfrm>
            <a:off x="9624974" y="173736"/>
            <a:ext cx="2286000" cy="365760"/>
          </a:xfrm>
          <a:prstGeom prst="rect">
            <a:avLst/>
          </a:prstGeom>
          <a:noFill/>
          <a:ln>
            <a:noFill/>
          </a:ln>
        </p:spPr>
        <p:txBody>
          <a:bodyPr rtlCol="0" anchor="ctr" tIns="91440" bIns="91440" wrap="square">
            <a:noAutofit/>
          </a:bodyPr>
          <a:lstStyle/>
          <a:p>
            <a:pPr algn="r"/>
            <a:r>
              <a:rPr sz="1800" b="1" u="none">
                <a:solidFill>
                  <a:srgbClr val="192F63"/>
                </a:solidFill>
                <a:latin typeface="Garamond"/>
                <a:ea typeface="Garamond"/>
                <a:cs typeface="Garamond"/>
              </a:rPr>
              <a:t>FTAI Aviation</a:t>
            </a:r>
          </a:p>
        </p:txBody>
      </p:sp>
      <p:sp>
        <p:nvSpPr>
          <p:cNvPr id="2147483661" name="Sponsor Name"/>
          <p:cNvSpPr/>
          <p:nvPr/>
        </p:nvSpPr>
        <p:spPr>
          <a:xfrm>
            <a:off x="9189720" y="6466636"/>
            <a:ext cx="2286000" cy="322783"/>
          </a:xfrm>
          <a:prstGeom prst="rect">
            <a:avLst/>
          </a:prstGeom>
          <a:noFill/>
          <a:ln>
            <a:noFill/>
          </a:ln>
        </p:spPr>
        <p:txBody>
          <a:bodyPr rtlCol="0" anchor="ctr" tIns="91440" bIns="91440" wrap="square">
            <a:noAutofit/>
          </a:bodyPr>
          <a:lstStyle/>
          <a:p>
            <a:pPr algn="r"/>
            <a:r>
              <a:rPr sz="1200" b="0" u="none" cap="small">
                <a:solidFill>
                  <a:srgbClr val="476779"/>
                </a:solidFill>
                <a:latin typeface="Garamond"/>
                <a:ea typeface="Garamond"/>
                <a:cs typeface="Garamond"/>
              </a:rPr>
              <a:t>Equity Research</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4" r:id="rId6"/>
    <p:sldLayoutId id="2147483655" r:id="rId7"/>
  </p:sldLayoutIdLst>
  <p:txStyles>
    <p:titleStyle>
      <a:lvl1pPr marL="0" indent="0" algn="l">
        <a:lnSpc>
          <a:spcPct val="100000"/>
        </a:lnSpc>
        <a:spcBef>
          <a:spcPts val="0"/>
        </a:spcBef>
        <a:buNone/>
        <a:defRPr sz="3000" b="1" cap="small">
          <a:solidFill>
            <a:srgbClr val="3F3F3F"/>
          </a:solidFill>
          <a:latin typeface="Garamond"/>
          <a:ea typeface="Garamond"/>
          <a:cs typeface="Garamond"/>
        </a:defRPr>
      </a:lvl1pPr>
    </p:titleStyle>
    <p:bodyStyle>
      <a:lvl1pPr marL="457200" indent="-336499" algn="l">
        <a:lnSpc>
          <a:spcPct val="100000"/>
        </a:lnSpc>
        <a:spcBef>
          <a:spcPts val="0"/>
        </a:spcBef>
        <a:buClr>
          <a:srgbClr val="000000"/>
        </a:buClr>
        <a:buFont typeface="Garamond"/>
        <a:buChar char="●"/>
        <a:defRPr sz="1700" b="0" cap="none">
          <a:solidFill>
            <a:srgbClr val="000000"/>
          </a:solidFill>
          <a:latin typeface="Garamond"/>
          <a:ea typeface="Garamond"/>
          <a:cs typeface="Garamond"/>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6.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0.xml"/><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1.xml"/><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2.xml"/><Relationship Id="rId3"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3.xml"/><Relationship Id="rId3"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NASDAQ: FTAI</a:t>
            </a:r>
          </a:p>
        </p:txBody>
      </p:sp>
      <p:sp>
        <p:nvSpPr>
          <p:cNvPr id="3" name="Subtitle 2"/>
          <p:cNvSpPr>
            <a:spLocks noGrp="1"/>
          </p:cNvSpPr>
          <p:nvPr>
            <p:ph type="subTitle" idx="1"/>
          </p:nvPr>
        </p:nvSpPr>
        <p:spPr/>
        <p:txBody>
          <a:bodyPr/>
          <a:lstStyle/>
          <a:p>
            <a:r>
              <a:t>Bull-Bear Debate and Company Evaluation</a:t>
            </a:r>
          </a:p>
        </p:txBody>
      </p:sp>
      <p:sp>
        <p:nvSpPr>
          <p:cNvPr id="4" name="TextBox 3"/>
          <p:cNvSpPr txBox="1"/>
          <p:nvPr/>
        </p:nvSpPr>
        <p:spPr>
          <a:xfrm>
            <a:off x="1524304" y="731520"/>
            <a:ext cx="9144000" cy="1005840"/>
          </a:xfrm>
          <a:prstGeom prst="rect">
            <a:avLst/>
          </a:prstGeom>
          <a:noFill/>
        </p:spPr>
        <p:txBody>
          <a:bodyPr wrap="square" tIns="91440" bIns="91440" anchor="ctr">
            <a:noAutofit/>
          </a:bodyPr>
          <a:lstStyle/>
          <a:p>
            <a:pPr algn="ctr"/>
            <a:r>
              <a:rPr sz="6000" b="1" u="none">
                <a:solidFill>
                  <a:srgbClr val="192F63"/>
                </a:solidFill>
                <a:latin typeface="Garamond"/>
                <a:ea typeface="Garamond"/>
                <a:cs typeface="Garamond"/>
              </a:rPr>
              <a:t>FTAI Aviation</a:t>
            </a:r>
          </a:p>
        </p:txBody>
      </p:sp>
      <p:sp>
        <p:nvSpPr>
          <p:cNvPr id="5" name="KPI Box"/>
          <p:cNvSpPr/>
          <p:nvPr/>
        </p:nvSpPr>
        <p:spPr>
          <a:xfrm>
            <a:off x="3181197" y="3332988"/>
            <a:ext cx="5829300" cy="2111121"/>
          </a:xfrm>
          <a:prstGeom prst="rect">
            <a:avLst/>
          </a:prstGeom>
          <a:noFill/>
          <a:ln w="19050">
            <a:solidFill>
              <a:srgbClr val="192F63"/>
            </a:solidFill>
          </a:ln>
        </p:spPr>
        <p:txBody>
          <a:bodyPr rtlCol="0" anchor="ctr" tIns="91440" bIns="91440" wrap="square">
            <a:noAutofit/>
          </a:bodyPr>
          <a:lstStyle/>
          <a:p>
            <a:pPr algn="ctr" marL="0" indent="0">
              <a:lnSpc>
                <a:spcPct val="150000"/>
              </a:lnSpc>
              <a:buNone/>
            </a:pPr>
            <a:r>
              <a:rPr sz="2700" b="0" u="none" cap="small">
                <a:solidFill>
                  <a:srgbClr val="192F63"/>
                </a:solidFill>
                <a:latin typeface="Garamond"/>
                <a:ea typeface="Garamond"/>
                <a:cs typeface="Garamond"/>
              </a:rPr>
              <a:t>Price: $167.03 (Oct 2, 2026)</a:t>
            </a:r>
          </a:p>
          <a:p>
            <a:pPr algn="ctr" marL="0" indent="0">
              <a:lnSpc>
                <a:spcPct val="150000"/>
              </a:lnSpc>
              <a:buNone/>
            </a:pPr>
            <a:r>
              <a:rPr sz="2700" b="0" u="none" cap="small">
                <a:solidFill>
                  <a:srgbClr val="192F63"/>
                </a:solidFill>
                <a:latin typeface="Garamond"/>
                <a:ea typeface="Garamond"/>
                <a:cs typeface="Garamond"/>
              </a:rPr>
              <a:t>Verdict: Pass</a:t>
            </a:r>
          </a:p>
          <a:p>
            <a:pPr algn="ctr" marL="0" indent="0">
              <a:lnSpc>
                <a:spcPct val="150000"/>
              </a:lnSpc>
              <a:buNone/>
            </a:pPr>
            <a:r>
              <a:rPr sz="2700" b="0" u="none" cap="small">
                <a:solidFill>
                  <a:srgbClr val="192F63"/>
                </a:solidFill>
                <a:latin typeface="Garamond"/>
                <a:ea typeface="Garamond"/>
                <a:cs typeface="Garamond"/>
              </a:rPr>
              <a:t>24-Month Value: $181 (+8%)</a:t>
            </a:r>
          </a:p>
        </p:txBody>
      </p:sp>
      <p:sp>
        <p:nvSpPr>
          <p:cNvPr id="6" name="Sponsor Name"/>
          <p:cNvSpPr/>
          <p:nvPr/>
        </p:nvSpPr>
        <p:spPr>
          <a:xfrm>
            <a:off x="9189720" y="6466636"/>
            <a:ext cx="2286000" cy="322783"/>
          </a:xfrm>
          <a:prstGeom prst="rect">
            <a:avLst/>
          </a:prstGeom>
          <a:noFill/>
          <a:ln>
            <a:noFill/>
          </a:ln>
        </p:spPr>
        <p:txBody>
          <a:bodyPr rtlCol="0" anchor="ctr" tIns="91440" bIns="91440" wrap="square">
            <a:noAutofit/>
          </a:bodyPr>
          <a:lstStyle/>
          <a:p>
            <a:pPr algn="r"/>
            <a:r>
              <a:rPr sz="1200" b="0" u="none" cap="small">
                <a:solidFill>
                  <a:srgbClr val="476779"/>
                </a:solidFill>
                <a:latin typeface="Garamond"/>
                <a:ea typeface="Garamond"/>
                <a:cs typeface="Garamond"/>
              </a:rPr>
              <a:t>Equity Research</a:t>
            </a:r>
          </a:p>
        </p:txBody>
      </p:sp>
      <p:sp>
        <p:nvSpPr>
          <p:cNvPr id="7" name="TextBox 6"/>
          <p:cNvSpPr txBox="1"/>
          <p:nvPr/>
        </p:nvSpPr>
        <p:spPr>
          <a:xfrm>
            <a:off x="1524304" y="6236208"/>
            <a:ext cx="9144000" cy="274320"/>
          </a:xfrm>
          <a:prstGeom prst="rect">
            <a:avLst/>
          </a:prstGeom>
          <a:noFill/>
        </p:spPr>
        <p:txBody>
          <a:bodyPr wrap="square" tIns="91440" bIns="91440" anchor="t">
            <a:noAutofit/>
          </a:bodyPr>
          <a:lstStyle/>
          <a:p>
            <a:pPr algn="ctr"/>
            <a:r>
              <a:rPr sz="1400" b="0" u="none">
                <a:solidFill>
                  <a:srgbClr val="3F3F3F"/>
                </a:solidFill>
                <a:latin typeface="Garamond"/>
                <a:ea typeface="Garamond"/>
                <a:cs typeface="Garamond"/>
              </a:rPr>
              <a:t>Data as of the October 2, 2026 close</a:t>
            </a:r>
          </a:p>
        </p:txBody>
      </p:sp>
      <p:sp>
        <p:nvSpPr>
          <p:cNvPr id="8"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a:t>
            </a:fld>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Agenda 1"/>
          <p:cNvSpPr/>
          <p:nvPr/>
        </p:nvSpPr>
        <p:spPr>
          <a:xfrm>
            <a:off x="854049" y="1078992"/>
            <a:ext cx="534009" cy="547725"/>
          </a:xfrm>
          <a:prstGeom prst="ellipse">
            <a:avLst/>
          </a:prstGeom>
          <a:solidFill>
            <a:srgbClr val="001746"/>
          </a:solidFill>
          <a:ln w="19050">
            <a:solidFill>
              <a:srgbClr val="FFC000"/>
            </a:solidFill>
          </a:ln>
        </p:spPr>
        <p:txBody>
          <a:bodyPr rtlCol="0" anchor="ctr" tIns="0" bIns="0" wrap="square">
            <a:noAutofit/>
          </a:bodyPr>
          <a:lstStyle/>
          <a:p>
            <a:pPr algn="ctr" marL="0" indent="0">
              <a:buNone/>
            </a:pPr>
            <a:r>
              <a:rPr sz="1400" b="0" u="none">
                <a:solidFill>
                  <a:srgbClr val="FFFFFF"/>
                </a:solidFill>
                <a:latin typeface="Garamond"/>
                <a:ea typeface="Garamond"/>
                <a:cs typeface="Garamond"/>
              </a:rPr>
              <a:t>1</a:t>
            </a:r>
          </a:p>
        </p:txBody>
      </p:sp>
      <p:sp>
        <p:nvSpPr>
          <p:cNvPr id="4" name="TextBox 3"/>
          <p:cNvSpPr txBox="1"/>
          <p:nvPr/>
        </p:nvSpPr>
        <p:spPr>
          <a:xfrm>
            <a:off x="1627632" y="1106424"/>
            <a:ext cx="9601200" cy="493776"/>
          </a:xfrm>
          <a:prstGeom prst="rect">
            <a:avLst/>
          </a:prstGeom>
          <a:noFill/>
        </p:spPr>
        <p:txBody>
          <a:bodyPr wrap="square" tIns="0" bIns="0" anchor="ctr">
            <a:noAutofit/>
          </a:bodyPr>
          <a:lstStyle/>
          <a:p>
            <a:pPr marL="0" indent="0">
              <a:buNone/>
            </a:pPr>
            <a:r>
              <a:rPr sz="2600" b="1" u="none" cap="small">
                <a:solidFill>
                  <a:srgbClr val="3F3F3F"/>
                </a:solidFill>
                <a:latin typeface="Garamond"/>
                <a:ea typeface="Garamond"/>
                <a:cs typeface="Garamond"/>
              </a:rPr>
              <a:t>The Debate: Bear vs. Bull</a:t>
            </a:r>
          </a:p>
        </p:txBody>
      </p:sp>
      <p:sp>
        <p:nvSpPr>
          <p:cNvPr id="5" name="Agenda 2"/>
          <p:cNvSpPr/>
          <p:nvPr/>
        </p:nvSpPr>
        <p:spPr>
          <a:xfrm>
            <a:off x="854049" y="1865376"/>
            <a:ext cx="534009" cy="547725"/>
          </a:xfrm>
          <a:prstGeom prst="ellipse">
            <a:avLst/>
          </a:prstGeom>
          <a:solidFill>
            <a:srgbClr val="001746"/>
          </a:solidFill>
          <a:ln w="19050">
            <a:solidFill>
              <a:srgbClr val="FFC000"/>
            </a:solidFill>
          </a:ln>
        </p:spPr>
        <p:txBody>
          <a:bodyPr rtlCol="0" anchor="ctr" tIns="0" bIns="0" wrap="square">
            <a:noAutofit/>
          </a:bodyPr>
          <a:lstStyle/>
          <a:p>
            <a:pPr algn="ctr" marL="0" indent="0">
              <a:buNone/>
            </a:pPr>
            <a:r>
              <a:rPr sz="1400" b="0" u="none">
                <a:solidFill>
                  <a:srgbClr val="FFFFFF"/>
                </a:solidFill>
                <a:latin typeface="Garamond"/>
                <a:ea typeface="Garamond"/>
                <a:cs typeface="Garamond"/>
              </a:rPr>
              <a:t>2</a:t>
            </a:r>
          </a:p>
        </p:txBody>
      </p:sp>
      <p:sp>
        <p:nvSpPr>
          <p:cNvPr id="6" name="TextBox 5"/>
          <p:cNvSpPr txBox="1"/>
          <p:nvPr/>
        </p:nvSpPr>
        <p:spPr>
          <a:xfrm>
            <a:off x="1627632" y="1892807"/>
            <a:ext cx="9601200" cy="493776"/>
          </a:xfrm>
          <a:prstGeom prst="rect">
            <a:avLst/>
          </a:prstGeom>
          <a:noFill/>
        </p:spPr>
        <p:txBody>
          <a:bodyPr wrap="square" tIns="0" bIns="0" anchor="ctr">
            <a:noAutofit/>
          </a:bodyPr>
          <a:lstStyle/>
          <a:p>
            <a:pPr marL="0" indent="0">
              <a:buNone/>
            </a:pPr>
            <a:r>
              <a:rPr sz="2600" b="1" u="none" cap="small">
                <a:solidFill>
                  <a:srgbClr val="3F3F3F"/>
                </a:solidFill>
                <a:latin typeface="Garamond"/>
                <a:ea typeface="Garamond"/>
                <a:cs typeface="Garamond"/>
              </a:rPr>
              <a:t>Company Overview</a:t>
            </a:r>
          </a:p>
        </p:txBody>
      </p:sp>
      <p:sp>
        <p:nvSpPr>
          <p:cNvPr id="7" name="Agenda 3"/>
          <p:cNvSpPr/>
          <p:nvPr/>
        </p:nvSpPr>
        <p:spPr>
          <a:xfrm>
            <a:off x="854049" y="2651760"/>
            <a:ext cx="534009" cy="547725"/>
          </a:xfrm>
          <a:prstGeom prst="ellipse">
            <a:avLst/>
          </a:prstGeom>
          <a:solidFill>
            <a:srgbClr val="001746"/>
          </a:solidFill>
          <a:ln w="19050">
            <a:solidFill>
              <a:srgbClr val="FFC000"/>
            </a:solidFill>
          </a:ln>
        </p:spPr>
        <p:txBody>
          <a:bodyPr rtlCol="0" anchor="ctr" tIns="0" bIns="0" wrap="square">
            <a:noAutofit/>
          </a:bodyPr>
          <a:lstStyle/>
          <a:p>
            <a:pPr algn="ctr" marL="0" indent="0">
              <a:buNone/>
            </a:pPr>
            <a:r>
              <a:rPr sz="1400" b="0" u="none">
                <a:solidFill>
                  <a:srgbClr val="FFFFFF"/>
                </a:solidFill>
                <a:latin typeface="Garamond"/>
                <a:ea typeface="Garamond"/>
                <a:cs typeface="Garamond"/>
              </a:rPr>
              <a:t>3</a:t>
            </a:r>
          </a:p>
        </p:txBody>
      </p:sp>
      <p:sp>
        <p:nvSpPr>
          <p:cNvPr id="8" name="TextBox 7"/>
          <p:cNvSpPr txBox="1"/>
          <p:nvPr/>
        </p:nvSpPr>
        <p:spPr>
          <a:xfrm>
            <a:off x="1627632" y="2679191"/>
            <a:ext cx="9601200" cy="493776"/>
          </a:xfrm>
          <a:prstGeom prst="rect">
            <a:avLst/>
          </a:prstGeom>
          <a:noFill/>
        </p:spPr>
        <p:txBody>
          <a:bodyPr wrap="square" tIns="0" bIns="0" anchor="ctr">
            <a:noAutofit/>
          </a:bodyPr>
          <a:lstStyle/>
          <a:p>
            <a:pPr marL="0" indent="0">
              <a:buNone/>
            </a:pPr>
            <a:r>
              <a:rPr sz="2600" b="1" u="none" cap="small">
                <a:solidFill>
                  <a:srgbClr val="3F3F3F"/>
                </a:solidFill>
                <a:latin typeface="Garamond"/>
                <a:ea typeface="Garamond"/>
                <a:cs typeface="Garamond"/>
              </a:rPr>
              <a:t>Industry &amp; Competition</a:t>
            </a:r>
          </a:p>
        </p:txBody>
      </p:sp>
      <p:sp>
        <p:nvSpPr>
          <p:cNvPr id="9" name="Agenda 4"/>
          <p:cNvSpPr/>
          <p:nvPr/>
        </p:nvSpPr>
        <p:spPr>
          <a:xfrm>
            <a:off x="854049" y="3438144"/>
            <a:ext cx="534009" cy="547725"/>
          </a:xfrm>
          <a:prstGeom prst="ellipse">
            <a:avLst/>
          </a:prstGeom>
          <a:solidFill>
            <a:srgbClr val="001746"/>
          </a:solidFill>
          <a:ln w="19050">
            <a:solidFill>
              <a:srgbClr val="FFC000"/>
            </a:solidFill>
          </a:ln>
        </p:spPr>
        <p:txBody>
          <a:bodyPr rtlCol="0" anchor="ctr" tIns="0" bIns="0" wrap="square">
            <a:noAutofit/>
          </a:bodyPr>
          <a:lstStyle/>
          <a:p>
            <a:pPr algn="ctr" marL="0" indent="0">
              <a:buNone/>
            </a:pPr>
            <a:r>
              <a:rPr sz="1400" b="0" u="none">
                <a:solidFill>
                  <a:srgbClr val="FFFFFF"/>
                </a:solidFill>
                <a:latin typeface="Garamond"/>
                <a:ea typeface="Garamond"/>
                <a:cs typeface="Garamond"/>
              </a:rPr>
              <a:t>4</a:t>
            </a:r>
          </a:p>
        </p:txBody>
      </p:sp>
      <p:sp>
        <p:nvSpPr>
          <p:cNvPr id="10" name="TextBox 9"/>
          <p:cNvSpPr txBox="1"/>
          <p:nvPr/>
        </p:nvSpPr>
        <p:spPr>
          <a:xfrm>
            <a:off x="1627632" y="3465575"/>
            <a:ext cx="9601200" cy="493776"/>
          </a:xfrm>
          <a:prstGeom prst="rect">
            <a:avLst/>
          </a:prstGeom>
          <a:noFill/>
        </p:spPr>
        <p:txBody>
          <a:bodyPr wrap="square" tIns="0" bIns="0" anchor="ctr">
            <a:noAutofit/>
          </a:bodyPr>
          <a:lstStyle/>
          <a:p>
            <a:pPr marL="0" indent="0">
              <a:buNone/>
            </a:pPr>
            <a:r>
              <a:rPr sz="2600" b="1" u="none" cap="small">
                <a:solidFill>
                  <a:srgbClr val="3F3F3F"/>
                </a:solidFill>
                <a:latin typeface="Garamond"/>
                <a:ea typeface="Garamond"/>
                <a:cs typeface="Garamond"/>
              </a:rPr>
              <a:t>Growth Legs: FTAI Power &amp; SCI</a:t>
            </a:r>
          </a:p>
        </p:txBody>
      </p:sp>
      <p:sp>
        <p:nvSpPr>
          <p:cNvPr id="11" name="Agenda 5"/>
          <p:cNvSpPr/>
          <p:nvPr/>
        </p:nvSpPr>
        <p:spPr>
          <a:xfrm>
            <a:off x="854049" y="4224528"/>
            <a:ext cx="534009" cy="547725"/>
          </a:xfrm>
          <a:prstGeom prst="ellipse">
            <a:avLst/>
          </a:prstGeom>
          <a:solidFill>
            <a:srgbClr val="001746"/>
          </a:solidFill>
          <a:ln w="19050">
            <a:solidFill>
              <a:srgbClr val="FFC000"/>
            </a:solidFill>
          </a:ln>
        </p:spPr>
        <p:txBody>
          <a:bodyPr rtlCol="0" anchor="ctr" tIns="0" bIns="0" wrap="square">
            <a:noAutofit/>
          </a:bodyPr>
          <a:lstStyle/>
          <a:p>
            <a:pPr algn="ctr" marL="0" indent="0">
              <a:buNone/>
            </a:pPr>
            <a:r>
              <a:rPr sz="1400" b="0" u="none">
                <a:solidFill>
                  <a:srgbClr val="FFFFFF"/>
                </a:solidFill>
                <a:latin typeface="Garamond"/>
                <a:ea typeface="Garamond"/>
                <a:cs typeface="Garamond"/>
              </a:rPr>
              <a:t>5</a:t>
            </a:r>
          </a:p>
        </p:txBody>
      </p:sp>
      <p:sp>
        <p:nvSpPr>
          <p:cNvPr id="12" name="TextBox 11"/>
          <p:cNvSpPr txBox="1"/>
          <p:nvPr/>
        </p:nvSpPr>
        <p:spPr>
          <a:xfrm>
            <a:off x="1627632" y="4251960"/>
            <a:ext cx="9601200" cy="493776"/>
          </a:xfrm>
          <a:prstGeom prst="rect">
            <a:avLst/>
          </a:prstGeom>
          <a:noFill/>
        </p:spPr>
        <p:txBody>
          <a:bodyPr wrap="square" tIns="0" bIns="0" anchor="ctr">
            <a:noAutofit/>
          </a:bodyPr>
          <a:lstStyle/>
          <a:p>
            <a:pPr marL="0" indent="0">
              <a:buNone/>
            </a:pPr>
            <a:r>
              <a:rPr sz="2600" b="1" u="none" cap="small">
                <a:solidFill>
                  <a:srgbClr val="3F3F3F"/>
                </a:solidFill>
                <a:latin typeface="Garamond"/>
                <a:ea typeface="Garamond"/>
                <a:cs typeface="Garamond"/>
              </a:rPr>
              <a:t>Valuation</a:t>
            </a:r>
          </a:p>
        </p:txBody>
      </p:sp>
      <p:sp>
        <p:nvSpPr>
          <p:cNvPr id="13" name="Agenda 6"/>
          <p:cNvSpPr/>
          <p:nvPr/>
        </p:nvSpPr>
        <p:spPr>
          <a:xfrm>
            <a:off x="854049" y="5010912"/>
            <a:ext cx="534009" cy="547725"/>
          </a:xfrm>
          <a:prstGeom prst="ellipse">
            <a:avLst/>
          </a:prstGeom>
          <a:solidFill>
            <a:srgbClr val="001746"/>
          </a:solidFill>
          <a:ln w="19050">
            <a:solidFill>
              <a:srgbClr val="FFC000"/>
            </a:solidFill>
          </a:ln>
        </p:spPr>
        <p:txBody>
          <a:bodyPr rtlCol="0" anchor="ctr" tIns="0" bIns="0" wrap="square">
            <a:noAutofit/>
          </a:bodyPr>
          <a:lstStyle/>
          <a:p>
            <a:pPr algn="ctr" marL="0" indent="0">
              <a:buNone/>
            </a:pPr>
            <a:r>
              <a:rPr sz="1400" b="0" u="none">
                <a:solidFill>
                  <a:srgbClr val="FFFFFF"/>
                </a:solidFill>
                <a:latin typeface="Garamond"/>
                <a:ea typeface="Garamond"/>
                <a:cs typeface="Garamond"/>
              </a:rPr>
              <a:t>6</a:t>
            </a:r>
          </a:p>
        </p:txBody>
      </p:sp>
      <p:sp>
        <p:nvSpPr>
          <p:cNvPr id="14" name="TextBox 13"/>
          <p:cNvSpPr txBox="1"/>
          <p:nvPr/>
        </p:nvSpPr>
        <p:spPr>
          <a:xfrm>
            <a:off x="1627632" y="5038344"/>
            <a:ext cx="9601200" cy="493776"/>
          </a:xfrm>
          <a:prstGeom prst="rect">
            <a:avLst/>
          </a:prstGeom>
          <a:noFill/>
        </p:spPr>
        <p:txBody>
          <a:bodyPr wrap="square" tIns="0" bIns="0" anchor="ctr">
            <a:noAutofit/>
          </a:bodyPr>
          <a:lstStyle/>
          <a:p>
            <a:pPr marL="0" indent="0">
              <a:buNone/>
            </a:pPr>
            <a:r>
              <a:rPr sz="2600" b="1" u="none" cap="small">
                <a:solidFill>
                  <a:srgbClr val="3F3F3F"/>
                </a:solidFill>
                <a:latin typeface="Garamond"/>
                <a:ea typeface="Garamond"/>
                <a:cs typeface="Garamond"/>
              </a:rPr>
              <a:t>Risks, Catalysts &amp; Recommendation</a:t>
            </a:r>
          </a:p>
        </p:txBody>
      </p:sp>
      <p:sp>
        <p:nvSpPr>
          <p:cNvPr id="15" name="Agenda 7"/>
          <p:cNvSpPr/>
          <p:nvPr/>
        </p:nvSpPr>
        <p:spPr>
          <a:xfrm>
            <a:off x="854049" y="5797296"/>
            <a:ext cx="534009" cy="547725"/>
          </a:xfrm>
          <a:prstGeom prst="ellipse">
            <a:avLst/>
          </a:prstGeom>
          <a:solidFill>
            <a:srgbClr val="001746"/>
          </a:solidFill>
          <a:ln w="19050">
            <a:solidFill>
              <a:srgbClr val="FFC000"/>
            </a:solidFill>
          </a:ln>
        </p:spPr>
        <p:txBody>
          <a:bodyPr rtlCol="0" anchor="ctr" tIns="0" bIns="0" wrap="square">
            <a:noAutofit/>
          </a:bodyPr>
          <a:lstStyle/>
          <a:p>
            <a:pPr algn="ctr" marL="0" indent="0">
              <a:buNone/>
            </a:pPr>
            <a:r>
              <a:rPr sz="1400" b="0" u="none">
                <a:solidFill>
                  <a:srgbClr val="FFFFFF"/>
                </a:solidFill>
                <a:latin typeface="Garamond"/>
                <a:ea typeface="Garamond"/>
                <a:cs typeface="Garamond"/>
              </a:rPr>
              <a:t>7</a:t>
            </a:r>
          </a:p>
        </p:txBody>
      </p:sp>
      <p:sp>
        <p:nvSpPr>
          <p:cNvPr id="16" name="TextBox 15"/>
          <p:cNvSpPr txBox="1"/>
          <p:nvPr/>
        </p:nvSpPr>
        <p:spPr>
          <a:xfrm>
            <a:off x="1627632" y="5824728"/>
            <a:ext cx="9601200" cy="493776"/>
          </a:xfrm>
          <a:prstGeom prst="rect">
            <a:avLst/>
          </a:prstGeom>
          <a:noFill/>
        </p:spPr>
        <p:txBody>
          <a:bodyPr wrap="square" tIns="0" bIns="0" anchor="ctr">
            <a:noAutofit/>
          </a:bodyPr>
          <a:lstStyle/>
          <a:p>
            <a:pPr marL="0" indent="0">
              <a:buNone/>
            </a:pPr>
            <a:r>
              <a:rPr sz="2600" b="1" u="none" cap="small">
                <a:solidFill>
                  <a:srgbClr val="3F3F3F"/>
                </a:solidFill>
                <a:latin typeface="Garamond"/>
                <a:ea typeface="Garamond"/>
                <a:cs typeface="Garamond"/>
              </a:rPr>
              <a:t>Appendix</a:t>
            </a:r>
          </a:p>
        </p:txBody>
      </p:sp>
      <p:sp>
        <p:nvSpPr>
          <p:cNvPr id="17"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	The Debate: Bear vs. Bull</a:t>
            </a:r>
          </a:p>
        </p:txBody>
      </p:sp>
      <p:sp>
        <p:nvSpPr>
          <p:cNvPr id="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Consensus Baseline &amp; Scorecard</a:t>
            </a:r>
          </a:p>
        </p:txBody>
      </p:sp>
      <p:sp>
        <p:nvSpPr>
          <p:cNvPr id="3" name="Header: Consensus Baseline"/>
          <p:cNvSpPr/>
          <p:nvPr/>
        </p:nvSpPr>
        <p:spPr>
          <a:xfrm>
            <a:off x="270662" y="914400"/>
            <a:ext cx="6000810"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Consensus Baseline</a:t>
            </a:r>
          </a:p>
        </p:txBody>
      </p:sp>
      <p:sp>
        <p:nvSpPr>
          <p:cNvPr id="4" name="Bullets"/>
          <p:cNvSpPr txBox="1"/>
          <p:nvPr/>
        </p:nvSpPr>
        <p:spPr>
          <a:xfrm>
            <a:off x="270662" y="1353312"/>
            <a:ext cx="6000810" cy="3607053"/>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1" u="sng">
                <a:solidFill>
                  <a:srgbClr val="000000"/>
                </a:solidFill>
                <a:latin typeface="Garamond"/>
                <a:ea typeface="Garamond"/>
                <a:cs typeface="Garamond"/>
              </a:rPr>
              <a:t>Business:</a:t>
            </a:r>
            <a:r>
              <a:rPr sz="1700" b="0" u="none">
                <a:solidFill>
                  <a:srgbClr val="000000"/>
                </a:solidFill>
                <a:latin typeface="Garamond"/>
                <a:ea typeface="Garamond"/>
                <a:cs typeface="Garamond"/>
              </a:rPr>
              <a:t> CFM56 engine-module refurbishment (</a:t>
            </a:r>
            <a:r>
              <a:rPr sz="1700" b="1" u="none">
                <a:solidFill>
                  <a:srgbClr val="000000"/>
                </a:solidFill>
                <a:latin typeface="Garamond"/>
                <a:ea typeface="Garamond"/>
                <a:cs typeface="Garamond"/>
              </a:rPr>
              <a:t>87%</a:t>
            </a:r>
            <a:r>
              <a:rPr sz="1700" b="0" u="none">
                <a:solidFill>
                  <a:srgbClr val="000000"/>
                </a:solidFill>
                <a:latin typeface="Garamond"/>
                <a:ea typeface="Garamond"/>
                <a:cs typeface="Garamond"/>
              </a:rPr>
              <a:t> of TTM revenue), leasing moving into managed funds (SCI), new data-center gensets</a:t>
            </a:r>
          </a:p>
          <a:p>
            <a:pPr marL="457200" indent="-336499">
              <a:buClr>
                <a:srgbClr val="000000"/>
              </a:buClr>
              <a:buSzPts val="1700"/>
              <a:buFont typeface="Garamond"/>
              <a:buChar char="●"/>
            </a:pPr>
            <a:r>
              <a:rPr sz="1700" b="1" u="sng">
                <a:solidFill>
                  <a:srgbClr val="000000"/>
                </a:solidFill>
                <a:latin typeface="Garamond"/>
                <a:ea typeface="Garamond"/>
                <a:cs typeface="Garamond"/>
              </a:rPr>
              <a:t>Narrative:</a:t>
            </a:r>
            <a:r>
              <a:rPr sz="1700" b="0" u="none">
                <a:solidFill>
                  <a:srgbClr val="000000"/>
                </a:solidFill>
                <a:latin typeface="Garamond"/>
                <a:ea typeface="Garamond"/>
                <a:cs typeface="Garamond"/>
              </a:rPr>
              <a:t> aftermarket compounder taking share, plus an asset-light pivot and a power leg</a:t>
            </a:r>
          </a:p>
          <a:p>
            <a:pPr marL="457200" indent="-336499">
              <a:buClr>
                <a:srgbClr val="000000"/>
              </a:buClr>
              <a:buSzPts val="1700"/>
              <a:buFont typeface="Garamond"/>
              <a:buChar char="●"/>
            </a:pPr>
            <a:r>
              <a:rPr sz="1700" b="1" u="sng">
                <a:solidFill>
                  <a:srgbClr val="000000"/>
                </a:solidFill>
                <a:latin typeface="Garamond"/>
                <a:ea typeface="Garamond"/>
                <a:cs typeface="Garamond"/>
              </a:rPr>
              <a:t>Street:</a:t>
            </a:r>
            <a:r>
              <a:rPr sz="1700" b="0" u="none">
                <a:solidFill>
                  <a:srgbClr val="000000"/>
                </a:solidFill>
                <a:latin typeface="Garamond"/>
                <a:ea typeface="Garamond"/>
                <a:cs typeface="Garamond"/>
              </a:rPr>
              <a:t> </a:t>
            </a:r>
            <a:r>
              <a:rPr sz="1700" b="1" u="none">
                <a:solidFill>
                  <a:srgbClr val="000000"/>
                </a:solidFill>
                <a:latin typeface="Garamond"/>
                <a:ea typeface="Garamond"/>
                <a:cs typeface="Garamond"/>
              </a:rPr>
              <a:t>9 Buy / 2 Hold</a:t>
            </a:r>
            <a:r>
              <a:rPr sz="1700" b="0" u="none">
                <a:solidFill>
                  <a:srgbClr val="000000"/>
                </a:solidFill>
                <a:latin typeface="Garamond"/>
                <a:ea typeface="Garamond"/>
                <a:cs typeface="Garamond"/>
              </a:rPr>
              <a:t>; mean target </a:t>
            </a:r>
            <a:r>
              <a:rPr sz="1700" b="1" u="none">
                <a:solidFill>
                  <a:srgbClr val="000000"/>
                </a:solidFill>
                <a:latin typeface="Garamond"/>
                <a:ea typeface="Garamond"/>
                <a:cs typeface="Garamond"/>
              </a:rPr>
              <a:t>$315.67</a:t>
            </a:r>
            <a:r>
              <a:rPr sz="1700" b="0" u="none">
                <a:solidFill>
                  <a:srgbClr val="000000"/>
                </a:solidFill>
                <a:latin typeface="Garamond"/>
                <a:ea typeface="Garamond"/>
                <a:cs typeface="Garamond"/>
              </a:rPr>
              <a:t>; post-Q2 targets $300-375</a:t>
            </a:r>
          </a:p>
          <a:p>
            <a:pPr marL="457200" indent="-336499">
              <a:buClr>
                <a:srgbClr val="000000"/>
              </a:buClr>
              <a:buSzPts val="1700"/>
              <a:buFont typeface="Garamond"/>
              <a:buChar char="●"/>
            </a:pPr>
            <a:r>
              <a:rPr sz="1700" b="1" u="sng">
                <a:solidFill>
                  <a:srgbClr val="000000"/>
                </a:solidFill>
                <a:latin typeface="Garamond"/>
                <a:ea typeface="Garamond"/>
                <a:cs typeface="Garamond"/>
              </a:rPr>
              <a:t>Positioning:</a:t>
            </a:r>
            <a:r>
              <a:rPr sz="1700" b="0" u="none">
                <a:solidFill>
                  <a:srgbClr val="000000"/>
                </a:solidFill>
                <a:latin typeface="Garamond"/>
                <a:ea typeface="Garamond"/>
                <a:cs typeface="Garamond"/>
              </a:rPr>
              <a:t> short interest </a:t>
            </a:r>
            <a:r>
              <a:rPr sz="1700" b="1" u="none">
                <a:solidFill>
                  <a:srgbClr val="000000"/>
                </a:solidFill>
                <a:latin typeface="Garamond"/>
                <a:ea typeface="Garamond"/>
                <a:cs typeface="Garamond"/>
              </a:rPr>
              <a:t>10.4%</a:t>
            </a:r>
            <a:r>
              <a:rPr sz="1700" b="0" u="none">
                <a:solidFill>
                  <a:srgbClr val="000000"/>
                </a:solidFill>
                <a:latin typeface="Garamond"/>
                <a:ea typeface="Garamond"/>
                <a:cs typeface="Garamond"/>
              </a:rPr>
              <a:t> (from 6.1%); stock </a:t>
            </a:r>
            <a:r>
              <a:rPr sz="1700" b="1" u="none">
                <a:solidFill>
                  <a:srgbClr val="000000"/>
                </a:solidFill>
                <a:latin typeface="Garamond"/>
                <a:ea typeface="Garamond"/>
                <a:cs typeface="Garamond"/>
              </a:rPr>
              <a:t>48%</a:t>
            </a:r>
            <a:r>
              <a:rPr sz="1700" b="0" u="none">
                <a:solidFill>
                  <a:srgbClr val="000000"/>
                </a:solidFill>
                <a:latin typeface="Garamond"/>
                <a:ea typeface="Garamond"/>
                <a:cs typeface="Garamond"/>
              </a:rPr>
              <a:t> below its Feb high</a:t>
            </a:r>
          </a:p>
          <a:p>
            <a:pPr marL="457200" indent="-336499">
              <a:buClr>
                <a:srgbClr val="000000"/>
              </a:buClr>
              <a:buSzPts val="1700"/>
              <a:buFont typeface="Garamond"/>
              <a:buChar char="●"/>
            </a:pPr>
            <a:r>
              <a:rPr sz="1700" b="1" u="sng">
                <a:solidFill>
                  <a:srgbClr val="000000"/>
                </a:solidFill>
                <a:latin typeface="Garamond"/>
                <a:ea typeface="Garamond"/>
                <a:cs typeface="Garamond"/>
              </a:rPr>
              <a:t>Price implies:</a:t>
            </a:r>
            <a:r>
              <a:rPr sz="1700" b="0" u="none">
                <a:solidFill>
                  <a:srgbClr val="000000"/>
                </a:solidFill>
                <a:latin typeface="Garamond"/>
                <a:ea typeface="Garamond"/>
                <a:cs typeface="Garamond"/>
              </a:rPr>
              <a:t> the </a:t>
            </a:r>
            <a:r>
              <a:rPr sz="1700" b="1" u="none">
                <a:solidFill>
                  <a:srgbClr val="000000"/>
                </a:solidFill>
                <a:latin typeface="Garamond"/>
                <a:ea typeface="Garamond"/>
                <a:cs typeface="Garamond"/>
              </a:rPr>
              <a:t>$2.3B</a:t>
            </a:r>
            <a:r>
              <a:rPr sz="1700" b="0" u="none">
                <a:solidFill>
                  <a:srgbClr val="000000"/>
                </a:solidFill>
                <a:latin typeface="Garamond"/>
                <a:ea typeface="Garamond"/>
                <a:cs typeface="Garamond"/>
              </a:rPr>
              <a:t> 2027 plan on time, then </a:t>
            </a:r>
            <a:r>
              <a:rPr sz="1700" b="1" u="none">
                <a:solidFill>
                  <a:srgbClr val="000000"/>
                </a:solidFill>
                <a:latin typeface="Garamond"/>
                <a:ea typeface="Garamond"/>
                <a:cs typeface="Garamond"/>
              </a:rPr>
              <a:t>+1.9%/yr</a:t>
            </a:r>
            <a:r>
              <a:rPr sz="1700" b="0" u="none">
                <a:solidFill>
                  <a:srgbClr val="000000"/>
                </a:solidFill>
                <a:latin typeface="Garamond"/>
                <a:ea typeface="Garamond"/>
                <a:cs typeface="Garamond"/>
              </a:rPr>
              <a:t> forever</a:t>
            </a:r>
          </a:p>
          <a:p>
            <a:pPr marL="457200" indent="-336499">
              <a:buClr>
                <a:srgbClr val="000000"/>
              </a:buClr>
              <a:buSzPts val="1700"/>
              <a:buFont typeface="Garamond"/>
              <a:buChar char="●"/>
            </a:pPr>
            <a:r>
              <a:rPr sz="1700" b="1" u="sng">
                <a:solidFill>
                  <a:srgbClr val="000000"/>
                </a:solidFill>
                <a:latin typeface="Garamond"/>
                <a:ea typeface="Garamond"/>
                <a:cs typeface="Garamond"/>
              </a:rPr>
              <a:t>Live debate:</a:t>
            </a:r>
            <a:r>
              <a:rPr sz="1700" b="0" u="none">
                <a:solidFill>
                  <a:srgbClr val="000000"/>
                </a:solidFill>
                <a:latin typeface="Garamond"/>
                <a:ea typeface="Garamond"/>
                <a:cs typeface="Garamond"/>
              </a:rPr>
              <a:t> is the margin slide (35% to 28.5%) mix or price, and is Power durable?</a:t>
            </a:r>
          </a:p>
        </p:txBody>
      </p:sp>
      <p:sp>
        <p:nvSpPr>
          <p:cNvPr id="5" name="Header: Average Thesis Score by Dimension (1-5)"/>
          <p:cNvSpPr/>
          <p:nvPr/>
        </p:nvSpPr>
        <p:spPr>
          <a:xfrm>
            <a:off x="6545792" y="914400"/>
            <a:ext cx="5357866"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Average Thesis Score by Dimension (1-5)</a:t>
            </a:r>
          </a:p>
        </p:txBody>
      </p:sp>
      <p:graphicFrame>
        <p:nvGraphicFramePr>
          <p:cNvPr id="6" name="Chart 5" descr="Column chart. Bear (13.7 / 20): Edge 3.4; Materiality 2.4; Testability 4.6; Evidence 3.3. Bull (12.1 / 20): Edge 2.7; Materiality 2; Testability 4.3; Evidence 3.1."/>
          <p:cNvGraphicFramePr>
            <a:graphicFrameLocks noGrp="1"/>
          </p:cNvGraphicFramePr>
          <p:nvPr/>
        </p:nvGraphicFramePr>
        <p:xfrm>
          <a:off x="6545792" y="1353312"/>
          <a:ext cx="5357866" cy="4173321"/>
        </p:xfrm>
        <a:graphic>
          <a:graphicData uri="http://schemas.openxmlformats.org/drawingml/2006/chart">
            <c:chart xmlns:c="http://schemas.openxmlformats.org/drawingml/2006/chart" r:id="rId2"/>
          </a:graphicData>
        </a:graphic>
      </p:graphicFrame>
      <p:sp>
        <p:nvSpPr>
          <p:cNvPr id="7" name="Stat Callout"/>
          <p:cNvSpPr/>
          <p:nvPr/>
        </p:nvSpPr>
        <p:spPr>
          <a:xfrm>
            <a:off x="6545792" y="5691225"/>
            <a:ext cx="2564633"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Edge to the bear:</a:t>
            </a:r>
            <a:r>
              <a:rPr sz="1300" b="0" u="none">
                <a:solidFill>
                  <a:srgbClr val="FFFFFF"/>
                </a:solidFill>
                <a:latin typeface="Garamond"/>
                <a:ea typeface="Garamond"/>
                <a:cs typeface="Garamond"/>
              </a:rPr>
              <a:t> its core facts are already reported</a:t>
            </a:r>
          </a:p>
        </p:txBody>
      </p:sp>
      <p:sp>
        <p:nvSpPr>
          <p:cNvPr id="8" name="Stat Callout"/>
          <p:cNvSpPr/>
          <p:nvPr/>
        </p:nvSpPr>
        <p:spPr>
          <a:xfrm>
            <a:off x="9339025" y="5691225"/>
            <a:ext cx="2564633"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Deciding variable:</a:t>
            </a:r>
            <a:r>
              <a:rPr sz="1300" b="0" u="none">
                <a:solidFill>
                  <a:srgbClr val="FFFFFF"/>
                </a:solidFill>
                <a:latin typeface="Garamond"/>
                <a:ea typeface="Garamond"/>
                <a:cs typeface="Garamond"/>
              </a:rPr>
              <a:t> AP EBITDA margin, next two prints</a:t>
            </a:r>
          </a:p>
        </p:txBody>
      </p:sp>
      <p:sp>
        <p:nvSpPr>
          <p:cNvPr id="9" name="Tracker: Debate (active)"/>
          <p:cNvSpPr/>
          <p:nvPr/>
        </p:nvSpPr>
        <p:spPr>
          <a:xfrm>
            <a:off x="1144828"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0"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1"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2"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3"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4"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5"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Bear Case: 10 Theses, Ranked</a:t>
            </a:r>
          </a:p>
        </p:txBody>
      </p:sp>
      <p:sp>
        <p:nvSpPr>
          <p:cNvPr id="3" name="Header: Argued as a short-seller would  |  Scored on Edge, Materiality, Testability, Evidence (max 20)"/>
          <p:cNvSpPr/>
          <p:nvPr/>
        </p:nvSpPr>
        <p:spPr>
          <a:xfrm>
            <a:off x="270662" y="914400"/>
            <a:ext cx="11632996"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Argued as a short-seller would  |  Scored on Edge, Materiality, Testability, Evidence (max 20)</a:t>
            </a:r>
          </a:p>
        </p:txBody>
      </p:sp>
      <p:graphicFrame>
        <p:nvGraphicFramePr>
          <p:cNvPr id="4" name="Table 3"/>
          <p:cNvGraphicFramePr>
            <a:graphicFrameLocks noGrp="1"/>
          </p:cNvGraphicFramePr>
          <p:nvPr/>
        </p:nvGraphicFramePr>
        <p:xfrm>
          <a:off x="270662" y="1353312"/>
          <a:ext cx="11632995" cy="3450590"/>
        </p:xfrm>
        <a:graphic>
          <a:graphicData uri="http://schemas.openxmlformats.org/drawingml/2006/table">
            <a:tbl>
              <a:tblPr firstRow="0" bandRow="0">
                <a:tableStyleId>{2D5ABB26-0587-4C30-8999-92F81FD0307C}</a:tableStyleId>
              </a:tblPr>
              <a:tblGrid>
                <a:gridCol w="415464"/>
                <a:gridCol w="507789"/>
                <a:gridCol w="1615694"/>
                <a:gridCol w="5862661"/>
                <a:gridCol w="2538947"/>
                <a:gridCol w="692440"/>
              </a:tblGrid>
              <a:tr h="313690">
                <a:tc>
                  <a:txBody>
                    <a:bodyPr/>
                    <a:lstStyle/>
                    <a:p>
                      <a:pPr algn="ctr"/>
                      <a:r>
                        <a:rPr sz="1300" b="1" u="none">
                          <a:solidFill>
                            <a:srgbClr val="FFFFFF"/>
                          </a:solidFill>
                          <a:latin typeface="Garamond"/>
                          <a:ea typeface="Garamond"/>
                          <a:cs typeface="Garamond"/>
                        </a:rPr>
                        <a:t>#</a:t>
                      </a:r>
                    </a:p>
                  </a:txBody>
                  <a:tcPr marL="54864" marR="54864" marT="18288" marB="18288" anchor="ctr">
                    <a:lnL w="0">
                      <a:noFill/>
                    </a:lnL>
                    <a:lnR w="0">
                      <a:noFill/>
                    </a:lnR>
                    <a:lnT w="0">
                      <a:noFill/>
                    </a:lnT>
                    <a:lnB w="0">
                      <a:noFill/>
                    </a:lnB>
                    <a:solidFill>
                      <a:srgbClr val="002060"/>
                    </a:solidFill>
                  </a:tcPr>
                </a:tc>
                <a:tc>
                  <a:txBody>
                    <a:bodyPr/>
                    <a:lstStyle/>
                    <a:p>
                      <a:pPr algn="ctr"/>
                      <a:r>
                        <a:rPr sz="1300" b="1" u="none">
                          <a:solidFill>
                            <a:srgbClr val="FFFFFF"/>
                          </a:solidFill>
                          <a:latin typeface="Garamond"/>
                          <a:ea typeface="Garamond"/>
                          <a:cs typeface="Garamond"/>
                        </a:rPr>
                        <a:t>ID</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Lens</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Thesis</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Consensus → Ours</a:t>
                      </a:r>
                    </a:p>
                  </a:txBody>
                  <a:tcPr marL="54864" marR="54864" marT="18288" marB="18288" anchor="ctr">
                    <a:lnL w="0">
                      <a:noFill/>
                    </a:lnL>
                    <a:lnR w="0">
                      <a:noFill/>
                    </a:lnR>
                    <a:lnT w="0">
                      <a:noFill/>
                    </a:lnT>
                    <a:lnB w="0">
                      <a:noFill/>
                    </a:lnB>
                    <a:solidFill>
                      <a:srgbClr val="002060"/>
                    </a:solidFill>
                  </a:tcPr>
                </a:tc>
                <a:tc>
                  <a:txBody>
                    <a:bodyPr/>
                    <a:lstStyle/>
                    <a:p>
                      <a:pPr algn="ctr"/>
                      <a:r>
                        <a:rPr sz="1300" b="1" u="none">
                          <a:solidFill>
                            <a:srgbClr val="FFFFFF"/>
                          </a:solidFill>
                          <a:latin typeface="Garamond"/>
                          <a:ea typeface="Garamond"/>
                          <a:cs typeface="Garamond"/>
                        </a:rPr>
                        <a:t>Score</a:t>
                      </a:r>
                    </a:p>
                  </a:txBody>
                  <a:tcPr marL="54864" marR="54864" marT="18288" marB="18288" anchor="ctr">
                    <a:lnL w="0">
                      <a:noFill/>
                    </a:lnL>
                    <a:lnR w="0">
                      <a:noFill/>
                    </a:lnR>
                    <a:lnT w="0">
                      <a:noFill/>
                    </a:lnT>
                    <a:lnB w="0">
                      <a:noFill/>
                    </a:lnB>
                    <a:solidFill>
                      <a:srgbClr val="002060"/>
                    </a:solidFill>
                  </a:tcPr>
                </a:tc>
              </a:tr>
              <a:tr h="313690">
                <a:tc>
                  <a:txBody>
                    <a:bodyPr/>
                    <a:lstStyle/>
                    <a:p>
                      <a:pPr algn="ctr"/>
                      <a:r>
                        <a:rPr sz="1300" b="0" u="none">
                          <a:solidFill>
                            <a:srgbClr val="000000"/>
                          </a:solidFill>
                          <a:latin typeface="Garamond"/>
                          <a:ea typeface="Garamond"/>
                          <a:cs typeface="Garamond"/>
                        </a:rPr>
                        <a:t>1</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S4</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Macro / policy</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EO 14420 rules could curb Jereh-packaged Power gensets at US data centers</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P(impaired) ~0% → ~25%</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16</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2</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S2</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Profit engine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AP margin slides to 27% or less in 2027; new volume earns only 22-24%</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29.8% → 27% or less</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15</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3</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S1</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Expectations gap</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A finite CFM56 harvest is worth ~6.5x 2027 EBITDA, not 9.6x</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16.8x → ~6.5x</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15</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4</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S6</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Capital allocation</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2026 Adj. FCF misses: H2 must deliver $623M, 2.4x the first half</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$878M → $750M or less</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14</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5</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S8</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Revenue: volume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Leasing/SCI EBITDA of $375M or less in 2027; Q2'26 runs at ~$353M</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$450M → $375M or less</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14</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6</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S7</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Governance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Affiliate (SCI) maintenance sales pass 25% of AP revenue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Untracked → 25%+</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14</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7</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S9</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Macro</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CFM56 retirements jump to 3.5%+ in 2028 as LEAP fixes land</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1.5-2% → 3.5%+</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13</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8</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S3</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Optionality</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Power earns $300M or less in 2027: nothing shipped, one customer</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$450M → $300M</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13</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9</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S10</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Moat trajectory</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PMA stalls at 3 of 5 parts, capping the parts-cost edge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5 of 5 → 4 or fewer</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12</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10</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S5</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Industry structure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Share stalls at 18% or less as rivals copy the module format</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~20% → 18% or less</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11</a:t>
                      </a:r>
                    </a:p>
                  </a:txBody>
                  <a:tcPr marL="54864" marR="54864" marT="18288" marB="18288" anchor="ctr">
                    <a:lnL w="0">
                      <a:noFill/>
                    </a:lnL>
                    <a:lnR w="0">
                      <a:noFill/>
                    </a:lnR>
                    <a:lnT w="0">
                      <a:noFill/>
                    </a:lnT>
                    <a:lnB w="6350">
                      <a:solidFill>
                        <a:srgbClr val="D9D9D9"/>
                      </a:solidFill>
                    </a:lnB>
                    <a:noFill/>
                  </a:tcPr>
                </a:tc>
              </a:tr>
            </a:tbl>
          </a:graphicData>
        </a:graphic>
      </p:graphicFrame>
      <p:sp>
        <p:nvSpPr>
          <p:cNvPr id="5" name="Stat Callout"/>
          <p:cNvSpPr/>
          <p:nvPr/>
        </p:nvSpPr>
        <p:spPr>
          <a:xfrm>
            <a:off x="270662" y="4992624"/>
            <a:ext cx="5702198"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Strongest:</a:t>
            </a:r>
            <a:r>
              <a:rPr sz="1300" b="0" u="none">
                <a:solidFill>
                  <a:srgbClr val="FFFFFF"/>
                </a:solidFill>
                <a:latin typeface="Garamond"/>
                <a:ea typeface="Garamond"/>
                <a:cs typeface="Garamond"/>
              </a:rPr>
              <a:t> S4 is new: an Aug 26, 2026 executive order meets a Chinese partner</a:t>
            </a:r>
          </a:p>
        </p:txBody>
      </p:sp>
      <p:sp>
        <p:nvSpPr>
          <p:cNvPr id="6" name="Stat Callout"/>
          <p:cNvSpPr/>
          <p:nvPr/>
        </p:nvSpPr>
        <p:spPr>
          <a:xfrm>
            <a:off x="6201460" y="4992624"/>
            <a:ext cx="5702198"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Best evidenced:</a:t>
            </a:r>
            <a:r>
              <a:rPr sz="1300" b="0" u="none">
                <a:solidFill>
                  <a:srgbClr val="FFFFFF"/>
                </a:solidFill>
                <a:latin typeface="Garamond"/>
                <a:ea typeface="Garamond"/>
                <a:cs typeface="Garamond"/>
              </a:rPr>
              <a:t> S2, since the margin slide and 22-24% incremental margins are reported</a:t>
            </a:r>
          </a:p>
        </p:txBody>
      </p:sp>
      <p:sp>
        <p:nvSpPr>
          <p:cNvPr id="7" name="Tracker: Debate (active)"/>
          <p:cNvSpPr/>
          <p:nvPr/>
        </p:nvSpPr>
        <p:spPr>
          <a:xfrm>
            <a:off x="1144828"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8"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9"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0"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1"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2"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Bull Case: 10 Theses, Ranked</a:t>
            </a:r>
          </a:p>
        </p:txBody>
      </p:sp>
      <p:sp>
        <p:nvSpPr>
          <p:cNvPr id="3" name="Header: Argued as a long PM would  |  Same scoring; L4 shares the Street's view, so it is labeled Consensus"/>
          <p:cNvSpPr/>
          <p:nvPr/>
        </p:nvSpPr>
        <p:spPr>
          <a:xfrm>
            <a:off x="270662" y="914400"/>
            <a:ext cx="11632996"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Argued as a long PM would  |  Same scoring; L4 shares the Street's view, so it is labeled Consensus</a:t>
            </a:r>
          </a:p>
        </p:txBody>
      </p:sp>
      <p:graphicFrame>
        <p:nvGraphicFramePr>
          <p:cNvPr id="4" name="Table 3"/>
          <p:cNvGraphicFramePr>
            <a:graphicFrameLocks noGrp="1"/>
          </p:cNvGraphicFramePr>
          <p:nvPr/>
        </p:nvGraphicFramePr>
        <p:xfrm>
          <a:off x="270662" y="1353312"/>
          <a:ext cx="11632995" cy="3450590"/>
        </p:xfrm>
        <a:graphic>
          <a:graphicData uri="http://schemas.openxmlformats.org/drawingml/2006/table">
            <a:tbl>
              <a:tblPr firstRow="0" bandRow="0">
                <a:tableStyleId>{2D5ABB26-0587-4C30-8999-92F81FD0307C}</a:tableStyleId>
              </a:tblPr>
              <a:tblGrid>
                <a:gridCol w="415464"/>
                <a:gridCol w="507789"/>
                <a:gridCol w="1615694"/>
                <a:gridCol w="5862661"/>
                <a:gridCol w="2538947"/>
                <a:gridCol w="692440"/>
              </a:tblGrid>
              <a:tr h="313690">
                <a:tc>
                  <a:txBody>
                    <a:bodyPr/>
                    <a:lstStyle/>
                    <a:p>
                      <a:pPr algn="ctr"/>
                      <a:r>
                        <a:rPr sz="1300" b="1" u="none">
                          <a:solidFill>
                            <a:srgbClr val="FFFFFF"/>
                          </a:solidFill>
                          <a:latin typeface="Garamond"/>
                          <a:ea typeface="Garamond"/>
                          <a:cs typeface="Garamond"/>
                        </a:rPr>
                        <a:t>#</a:t>
                      </a:r>
                    </a:p>
                  </a:txBody>
                  <a:tcPr marL="54864" marR="54864" marT="18288" marB="18288" anchor="ctr">
                    <a:lnL w="0">
                      <a:noFill/>
                    </a:lnL>
                    <a:lnR w="0">
                      <a:noFill/>
                    </a:lnR>
                    <a:lnT w="0">
                      <a:noFill/>
                    </a:lnT>
                    <a:lnB w="0">
                      <a:noFill/>
                    </a:lnB>
                    <a:solidFill>
                      <a:srgbClr val="002060"/>
                    </a:solidFill>
                  </a:tcPr>
                </a:tc>
                <a:tc>
                  <a:txBody>
                    <a:bodyPr/>
                    <a:lstStyle/>
                    <a:p>
                      <a:pPr algn="ctr"/>
                      <a:r>
                        <a:rPr sz="1300" b="1" u="none">
                          <a:solidFill>
                            <a:srgbClr val="FFFFFF"/>
                          </a:solidFill>
                          <a:latin typeface="Garamond"/>
                          <a:ea typeface="Garamond"/>
                          <a:cs typeface="Garamond"/>
                        </a:rPr>
                        <a:t>ID</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Lens</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Thesis</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Consensus → Ours</a:t>
                      </a:r>
                    </a:p>
                  </a:txBody>
                  <a:tcPr marL="54864" marR="54864" marT="18288" marB="18288" anchor="ctr">
                    <a:lnL w="0">
                      <a:noFill/>
                    </a:lnL>
                    <a:lnR w="0">
                      <a:noFill/>
                    </a:lnR>
                    <a:lnT w="0">
                      <a:noFill/>
                    </a:lnT>
                    <a:lnB w="0">
                      <a:noFill/>
                    </a:lnB>
                    <a:solidFill>
                      <a:srgbClr val="002060"/>
                    </a:solidFill>
                  </a:tcPr>
                </a:tc>
                <a:tc>
                  <a:txBody>
                    <a:bodyPr/>
                    <a:lstStyle/>
                    <a:p>
                      <a:pPr algn="ctr"/>
                      <a:r>
                        <a:rPr sz="1300" b="1" u="none">
                          <a:solidFill>
                            <a:srgbClr val="FFFFFF"/>
                          </a:solidFill>
                          <a:latin typeface="Garamond"/>
                          <a:ea typeface="Garamond"/>
                          <a:cs typeface="Garamond"/>
                        </a:rPr>
                        <a:t>Score</a:t>
                      </a:r>
                    </a:p>
                  </a:txBody>
                  <a:tcPr marL="54864" marR="54864" marT="18288" marB="18288" anchor="ctr">
                    <a:lnL w="0">
                      <a:noFill/>
                    </a:lnL>
                    <a:lnR w="0">
                      <a:noFill/>
                    </a:lnR>
                    <a:lnT w="0">
                      <a:noFill/>
                    </a:lnT>
                    <a:lnB w="0">
                      <a:noFill/>
                    </a:lnB>
                    <a:solidFill>
                      <a:srgbClr val="002060"/>
                    </a:solidFill>
                  </a:tcPr>
                </a:tc>
              </a:tr>
              <a:tr h="313690">
                <a:tc>
                  <a:txBody>
                    <a:bodyPr/>
                    <a:lstStyle/>
                    <a:p>
                      <a:pPr algn="ctr"/>
                      <a:r>
                        <a:rPr sz="1300" b="0" u="none">
                          <a:solidFill>
                            <a:srgbClr val="000000"/>
                          </a:solidFill>
                          <a:latin typeface="Garamond"/>
                          <a:ea typeface="Garamond"/>
                          <a:cs typeface="Garamond"/>
                        </a:rPr>
                        <a:t>1</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L3</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Industry structure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CFM56 retirements stay at 2% or less through 2028; GE has cut its view 3 times</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Rising → 2% or less</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14</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2</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L1</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Revenue: volume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Share rises from 14% to 22%+ by end-2027 on 3,000 modules of capacity</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~20% → 22%+</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13</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3</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L4</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Expectations gap</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Consensus view: delivering the $2.3B 2027 plan re-rates FTAI to 12x (~$217)</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9.6x → 12x</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13</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4</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L8</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Moat trajectory</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SCI II raises $2B+, widening a captive ~600-engine pool</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Wind-down → $2B+</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13</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5</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L2</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Optionality</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Power earns $600M+ in 2027 as follow-on orders arrive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$450M → $600M+</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13</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6</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L7</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Profit engine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PMA and normalizing workscopes lift AP margin back to 31%+ by 2028</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~30% → 31%+</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12</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7</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L5</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Market structure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Index selling is spent; 10.4% short interest sets up a squeeze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10.4% → 7% or less</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12</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8</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L6</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Capital allocation</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The $500M buyback retires 3%+ of shares at a 48% drawdown</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Flat → -3% shares</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11</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9</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L10</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Governance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Accounting overhang fades: odds of a restatement or SEC action 5% or less</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Elevated → 5% or less</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10</a:t>
                      </a:r>
                    </a:p>
                  </a:txBody>
                  <a:tcPr marL="54864" marR="54864" marT="18288" marB="18288" anchor="ctr">
                    <a:lnL w="0">
                      <a:noFill/>
                    </a:lnL>
                    <a:lnR w="0">
                      <a:noFill/>
                    </a:lnR>
                    <a:lnT w="0">
                      <a:noFill/>
                    </a:lnT>
                    <a:lnB w="6350">
                      <a:solidFill>
                        <a:srgbClr val="D9D9D9"/>
                      </a:solidFill>
                    </a:lnB>
                    <a:noFill/>
                  </a:tcPr>
                </a:tc>
              </a:tr>
              <a:tr h="313690">
                <a:tc>
                  <a:txBody>
                    <a:bodyPr/>
                    <a:lstStyle/>
                    <a:p>
                      <a:pPr algn="ctr"/>
                      <a:r>
                        <a:rPr sz="1300" b="0" u="none">
                          <a:solidFill>
                            <a:srgbClr val="000000"/>
                          </a:solidFill>
                          <a:latin typeface="Garamond"/>
                          <a:ea typeface="Garamond"/>
                          <a:cs typeface="Garamond"/>
                        </a:rPr>
                        <a:t>10</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L9</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Macro</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The fuel shock drives 5+ new multi-year airline capacity deals</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Unmodeled → 5+ deals</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10</a:t>
                      </a:r>
                    </a:p>
                  </a:txBody>
                  <a:tcPr marL="54864" marR="54864" marT="18288" marB="18288" anchor="ctr">
                    <a:lnL w="0">
                      <a:noFill/>
                    </a:lnL>
                    <a:lnR w="0">
                      <a:noFill/>
                    </a:lnR>
                    <a:lnT w="0">
                      <a:noFill/>
                    </a:lnT>
                    <a:lnB w="6350">
                      <a:solidFill>
                        <a:srgbClr val="D9D9D9"/>
                      </a:solidFill>
                    </a:lnB>
                    <a:noFill/>
                  </a:tcPr>
                </a:tc>
              </a:tr>
            </a:tbl>
          </a:graphicData>
        </a:graphic>
      </p:graphicFrame>
      <p:sp>
        <p:nvSpPr>
          <p:cNvPr id="5" name="Stat Callout"/>
          <p:cNvSpPr/>
          <p:nvPr/>
        </p:nvSpPr>
        <p:spPr>
          <a:xfrm>
            <a:off x="270662" y="4992624"/>
            <a:ext cx="5702198"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Strongest:</a:t>
            </a:r>
            <a:r>
              <a:rPr sz="1300" b="0" u="none">
                <a:solidFill>
                  <a:srgbClr val="FFFFFF"/>
                </a:solidFill>
                <a:latin typeface="Garamond"/>
                <a:ea typeface="Garamond"/>
                <a:cs typeface="Garamond"/>
              </a:rPr>
              <a:t> L3, because GE keeps lowering its CFM56 retirement assumption</a:t>
            </a:r>
          </a:p>
        </p:txBody>
      </p:sp>
      <p:sp>
        <p:nvSpPr>
          <p:cNvPr id="6" name="Stat Callout"/>
          <p:cNvSpPr/>
          <p:nvPr/>
        </p:nvSpPr>
        <p:spPr>
          <a:xfrm>
            <a:off x="6201460" y="4992624"/>
            <a:ext cx="5702198"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Hard data:</a:t>
            </a:r>
            <a:r>
              <a:rPr sz="1300" b="0" u="none">
                <a:solidFill>
                  <a:srgbClr val="FFFFFF"/>
                </a:solidFill>
                <a:latin typeface="Garamond"/>
                <a:ea typeface="Garamond"/>
                <a:cs typeface="Garamond"/>
              </a:rPr>
              <a:t> share rose from 10% to 14% in two quarters (L1)</a:t>
            </a:r>
          </a:p>
        </p:txBody>
      </p:sp>
      <p:sp>
        <p:nvSpPr>
          <p:cNvPr id="7" name="Tracker: Debate (active)"/>
          <p:cNvSpPr/>
          <p:nvPr/>
        </p:nvSpPr>
        <p:spPr>
          <a:xfrm>
            <a:off x="1144828"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8"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9"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0"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1"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2"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 Theses, Catalysts &amp; Falsifiers</a:t>
            </a:r>
          </a:p>
        </p:txBody>
      </p:sp>
      <p:sp>
        <p:nvSpPr>
          <p:cNvPr id="3" name="Header: Three Strongest per Side, Each With a Dated Test"/>
          <p:cNvSpPr/>
          <p:nvPr/>
        </p:nvSpPr>
        <p:spPr>
          <a:xfrm>
            <a:off x="270662" y="914400"/>
            <a:ext cx="11632996"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Three Strongest per Side, Each With a Dated Test</a:t>
            </a:r>
          </a:p>
        </p:txBody>
      </p:sp>
      <p:graphicFrame>
        <p:nvGraphicFramePr>
          <p:cNvPr id="4" name="Table 3"/>
          <p:cNvGraphicFramePr>
            <a:graphicFrameLocks noGrp="1"/>
          </p:cNvGraphicFramePr>
          <p:nvPr/>
        </p:nvGraphicFramePr>
        <p:xfrm>
          <a:off x="270662" y="1353312"/>
          <a:ext cx="11632995" cy="2606040"/>
        </p:xfrm>
        <a:graphic>
          <a:graphicData uri="http://schemas.openxmlformats.org/drawingml/2006/table">
            <a:tbl>
              <a:tblPr firstRow="0" bandRow="0">
                <a:tableStyleId>{2D5ABB26-0587-4C30-8999-92F81FD0307C}</a:tableStyleId>
              </a:tblPr>
              <a:tblGrid>
                <a:gridCol w="513907"/>
                <a:gridCol w="3223601"/>
                <a:gridCol w="2476099"/>
                <a:gridCol w="4064541"/>
                <a:gridCol w="1354847"/>
              </a:tblGrid>
              <a:tr h="289560">
                <a:tc>
                  <a:txBody>
                    <a:bodyPr/>
                    <a:lstStyle/>
                    <a:p>
                      <a:pPr algn="ctr"/>
                      <a:r>
                        <a:rPr sz="1200" b="1" u="none">
                          <a:solidFill>
                            <a:srgbClr val="FFFFFF"/>
                          </a:solidFill>
                          <a:latin typeface="Garamond"/>
                          <a:ea typeface="Garamond"/>
                          <a:cs typeface="Garamond"/>
                        </a:rPr>
                        <a:t>ID</a:t>
                      </a: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Thesis</a:t>
                      </a: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Catalyst &amp; timing</a:t>
                      </a: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Falsifier (dated)</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Value if right</a:t>
                      </a:r>
                    </a:p>
                  </a:txBody>
                  <a:tcPr marL="54864" marR="54864" marT="18288" marB="18288" anchor="ctr">
                    <a:lnL w="0">
                      <a:noFill/>
                    </a:lnL>
                    <a:lnR w="0">
                      <a:noFill/>
                    </a:lnR>
                    <a:lnT w="0">
                      <a:noFill/>
                    </a:lnT>
                    <a:lnB w="0">
                      <a:noFill/>
                    </a:lnB>
                    <a:solidFill>
                      <a:srgbClr val="002060"/>
                    </a:solidFill>
                  </a:tcPr>
                </a:tc>
              </a:tr>
              <a:tr h="289560">
                <a:tc>
                  <a:txBody>
                    <a:bodyPr/>
                    <a:lstStyle/>
                    <a:p>
                      <a:pPr algn="ct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Bear</a:t>
                      </a:r>
                    </a:p>
                  </a:txBody>
                  <a:tcPr marL="54864" marR="54864" marT="18288" marB="18288" anchor="ctr">
                    <a:lnL w="0">
                      <a:noFill/>
                    </a:lnL>
                    <a:lnR w="0">
                      <a:noFill/>
                    </a:lnR>
                    <a:lnT w="0">
                      <a:noFill/>
                    </a:lnT>
                    <a:lnB w="0">
                      <a:noFill/>
                    </a:lnB>
                    <a:solidFill>
                      <a:srgbClr val="002060"/>
                    </a:solidFill>
                  </a:tcPr>
                </a:tc>
                <a:tc>
                  <a:txBody>
                    <a:bodyPr/>
                    <a:lstStyle/>
                    <a:p>
                      <a:pPr algn="l"/>
                    </a:p>
                  </a:txBody>
                  <a:tcPr marL="54864" marR="54864" marT="18288" marB="18288" anchor="ctr">
                    <a:lnL w="0">
                      <a:noFill/>
                    </a:lnL>
                    <a:lnR w="0">
                      <a:noFill/>
                    </a:lnR>
                    <a:lnT w="0">
                      <a:noFill/>
                    </a:lnT>
                    <a:lnB w="0">
                      <a:noFill/>
                    </a:lnB>
                    <a:solidFill>
                      <a:srgbClr val="002060"/>
                    </a:solidFill>
                  </a:tcPr>
                </a:tc>
                <a:tc>
                  <a:txBody>
                    <a:bodyPr/>
                    <a:lstStyle/>
                    <a:p>
                      <a:pPr algn="l"/>
                    </a:p>
                  </a:txBody>
                  <a:tcPr marL="54864" marR="54864" marT="18288" marB="18288" anchor="ctr">
                    <a:lnL w="0">
                      <a:noFill/>
                    </a:lnL>
                    <a:lnR w="0">
                      <a:noFill/>
                    </a:lnR>
                    <a:lnT w="0">
                      <a:noFill/>
                    </a:lnT>
                    <a:lnB w="0">
                      <a:noFill/>
                    </a:lnB>
                    <a:solidFill>
                      <a:srgbClr val="002060"/>
                    </a:solidFill>
                  </a:tcPr>
                </a:tc>
                <a:tc>
                  <a:txBody>
                    <a:bodyPr/>
                    <a:lstStyle/>
                    <a:p>
                      <a:pPr algn="r"/>
                    </a:p>
                  </a:txBody>
                  <a:tcPr marL="54864" marR="54864" marT="18288" marB="18288" anchor="ctr">
                    <a:lnL w="0">
                      <a:noFill/>
                    </a:lnL>
                    <a:lnR w="0">
                      <a:noFill/>
                    </a:lnR>
                    <a:lnT w="0">
                      <a:noFill/>
                    </a:lnT>
                    <a:lnB w="0">
                      <a:noFill/>
                    </a:lnB>
                    <a:solidFill>
                      <a:srgbClr val="002060"/>
                    </a:solidFill>
                  </a:tcPr>
                </a:tc>
              </a:tr>
              <a:tr h="289560">
                <a:tc>
                  <a:txBody>
                    <a:bodyPr/>
                    <a:lstStyle/>
                    <a:p>
                      <a:pPr algn="ctr"/>
                      <a:r>
                        <a:rPr sz="1200" b="0" u="none">
                          <a:solidFill>
                            <a:srgbClr val="000000"/>
                          </a:solidFill>
                          <a:latin typeface="Garamond"/>
                          <a:ea typeface="Garamond"/>
                          <a:cs typeface="Garamond"/>
                        </a:rPr>
                        <a:t>S4</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EO 14420 curbs Jereh-packaged gensets</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DOE rules due 12/24/26</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DOE exempts behind-the-meter or US-built units by 3/31/27</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-$18 to -$41/sh</a:t>
                      </a:r>
                    </a:p>
                  </a:txBody>
                  <a:tcPr marL="54864" marR="54864" marT="18288" marB="18288" anchor="ctr">
                    <a:lnL w="0">
                      <a:noFill/>
                    </a:lnL>
                    <a:lnR w="0">
                      <a:noFill/>
                    </a:lnR>
                    <a:lnT w="0">
                      <a:noFill/>
                    </a:lnT>
                    <a:lnB w="6350">
                      <a:solidFill>
                        <a:srgbClr val="D9D9D9"/>
                      </a:solidFill>
                    </a:lnB>
                    <a:noFill/>
                  </a:tcPr>
                </a:tc>
              </a:tr>
              <a:tr h="289560">
                <a:tc>
                  <a:txBody>
                    <a:bodyPr/>
                    <a:lstStyle/>
                    <a:p>
                      <a:pPr algn="ctr"/>
                      <a:r>
                        <a:rPr sz="1200" b="0" u="none">
                          <a:solidFill>
                            <a:srgbClr val="000000"/>
                          </a:solidFill>
                          <a:latin typeface="Garamond"/>
                          <a:ea typeface="Garamond"/>
                          <a:cs typeface="Garamond"/>
                        </a:rPr>
                        <a:t>S2</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AP margin of 27% or less in 2027</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Q3'26 (10/28/26) and Q4'26 prints</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AP margin 30%+ in both Q3'26 and Q4'26 (by 2/28/27)</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-$12/sh</a:t>
                      </a:r>
                    </a:p>
                  </a:txBody>
                  <a:tcPr marL="54864" marR="54864" marT="18288" marB="18288" anchor="ctr">
                    <a:lnL w="0">
                      <a:noFill/>
                    </a:lnL>
                    <a:lnR w="0">
                      <a:noFill/>
                    </a:lnR>
                    <a:lnT w="0">
                      <a:noFill/>
                    </a:lnT>
                    <a:lnB w="6350">
                      <a:solidFill>
                        <a:srgbClr val="D9D9D9"/>
                      </a:solidFill>
                    </a:lnB>
                    <a:noFill/>
                  </a:tcPr>
                </a:tc>
              </a:tr>
              <a:tr h="289560">
                <a:tc>
                  <a:txBody>
                    <a:bodyPr/>
                    <a:lstStyle/>
                    <a:p>
                      <a:pPr algn="ctr"/>
                      <a:r>
                        <a:rPr sz="1200" b="0" u="none">
                          <a:solidFill>
                            <a:srgbClr val="000000"/>
                          </a:solidFill>
                          <a:latin typeface="Garamond"/>
                          <a:ea typeface="Garamond"/>
                          <a:cs typeface="Garamond"/>
                        </a:rPr>
                        <a:t>S1</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Finite CFM56 harvest: ~6.5x 2027 EBITDA</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GE 2027-28 outlooks; 2028 guide</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$1B+ of 2028+ Power orders or a LEAP plan by 12/31/28</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-40%</a:t>
                      </a:r>
                    </a:p>
                  </a:txBody>
                  <a:tcPr marL="54864" marR="54864" marT="18288" marB="18288" anchor="ctr">
                    <a:lnL w="0">
                      <a:noFill/>
                    </a:lnL>
                    <a:lnR w="0">
                      <a:noFill/>
                    </a:lnR>
                    <a:lnT w="0">
                      <a:noFill/>
                    </a:lnT>
                    <a:lnB w="6350">
                      <a:solidFill>
                        <a:srgbClr val="D9D9D9"/>
                      </a:solidFill>
                    </a:lnB>
                    <a:noFill/>
                  </a:tcPr>
                </a:tc>
              </a:tr>
              <a:tr h="289560">
                <a:tc>
                  <a:txBody>
                    <a:bodyPr/>
                    <a:lstStyle/>
                    <a:p>
                      <a:pPr algn="ct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Bull</a:t>
                      </a:r>
                    </a:p>
                  </a:txBody>
                  <a:tcPr marL="54864" marR="54864" marT="18288" marB="18288" anchor="ctr">
                    <a:lnL w="0">
                      <a:noFill/>
                    </a:lnL>
                    <a:lnR w="0">
                      <a:noFill/>
                    </a:lnR>
                    <a:lnT w="0">
                      <a:noFill/>
                    </a:lnT>
                    <a:lnB w="0">
                      <a:noFill/>
                    </a:lnB>
                    <a:solidFill>
                      <a:srgbClr val="002060"/>
                    </a:solidFill>
                  </a:tcPr>
                </a:tc>
                <a:tc>
                  <a:txBody>
                    <a:bodyPr/>
                    <a:lstStyle/>
                    <a:p>
                      <a:pPr algn="l"/>
                    </a:p>
                  </a:txBody>
                  <a:tcPr marL="54864" marR="54864" marT="18288" marB="18288" anchor="ctr">
                    <a:lnL w="0">
                      <a:noFill/>
                    </a:lnL>
                    <a:lnR w="0">
                      <a:noFill/>
                    </a:lnR>
                    <a:lnT w="0">
                      <a:noFill/>
                    </a:lnT>
                    <a:lnB w="0">
                      <a:noFill/>
                    </a:lnB>
                    <a:solidFill>
                      <a:srgbClr val="002060"/>
                    </a:solidFill>
                  </a:tcPr>
                </a:tc>
                <a:tc>
                  <a:txBody>
                    <a:bodyPr/>
                    <a:lstStyle/>
                    <a:p>
                      <a:pPr algn="l"/>
                    </a:p>
                  </a:txBody>
                  <a:tcPr marL="54864" marR="54864" marT="18288" marB="18288" anchor="ctr">
                    <a:lnL w="0">
                      <a:noFill/>
                    </a:lnL>
                    <a:lnR w="0">
                      <a:noFill/>
                    </a:lnR>
                    <a:lnT w="0">
                      <a:noFill/>
                    </a:lnT>
                    <a:lnB w="0">
                      <a:noFill/>
                    </a:lnB>
                    <a:solidFill>
                      <a:srgbClr val="002060"/>
                    </a:solidFill>
                  </a:tcPr>
                </a:tc>
                <a:tc>
                  <a:txBody>
                    <a:bodyPr/>
                    <a:lstStyle/>
                    <a:p>
                      <a:pPr algn="r"/>
                    </a:p>
                  </a:txBody>
                  <a:tcPr marL="54864" marR="54864" marT="18288" marB="18288" anchor="ctr">
                    <a:lnL w="0">
                      <a:noFill/>
                    </a:lnL>
                    <a:lnR w="0">
                      <a:noFill/>
                    </a:lnR>
                    <a:lnT w="0">
                      <a:noFill/>
                    </a:lnT>
                    <a:lnB w="0">
                      <a:noFill/>
                    </a:lnB>
                    <a:solidFill>
                      <a:srgbClr val="002060"/>
                    </a:solidFill>
                  </a:tcPr>
                </a:tc>
              </a:tr>
              <a:tr h="289560">
                <a:tc>
                  <a:txBody>
                    <a:bodyPr/>
                    <a:lstStyle/>
                    <a:p>
                      <a:pPr algn="ctr"/>
                      <a:r>
                        <a:rPr sz="1200" b="0" u="none">
                          <a:solidFill>
                            <a:srgbClr val="000000"/>
                          </a:solidFill>
                          <a:latin typeface="Garamond"/>
                          <a:ea typeface="Garamond"/>
                          <a:cs typeface="Garamond"/>
                        </a:rPr>
                        <a:t>L3</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CFM56 retirements 2% or less to 2028</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GE outlooks, Jan 2027 and Jan 2028</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GE guides 2028 retirements of 3%+ (~1/2028)</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+$21 to +$41/sh</a:t>
                      </a:r>
                    </a:p>
                  </a:txBody>
                  <a:tcPr marL="54864" marR="54864" marT="18288" marB="18288" anchor="ctr">
                    <a:lnL w="0">
                      <a:noFill/>
                    </a:lnL>
                    <a:lnR w="0">
                      <a:noFill/>
                    </a:lnR>
                    <a:lnT w="0">
                      <a:noFill/>
                    </a:lnT>
                    <a:lnB w="6350">
                      <a:solidFill>
                        <a:srgbClr val="D9D9D9"/>
                      </a:solidFill>
                    </a:lnB>
                    <a:noFill/>
                  </a:tcPr>
                </a:tc>
              </a:tr>
              <a:tr h="289560">
                <a:tc>
                  <a:txBody>
                    <a:bodyPr/>
                    <a:lstStyle/>
                    <a:p>
                      <a:pPr algn="ctr"/>
                      <a:r>
                        <a:rPr sz="1200" b="0" u="none">
                          <a:solidFill>
                            <a:srgbClr val="000000"/>
                          </a:solidFill>
                          <a:latin typeface="Garamond"/>
                          <a:ea typeface="Garamond"/>
                          <a:cs typeface="Garamond"/>
                        </a:rPr>
                        <a:t>L1</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Share from 14% to 22%+ by end-2027</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Q3'26 module count; 2027 guide</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Share below 17% at Q2'27 (reported ~8/2027)</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+$12/sh</a:t>
                      </a:r>
                    </a:p>
                  </a:txBody>
                  <a:tcPr marL="54864" marR="54864" marT="18288" marB="18288" anchor="ctr">
                    <a:lnL w="0">
                      <a:noFill/>
                    </a:lnL>
                    <a:lnR w="0">
                      <a:noFill/>
                    </a:lnR>
                    <a:lnT w="0">
                      <a:noFill/>
                    </a:lnT>
                    <a:lnB w="6350">
                      <a:solidFill>
                        <a:srgbClr val="D9D9D9"/>
                      </a:solidFill>
                    </a:lnB>
                    <a:noFill/>
                  </a:tcPr>
                </a:tc>
              </a:tr>
              <a:tr h="289560">
                <a:tc>
                  <a:txBody>
                    <a:bodyPr/>
                    <a:lstStyle/>
                    <a:p>
                      <a:pPr algn="ctr"/>
                      <a:r>
                        <a:rPr sz="1200" b="0" u="none">
                          <a:solidFill>
                            <a:srgbClr val="000000"/>
                          </a:solidFill>
                          <a:latin typeface="Garamond"/>
                          <a:ea typeface="Garamond"/>
                          <a:cs typeface="Garamond"/>
                        </a:rPr>
                        <a:t>L4</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Plan delivered, re-rate to 12x (~$217)</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2027 guidance (Feb 2027)</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2027 segment EBITDA guide below $2.1B</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+30%</a:t>
                      </a:r>
                    </a:p>
                  </a:txBody>
                  <a:tcPr marL="54864" marR="54864" marT="18288" marB="18288" anchor="ctr">
                    <a:lnL w="0">
                      <a:noFill/>
                    </a:lnL>
                    <a:lnR w="0">
                      <a:noFill/>
                    </a:lnR>
                    <a:lnT w="0">
                      <a:noFill/>
                    </a:lnT>
                    <a:lnB w="6350">
                      <a:solidFill>
                        <a:srgbClr val="D9D9D9"/>
                      </a:solidFill>
                    </a:lnB>
                    <a:noFill/>
                  </a:tcPr>
                </a:tc>
              </a:tr>
            </a:tbl>
          </a:graphicData>
        </a:graphic>
      </p:graphicFrame>
      <p:sp>
        <p:nvSpPr>
          <p:cNvPr id="5" name="Header: Dependency Check"/>
          <p:cNvSpPr/>
          <p:nvPr/>
        </p:nvSpPr>
        <p:spPr>
          <a:xfrm>
            <a:off x="270662" y="4169664"/>
            <a:ext cx="11632996"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Dependency Check</a:t>
            </a:r>
          </a:p>
        </p:txBody>
      </p:sp>
      <p:sp>
        <p:nvSpPr>
          <p:cNvPr id="6" name="Bullets"/>
          <p:cNvSpPr txBox="1"/>
          <p:nvPr/>
        </p:nvSpPr>
        <p:spPr>
          <a:xfrm>
            <a:off x="270662" y="4608576"/>
            <a:ext cx="11632996" cy="70967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S3 and S4 are </a:t>
            </a:r>
            <a:r>
              <a:rPr sz="1700" b="1" u="none">
                <a:solidFill>
                  <a:srgbClr val="000000"/>
                </a:solidFill>
                <a:latin typeface="Garamond"/>
                <a:ea typeface="Garamond"/>
                <a:cs typeface="Garamond"/>
              </a:rPr>
              <a:t>one bet against Power</a:t>
            </a:r>
            <a:r>
              <a:rPr sz="1700" b="0" u="none">
                <a:solidFill>
                  <a:srgbClr val="000000"/>
                </a:solidFill>
                <a:latin typeface="Garamond"/>
                <a:ea typeface="Garamond"/>
                <a:cs typeface="Garamond"/>
              </a:rPr>
              <a:t>; L4 is just the value of L1 and L2 being delivered</a:t>
            </a:r>
          </a:p>
          <a:p>
            <a:pPr marL="457200" indent="-336499">
              <a:buClr>
                <a:srgbClr val="000000"/>
              </a:buClr>
              <a:buSzPts val="1700"/>
              <a:buFont typeface="Garamond"/>
              <a:buChar char="●"/>
            </a:pPr>
            <a:r>
              <a:rPr sz="1700" b="0" u="none">
                <a:solidFill>
                  <a:srgbClr val="000000"/>
                </a:solidFill>
                <a:latin typeface="Garamond"/>
                <a:ea typeface="Garamond"/>
                <a:cs typeface="Garamond"/>
              </a:rPr>
              <a:t>S2, S5 and S10 share one driver: </a:t>
            </a:r>
            <a:r>
              <a:rPr sz="1700" b="1" u="none">
                <a:solidFill>
                  <a:srgbClr val="000000"/>
                </a:solidFill>
                <a:latin typeface="Garamond"/>
                <a:ea typeface="Garamond"/>
                <a:cs typeface="Garamond"/>
              </a:rPr>
              <a:t>competitive and OEM pressure</a:t>
            </a:r>
            <a:r>
              <a:rPr sz="1700" b="0" u="none">
                <a:solidFill>
                  <a:srgbClr val="000000"/>
                </a:solidFill>
                <a:latin typeface="Garamond"/>
                <a:ea typeface="Garamond"/>
                <a:cs typeface="Garamond"/>
              </a:rPr>
              <a:t> on FTAI's pricing</a:t>
            </a:r>
          </a:p>
        </p:txBody>
      </p:sp>
      <p:sp>
        <p:nvSpPr>
          <p:cNvPr id="7" name="Tracker: Debate (active)"/>
          <p:cNvSpPr/>
          <p:nvPr/>
        </p:nvSpPr>
        <p:spPr>
          <a:xfrm>
            <a:off x="1144828"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8"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9"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0"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1"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2"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Debate Map: Where the Two Cases Collide</a:t>
            </a:r>
          </a:p>
        </p:txBody>
      </p:sp>
      <p:sp>
        <p:nvSpPr>
          <p:cNvPr id="3" name="Header: Five Variables Decide the Debate"/>
          <p:cNvSpPr/>
          <p:nvPr/>
        </p:nvSpPr>
        <p:spPr>
          <a:xfrm>
            <a:off x="270662" y="914400"/>
            <a:ext cx="11632996"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Five Variables Decide the Debate</a:t>
            </a:r>
          </a:p>
        </p:txBody>
      </p:sp>
      <p:graphicFrame>
        <p:nvGraphicFramePr>
          <p:cNvPr id="4" name="Table 3"/>
          <p:cNvGraphicFramePr>
            <a:graphicFrameLocks noGrp="1"/>
          </p:cNvGraphicFramePr>
          <p:nvPr/>
        </p:nvGraphicFramePr>
        <p:xfrm>
          <a:off x="270662" y="1353312"/>
          <a:ext cx="11632994" cy="1809750"/>
        </p:xfrm>
        <a:graphic>
          <a:graphicData uri="http://schemas.openxmlformats.org/drawingml/2006/table">
            <a:tbl>
              <a:tblPr firstRow="0" bandRow="0">
                <a:tableStyleId>{2D5ABB26-0587-4C30-8999-92F81FD0307C}</a:tableStyleId>
              </a:tblPr>
              <a:tblGrid>
                <a:gridCol w="1969365"/>
                <a:gridCol w="1969365"/>
                <a:gridCol w="2106763"/>
                <a:gridCol w="1694570"/>
                <a:gridCol w="1419775"/>
                <a:gridCol w="2473156"/>
              </a:tblGrid>
              <a:tr h="301625">
                <a:tc>
                  <a:txBody>
                    <a:bodyPr/>
                    <a:lstStyle/>
                    <a:p>
                      <a:pPr algn="l"/>
                      <a:r>
                        <a:rPr sz="1250" b="1" u="none">
                          <a:solidFill>
                            <a:srgbClr val="FFFFFF"/>
                          </a:solidFill>
                          <a:latin typeface="Garamond"/>
                          <a:ea typeface="Garamond"/>
                          <a:cs typeface="Garamond"/>
                        </a:rPr>
                        <a:t>Variable</a:t>
                      </a:r>
                    </a:p>
                  </a:txBody>
                  <a:tcPr marL="54864" marR="54864" marT="18288" marB="18288" anchor="ctr">
                    <a:lnL w="0">
                      <a:noFill/>
                    </a:lnL>
                    <a:lnR w="0">
                      <a:noFill/>
                    </a:lnR>
                    <a:lnT w="0">
                      <a:noFill/>
                    </a:lnT>
                    <a:lnB w="0">
                      <a:noFill/>
                    </a:lnB>
                    <a:solidFill>
                      <a:srgbClr val="002060"/>
                    </a:solidFill>
                  </a:tcPr>
                </a:tc>
                <a:tc>
                  <a:txBody>
                    <a:bodyPr/>
                    <a:lstStyle/>
                    <a:p>
                      <a:pPr algn="l"/>
                      <a:r>
                        <a:rPr sz="1250" b="1" u="none">
                          <a:solidFill>
                            <a:srgbClr val="FFFFFF"/>
                          </a:solidFill>
                          <a:latin typeface="Garamond"/>
                          <a:ea typeface="Garamond"/>
                          <a:cs typeface="Garamond"/>
                        </a:rPr>
                        <a:t>Bull view</a:t>
                      </a:r>
                    </a:p>
                  </a:txBody>
                  <a:tcPr marL="54864" marR="54864" marT="18288" marB="18288" anchor="ctr">
                    <a:lnL w="0">
                      <a:noFill/>
                    </a:lnL>
                    <a:lnR w="0">
                      <a:noFill/>
                    </a:lnR>
                    <a:lnT w="0">
                      <a:noFill/>
                    </a:lnT>
                    <a:lnB w="0">
                      <a:noFill/>
                    </a:lnB>
                    <a:solidFill>
                      <a:srgbClr val="002060"/>
                    </a:solidFill>
                  </a:tcPr>
                </a:tc>
                <a:tc>
                  <a:txBody>
                    <a:bodyPr/>
                    <a:lstStyle/>
                    <a:p>
                      <a:pPr algn="l"/>
                      <a:r>
                        <a:rPr sz="1250" b="1" u="none">
                          <a:solidFill>
                            <a:srgbClr val="FFFFFF"/>
                          </a:solidFill>
                          <a:latin typeface="Garamond"/>
                          <a:ea typeface="Garamond"/>
                          <a:cs typeface="Garamond"/>
                        </a:rPr>
                        <a:t>Bear view</a:t>
                      </a:r>
                    </a:p>
                  </a:txBody>
                  <a:tcPr marL="54864" marR="54864" marT="18288" marB="18288" anchor="ctr">
                    <a:lnL w="0">
                      <a:noFill/>
                    </a:lnL>
                    <a:lnR w="0">
                      <a:noFill/>
                    </a:lnR>
                    <a:lnT w="0">
                      <a:noFill/>
                    </a:lnT>
                    <a:lnB w="0">
                      <a:noFill/>
                    </a:lnB>
                    <a:solidFill>
                      <a:srgbClr val="002060"/>
                    </a:solidFill>
                  </a:tcPr>
                </a:tc>
                <a:tc>
                  <a:txBody>
                    <a:bodyPr/>
                    <a:lstStyle/>
                    <a:p>
                      <a:pPr algn="l"/>
                      <a:r>
                        <a:rPr sz="1250" b="1" u="none">
                          <a:solidFill>
                            <a:srgbClr val="FFFFFF"/>
                          </a:solidFill>
                          <a:latin typeface="Garamond"/>
                          <a:ea typeface="Garamond"/>
                          <a:cs typeface="Garamond"/>
                        </a:rPr>
                        <a:t>Consensus</a:t>
                      </a:r>
                    </a:p>
                  </a:txBody>
                  <a:tcPr marL="54864" marR="54864" marT="18288" marB="18288" anchor="ctr">
                    <a:lnL w="0">
                      <a:noFill/>
                    </a:lnL>
                    <a:lnR w="0">
                      <a:noFill/>
                    </a:lnR>
                    <a:lnT w="0">
                      <a:noFill/>
                    </a:lnT>
                    <a:lnB w="0">
                      <a:noFill/>
                    </a:lnB>
                    <a:solidFill>
                      <a:srgbClr val="002060"/>
                    </a:solidFill>
                  </a:tcPr>
                </a:tc>
                <a:tc>
                  <a:txBody>
                    <a:bodyPr/>
                    <a:lstStyle/>
                    <a:p>
                      <a:pPr algn="l"/>
                      <a:r>
                        <a:rPr sz="1250" b="1" u="none">
                          <a:solidFill>
                            <a:srgbClr val="FFFFFF"/>
                          </a:solidFill>
                          <a:latin typeface="Garamond"/>
                          <a:ea typeface="Garamond"/>
                          <a:cs typeface="Garamond"/>
                        </a:rPr>
                        <a:t>Price implies</a:t>
                      </a:r>
                    </a:p>
                  </a:txBody>
                  <a:tcPr marL="54864" marR="54864" marT="18288" marB="18288" anchor="ctr">
                    <a:lnL w="0">
                      <a:noFill/>
                    </a:lnL>
                    <a:lnR w="0">
                      <a:noFill/>
                    </a:lnR>
                    <a:lnT w="0">
                      <a:noFill/>
                    </a:lnT>
                    <a:lnB w="0">
                      <a:noFill/>
                    </a:lnB>
                    <a:solidFill>
                      <a:srgbClr val="002060"/>
                    </a:solidFill>
                  </a:tcPr>
                </a:tc>
                <a:tc>
                  <a:txBody>
                    <a:bodyPr/>
                    <a:lstStyle/>
                    <a:p>
                      <a:pPr algn="l"/>
                      <a:r>
                        <a:rPr sz="1250" b="1" u="none">
                          <a:solidFill>
                            <a:srgbClr val="FFFFFF"/>
                          </a:solidFill>
                          <a:latin typeface="Garamond"/>
                          <a:ea typeface="Garamond"/>
                          <a:cs typeface="Garamond"/>
                        </a:rPr>
                        <a:t>Resolves (when)</a:t>
                      </a:r>
                    </a:p>
                  </a:txBody>
                  <a:tcPr marL="54864" marR="54864" marT="18288" marB="18288" anchor="ctr">
                    <a:lnL w="0">
                      <a:noFill/>
                    </a:lnL>
                    <a:lnR w="0">
                      <a:noFill/>
                    </a:lnR>
                    <a:lnT w="0">
                      <a:noFill/>
                    </a:lnT>
                    <a:lnB w="0">
                      <a:noFill/>
                    </a:lnB>
                    <a:solidFill>
                      <a:srgbClr val="002060"/>
                    </a:solidFill>
                  </a:tcPr>
                </a:tc>
              </a:tr>
              <a:tr h="301625">
                <a:tc>
                  <a:txBody>
                    <a:bodyPr/>
                    <a:lstStyle/>
                    <a:p>
                      <a:pPr algn="l"/>
                      <a:r>
                        <a:rPr sz="1250" b="0" u="none">
                          <a:solidFill>
                            <a:srgbClr val="000000"/>
                          </a:solidFill>
                          <a:latin typeface="Garamond"/>
                          <a:ea typeface="Garamond"/>
                          <a:cs typeface="Garamond"/>
                        </a:rPr>
                        <a:t>AP EBITDA margin</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31%+ by 2028 (L7)</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27% or less in 2027 (S2)</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29.8% (2027 plan)</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~30%, sustained</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Q3'26 (10/28/26) and Q4'26</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a:solidFill>
                            <a:srgbClr val="000000"/>
                          </a:solidFill>
                          <a:latin typeface="Garamond"/>
                          <a:ea typeface="Garamond"/>
                          <a:cs typeface="Garamond"/>
                        </a:rPr>
                        <a:t>2027 Power EBITDA</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$600M+ (L2)</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$300M; policy hit (S3, S4)</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$450M floor</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~$450M</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DOE 12/24/26; Mod-1 3/31/27</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a:solidFill>
                            <a:srgbClr val="000000"/>
                          </a:solidFill>
                          <a:latin typeface="Garamond"/>
                          <a:ea typeface="Garamond"/>
                          <a:cs typeface="Garamond"/>
                        </a:rPr>
                        <a:t>FTAI market share</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22%+ by 2027 (L1)</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18% or less (S5)</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~20% (plan)</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~20%</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Q2'27 print (~8/2027)</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a:solidFill>
                            <a:srgbClr val="000000"/>
                          </a:solidFill>
                          <a:latin typeface="Garamond"/>
                          <a:ea typeface="Garamond"/>
                          <a:cs typeface="Garamond"/>
                        </a:rPr>
                        <a:t>CFM56 retirement rate</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2% or less to 2028 (L3)</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3.5%+ in 2028 (S9)</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1.5-2% (GE)</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GE's path</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GE outlooks, Jan '27 and '28</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a:solidFill>
                            <a:srgbClr val="000000"/>
                          </a:solidFill>
                          <a:latin typeface="Garamond"/>
                          <a:ea typeface="Garamond"/>
                          <a:cs typeface="Garamond"/>
                        </a:rPr>
                        <a:t>EV / 2027 EBITDA</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12x on delivery (L4)</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~6.5x harvest (S1)</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16.8x (Street)</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9.6x</a:t>
                      </a:r>
                    </a:p>
                  </a:txBody>
                  <a:tcPr marL="54864" marR="54864" marT="18288" marB="18288" anchor="ctr">
                    <a:lnL w="0">
                      <a:noFill/>
                    </a:lnL>
                    <a:lnR w="0">
                      <a:noFill/>
                    </a:lnR>
                    <a:lnT w="0">
                      <a:noFill/>
                    </a:lnT>
                    <a:lnB w="6350">
                      <a:solidFill>
                        <a:srgbClr val="D9D9D9"/>
                      </a:solidFill>
                    </a:lnB>
                    <a:noFill/>
                  </a:tcPr>
                </a:tc>
                <a:tc>
                  <a:txBody>
                    <a:bodyPr/>
                    <a:lstStyle/>
                    <a:p>
                      <a:pPr algn="l"/>
                      <a:r>
                        <a:rPr sz="1250" b="0" u="none">
                          <a:solidFill>
                            <a:srgbClr val="000000"/>
                          </a:solidFill>
                          <a:latin typeface="Garamond"/>
                          <a:ea typeface="Garamond"/>
                          <a:cs typeface="Garamond"/>
                        </a:rPr>
                        <a:t>2027 guide (Feb 2027)</a:t>
                      </a:r>
                    </a:p>
                  </a:txBody>
                  <a:tcPr marL="54864" marR="54864" marT="18288" marB="18288" anchor="ctr">
                    <a:lnL w="0">
                      <a:noFill/>
                    </a:lnL>
                    <a:lnR w="0">
                      <a:noFill/>
                    </a:lnR>
                    <a:lnT w="0">
                      <a:noFill/>
                    </a:lnT>
                    <a:lnB w="6350">
                      <a:solidFill>
                        <a:srgbClr val="D9D9D9"/>
                      </a:solidFill>
                    </a:lnB>
                    <a:noFill/>
                  </a:tcPr>
                </a:tc>
              </a:tr>
            </a:tbl>
          </a:graphicData>
        </a:graphic>
      </p:graphicFrame>
      <p:sp>
        <p:nvSpPr>
          <p:cNvPr id="5" name="Header: Where the Case Stands"/>
          <p:cNvSpPr/>
          <p:nvPr/>
        </p:nvSpPr>
        <p:spPr>
          <a:xfrm>
            <a:off x="270662" y="3346704"/>
            <a:ext cx="11632996"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Where the Case Stands</a:t>
            </a:r>
          </a:p>
        </p:txBody>
      </p:sp>
      <p:sp>
        <p:nvSpPr>
          <p:cNvPr id="6" name="Bullets"/>
          <p:cNvSpPr txBox="1"/>
          <p:nvPr/>
        </p:nvSpPr>
        <p:spPr>
          <a:xfrm>
            <a:off x="270662" y="3785616"/>
            <a:ext cx="11632996" cy="973073"/>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The bear side is modestly stronger (</a:t>
            </a:r>
            <a:r>
              <a:rPr sz="1700" b="1" u="none">
                <a:solidFill>
                  <a:srgbClr val="000000"/>
                </a:solidFill>
                <a:latin typeface="Garamond"/>
                <a:ea typeface="Garamond"/>
                <a:cs typeface="Garamond"/>
              </a:rPr>
              <a:t>13.7 vs. 12.1</a:t>
            </a:r>
            <a:r>
              <a:rPr sz="1700" b="0" u="none">
                <a:solidFill>
                  <a:srgbClr val="000000"/>
                </a:solidFill>
                <a:latin typeface="Garamond"/>
                <a:ea typeface="Garamond"/>
                <a:cs typeface="Garamond"/>
              </a:rPr>
              <a:t> of 20) because its core facts are already reported</a:t>
            </a:r>
          </a:p>
          <a:p>
            <a:pPr marL="457200" indent="-336499">
              <a:buClr>
                <a:srgbClr val="000000"/>
              </a:buClr>
              <a:buSzPts val="1700"/>
              <a:buFont typeface="Garamond"/>
              <a:buChar char="●"/>
            </a:pPr>
            <a:r>
              <a:rPr sz="1700" b="0" u="none">
                <a:solidFill>
                  <a:srgbClr val="000000"/>
                </a:solidFill>
                <a:latin typeface="Garamond"/>
                <a:ea typeface="Garamond"/>
                <a:cs typeface="Garamond"/>
              </a:rPr>
              <a:t>The decider is </a:t>
            </a:r>
            <a:r>
              <a:rPr sz="1700" b="1" u="none">
                <a:solidFill>
                  <a:srgbClr val="000000"/>
                </a:solidFill>
                <a:latin typeface="Garamond"/>
                <a:ea typeface="Garamond"/>
                <a:cs typeface="Garamond"/>
              </a:rPr>
              <a:t>AP EBITDA margin</a:t>
            </a:r>
            <a:r>
              <a:rPr sz="1700" b="0" u="none">
                <a:solidFill>
                  <a:srgbClr val="000000"/>
                </a:solidFill>
                <a:latin typeface="Garamond"/>
                <a:ea typeface="Garamond"/>
                <a:cs typeface="Garamond"/>
              </a:rPr>
              <a:t> over the next two prints: it separates mix from price</a:t>
            </a:r>
          </a:p>
          <a:p>
            <a:pPr marL="457200" indent="-336499">
              <a:buClr>
                <a:srgbClr val="000000"/>
              </a:buClr>
              <a:buSzPts val="1700"/>
              <a:buFont typeface="Garamond"/>
              <a:buChar char="●"/>
            </a:pPr>
            <a:r>
              <a:rPr sz="1700" b="0" u="none">
                <a:solidFill>
                  <a:srgbClr val="000000"/>
                </a:solidFill>
                <a:latin typeface="Garamond"/>
                <a:ea typeface="Garamond"/>
                <a:cs typeface="Garamond"/>
              </a:rPr>
              <a:t>Flip to bull: AP margin </a:t>
            </a:r>
            <a:r>
              <a:rPr sz="1700" b="1" u="none">
                <a:solidFill>
                  <a:srgbClr val="000000"/>
                </a:solidFill>
                <a:latin typeface="Garamond"/>
                <a:ea typeface="Garamond"/>
                <a:cs typeface="Garamond"/>
              </a:rPr>
              <a:t>30%+</a:t>
            </a:r>
            <a:r>
              <a:rPr sz="1700" b="0" u="none">
                <a:solidFill>
                  <a:srgbClr val="000000"/>
                </a:solidFill>
                <a:latin typeface="Garamond"/>
                <a:ea typeface="Garamond"/>
                <a:cs typeface="Garamond"/>
              </a:rPr>
              <a:t> in Q3 and Q4'26 with </a:t>
            </a:r>
            <a:r>
              <a:rPr sz="1700" b="1" u="none">
                <a:solidFill>
                  <a:srgbClr val="000000"/>
                </a:solidFill>
                <a:latin typeface="Garamond"/>
                <a:ea typeface="Garamond"/>
                <a:cs typeface="Garamond"/>
              </a:rPr>
              <a:t>300+</a:t>
            </a:r>
            <a:r>
              <a:rPr sz="1700" b="0" u="none">
                <a:solidFill>
                  <a:srgbClr val="000000"/>
                </a:solidFill>
                <a:latin typeface="Garamond"/>
                <a:ea typeface="Garamond"/>
                <a:cs typeface="Garamond"/>
              </a:rPr>
              <a:t> modules a quarter, plus benign DOE rules</a:t>
            </a:r>
          </a:p>
        </p:txBody>
      </p:sp>
      <p:sp>
        <p:nvSpPr>
          <p:cNvPr id="7" name="Stat Callout"/>
          <p:cNvSpPr/>
          <p:nvPr/>
        </p:nvSpPr>
        <p:spPr>
          <a:xfrm>
            <a:off x="270662" y="4923282"/>
            <a:ext cx="5702198"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Next test:</a:t>
            </a:r>
            <a:r>
              <a:rPr sz="1300" b="0" u="none">
                <a:solidFill>
                  <a:srgbClr val="FFFFFF"/>
                </a:solidFill>
                <a:latin typeface="Garamond"/>
                <a:ea typeface="Garamond"/>
                <a:cs typeface="Garamond"/>
              </a:rPr>
              <a:t> Q3'26 results on 10/28/26 (consensus EPS $1.54)</a:t>
            </a:r>
          </a:p>
        </p:txBody>
      </p:sp>
      <p:sp>
        <p:nvSpPr>
          <p:cNvPr id="8" name="Stat Callout"/>
          <p:cNvSpPr/>
          <p:nvPr/>
        </p:nvSpPr>
        <p:spPr>
          <a:xfrm>
            <a:off x="6201460" y="4923282"/>
            <a:ext cx="5702198"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Policy test:</a:t>
            </a:r>
            <a:r>
              <a:rPr sz="1300" b="0" u="none">
                <a:solidFill>
                  <a:srgbClr val="FFFFFF"/>
                </a:solidFill>
                <a:latin typeface="Garamond"/>
                <a:ea typeface="Garamond"/>
                <a:cs typeface="Garamond"/>
              </a:rPr>
              <a:t> DOE rules under EO 14420, due 12/24/26</a:t>
            </a:r>
          </a:p>
        </p:txBody>
      </p:sp>
      <p:sp>
        <p:nvSpPr>
          <p:cNvPr id="9" name="Tracker: Debate (active)"/>
          <p:cNvSpPr/>
          <p:nvPr/>
        </p:nvSpPr>
        <p:spPr>
          <a:xfrm>
            <a:off x="1144828"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0"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1"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2"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3"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4"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5"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	Company Overview</a:t>
            </a:r>
          </a:p>
        </p:txBody>
      </p:sp>
      <p:sp>
        <p:nvSpPr>
          <p:cNvPr id="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Header: Background"/>
          <p:cNvSpPr/>
          <p:nvPr/>
        </p:nvSpPr>
        <p:spPr>
          <a:xfrm>
            <a:off x="270662" y="914400"/>
            <a:ext cx="3694785"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Background</a:t>
            </a:r>
          </a:p>
        </p:txBody>
      </p:sp>
      <p:sp>
        <p:nvSpPr>
          <p:cNvPr id="4" name="Bullets"/>
          <p:cNvSpPr txBox="1"/>
          <p:nvPr/>
        </p:nvSpPr>
        <p:spPr>
          <a:xfrm>
            <a:off x="270662" y="1353312"/>
            <a:ext cx="3694785" cy="334365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FTAI Aviation (NASDAQ: FTAI), Cayman-domiciled; CEO </a:t>
            </a:r>
            <a:r>
              <a:rPr sz="1700" b="1" u="none">
                <a:solidFill>
                  <a:srgbClr val="000000"/>
                </a:solidFill>
                <a:latin typeface="Garamond"/>
                <a:ea typeface="Garamond"/>
                <a:cs typeface="Garamond"/>
              </a:rPr>
              <a:t>Joe Adams</a:t>
            </a:r>
          </a:p>
          <a:p>
            <a:pPr marL="457200" indent="-336499">
              <a:buClr>
                <a:srgbClr val="000000"/>
              </a:buClr>
              <a:buSzPts val="1700"/>
              <a:buFont typeface="Garamond"/>
              <a:buChar char="●"/>
            </a:pPr>
            <a:r>
              <a:rPr sz="1700" b="0" u="none">
                <a:solidFill>
                  <a:srgbClr val="000000"/>
                </a:solidFill>
                <a:latin typeface="Garamond"/>
                <a:ea typeface="Garamond"/>
                <a:cs typeface="Garamond"/>
              </a:rPr>
              <a:t>Refurbishes and exchanges </a:t>
            </a:r>
            <a:r>
              <a:rPr sz="1700" b="1" u="none">
                <a:solidFill>
                  <a:srgbClr val="000000"/>
                </a:solidFill>
                <a:latin typeface="Garamond"/>
                <a:ea typeface="Garamond"/>
                <a:cs typeface="Garamond"/>
              </a:rPr>
              <a:t>CFM56</a:t>
            </a:r>
            <a:r>
              <a:rPr sz="1700" b="0" u="none">
                <a:solidFill>
                  <a:srgbClr val="000000"/>
                </a:solidFill>
                <a:latin typeface="Garamond"/>
                <a:ea typeface="Garamond"/>
                <a:cs typeface="Garamond"/>
              </a:rPr>
              <a:t> engine modules for 737NG and A320ceo fleets</a:t>
            </a:r>
          </a:p>
          <a:p>
            <a:pPr marL="457200" indent="-336499">
              <a:buClr>
                <a:srgbClr val="000000"/>
              </a:buClr>
              <a:buSzPts val="1700"/>
              <a:buFont typeface="Garamond"/>
              <a:buChar char="●"/>
            </a:pPr>
            <a:r>
              <a:rPr sz="1700" b="0" u="none">
                <a:solidFill>
                  <a:srgbClr val="000000"/>
                </a:solidFill>
                <a:latin typeface="Garamond"/>
                <a:ea typeface="Garamond"/>
                <a:cs typeface="Garamond"/>
              </a:rPr>
              <a:t>Module sites: </a:t>
            </a:r>
            <a:r>
              <a:rPr sz="1700" b="1" u="none">
                <a:solidFill>
                  <a:srgbClr val="000000"/>
                </a:solidFill>
                <a:latin typeface="Garamond"/>
                <a:ea typeface="Garamond"/>
                <a:cs typeface="Garamond"/>
              </a:rPr>
              <a:t>Montreal, Miami, Rome, Lisbon</a:t>
            </a:r>
            <a:r>
              <a:rPr sz="1700" b="0" u="none">
                <a:solidFill>
                  <a:srgbClr val="000000"/>
                </a:solidFill>
                <a:latin typeface="Garamond"/>
                <a:ea typeface="Garamond"/>
                <a:cs typeface="Garamond"/>
              </a:rPr>
              <a:t>; capacity raised to </a:t>
            </a:r>
            <a:r>
              <a:rPr sz="1700" b="1" u="none">
                <a:solidFill>
                  <a:srgbClr val="000000"/>
                </a:solidFill>
                <a:latin typeface="Garamond"/>
                <a:ea typeface="Garamond"/>
                <a:cs typeface="Garamond"/>
              </a:rPr>
              <a:t>3,000</a:t>
            </a:r>
            <a:r>
              <a:rPr sz="1700" b="0" u="none">
                <a:solidFill>
                  <a:srgbClr val="000000"/>
                </a:solidFill>
                <a:latin typeface="Garamond"/>
                <a:ea typeface="Garamond"/>
                <a:cs typeface="Garamond"/>
              </a:rPr>
              <a:t> a year</a:t>
            </a:r>
          </a:p>
          <a:p>
            <a:pPr marL="457200" indent="-336499">
              <a:buClr>
                <a:srgbClr val="000000"/>
              </a:buClr>
              <a:buSzPts val="1700"/>
              <a:buFont typeface="Garamond"/>
              <a:buChar char="●"/>
            </a:pPr>
            <a:r>
              <a:rPr sz="1700" b="0" u="none">
                <a:solidFill>
                  <a:srgbClr val="000000"/>
                </a:solidFill>
                <a:latin typeface="Garamond"/>
                <a:ea typeface="Garamond"/>
                <a:cs typeface="Garamond"/>
              </a:rPr>
              <a:t>Leasing book moving into managed third-party funds (</a:t>
            </a:r>
            <a:r>
              <a:rPr sz="1700" b="1" u="none">
                <a:solidFill>
                  <a:srgbClr val="000000"/>
                </a:solidFill>
                <a:latin typeface="Garamond"/>
                <a:ea typeface="Garamond"/>
                <a:cs typeface="Garamond"/>
              </a:rPr>
              <a:t>SCI</a:t>
            </a:r>
            <a:r>
              <a:rPr sz="1700" b="0" u="none">
                <a:solidFill>
                  <a:srgbClr val="000000"/>
                </a:solidFill>
                <a:latin typeface="Garamond"/>
                <a:ea typeface="Garamond"/>
                <a:cs typeface="Garamond"/>
              </a:rPr>
              <a:t>)</a:t>
            </a:r>
          </a:p>
          <a:p>
            <a:pPr marL="457200" indent="-336499">
              <a:buClr>
                <a:srgbClr val="000000"/>
              </a:buClr>
              <a:buSzPts val="1700"/>
              <a:buFont typeface="Garamond"/>
              <a:buChar char="●"/>
            </a:pPr>
            <a:r>
              <a:rPr sz="1700" b="1" u="none">
                <a:solidFill>
                  <a:srgbClr val="000000"/>
                </a:solidFill>
                <a:latin typeface="Garamond"/>
                <a:ea typeface="Garamond"/>
                <a:cs typeface="Garamond"/>
              </a:rPr>
              <a:t>FTAI Power</a:t>
            </a:r>
            <a:r>
              <a:rPr sz="1700" b="0" u="none">
                <a:solidFill>
                  <a:srgbClr val="000000"/>
                </a:solidFill>
                <a:latin typeface="Garamond"/>
                <a:ea typeface="Garamond"/>
                <a:cs typeface="Garamond"/>
              </a:rPr>
              <a:t> (2026): CFM56 cores become 25 MW data-center gensets</a:t>
            </a:r>
          </a:p>
        </p:txBody>
      </p:sp>
      <p:sp>
        <p:nvSpPr>
          <p:cNvPr id="5" name="Header: TTM Segment EBITDA ($M)"/>
          <p:cNvSpPr/>
          <p:nvPr/>
        </p:nvSpPr>
        <p:spPr>
          <a:xfrm>
            <a:off x="4239768" y="914400"/>
            <a:ext cx="3694785"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TTM Segment EBITDA ($M)</a:t>
            </a:r>
          </a:p>
        </p:txBody>
      </p:sp>
      <p:graphicFrame>
        <p:nvGraphicFramePr>
          <p:cNvPr id="6" name="Chart 5" descr="Doughnut chart. TTM segment EBITDA: Aerospace Products 848; Aviation Leasing 489."/>
          <p:cNvGraphicFramePr>
            <a:graphicFrameLocks noGrp="1"/>
          </p:cNvGraphicFramePr>
          <p:nvPr/>
        </p:nvGraphicFramePr>
        <p:xfrm>
          <a:off x="4239768" y="1353312"/>
          <a:ext cx="3694785" cy="3154680"/>
        </p:xfrm>
        <a:graphic>
          <a:graphicData uri="http://schemas.openxmlformats.org/drawingml/2006/chart">
            <c:chart xmlns:c="http://schemas.openxmlformats.org/drawingml/2006/chart" r:id="rId2"/>
          </a:graphicData>
        </a:graphic>
      </p:graphicFrame>
      <p:sp>
        <p:nvSpPr>
          <p:cNvPr id="7" name="TextBox 6"/>
          <p:cNvSpPr txBox="1"/>
          <p:nvPr/>
        </p:nvSpPr>
        <p:spPr>
          <a:xfrm>
            <a:off x="4239768" y="4507992"/>
            <a:ext cx="3694785"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FTAI releases, Q3'25-Q2'26</a:t>
            </a:r>
          </a:p>
        </p:txBody>
      </p:sp>
      <p:sp>
        <p:nvSpPr>
          <p:cNvPr id="8" name="Bullets"/>
          <p:cNvSpPr txBox="1"/>
          <p:nvPr/>
        </p:nvSpPr>
        <p:spPr>
          <a:xfrm>
            <a:off x="4239768" y="4901184"/>
            <a:ext cx="3694785" cy="70967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Corporate &amp; Other: </a:t>
            </a:r>
            <a:r>
              <a:rPr sz="1700" b="1" u="none">
                <a:solidFill>
                  <a:srgbClr val="000000"/>
                </a:solidFill>
                <a:latin typeface="Garamond"/>
                <a:ea typeface="Garamond"/>
                <a:cs typeface="Garamond"/>
              </a:rPr>
              <a:t>-$145M</a:t>
            </a:r>
            <a:r>
              <a:rPr sz="1700" b="0" u="none">
                <a:solidFill>
                  <a:srgbClr val="000000"/>
                </a:solidFill>
                <a:latin typeface="Garamond"/>
                <a:ea typeface="Garamond"/>
                <a:cs typeface="Garamond"/>
              </a:rPr>
              <a:t> (incl. Power start-up)</a:t>
            </a:r>
          </a:p>
        </p:txBody>
      </p:sp>
      <p:sp>
        <p:nvSpPr>
          <p:cNvPr id="9" name="Header: Business Lines"/>
          <p:cNvSpPr/>
          <p:nvPr/>
        </p:nvSpPr>
        <p:spPr>
          <a:xfrm>
            <a:off x="8208873" y="914400"/>
            <a:ext cx="3694785"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Business Lines</a:t>
            </a:r>
          </a:p>
        </p:txBody>
      </p:sp>
      <p:sp>
        <p:nvSpPr>
          <p:cNvPr id="10" name="Bullets"/>
          <p:cNvSpPr txBox="1"/>
          <p:nvPr/>
        </p:nvSpPr>
        <p:spPr>
          <a:xfrm>
            <a:off x="8208873" y="1353312"/>
            <a:ext cx="3694785" cy="334365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1" u="sng">
                <a:solidFill>
                  <a:srgbClr val="000000"/>
                </a:solidFill>
                <a:latin typeface="Garamond"/>
                <a:ea typeface="Garamond"/>
                <a:cs typeface="Garamond"/>
              </a:rPr>
              <a:t>Aerospace Products:</a:t>
            </a:r>
            <a:r>
              <a:rPr sz="1700" b="0" u="none">
                <a:solidFill>
                  <a:srgbClr val="000000"/>
                </a:solidFill>
                <a:latin typeface="Garamond"/>
                <a:ea typeface="Garamond"/>
                <a:cs typeface="Garamond"/>
              </a:rPr>
              <a:t> modules, whole engines, PMA and used parts; </a:t>
            </a:r>
            <a:r>
              <a:rPr sz="1700" b="1" u="none">
                <a:solidFill>
                  <a:srgbClr val="000000"/>
                </a:solidFill>
                <a:latin typeface="Garamond"/>
                <a:ea typeface="Garamond"/>
                <a:cs typeface="Garamond"/>
              </a:rPr>
              <a:t>$2.70B</a:t>
            </a:r>
            <a:r>
              <a:rPr sz="1700" b="0" u="none">
                <a:solidFill>
                  <a:srgbClr val="000000"/>
                </a:solidFill>
                <a:latin typeface="Garamond"/>
                <a:ea typeface="Garamond"/>
                <a:cs typeface="Garamond"/>
              </a:rPr>
              <a:t> TTM revenue</a:t>
            </a:r>
          </a:p>
          <a:p>
            <a:pPr marL="457200" indent="-336499">
              <a:buClr>
                <a:srgbClr val="000000"/>
              </a:buClr>
              <a:buSzPts val="1700"/>
              <a:buFont typeface="Garamond"/>
              <a:buChar char="●"/>
            </a:pPr>
            <a:r>
              <a:rPr sz="1700" b="1" u="sng">
                <a:solidFill>
                  <a:srgbClr val="000000"/>
                </a:solidFill>
                <a:latin typeface="Garamond"/>
                <a:ea typeface="Garamond"/>
                <a:cs typeface="Garamond"/>
              </a:rPr>
              <a:t>Leasing / SCI:</a:t>
            </a:r>
            <a:r>
              <a:rPr sz="1700" b="0" u="none">
                <a:solidFill>
                  <a:srgbClr val="000000"/>
                </a:solidFill>
                <a:latin typeface="Garamond"/>
                <a:ea typeface="Garamond"/>
                <a:cs typeface="Garamond"/>
              </a:rPr>
              <a:t> on-balance-sheet leasing plus fees and co-invest returns</a:t>
            </a:r>
          </a:p>
          <a:p>
            <a:pPr marL="457200" indent="-336499">
              <a:buClr>
                <a:srgbClr val="000000"/>
              </a:buClr>
              <a:buSzPts val="1700"/>
              <a:buFont typeface="Garamond"/>
              <a:buChar char="●"/>
            </a:pPr>
            <a:r>
              <a:rPr sz="1700" b="1" u="sng">
                <a:solidFill>
                  <a:srgbClr val="000000"/>
                </a:solidFill>
                <a:latin typeface="Garamond"/>
                <a:ea typeface="Garamond"/>
                <a:cs typeface="Garamond"/>
              </a:rPr>
              <a:t>FTAI Power:</a:t>
            </a:r>
            <a:r>
              <a:rPr sz="1700" b="0" u="none">
                <a:solidFill>
                  <a:srgbClr val="000000"/>
                </a:solidFill>
                <a:latin typeface="Garamond"/>
                <a:ea typeface="Garamond"/>
                <a:cs typeface="Garamond"/>
              </a:rPr>
              <a:t> gensets via J&amp;F, a JV with China's Jereh; </a:t>
            </a:r>
            <a:r>
              <a:rPr sz="1700" b="1" u="none">
                <a:solidFill>
                  <a:srgbClr val="000000"/>
                </a:solidFill>
                <a:latin typeface="Garamond"/>
                <a:ea typeface="Garamond"/>
                <a:cs typeface="Garamond"/>
              </a:rPr>
              <a:t>$1.465B</a:t>
            </a:r>
            <a:r>
              <a:rPr sz="1700" b="0" u="none">
                <a:solidFill>
                  <a:srgbClr val="000000"/>
                </a:solidFill>
                <a:latin typeface="Garamond"/>
                <a:ea typeface="Garamond"/>
                <a:cs typeface="Garamond"/>
              </a:rPr>
              <a:t> first order</a:t>
            </a:r>
          </a:p>
          <a:p>
            <a:pPr marL="457200" indent="-336499">
              <a:buClr>
                <a:srgbClr val="000000"/>
              </a:buClr>
              <a:buSzPts val="1700"/>
              <a:buFont typeface="Garamond"/>
              <a:buChar char="●"/>
            </a:pPr>
            <a:r>
              <a:rPr sz="1700" b="1" u="sng">
                <a:solidFill>
                  <a:srgbClr val="000000"/>
                </a:solidFill>
                <a:latin typeface="Garamond"/>
                <a:ea typeface="Garamond"/>
                <a:cs typeface="Garamond"/>
              </a:rPr>
              <a:t>2027 plan:</a:t>
            </a:r>
            <a:r>
              <a:rPr sz="1700" b="0" u="none">
                <a:solidFill>
                  <a:srgbClr val="000000"/>
                </a:solidFill>
                <a:latin typeface="Garamond"/>
                <a:ea typeface="Garamond"/>
                <a:cs typeface="Garamond"/>
              </a:rPr>
              <a:t> </a:t>
            </a:r>
            <a:r>
              <a:rPr sz="1700" b="1" u="none">
                <a:solidFill>
                  <a:srgbClr val="000000"/>
                </a:solidFill>
                <a:latin typeface="Garamond"/>
                <a:ea typeface="Garamond"/>
                <a:cs typeface="Garamond"/>
              </a:rPr>
              <a:t>$2.3B</a:t>
            </a:r>
            <a:r>
              <a:rPr sz="1700" b="0" u="none">
                <a:solidFill>
                  <a:srgbClr val="000000"/>
                </a:solidFill>
                <a:latin typeface="Garamond"/>
                <a:ea typeface="Garamond"/>
                <a:cs typeface="Garamond"/>
              </a:rPr>
              <a:t> segment EBITDA (AP $1.4B, Leasing $450M, Power $450M)</a:t>
            </a:r>
          </a:p>
        </p:txBody>
      </p:sp>
      <p:sp>
        <p:nvSpPr>
          <p:cNvPr id="11"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2" name="Tracker: Company (active)"/>
          <p:cNvSpPr/>
          <p:nvPr/>
        </p:nvSpPr>
        <p:spPr>
          <a:xfrm>
            <a:off x="2663952"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3"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4"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5"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6"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7"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Snapshot</a:t>
            </a:r>
          </a:p>
        </p:txBody>
      </p:sp>
      <p:sp>
        <p:nvSpPr>
          <p:cNvPr id="3" name="Header: Key Metrics (10/2/26)"/>
          <p:cNvSpPr/>
          <p:nvPr/>
        </p:nvSpPr>
        <p:spPr>
          <a:xfrm>
            <a:off x="270662" y="914400"/>
            <a:ext cx="5283105"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Key Metrics (10/2/26)</a:t>
            </a:r>
          </a:p>
        </p:txBody>
      </p:sp>
      <p:graphicFrame>
        <p:nvGraphicFramePr>
          <p:cNvPr id="4" name="Table 3"/>
          <p:cNvGraphicFramePr>
            <a:graphicFrameLocks noGrp="1"/>
          </p:cNvGraphicFramePr>
          <p:nvPr/>
        </p:nvGraphicFramePr>
        <p:xfrm>
          <a:off x="270662" y="1353312"/>
          <a:ext cx="5283105" cy="3764280"/>
        </p:xfrm>
        <a:graphic>
          <a:graphicData uri="http://schemas.openxmlformats.org/drawingml/2006/table">
            <a:tbl>
              <a:tblPr firstRow="0" bandRow="0">
                <a:tableStyleId>{2D5ABB26-0587-4C30-8999-92F81FD0307C}</a:tableStyleId>
              </a:tblPr>
              <a:tblGrid>
                <a:gridCol w="2817656"/>
                <a:gridCol w="2465449"/>
              </a:tblGrid>
              <a:tr h="313690">
                <a:tc>
                  <a:txBody>
                    <a:bodyPr/>
                    <a:lstStyle/>
                    <a:p>
                      <a:pPr algn="l"/>
                      <a:r>
                        <a:rPr sz="1300" b="0" u="none">
                          <a:solidFill>
                            <a:srgbClr val="000000"/>
                          </a:solidFill>
                          <a:latin typeface="Garamond"/>
                          <a:ea typeface="Garamond"/>
                          <a:cs typeface="Garamond"/>
                        </a:rPr>
                        <a:t>Share price; 52-week range</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$167.03; $149.50-$323.51</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Market cap / EV (diluted)</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$17.1B / $20.6B</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Net debt / TTM Adj. EBITDA</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$3.16B / 2.65x</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TTM revenue (H1'26 growth)</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$3.11B (+51%)</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TTM Adj. EBITDA</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$1.19B</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Operating margin</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20.4% Q2'26 (31.1% yr ago)</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2026 Adj. FCF guide</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$878M (cut from $915M)</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SBC</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0.9% of 2025 revenue</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Diluted shares</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100.4M (2023) to 103.9M (2025)</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Dividend / buyback</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$0.50/qtr; $500M authorized</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1" u="none">
                          <a:solidFill>
                            <a:srgbClr val="000000"/>
                          </a:solidFill>
                          <a:latin typeface="Garamond"/>
                          <a:ea typeface="Garamond"/>
                          <a:cs typeface="Garamond"/>
                        </a:rPr>
                        <a:t>EV / 2027 plan EBITDA</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9.6x</a:t>
                      </a:r>
                    </a:p>
                  </a:txBody>
                  <a:tcPr marL="54864" marR="54864" marT="18288" marB="18288" anchor="ctr">
                    <a:lnL w="0">
                      <a:noFill/>
                    </a:lnL>
                    <a:lnR w="0">
                      <a:noFill/>
                    </a:lnR>
                    <a:lnT w="0">
                      <a:noFill/>
                    </a:lnT>
                    <a:lnB w="6350">
                      <a:solidFill>
                        <a:srgbClr val="D9D9D9"/>
                      </a:solidFill>
                    </a:lnB>
                    <a:solidFill>
                      <a:srgbClr val="FFF2CC"/>
                    </a:solidFill>
                  </a:tcPr>
                </a:tc>
              </a:tr>
              <a:tr h="313690">
                <a:tc>
                  <a:txBody>
                    <a:bodyPr/>
                    <a:lstStyle/>
                    <a:p>
                      <a:pPr algn="l"/>
                      <a:r>
                        <a:rPr sz="1300" b="1" u="none">
                          <a:solidFill>
                            <a:srgbClr val="000000"/>
                          </a:solidFill>
                          <a:latin typeface="Garamond"/>
                          <a:ea typeface="Garamond"/>
                          <a:cs typeface="Garamond"/>
                        </a:rPr>
                        <a:t>P/E on 2027 plan EPS (~$13.50)</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12.3x</a:t>
                      </a:r>
                    </a:p>
                  </a:txBody>
                  <a:tcPr marL="54864" marR="54864" marT="18288" marB="18288" anchor="ctr">
                    <a:lnL w="0">
                      <a:noFill/>
                    </a:lnL>
                    <a:lnR w="0">
                      <a:noFill/>
                    </a:lnR>
                    <a:lnT w="0">
                      <a:noFill/>
                    </a:lnT>
                    <a:lnB w="6350">
                      <a:solidFill>
                        <a:srgbClr val="D9D9D9"/>
                      </a:solidFill>
                    </a:lnB>
                    <a:solidFill>
                      <a:srgbClr val="FFF2CC"/>
                    </a:solidFill>
                  </a:tcPr>
                </a:tc>
              </a:tr>
            </a:tbl>
          </a:graphicData>
        </a:graphic>
      </p:graphicFrame>
      <p:sp>
        <p:nvSpPr>
          <p:cNvPr id="5" name="Stat Callout"/>
          <p:cNvSpPr/>
          <p:nvPr/>
        </p:nvSpPr>
        <p:spPr>
          <a:xfrm>
            <a:off x="270662" y="5312664"/>
            <a:ext cx="2527252"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TTM Adj. EBITDA</a:t>
            </a:r>
            <a:r>
              <a:rPr sz="1300" b="0" u="none">
                <a:solidFill>
                  <a:srgbClr val="FFFFFF"/>
                </a:solidFill>
                <a:latin typeface="Garamond"/>
                <a:ea typeface="Garamond"/>
                <a:cs typeface="Garamond"/>
              </a:rPr>
              <a:t> +38% in FY25 to $1.19B</a:t>
            </a:r>
          </a:p>
        </p:txBody>
      </p:sp>
      <p:sp>
        <p:nvSpPr>
          <p:cNvPr id="6" name="Stat Callout"/>
          <p:cNvSpPr/>
          <p:nvPr/>
        </p:nvSpPr>
        <p:spPr>
          <a:xfrm>
            <a:off x="3026515" y="5312664"/>
            <a:ext cx="2527252"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Two FCF views:</a:t>
            </a:r>
            <a:r>
              <a:rPr sz="1300" b="0" u="none">
                <a:solidFill>
                  <a:srgbClr val="FFFFFF"/>
                </a:solidFill>
                <a:latin typeface="Garamond"/>
                <a:ea typeface="Garamond"/>
                <a:cs typeface="Garamond"/>
              </a:rPr>
              <a:t> company-adjusted vs. GAAP diverge</a:t>
            </a:r>
          </a:p>
        </p:txBody>
      </p:sp>
      <p:sp>
        <p:nvSpPr>
          <p:cNvPr id="7" name="Header: Adjusted EBITDA ($M)"/>
          <p:cNvSpPr/>
          <p:nvPr/>
        </p:nvSpPr>
        <p:spPr>
          <a:xfrm>
            <a:off x="5828087" y="914400"/>
            <a:ext cx="6075571"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Adjusted EBITDA ($M)</a:t>
            </a:r>
          </a:p>
        </p:txBody>
      </p:sp>
      <p:graphicFrame>
        <p:nvGraphicFramePr>
          <p:cNvPr id="8" name="Chart 7" descr="Column chart. Total Adj. EBITDA: FY23 597; FY24 862; FY25 1,191; 2026E 1,332; 2027 Plan 2,150. Aerospace Products: FY23 160; FY24 381; FY25 671; 2026E 1,050; 2027 Plan 1,400."/>
          <p:cNvGraphicFramePr>
            <a:graphicFrameLocks noGrp="1"/>
          </p:cNvGraphicFramePr>
          <p:nvPr/>
        </p:nvGraphicFramePr>
        <p:xfrm>
          <a:off x="5828087" y="1353312"/>
          <a:ext cx="6075571" cy="4754879"/>
        </p:xfrm>
        <a:graphic>
          <a:graphicData uri="http://schemas.openxmlformats.org/drawingml/2006/chart">
            <c:chart xmlns:c="http://schemas.openxmlformats.org/drawingml/2006/chart" r:id="rId2"/>
          </a:graphicData>
        </a:graphic>
      </p:graphicFrame>
      <p:sp>
        <p:nvSpPr>
          <p:cNvPr id="9" name="TextBox 8"/>
          <p:cNvSpPr txBox="1"/>
          <p:nvPr/>
        </p:nvSpPr>
        <p:spPr>
          <a:xfrm>
            <a:off x="5828087" y="6108192"/>
            <a:ext cx="6075571"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FTAI releases and guidance; 2026E and 2027 total are estimates net of corporate costs</a:t>
            </a:r>
          </a:p>
        </p:txBody>
      </p:sp>
      <p:sp>
        <p:nvSpPr>
          <p:cNvPr id="10"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1" name="Tracker: Company (active)"/>
          <p:cNvSpPr/>
          <p:nvPr/>
        </p:nvSpPr>
        <p:spPr>
          <a:xfrm>
            <a:off x="2663952"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2"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3"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4"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5"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6"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Engine: Volume Up, Margin Down</a:t>
            </a:r>
          </a:p>
        </p:txBody>
      </p:sp>
      <p:sp>
        <p:nvSpPr>
          <p:cNvPr id="3" name="Header: CFM56 Modules Produced"/>
          <p:cNvSpPr/>
          <p:nvPr/>
        </p:nvSpPr>
        <p:spPr>
          <a:xfrm>
            <a:off x="270662"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CFM56 Modules Produced</a:t>
            </a:r>
          </a:p>
        </p:txBody>
      </p:sp>
      <p:graphicFrame>
        <p:nvGraphicFramePr>
          <p:cNvPr id="4" name="Chart 3" descr="Column chart. Modules: 2023 178; 2025 757; 2026 Target 1,200."/>
          <p:cNvGraphicFramePr>
            <a:graphicFrameLocks noGrp="1"/>
          </p:cNvGraphicFramePr>
          <p:nvPr/>
        </p:nvGraphicFramePr>
        <p:xfrm>
          <a:off x="270662" y="1353312"/>
          <a:ext cx="5679338" cy="3944721"/>
        </p:xfrm>
        <a:graphic>
          <a:graphicData uri="http://schemas.openxmlformats.org/drawingml/2006/chart">
            <c:chart xmlns:c="http://schemas.openxmlformats.org/drawingml/2006/chart" r:id="rId2"/>
          </a:graphicData>
        </a:graphic>
      </p:graphicFrame>
      <p:sp>
        <p:nvSpPr>
          <p:cNvPr id="5" name="TextBox 4"/>
          <p:cNvSpPr txBox="1"/>
          <p:nvPr/>
        </p:nvSpPr>
        <p:spPr>
          <a:xfrm>
            <a:off x="270662" y="5298033"/>
            <a:ext cx="5679338"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FTAI releases and calls; capacity is now 3,000 a year</a:t>
            </a:r>
          </a:p>
        </p:txBody>
      </p:sp>
      <p:sp>
        <p:nvSpPr>
          <p:cNvPr id="6" name="Stat Callout"/>
          <p:cNvSpPr/>
          <p:nvPr/>
        </p:nvSpPr>
        <p:spPr>
          <a:xfrm>
            <a:off x="270662" y="5691225"/>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Share 10% to 14%</a:t>
            </a:r>
            <a:r>
              <a:rPr sz="1300" b="0" u="none">
                <a:solidFill>
                  <a:srgbClr val="FFFFFF"/>
                </a:solidFill>
                <a:latin typeface="Garamond"/>
                <a:ea typeface="Garamond"/>
                <a:cs typeface="Garamond"/>
              </a:rPr>
              <a:t> in two quarters</a:t>
            </a:r>
          </a:p>
        </p:txBody>
      </p:sp>
      <p:sp>
        <p:nvSpPr>
          <p:cNvPr id="7" name="Stat Callout"/>
          <p:cNvSpPr/>
          <p:nvPr/>
        </p:nvSpPr>
        <p:spPr>
          <a:xfrm>
            <a:off x="3224631" y="5691225"/>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$2.96M revenue</a:t>
            </a:r>
            <a:r>
              <a:rPr sz="1300" b="0" u="none">
                <a:solidFill>
                  <a:srgbClr val="FFFFFF"/>
                </a:solidFill>
                <a:latin typeface="Garamond"/>
                <a:ea typeface="Garamond"/>
                <a:cs typeface="Garamond"/>
              </a:rPr>
              <a:t> per module (Q2'26)</a:t>
            </a:r>
          </a:p>
        </p:txBody>
      </p:sp>
      <p:sp>
        <p:nvSpPr>
          <p:cNvPr id="8" name="Header: Aerospace Products EBITDA Margin (%)"/>
          <p:cNvSpPr/>
          <p:nvPr/>
        </p:nvSpPr>
        <p:spPr>
          <a:xfrm>
            <a:off x="6224320"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Aerospace Products EBITDA Margin (%)</a:t>
            </a:r>
          </a:p>
        </p:txBody>
      </p:sp>
      <p:graphicFrame>
        <p:nvGraphicFramePr>
          <p:cNvPr id="9" name="Chart 8" descr="Line chart. AP EBITDA margin: FY2025 34.7; Q4'25 35; Q1'26 29.9; Q2'26 28.5."/>
          <p:cNvGraphicFramePr>
            <a:graphicFrameLocks noGrp="1"/>
          </p:cNvGraphicFramePr>
          <p:nvPr/>
        </p:nvGraphicFramePr>
        <p:xfrm>
          <a:off x="6224320" y="1353312"/>
          <a:ext cx="5679338" cy="3944721"/>
        </p:xfrm>
        <a:graphic>
          <a:graphicData uri="http://schemas.openxmlformats.org/drawingml/2006/chart">
            <c:chart xmlns:c="http://schemas.openxmlformats.org/drawingml/2006/chart" r:id="rId3"/>
          </a:graphicData>
        </a:graphic>
      </p:graphicFrame>
      <p:sp>
        <p:nvSpPr>
          <p:cNvPr id="10" name="TextBox 9"/>
          <p:cNvSpPr txBox="1"/>
          <p:nvPr/>
        </p:nvSpPr>
        <p:spPr>
          <a:xfrm>
            <a:off x="6224320" y="5298033"/>
            <a:ext cx="5679338"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FTAI releases and calls</a:t>
            </a:r>
          </a:p>
        </p:txBody>
      </p:sp>
      <p:sp>
        <p:nvSpPr>
          <p:cNvPr id="11" name="Stat Callout"/>
          <p:cNvSpPr/>
          <p:nvPr/>
        </p:nvSpPr>
        <p:spPr>
          <a:xfrm>
            <a:off x="6224320" y="5691225"/>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22-24% incremental</a:t>
            </a:r>
            <a:r>
              <a:rPr sz="1300" b="0" u="none">
                <a:solidFill>
                  <a:srgbClr val="FFFFFF"/>
                </a:solidFill>
                <a:latin typeface="Garamond"/>
                <a:ea typeface="Garamond"/>
                <a:cs typeface="Garamond"/>
              </a:rPr>
              <a:t> margin on new volume</a:t>
            </a:r>
          </a:p>
        </p:txBody>
      </p:sp>
      <p:sp>
        <p:nvSpPr>
          <p:cNvPr id="12" name="Stat Callout"/>
          <p:cNvSpPr/>
          <p:nvPr/>
        </p:nvSpPr>
        <p:spPr>
          <a:xfrm>
            <a:off x="9178290" y="5691225"/>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$844K EBITDA</a:t>
            </a:r>
            <a:r>
              <a:rPr sz="1300" b="0" u="none">
                <a:solidFill>
                  <a:srgbClr val="FFFFFF"/>
                </a:solidFill>
                <a:latin typeface="Garamond"/>
                <a:ea typeface="Garamond"/>
                <a:cs typeface="Garamond"/>
              </a:rPr>
              <a:t> per module, down 6% YoY</a:t>
            </a:r>
          </a:p>
        </p:txBody>
      </p:sp>
      <p:sp>
        <p:nvSpPr>
          <p:cNvPr id="13"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4" name="Tracker: Company (active)"/>
          <p:cNvSpPr/>
          <p:nvPr/>
        </p:nvSpPr>
        <p:spPr>
          <a:xfrm>
            <a:off x="2663952"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5"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6"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7"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8"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9"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&amp; Product: Why Airlines Buy</a:t>
            </a:r>
          </a:p>
        </p:txBody>
      </p:sp>
      <p:sp>
        <p:nvSpPr>
          <p:cNvPr id="3" name="Header: The Job"/>
          <p:cNvSpPr/>
          <p:nvPr/>
        </p:nvSpPr>
        <p:spPr>
          <a:xfrm>
            <a:off x="270662" y="914400"/>
            <a:ext cx="3410571"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The Job</a:t>
            </a:r>
          </a:p>
        </p:txBody>
      </p:sp>
      <p:sp>
        <p:nvSpPr>
          <p:cNvPr id="4" name="Bullets"/>
          <p:cNvSpPr txBox="1"/>
          <p:nvPr/>
        </p:nvSpPr>
        <p:spPr>
          <a:xfrm>
            <a:off x="270662" y="1353312"/>
            <a:ext cx="3410571" cy="2290064"/>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Restore a CFM56 engine at the lowest </a:t>
            </a:r>
            <a:r>
              <a:rPr sz="1700" b="1" u="none">
                <a:solidFill>
                  <a:srgbClr val="000000"/>
                </a:solidFill>
                <a:latin typeface="Garamond"/>
                <a:ea typeface="Garamond"/>
                <a:cs typeface="Garamond"/>
              </a:rPr>
              <a:t>combined cost</a:t>
            </a:r>
            <a:r>
              <a:rPr sz="1700" b="0" u="none">
                <a:solidFill>
                  <a:srgbClr val="000000"/>
                </a:solidFill>
                <a:latin typeface="Garamond"/>
                <a:ea typeface="Garamond"/>
                <a:cs typeface="Garamond"/>
              </a:rPr>
              <a:t> of parts and downtime</a:t>
            </a:r>
          </a:p>
          <a:p>
            <a:pPr marL="457200" indent="-336499">
              <a:buClr>
                <a:srgbClr val="000000"/>
              </a:buClr>
              <a:buSzPts val="1700"/>
              <a:buFont typeface="Garamond"/>
              <a:buChar char="●"/>
            </a:pPr>
            <a:r>
              <a:rPr sz="1700" b="0" u="none">
                <a:solidFill>
                  <a:srgbClr val="000000"/>
                </a:solidFill>
                <a:latin typeface="Garamond"/>
                <a:ea typeface="Garamond"/>
                <a:cs typeface="Garamond"/>
              </a:rPr>
              <a:t>Tear down used engines; rebuild modules with </a:t>
            </a:r>
            <a:r>
              <a:rPr sz="1700" b="1" u="none">
                <a:solidFill>
                  <a:srgbClr val="000000"/>
                </a:solidFill>
                <a:latin typeface="Garamond"/>
                <a:ea typeface="Garamond"/>
                <a:cs typeface="Garamond"/>
              </a:rPr>
              <a:t>used and PMA parts</a:t>
            </a:r>
          </a:p>
          <a:p>
            <a:pPr marL="457200" indent="-336499">
              <a:buClr>
                <a:srgbClr val="000000"/>
              </a:buClr>
              <a:buSzPts val="1700"/>
              <a:buFont typeface="Garamond"/>
              <a:buChar char="●"/>
            </a:pPr>
            <a:r>
              <a:rPr sz="1700" b="0" u="none">
                <a:solidFill>
                  <a:srgbClr val="000000"/>
                </a:solidFill>
                <a:latin typeface="Garamond"/>
                <a:ea typeface="Garamond"/>
                <a:cs typeface="Garamond"/>
              </a:rPr>
              <a:t>Sell or exchange modules and whole engines</a:t>
            </a:r>
          </a:p>
        </p:txBody>
      </p:sp>
      <p:sp>
        <p:nvSpPr>
          <p:cNvPr id="5" name="Header: What Customers Use Instead"/>
          <p:cNvSpPr/>
          <p:nvPr/>
        </p:nvSpPr>
        <p:spPr>
          <a:xfrm>
            <a:off x="270662" y="3807968"/>
            <a:ext cx="3410571"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What Customers Use Instead</a:t>
            </a:r>
          </a:p>
        </p:txBody>
      </p:sp>
      <p:sp>
        <p:nvSpPr>
          <p:cNvPr id="6" name="Bullets"/>
          <p:cNvSpPr txBox="1"/>
          <p:nvPr/>
        </p:nvSpPr>
        <p:spPr>
          <a:xfrm>
            <a:off x="270662" y="4246880"/>
            <a:ext cx="3410571" cy="202666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OEM or licensed shop visit (StandardAero: </a:t>
            </a:r>
            <a:r>
              <a:rPr sz="1700" b="1" u="none">
                <a:solidFill>
                  <a:srgbClr val="000000"/>
                </a:solidFill>
                <a:latin typeface="Garamond"/>
                <a:ea typeface="Garamond"/>
                <a:cs typeface="Garamond"/>
              </a:rPr>
              <a:t>$5.35B</a:t>
            </a:r>
            <a:r>
              <a:rPr sz="1700" b="0" u="none">
                <a:solidFill>
                  <a:srgbClr val="000000"/>
                </a:solidFill>
                <a:latin typeface="Garamond"/>
                <a:ea typeface="Garamond"/>
                <a:cs typeface="Garamond"/>
              </a:rPr>
              <a:t> engine services)</a:t>
            </a:r>
          </a:p>
          <a:p>
            <a:pPr marL="457200" indent="-336499">
              <a:buClr>
                <a:srgbClr val="000000"/>
              </a:buClr>
              <a:buSzPts val="1700"/>
              <a:buFont typeface="Garamond"/>
              <a:buChar char="●"/>
            </a:pPr>
            <a:r>
              <a:rPr sz="1700" b="0" u="none">
                <a:solidFill>
                  <a:srgbClr val="000000"/>
                </a:solidFill>
                <a:latin typeface="Garamond"/>
                <a:ea typeface="Garamond"/>
                <a:cs typeface="Garamond"/>
              </a:rPr>
              <a:t>In-house airline shops; green-time engine leases</a:t>
            </a:r>
          </a:p>
          <a:p>
            <a:pPr marL="457200" indent="-336499">
              <a:buClr>
                <a:srgbClr val="000000"/>
              </a:buClr>
              <a:buSzPts val="1700"/>
              <a:buFont typeface="Garamond"/>
              <a:buChar char="●"/>
            </a:pPr>
            <a:r>
              <a:rPr sz="1700" b="0" u="none">
                <a:solidFill>
                  <a:srgbClr val="000000"/>
                </a:solidFill>
                <a:latin typeface="Garamond"/>
                <a:ea typeface="Garamond"/>
                <a:cs typeface="Garamond"/>
              </a:rPr>
              <a:t>Doing nothing: </a:t>
            </a:r>
            <a:r>
              <a:rPr sz="1700" b="1" u="none">
                <a:solidFill>
                  <a:srgbClr val="000000"/>
                </a:solidFill>
                <a:latin typeface="Garamond"/>
                <a:ea typeface="Garamond"/>
                <a:cs typeface="Garamond"/>
              </a:rPr>
              <a:t>parking</a:t>
            </a:r>
            <a:r>
              <a:rPr sz="1700" b="0" u="none">
                <a:solidFill>
                  <a:srgbClr val="000000"/>
                </a:solidFill>
                <a:latin typeface="Garamond"/>
                <a:ea typeface="Garamond"/>
                <a:cs typeface="Garamond"/>
              </a:rPr>
              <a:t> the aircraft</a:t>
            </a:r>
          </a:p>
        </p:txBody>
      </p:sp>
      <p:sp>
        <p:nvSpPr>
          <p:cNvPr id="7" name="Header: Module Swap vs. Conventional Shop Visit"/>
          <p:cNvSpPr/>
          <p:nvPr/>
        </p:nvSpPr>
        <p:spPr>
          <a:xfrm>
            <a:off x="3955553" y="914400"/>
            <a:ext cx="4263214"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Module Swap vs. Conventional Shop Visit</a:t>
            </a:r>
          </a:p>
        </p:txBody>
      </p:sp>
      <p:graphicFrame>
        <p:nvGraphicFramePr>
          <p:cNvPr id="8" name="Table 7"/>
          <p:cNvGraphicFramePr>
            <a:graphicFrameLocks noGrp="1"/>
          </p:cNvGraphicFramePr>
          <p:nvPr/>
        </p:nvGraphicFramePr>
        <p:xfrm>
          <a:off x="3955553" y="1353312"/>
          <a:ext cx="4263212" cy="1568450"/>
        </p:xfrm>
        <a:graphic>
          <a:graphicData uri="http://schemas.openxmlformats.org/drawingml/2006/table">
            <a:tbl>
              <a:tblPr firstRow="0" bandRow="0">
                <a:tableStyleId>{2D5ABB26-0587-4C30-8999-92F81FD0307C}</a:tableStyleId>
              </a:tblPr>
              <a:tblGrid>
                <a:gridCol w="1446447"/>
                <a:gridCol w="1446447"/>
                <a:gridCol w="1370318"/>
              </a:tblGrid>
              <a:tr h="313690">
                <a:tc>
                  <a:txBody>
                    <a:bodyPr/>
                    <a:lstStyle/>
                    <a:p>
                      <a:pPr algn="l"/>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FTAI module swap</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OEM shop visit</a:t>
                      </a:r>
                    </a:p>
                  </a:txBody>
                  <a:tcPr marL="54864" marR="54864" marT="18288" marB="18288" anchor="ctr">
                    <a:lnL w="0">
                      <a:noFill/>
                    </a:lnL>
                    <a:lnR w="0">
                      <a:noFill/>
                    </a:lnR>
                    <a:lnT w="0">
                      <a:noFill/>
                    </a:lnT>
                    <a:lnB w="0">
                      <a:noFill/>
                    </a:lnB>
                    <a:solidFill>
                      <a:srgbClr val="002060"/>
                    </a:solidFill>
                  </a:tcPr>
                </a:tc>
              </a:tr>
              <a:tr h="313690">
                <a:tc>
                  <a:txBody>
                    <a:bodyPr/>
                    <a:lstStyle/>
                    <a:p>
                      <a:pPr algn="l"/>
                      <a:r>
                        <a:rPr sz="1300" b="0" u="none">
                          <a:solidFill>
                            <a:srgbClr val="000000"/>
                          </a:solidFill>
                          <a:latin typeface="Garamond"/>
                          <a:ea typeface="Garamond"/>
                          <a:cs typeface="Garamond"/>
                        </a:rPr>
                        <a:t>Turnaround</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5-25 days</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120-180 days</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Parts used</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Used + PMA</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New OEM</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PMA savings</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~$2M a visit</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None</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Spare-engine rent</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~3-6 months saved</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Paid throughout</a:t>
                      </a:r>
                    </a:p>
                  </a:txBody>
                  <a:tcPr marL="54864" marR="54864" marT="18288" marB="18288" anchor="ctr">
                    <a:lnL w="0">
                      <a:noFill/>
                    </a:lnL>
                    <a:lnR w="0">
                      <a:noFill/>
                    </a:lnR>
                    <a:lnT w="0">
                      <a:noFill/>
                    </a:lnT>
                    <a:lnB w="6350">
                      <a:solidFill>
                        <a:srgbClr val="D9D9D9"/>
                      </a:solidFill>
                    </a:lnB>
                    <a:noFill/>
                  </a:tcPr>
                </a:tc>
              </a:tr>
            </a:tbl>
          </a:graphicData>
        </a:graphic>
      </p:graphicFrame>
      <p:sp>
        <p:nvSpPr>
          <p:cNvPr id="9" name="Stat Callout"/>
          <p:cNvSpPr/>
          <p:nvPr/>
        </p:nvSpPr>
        <p:spPr>
          <a:xfrm>
            <a:off x="3955553" y="3118104"/>
            <a:ext cx="2017307"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~1.04% a month:</a:t>
            </a:r>
            <a:r>
              <a:rPr sz="1300" b="0" u="none">
                <a:solidFill>
                  <a:srgbClr val="FFFFFF"/>
                </a:solidFill>
                <a:latin typeface="Garamond"/>
                <a:ea typeface="Garamond"/>
                <a:cs typeface="Garamond"/>
              </a:rPr>
              <a:t> spare-engine rent avoided</a:t>
            </a:r>
          </a:p>
        </p:txBody>
      </p:sp>
      <p:sp>
        <p:nvSpPr>
          <p:cNvPr id="10" name="Stat Callout"/>
          <p:cNvSpPr/>
          <p:nvPr/>
        </p:nvSpPr>
        <p:spPr>
          <a:xfrm>
            <a:off x="6201460" y="3118104"/>
            <a:ext cx="2017307"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3 of 5 PMA parts</a:t>
            </a:r>
            <a:r>
              <a:rPr sz="1300" b="0" u="none">
                <a:solidFill>
                  <a:srgbClr val="FFFFFF"/>
                </a:solidFill>
                <a:latin typeface="Garamond"/>
                <a:ea typeface="Garamond"/>
                <a:cs typeface="Garamond"/>
              </a:rPr>
              <a:t> approved by Oct 2025</a:t>
            </a:r>
          </a:p>
        </p:txBody>
      </p:sp>
      <p:sp>
        <p:nvSpPr>
          <p:cNvPr id="11" name="Header: Value Chain Position"/>
          <p:cNvSpPr/>
          <p:nvPr/>
        </p:nvSpPr>
        <p:spPr>
          <a:xfrm>
            <a:off x="3955553" y="3928262"/>
            <a:ext cx="4263214"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Value Chain Position</a:t>
            </a:r>
          </a:p>
        </p:txBody>
      </p:sp>
      <p:sp>
        <p:nvSpPr>
          <p:cNvPr id="12" name="Bullets"/>
          <p:cNvSpPr txBox="1"/>
          <p:nvPr/>
        </p:nvSpPr>
        <p:spPr>
          <a:xfrm>
            <a:off x="3955553" y="4367174"/>
            <a:ext cx="4263214" cy="1236471"/>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Between </a:t>
            </a:r>
            <a:r>
              <a:rPr sz="1700" b="1" u="none">
                <a:solidFill>
                  <a:srgbClr val="000000"/>
                </a:solidFill>
                <a:latin typeface="Garamond"/>
                <a:ea typeface="Garamond"/>
                <a:cs typeface="Garamond"/>
              </a:rPr>
              <a:t>CFM</a:t>
            </a:r>
            <a:r>
              <a:rPr sz="1700" b="0" u="none">
                <a:solidFill>
                  <a:srgbClr val="000000"/>
                </a:solidFill>
                <a:latin typeface="Garamond"/>
                <a:ea typeface="Garamond"/>
                <a:cs typeface="Garamond"/>
              </a:rPr>
              <a:t> (new parts, LLP pricing, licenses; now an FTAI supplier) and </a:t>
            </a:r>
            <a:r>
              <a:rPr sz="1700" b="1" u="none">
                <a:solidFill>
                  <a:srgbClr val="000000"/>
                </a:solidFill>
                <a:latin typeface="Garamond"/>
                <a:ea typeface="Garamond"/>
                <a:cs typeface="Garamond"/>
              </a:rPr>
              <a:t>large airlines</a:t>
            </a:r>
            <a:r>
              <a:rPr sz="1700" b="0" u="none">
                <a:solidFill>
                  <a:srgbClr val="000000"/>
                </a:solidFill>
                <a:latin typeface="Garamond"/>
                <a:ea typeface="Garamond"/>
                <a:cs typeface="Garamond"/>
              </a:rPr>
              <a:t> that trade volume for price</a:t>
            </a:r>
          </a:p>
        </p:txBody>
      </p:sp>
      <p:sp>
        <p:nvSpPr>
          <p:cNvPr id="13" name="Header: Who Pays &amp; Decides"/>
          <p:cNvSpPr/>
          <p:nvPr/>
        </p:nvSpPr>
        <p:spPr>
          <a:xfrm>
            <a:off x="8493087" y="914400"/>
            <a:ext cx="3410571"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Who Pays &amp; Decides</a:t>
            </a:r>
          </a:p>
        </p:txBody>
      </p:sp>
      <p:sp>
        <p:nvSpPr>
          <p:cNvPr id="14" name="Bullets"/>
          <p:cNvSpPr txBox="1"/>
          <p:nvPr/>
        </p:nvSpPr>
        <p:spPr>
          <a:xfrm>
            <a:off x="8493087" y="1353312"/>
            <a:ext cx="3410571" cy="2290064"/>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Airlines (big deals rising), MROs and lessors</a:t>
            </a:r>
          </a:p>
          <a:p>
            <a:pPr marL="457200" indent="-336499">
              <a:buClr>
                <a:srgbClr val="000000"/>
              </a:buClr>
              <a:buSzPts val="1700"/>
              <a:buFont typeface="Garamond"/>
              <a:buChar char="●"/>
            </a:pPr>
            <a:r>
              <a:rPr sz="1700" b="0" u="none">
                <a:solidFill>
                  <a:srgbClr val="000000"/>
                </a:solidFill>
                <a:latin typeface="Garamond"/>
                <a:ea typeface="Garamond"/>
                <a:cs typeface="Garamond"/>
              </a:rPr>
              <a:t>SCI funds: </a:t>
            </a:r>
            <a:r>
              <a:rPr sz="1700" b="1" u="none">
                <a:solidFill>
                  <a:srgbClr val="000000"/>
                </a:solidFill>
                <a:latin typeface="Garamond"/>
                <a:ea typeface="Garamond"/>
                <a:cs typeface="Garamond"/>
              </a:rPr>
              <a:t>21%</a:t>
            </a:r>
            <a:r>
              <a:rPr sz="1700" b="0" u="none">
                <a:solidFill>
                  <a:srgbClr val="000000"/>
                </a:solidFill>
                <a:latin typeface="Garamond"/>
                <a:ea typeface="Garamond"/>
                <a:cs typeface="Garamond"/>
              </a:rPr>
              <a:t> of AP revenue (affiliate)</a:t>
            </a:r>
          </a:p>
          <a:p>
            <a:pPr marL="457200" indent="-336499">
              <a:buClr>
                <a:srgbClr val="000000"/>
              </a:buClr>
              <a:buSzPts val="1700"/>
              <a:buFont typeface="Garamond"/>
              <a:buChar char="●"/>
            </a:pPr>
            <a:r>
              <a:rPr sz="1700" b="0" u="none">
                <a:solidFill>
                  <a:srgbClr val="000000"/>
                </a:solidFill>
                <a:latin typeface="Garamond"/>
                <a:ea typeface="Garamond"/>
                <a:cs typeface="Garamond"/>
              </a:rPr>
              <a:t>Last disclosed: 178 modules to 30 customers (2023)</a:t>
            </a:r>
          </a:p>
          <a:p>
            <a:pPr marL="457200" indent="-336499">
              <a:buClr>
                <a:srgbClr val="000000"/>
              </a:buClr>
              <a:buSzPts val="1700"/>
              <a:buFont typeface="Garamond"/>
              <a:buChar char="●"/>
            </a:pPr>
            <a:r>
              <a:rPr sz="1700" b="0" u="none">
                <a:solidFill>
                  <a:srgbClr val="000000"/>
                </a:solidFill>
                <a:latin typeface="Garamond"/>
                <a:ea typeface="Garamond"/>
                <a:cs typeface="Garamond"/>
              </a:rPr>
              <a:t>Tech-ops and finance decide; lessors set used/PMA rules</a:t>
            </a:r>
          </a:p>
        </p:txBody>
      </p:sp>
      <p:sp>
        <p:nvSpPr>
          <p:cNvPr id="15" name="Header: Switching Costs"/>
          <p:cNvSpPr/>
          <p:nvPr/>
        </p:nvSpPr>
        <p:spPr>
          <a:xfrm>
            <a:off x="8493087" y="3807968"/>
            <a:ext cx="3410571"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Switching Costs</a:t>
            </a:r>
          </a:p>
        </p:txBody>
      </p:sp>
      <p:sp>
        <p:nvSpPr>
          <p:cNvPr id="16" name="Bullets"/>
          <p:cNvSpPr txBox="1"/>
          <p:nvPr/>
        </p:nvSpPr>
        <p:spPr>
          <a:xfrm>
            <a:off x="8493087" y="4246880"/>
            <a:ext cx="3410571" cy="1499869"/>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~Zero for spot buyers; each shop visit is a new decision</a:t>
            </a:r>
          </a:p>
          <a:p>
            <a:pPr marL="457200" indent="-336499">
              <a:buClr>
                <a:srgbClr val="000000"/>
              </a:buClr>
              <a:buSzPts val="1700"/>
              <a:buFont typeface="Garamond"/>
              <a:buChar char="●"/>
            </a:pPr>
            <a:r>
              <a:rPr sz="1700" b="0" u="none">
                <a:solidFill>
                  <a:srgbClr val="000000"/>
                </a:solidFill>
                <a:latin typeface="Garamond"/>
                <a:ea typeface="Garamond"/>
                <a:cs typeface="Garamond"/>
              </a:rPr>
              <a:t>Higher under MRE contracts and GMF's </a:t>
            </a:r>
            <a:r>
              <a:rPr sz="1700" b="1" u="none">
                <a:solidFill>
                  <a:srgbClr val="000000"/>
                </a:solidFill>
                <a:latin typeface="Garamond"/>
                <a:ea typeface="Garamond"/>
                <a:cs typeface="Garamond"/>
              </a:rPr>
              <a:t>5-year</a:t>
            </a:r>
            <a:r>
              <a:rPr sz="1700" b="0" u="none">
                <a:solidFill>
                  <a:srgbClr val="000000"/>
                </a:solidFill>
                <a:latin typeface="Garamond"/>
                <a:ea typeface="Garamond"/>
                <a:cs typeface="Garamond"/>
              </a:rPr>
              <a:t> capacity deal</a:t>
            </a:r>
          </a:p>
        </p:txBody>
      </p:sp>
      <p:sp>
        <p:nvSpPr>
          <p:cNvPr id="17"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8" name="Tracker: Company (active)"/>
          <p:cNvSpPr/>
          <p:nvPr/>
        </p:nvSpPr>
        <p:spPr>
          <a:xfrm>
            <a:off x="2663952"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9"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20"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21"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22"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2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Allocation &amp; Governance</a:t>
            </a:r>
          </a:p>
        </p:txBody>
      </p:sp>
      <p:sp>
        <p:nvSpPr>
          <p:cNvPr id="3" name="Header: Capital Allocation"/>
          <p:cNvSpPr/>
          <p:nvPr/>
        </p:nvSpPr>
        <p:spPr>
          <a:xfrm>
            <a:off x="270662"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Capital Allocation</a:t>
            </a:r>
          </a:p>
        </p:txBody>
      </p:sp>
      <p:sp>
        <p:nvSpPr>
          <p:cNvPr id="4" name="Bullets"/>
          <p:cNvSpPr txBox="1"/>
          <p:nvPr/>
        </p:nvSpPr>
        <p:spPr>
          <a:xfrm>
            <a:off x="270662" y="1353312"/>
            <a:ext cx="5679338" cy="2290064"/>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Dividend raised four times in a year: </a:t>
            </a:r>
            <a:r>
              <a:rPr sz="1700" b="1" u="none">
                <a:solidFill>
                  <a:srgbClr val="000000"/>
                </a:solidFill>
                <a:latin typeface="Garamond"/>
                <a:ea typeface="Garamond"/>
                <a:cs typeface="Garamond"/>
              </a:rPr>
              <a:t>$0.30 to $0.50</a:t>
            </a:r>
            <a:r>
              <a:rPr sz="1700" b="0" u="none">
                <a:solidFill>
                  <a:srgbClr val="000000"/>
                </a:solidFill>
                <a:latin typeface="Garamond"/>
                <a:ea typeface="Garamond"/>
                <a:cs typeface="Garamond"/>
              </a:rPr>
              <a:t>/qtr (~$205M/yr)</a:t>
            </a:r>
          </a:p>
          <a:p>
            <a:pPr marL="457200" indent="-336499">
              <a:buClr>
                <a:srgbClr val="000000"/>
              </a:buClr>
              <a:buSzPts val="1700"/>
              <a:buFont typeface="Garamond"/>
              <a:buChar char="●"/>
            </a:pPr>
            <a:r>
              <a:rPr sz="1700" b="1" u="none">
                <a:solidFill>
                  <a:srgbClr val="000000"/>
                </a:solidFill>
                <a:latin typeface="Garamond"/>
                <a:ea typeface="Garamond"/>
                <a:cs typeface="Garamond"/>
              </a:rPr>
              <a:t>$500M</a:t>
            </a:r>
            <a:r>
              <a:rPr sz="1700" b="0" u="none">
                <a:solidFill>
                  <a:srgbClr val="000000"/>
                </a:solidFill>
                <a:latin typeface="Garamond"/>
                <a:ea typeface="Garamond"/>
                <a:cs typeface="Garamond"/>
              </a:rPr>
              <a:t> buyback through Sept 2029 (2.9% of market cap)</a:t>
            </a:r>
          </a:p>
          <a:p>
            <a:pPr marL="457200" indent="-336499">
              <a:buClr>
                <a:srgbClr val="000000"/>
              </a:buClr>
              <a:buSzPts val="1700"/>
              <a:buFont typeface="Garamond"/>
              <a:buChar char="●"/>
            </a:pPr>
            <a:r>
              <a:rPr sz="1700" b="0" u="none">
                <a:solidFill>
                  <a:srgbClr val="000000"/>
                </a:solidFill>
                <a:latin typeface="Garamond"/>
                <a:ea typeface="Garamond"/>
                <a:cs typeface="Garamond"/>
              </a:rPr>
              <a:t>8.25% Series C preferred (</a:t>
            </a:r>
            <a:r>
              <a:rPr sz="1700" b="1" u="none">
                <a:solidFill>
                  <a:srgbClr val="000000"/>
                </a:solidFill>
                <a:latin typeface="Garamond"/>
                <a:ea typeface="Garamond"/>
                <a:cs typeface="Garamond"/>
              </a:rPr>
              <a:t>$105M</a:t>
            </a:r>
            <a:r>
              <a:rPr sz="1700" b="0" u="none">
                <a:solidFill>
                  <a:srgbClr val="000000"/>
                </a:solidFill>
                <a:latin typeface="Garamond"/>
                <a:ea typeface="Garamond"/>
                <a:cs typeface="Garamond"/>
              </a:rPr>
              <a:t>) redeemed June 2026</a:t>
            </a:r>
          </a:p>
          <a:p>
            <a:pPr marL="457200" indent="-336499">
              <a:buClr>
                <a:srgbClr val="000000"/>
              </a:buClr>
              <a:buSzPts val="1700"/>
              <a:buFont typeface="Garamond"/>
              <a:buChar char="●"/>
            </a:pPr>
            <a:r>
              <a:rPr sz="1700" b="1" u="none">
                <a:solidFill>
                  <a:srgbClr val="000000"/>
                </a:solidFill>
                <a:latin typeface="Garamond"/>
                <a:ea typeface="Garamond"/>
                <a:cs typeface="Garamond"/>
              </a:rPr>
              <a:t>$3.50B</a:t>
            </a:r>
            <a:r>
              <a:rPr sz="1700" b="0" u="none">
                <a:solidFill>
                  <a:srgbClr val="000000"/>
                </a:solidFill>
                <a:latin typeface="Garamond"/>
                <a:ea typeface="Garamond"/>
                <a:cs typeface="Garamond"/>
              </a:rPr>
              <a:t> of notes due 2028-33 ($1.0B in 2028); </a:t>
            </a:r>
            <a:r>
              <a:rPr sz="1700" b="1" u="none">
                <a:solidFill>
                  <a:srgbClr val="000000"/>
                </a:solidFill>
                <a:latin typeface="Garamond"/>
                <a:ea typeface="Garamond"/>
                <a:cs typeface="Garamond"/>
              </a:rPr>
              <a:t>2.65x</a:t>
            </a:r>
            <a:r>
              <a:rPr sz="1700" b="0" u="none">
                <a:solidFill>
                  <a:srgbClr val="000000"/>
                </a:solidFill>
                <a:latin typeface="Garamond"/>
                <a:ea typeface="Garamond"/>
                <a:cs typeface="Garamond"/>
              </a:rPr>
              <a:t> net debt / EBITDA</a:t>
            </a:r>
          </a:p>
          <a:p>
            <a:pPr marL="457200" indent="-336499">
              <a:buClr>
                <a:srgbClr val="000000"/>
              </a:buClr>
              <a:buSzPts val="1700"/>
              <a:buFont typeface="Garamond"/>
              <a:buChar char="●"/>
            </a:pPr>
            <a:r>
              <a:rPr sz="1700" b="0" u="none">
                <a:solidFill>
                  <a:srgbClr val="000000"/>
                </a:solidFill>
                <a:latin typeface="Garamond"/>
                <a:ea typeface="Garamond"/>
                <a:cs typeface="Garamond"/>
              </a:rPr>
              <a:t>SBC only 0.9% of revenue, yet diluted shares </a:t>
            </a:r>
            <a:r>
              <a:rPr sz="1700" b="1" u="none">
                <a:solidFill>
                  <a:srgbClr val="000000"/>
                </a:solidFill>
                <a:latin typeface="Garamond"/>
                <a:ea typeface="Garamond"/>
                <a:cs typeface="Garamond"/>
              </a:rPr>
              <a:t>+3.4%</a:t>
            </a:r>
            <a:r>
              <a:rPr sz="1700" b="0" u="none">
                <a:solidFill>
                  <a:srgbClr val="000000"/>
                </a:solidFill>
                <a:latin typeface="Garamond"/>
                <a:ea typeface="Garamond"/>
                <a:cs typeface="Garamond"/>
              </a:rPr>
              <a:t> (2023-25)</a:t>
            </a:r>
          </a:p>
        </p:txBody>
      </p:sp>
      <p:graphicFrame>
        <p:nvGraphicFramePr>
          <p:cNvPr id="5" name="Chart 4" descr="Column chart: Quarterly Dividend per Share ($). Dividend per share: Q2'25 0.3; Q3'25 0.35; Q4'25 0.4; Q1'26 0.45; Q2'26 0.5."/>
          <p:cNvGraphicFramePr>
            <a:graphicFrameLocks noGrp="1"/>
          </p:cNvGraphicFramePr>
          <p:nvPr/>
        </p:nvGraphicFramePr>
        <p:xfrm>
          <a:off x="270662" y="3807968"/>
          <a:ext cx="5679338" cy="2300224"/>
        </p:xfrm>
        <a:graphic>
          <a:graphicData uri="http://schemas.openxmlformats.org/drawingml/2006/chart">
            <c:chart xmlns:c="http://schemas.openxmlformats.org/drawingml/2006/chart" r:id="rId2"/>
          </a:graphicData>
        </a:graphic>
      </p:graphicFrame>
      <p:sp>
        <p:nvSpPr>
          <p:cNvPr id="6" name="TextBox 5"/>
          <p:cNvSpPr txBox="1"/>
          <p:nvPr/>
        </p:nvSpPr>
        <p:spPr>
          <a:xfrm>
            <a:off x="270662" y="6108192"/>
            <a:ext cx="5679338"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FTAI quarterly releases</a:t>
            </a:r>
          </a:p>
        </p:txBody>
      </p:sp>
      <p:sp>
        <p:nvSpPr>
          <p:cNvPr id="7" name="Header: Governance &amp; Accounting"/>
          <p:cNvSpPr/>
          <p:nvPr/>
        </p:nvSpPr>
        <p:spPr>
          <a:xfrm>
            <a:off x="6224320"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Governance &amp; Accounting</a:t>
            </a:r>
          </a:p>
        </p:txBody>
      </p:sp>
      <p:sp>
        <p:nvSpPr>
          <p:cNvPr id="8" name="Bullets"/>
          <p:cNvSpPr txBox="1"/>
          <p:nvPr/>
        </p:nvSpPr>
        <p:spPr>
          <a:xfrm>
            <a:off x="6224320" y="1353312"/>
            <a:ext cx="5679338" cy="2290064"/>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CEO pay </a:t>
            </a:r>
            <a:r>
              <a:rPr sz="1700" b="1" u="none">
                <a:solidFill>
                  <a:srgbClr val="000000"/>
                </a:solidFill>
                <a:latin typeface="Garamond"/>
                <a:ea typeface="Garamond"/>
                <a:cs typeface="Garamond"/>
              </a:rPr>
              <a:t>$26.7M</a:t>
            </a:r>
            <a:r>
              <a:rPr sz="1700" b="0" u="none">
                <a:solidFill>
                  <a:srgbClr val="000000"/>
                </a:solidFill>
                <a:latin typeface="Garamond"/>
                <a:ea typeface="Garamond"/>
                <a:cs typeface="Garamond"/>
              </a:rPr>
              <a:t> in 2024 ($23.7M in stock); PSU metrics not retrievable</a:t>
            </a:r>
          </a:p>
          <a:p>
            <a:pPr marL="457200" indent="-336499">
              <a:buClr>
                <a:srgbClr val="000000"/>
              </a:buClr>
              <a:buSzPts val="1700"/>
              <a:buFont typeface="Garamond"/>
              <a:buChar char="●"/>
            </a:pPr>
            <a:r>
              <a:rPr sz="1700" b="0" u="none">
                <a:solidFill>
                  <a:srgbClr val="000000"/>
                </a:solidFill>
                <a:latin typeface="Garamond"/>
                <a:ea typeface="Garamond"/>
                <a:cs typeface="Garamond"/>
              </a:rPr>
              <a:t>2025 short reports: Audit Committee found claims </a:t>
            </a:r>
            <a:r>
              <a:rPr sz="1700" b="1" u="none">
                <a:solidFill>
                  <a:srgbClr val="000000"/>
                </a:solidFill>
                <a:latin typeface="Garamond"/>
                <a:ea typeface="Garamond"/>
                <a:cs typeface="Garamond"/>
              </a:rPr>
              <a:t>unsupported</a:t>
            </a:r>
            <a:r>
              <a:rPr sz="1700" b="0" u="none">
                <a:solidFill>
                  <a:srgbClr val="000000"/>
                </a:solidFill>
                <a:latin typeface="Garamond"/>
                <a:ea typeface="Garamond"/>
                <a:cs typeface="Garamond"/>
              </a:rPr>
              <a:t>; no restatement</a:t>
            </a:r>
          </a:p>
          <a:p>
            <a:pPr marL="457200" indent="-336499">
              <a:buClr>
                <a:srgbClr val="000000"/>
              </a:buClr>
              <a:buSzPts val="1700"/>
              <a:buFont typeface="Garamond"/>
              <a:buChar char="●"/>
            </a:pPr>
            <a:r>
              <a:rPr sz="1700" b="0" u="none">
                <a:solidFill>
                  <a:srgbClr val="000000"/>
                </a:solidFill>
                <a:latin typeface="Garamond"/>
                <a:ea typeface="Garamond"/>
                <a:cs typeface="Garamond"/>
              </a:rPr>
              <a:t>Clean control opinions (EY FY24, KPMG FY25); EY replaced, no disagreements</a:t>
            </a:r>
          </a:p>
          <a:p>
            <a:pPr marL="457200" indent="-336499">
              <a:buClr>
                <a:srgbClr val="000000"/>
              </a:buClr>
              <a:buSzPts val="1700"/>
              <a:buFont typeface="Garamond"/>
              <a:buChar char="●"/>
            </a:pPr>
            <a:r>
              <a:rPr sz="1700" b="0" u="none">
                <a:solidFill>
                  <a:srgbClr val="000000"/>
                </a:solidFill>
                <a:latin typeface="Garamond"/>
                <a:ea typeface="Garamond"/>
                <a:cs typeface="Garamond"/>
              </a:rPr>
              <a:t>Open: SDNY class action; affiliate SCI revenue; a </a:t>
            </a:r>
            <a:r>
              <a:rPr sz="1700" b="1" u="none">
                <a:solidFill>
                  <a:srgbClr val="000000"/>
                </a:solidFill>
                <a:latin typeface="Garamond"/>
                <a:ea typeface="Garamond"/>
                <a:cs typeface="Garamond"/>
              </a:rPr>
              <a:t>Chinese JV partner</a:t>
            </a:r>
          </a:p>
        </p:txBody>
      </p:sp>
      <p:sp>
        <p:nvSpPr>
          <p:cNvPr id="9" name="Header: Open-Market Insider Trades"/>
          <p:cNvSpPr/>
          <p:nvPr/>
        </p:nvSpPr>
        <p:spPr>
          <a:xfrm>
            <a:off x="6224320" y="3807968"/>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Open-Market Insider Trades</a:t>
            </a:r>
          </a:p>
        </p:txBody>
      </p:sp>
      <p:graphicFrame>
        <p:nvGraphicFramePr>
          <p:cNvPr id="10" name="Table 9"/>
          <p:cNvGraphicFramePr>
            <a:graphicFrameLocks noGrp="1"/>
          </p:cNvGraphicFramePr>
          <p:nvPr/>
        </p:nvGraphicFramePr>
        <p:xfrm>
          <a:off x="6224320" y="4246880"/>
          <a:ext cx="5679337" cy="1447800"/>
        </p:xfrm>
        <a:graphic>
          <a:graphicData uri="http://schemas.openxmlformats.org/drawingml/2006/table">
            <a:tbl>
              <a:tblPr firstRow="0" bandRow="0">
                <a:tableStyleId>{2D5ABB26-0587-4C30-8999-92F81FD0307C}</a:tableStyleId>
              </a:tblPr>
              <a:tblGrid>
                <a:gridCol w="901482"/>
                <a:gridCol w="1802964"/>
                <a:gridCol w="2163557"/>
                <a:gridCol w="811334"/>
              </a:tblGrid>
              <a:tr h="289560">
                <a:tc>
                  <a:txBody>
                    <a:bodyPr/>
                    <a:lstStyle/>
                    <a:p>
                      <a:pPr algn="l"/>
                      <a:r>
                        <a:rPr sz="1200" b="1" u="none">
                          <a:solidFill>
                            <a:srgbClr val="FFFFFF"/>
                          </a:solidFill>
                          <a:latin typeface="Garamond"/>
                          <a:ea typeface="Garamond"/>
                          <a:cs typeface="Garamond"/>
                        </a:rPr>
                        <a:t>Date</a:t>
                      </a: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Insider</a:t>
                      </a: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Trade</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Value</a:t>
                      </a:r>
                    </a:p>
                  </a:txBody>
                  <a:tcPr marL="54864" marR="54864" marT="18288" marB="18288" anchor="ctr">
                    <a:lnL w="0">
                      <a:noFill/>
                    </a:lnL>
                    <a:lnR w="0">
                      <a:noFill/>
                    </a:lnR>
                    <a:lnT w="0">
                      <a:noFill/>
                    </a:lnT>
                    <a:lnB w="0">
                      <a:noFill/>
                    </a:lnB>
                    <a:solidFill>
                      <a:srgbClr val="002060"/>
                    </a:solidFill>
                  </a:tcPr>
                </a:tc>
              </a:tr>
              <a:tr h="289560">
                <a:tc>
                  <a:txBody>
                    <a:bodyPr/>
                    <a:lstStyle/>
                    <a:p>
                      <a:pPr algn="l"/>
                      <a:r>
                        <a:rPr sz="1200" b="0" u="none">
                          <a:solidFill>
                            <a:srgbClr val="000000"/>
                          </a:solidFill>
                          <a:latin typeface="Garamond"/>
                          <a:ea typeface="Garamond"/>
                          <a:cs typeface="Garamond"/>
                        </a:rPr>
                        <a:t>May 2026</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Director M. Tuchman</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Sold ~254K shares at ~$241</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~$61.5M</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Nov 2025</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CEO J. Adams</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Bought 2,000 shares at ~$156</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$0.3M</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Nov 2025</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CFO E. Nam</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Bought 652 shares at ~$153</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$0.1M</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Jul 2026</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President D. Moreno</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Bought 2,475 shares at $201</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$0.5M</a:t>
                      </a:r>
                    </a:p>
                  </a:txBody>
                  <a:tcPr marL="54864" marR="54864" marT="18288" marB="18288" anchor="ctr">
                    <a:lnL w="0">
                      <a:noFill/>
                    </a:lnL>
                    <a:lnR w="0">
                      <a:noFill/>
                    </a:lnR>
                    <a:lnT w="0">
                      <a:noFill/>
                    </a:lnT>
                    <a:lnB w="6350">
                      <a:solidFill>
                        <a:srgbClr val="D9D9D9"/>
                      </a:solidFill>
                    </a:lnB>
                    <a:noFill/>
                  </a:tcPr>
                </a:tc>
              </a:tr>
            </a:tbl>
          </a:graphicData>
        </a:graphic>
      </p:graphicFrame>
      <p:sp>
        <p:nvSpPr>
          <p:cNvPr id="11"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2" name="Tracker: Company (active)"/>
          <p:cNvSpPr/>
          <p:nvPr/>
        </p:nvSpPr>
        <p:spPr>
          <a:xfrm>
            <a:off x="2663952"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3"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4"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5"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6"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7"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III.	Industry &amp; Competition</a:t>
            </a:r>
          </a:p>
        </p:txBody>
      </p:sp>
      <p:sp>
        <p:nvSpPr>
          <p:cNvPr id="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CFM56 Aftermarket: Plateau, Then Run-Off</a:t>
            </a:r>
          </a:p>
        </p:txBody>
      </p:sp>
      <p:sp>
        <p:nvSpPr>
          <p:cNvPr id="3" name="Header: Market Dynamics"/>
          <p:cNvSpPr/>
          <p:nvPr/>
        </p:nvSpPr>
        <p:spPr>
          <a:xfrm>
            <a:off x="270662" y="914400"/>
            <a:ext cx="5949783"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Market Dynamics</a:t>
            </a:r>
          </a:p>
        </p:txBody>
      </p:sp>
      <p:sp>
        <p:nvSpPr>
          <p:cNvPr id="4" name="Bullets"/>
          <p:cNvSpPr txBox="1"/>
          <p:nvPr/>
        </p:nvSpPr>
        <p:spPr>
          <a:xfrm>
            <a:off x="270662" y="1353312"/>
            <a:ext cx="5949783" cy="202666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a:t>
            </a:r>
            <a:r>
              <a:rPr sz="1700" b="1" u="none">
                <a:solidFill>
                  <a:srgbClr val="000000"/>
                </a:solidFill>
                <a:latin typeface="Garamond"/>
                <a:ea typeface="Garamond"/>
                <a:cs typeface="Garamond"/>
              </a:rPr>
              <a:t>23,000</a:t>
            </a:r>
            <a:r>
              <a:rPr sz="1700" b="0" u="none">
                <a:solidFill>
                  <a:srgbClr val="000000"/>
                </a:solidFill>
                <a:latin typeface="Garamond"/>
                <a:ea typeface="Garamond"/>
                <a:cs typeface="Garamond"/>
              </a:rPr>
              <a:t> CFM56 engines in service; ~30% yet to see a first shop visit</a:t>
            </a:r>
          </a:p>
          <a:p>
            <a:pPr marL="457200" indent="-336499">
              <a:buClr>
                <a:srgbClr val="000000"/>
              </a:buClr>
              <a:buSzPts val="1700"/>
              <a:buFont typeface="Garamond"/>
              <a:buChar char="●"/>
            </a:pPr>
            <a:r>
              <a:rPr sz="1700" b="0" u="none">
                <a:solidFill>
                  <a:srgbClr val="000000"/>
                </a:solidFill>
                <a:latin typeface="Garamond"/>
                <a:ea typeface="Garamond"/>
                <a:cs typeface="Garamond"/>
              </a:rPr>
              <a:t>GE: shop visits peaked in </a:t>
            </a:r>
            <a:r>
              <a:rPr sz="1700" b="1" u="none">
                <a:solidFill>
                  <a:srgbClr val="000000"/>
                </a:solidFill>
                <a:latin typeface="Garamond"/>
                <a:ea typeface="Garamond"/>
                <a:cs typeface="Garamond"/>
              </a:rPr>
              <a:t>2025</a:t>
            </a:r>
            <a:r>
              <a:rPr sz="1700" b="0" u="none">
                <a:solidFill>
                  <a:srgbClr val="000000"/>
                </a:solidFill>
                <a:latin typeface="Garamond"/>
                <a:ea typeface="Garamond"/>
                <a:cs typeface="Garamond"/>
              </a:rPr>
              <a:t>, ~</a:t>
            </a:r>
            <a:r>
              <a:rPr sz="1700" b="1" u="none">
                <a:solidFill>
                  <a:srgbClr val="000000"/>
                </a:solidFill>
                <a:latin typeface="Garamond"/>
                <a:ea typeface="Garamond"/>
                <a:cs typeface="Garamond"/>
              </a:rPr>
              <a:t>2,300-2,400</a:t>
            </a:r>
            <a:r>
              <a:rPr sz="1700" b="0" u="none">
                <a:solidFill>
                  <a:srgbClr val="000000"/>
                </a:solidFill>
                <a:latin typeface="Garamond"/>
                <a:ea typeface="Garamond"/>
                <a:cs typeface="Garamond"/>
              </a:rPr>
              <a:t> a year through 2027, then decline</a:t>
            </a:r>
          </a:p>
          <a:p>
            <a:pPr marL="457200" indent="-336499">
              <a:buClr>
                <a:srgbClr val="000000"/>
              </a:buClr>
              <a:buSzPts val="1700"/>
              <a:buFont typeface="Garamond"/>
              <a:buChar char="●"/>
            </a:pPr>
            <a:r>
              <a:rPr sz="1700" b="0" u="none">
                <a:solidFill>
                  <a:srgbClr val="000000"/>
                </a:solidFill>
                <a:latin typeface="Garamond"/>
                <a:ea typeface="Garamond"/>
                <a:cs typeface="Garamond"/>
              </a:rPr>
              <a:t>CFM56 + V2500 spend ~</a:t>
            </a:r>
            <a:r>
              <a:rPr sz="1700" b="1" u="none">
                <a:solidFill>
                  <a:srgbClr val="000000"/>
                </a:solidFill>
                <a:latin typeface="Garamond"/>
                <a:ea typeface="Garamond"/>
                <a:cs typeface="Garamond"/>
              </a:rPr>
              <a:t>$22-25B</a:t>
            </a:r>
            <a:r>
              <a:rPr sz="1700" b="0" u="none">
                <a:solidFill>
                  <a:srgbClr val="000000"/>
                </a:solidFill>
                <a:latin typeface="Garamond"/>
                <a:ea typeface="Garamond"/>
                <a:cs typeface="Garamond"/>
              </a:rPr>
              <a:t> a year; FTAI share </a:t>
            </a:r>
            <a:r>
              <a:rPr sz="1700" b="1" u="none">
                <a:solidFill>
                  <a:srgbClr val="000000"/>
                </a:solidFill>
                <a:latin typeface="Garamond"/>
                <a:ea typeface="Garamond"/>
                <a:cs typeface="Garamond"/>
              </a:rPr>
              <a:t>14%</a:t>
            </a:r>
          </a:p>
          <a:p>
            <a:pPr marL="457200" indent="-336499">
              <a:buClr>
                <a:srgbClr val="000000"/>
              </a:buClr>
              <a:buSzPts val="1700"/>
              <a:buFont typeface="Garamond"/>
              <a:buChar char="●"/>
            </a:pPr>
            <a:r>
              <a:rPr sz="1700" b="0" u="none">
                <a:solidFill>
                  <a:srgbClr val="000000"/>
                </a:solidFill>
                <a:latin typeface="Garamond"/>
                <a:ea typeface="Garamond"/>
                <a:cs typeface="Garamond"/>
              </a:rPr>
              <a:t>LEAP-1B durability kit (~</a:t>
            </a:r>
            <a:r>
              <a:rPr sz="1700" b="1" u="none">
                <a:solidFill>
                  <a:srgbClr val="000000"/>
                </a:solidFill>
                <a:latin typeface="Garamond"/>
                <a:ea typeface="Garamond"/>
                <a:cs typeface="Garamond"/>
              </a:rPr>
              <a:t>2x</a:t>
            </a:r>
            <a:r>
              <a:rPr sz="1700" b="0" u="none">
                <a:solidFill>
                  <a:srgbClr val="000000"/>
                </a:solidFill>
                <a:latin typeface="Garamond"/>
                <a:ea typeface="Garamond"/>
                <a:cs typeface="Garamond"/>
              </a:rPr>
              <a:t> time on wing) in full production from </a:t>
            </a:r>
            <a:r>
              <a:rPr sz="1700" b="1" u="none">
                <a:solidFill>
                  <a:srgbClr val="000000"/>
                </a:solidFill>
                <a:latin typeface="Garamond"/>
                <a:ea typeface="Garamond"/>
                <a:cs typeface="Garamond"/>
              </a:rPr>
              <a:t>2027</a:t>
            </a:r>
          </a:p>
        </p:txBody>
      </p:sp>
      <p:sp>
        <p:nvSpPr>
          <p:cNvPr id="5" name="Header: Macro Overlay"/>
          <p:cNvSpPr/>
          <p:nvPr/>
        </p:nvSpPr>
        <p:spPr>
          <a:xfrm>
            <a:off x="270662" y="3544570"/>
            <a:ext cx="5949783"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Macro Overlay</a:t>
            </a:r>
          </a:p>
        </p:txBody>
      </p:sp>
      <p:sp>
        <p:nvSpPr>
          <p:cNvPr id="6" name="Bullets"/>
          <p:cNvSpPr txBox="1"/>
          <p:nvPr/>
        </p:nvSpPr>
        <p:spPr>
          <a:xfrm>
            <a:off x="270662" y="3983482"/>
            <a:ext cx="5949783" cy="973073"/>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Jet fuel ~</a:t>
            </a:r>
            <a:r>
              <a:rPr sz="1700" b="1" u="none">
                <a:solidFill>
                  <a:srgbClr val="000000"/>
                </a:solidFill>
                <a:latin typeface="Garamond"/>
                <a:ea typeface="Garamond"/>
                <a:cs typeface="Garamond"/>
              </a:rPr>
              <a:t>$152/bbl</a:t>
            </a:r>
            <a:r>
              <a:rPr sz="1700" b="0" u="none">
                <a:solidFill>
                  <a:srgbClr val="000000"/>
                </a:solidFill>
                <a:latin typeface="Garamond"/>
                <a:ea typeface="Garamond"/>
                <a:cs typeface="Garamond"/>
              </a:rPr>
              <a:t>; IATA halved 2026 airline profit to </a:t>
            </a:r>
            <a:r>
              <a:rPr sz="1700" b="1" u="none">
                <a:solidFill>
                  <a:srgbClr val="000000"/>
                </a:solidFill>
                <a:latin typeface="Garamond"/>
                <a:ea typeface="Garamond"/>
                <a:cs typeface="Garamond"/>
              </a:rPr>
              <a:t>$23B</a:t>
            </a:r>
            <a:r>
              <a:rPr sz="1700" b="0" u="none">
                <a:solidFill>
                  <a:srgbClr val="000000"/>
                </a:solidFill>
                <a:latin typeface="Garamond"/>
                <a:ea typeface="Garamond"/>
                <a:cs typeface="Garamond"/>
              </a:rPr>
              <a:t> (2.0% margin)</a:t>
            </a:r>
          </a:p>
          <a:p>
            <a:pPr marL="457200" indent="-336499">
              <a:buClr>
                <a:srgbClr val="000000"/>
              </a:buClr>
              <a:buSzPts val="1700"/>
              <a:buFont typeface="Garamond"/>
              <a:buChar char="●"/>
            </a:pPr>
            <a:r>
              <a:rPr sz="1700" b="0" u="none">
                <a:solidFill>
                  <a:srgbClr val="000000"/>
                </a:solidFill>
                <a:latin typeface="Garamond"/>
                <a:ea typeface="Garamond"/>
                <a:cs typeface="Garamond"/>
              </a:rPr>
              <a:t>Fed hiked to </a:t>
            </a:r>
            <a:r>
              <a:rPr sz="1700" b="1" u="none">
                <a:solidFill>
                  <a:srgbClr val="000000"/>
                </a:solidFill>
                <a:latin typeface="Garamond"/>
                <a:ea typeface="Garamond"/>
                <a:cs typeface="Garamond"/>
              </a:rPr>
              <a:t>3.75-4.00%</a:t>
            </a:r>
            <a:r>
              <a:rPr sz="1700" b="0" u="none">
                <a:solidFill>
                  <a:srgbClr val="000000"/>
                </a:solidFill>
                <a:latin typeface="Garamond"/>
                <a:ea typeface="Garamond"/>
                <a:cs typeface="Garamond"/>
              </a:rPr>
              <a:t> (9/16/26); 10-year ~4.75-4.8%</a:t>
            </a:r>
          </a:p>
        </p:txBody>
      </p:sp>
      <p:sp>
        <p:nvSpPr>
          <p:cNvPr id="7" name="Header: GE's 2026 CFM56 Retirement Assumption (%)"/>
          <p:cNvSpPr/>
          <p:nvPr/>
        </p:nvSpPr>
        <p:spPr>
          <a:xfrm>
            <a:off x="6494765" y="914400"/>
            <a:ext cx="5408893"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GE's 2026 CFM56 Retirement Assumption (%)</a:t>
            </a:r>
          </a:p>
        </p:txBody>
      </p:sp>
      <p:graphicFrame>
        <p:nvGraphicFramePr>
          <p:cNvPr id="8" name="Chart 7" descr="Column chart. Retirement assumption: 2025 view 3.5; Jan 2026 2.5; Mid-2026 2; Sep 2026 1.75."/>
          <p:cNvGraphicFramePr>
            <a:graphicFrameLocks noGrp="1"/>
          </p:cNvGraphicFramePr>
          <p:nvPr/>
        </p:nvGraphicFramePr>
        <p:xfrm>
          <a:off x="6494765" y="1353312"/>
          <a:ext cx="5408893" cy="3944721"/>
        </p:xfrm>
        <a:graphic>
          <a:graphicData uri="http://schemas.openxmlformats.org/drawingml/2006/chart">
            <c:chart xmlns:c="http://schemas.openxmlformats.org/drawingml/2006/chart" r:id="rId2"/>
          </a:graphicData>
        </a:graphic>
      </p:graphicFrame>
      <p:sp>
        <p:nvSpPr>
          <p:cNvPr id="9" name="TextBox 8"/>
          <p:cNvSpPr txBox="1"/>
          <p:nvPr/>
        </p:nvSpPr>
        <p:spPr>
          <a:xfrm>
            <a:off x="6494765" y="5298033"/>
            <a:ext cx="5408893"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GE Aerospace commentary via Aviation Week (2026); midpoints of stated ranges</a:t>
            </a:r>
          </a:p>
        </p:txBody>
      </p:sp>
      <p:sp>
        <p:nvSpPr>
          <p:cNvPr id="10" name="Stat Callout"/>
          <p:cNvSpPr/>
          <p:nvPr/>
        </p:nvSpPr>
        <p:spPr>
          <a:xfrm>
            <a:off x="6494765" y="5691225"/>
            <a:ext cx="2590146"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Bull read (L3):</a:t>
            </a:r>
            <a:r>
              <a:rPr sz="1300" b="0" u="none">
                <a:solidFill>
                  <a:srgbClr val="FFFFFF"/>
                </a:solidFill>
                <a:latin typeface="Garamond"/>
                <a:ea typeface="Garamond"/>
                <a:cs typeface="Garamond"/>
              </a:rPr>
              <a:t> the tail keeps lengthening</a:t>
            </a:r>
          </a:p>
        </p:txBody>
      </p:sp>
      <p:sp>
        <p:nvSpPr>
          <p:cNvPr id="11" name="Stat Callout"/>
          <p:cNvSpPr/>
          <p:nvPr/>
        </p:nvSpPr>
        <p:spPr>
          <a:xfrm>
            <a:off x="9313512" y="5691225"/>
            <a:ext cx="2590146"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Bear read (S9):</a:t>
            </a:r>
            <a:r>
              <a:rPr sz="1300" b="0" u="none">
                <a:solidFill>
                  <a:srgbClr val="FFFFFF"/>
                </a:solidFill>
                <a:latin typeface="Garamond"/>
                <a:ea typeface="Garamond"/>
                <a:cs typeface="Garamond"/>
              </a:rPr>
              <a:t> LEAP fixes reverse it from 2027</a:t>
            </a:r>
          </a:p>
        </p:txBody>
      </p:sp>
      <p:sp>
        <p:nvSpPr>
          <p:cNvPr id="12"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3"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4" name="Tracker: Industry (active)"/>
          <p:cNvSpPr/>
          <p:nvPr/>
        </p:nvSpPr>
        <p:spPr>
          <a:xfrm>
            <a:off x="4183075"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5"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6"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7"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8"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&amp; Moat</a:t>
            </a:r>
          </a:p>
        </p:txBody>
      </p:sp>
      <p:sp>
        <p:nvSpPr>
          <p:cNvPr id="3" name="Header: Who Else Restores CFM56 Engines (FY2025)"/>
          <p:cNvSpPr/>
          <p:nvPr/>
        </p:nvSpPr>
        <p:spPr>
          <a:xfrm>
            <a:off x="270662" y="914400"/>
            <a:ext cx="6195641"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Who Else Restores CFM56 Engines (FY2025)</a:t>
            </a:r>
          </a:p>
        </p:txBody>
      </p:sp>
      <p:graphicFrame>
        <p:nvGraphicFramePr>
          <p:cNvPr id="4" name="Table 3"/>
          <p:cNvGraphicFramePr>
            <a:graphicFrameLocks noGrp="1"/>
          </p:cNvGraphicFramePr>
          <p:nvPr/>
        </p:nvGraphicFramePr>
        <p:xfrm>
          <a:off x="270662" y="1353312"/>
          <a:ext cx="6195639" cy="1737360"/>
        </p:xfrm>
        <a:graphic>
          <a:graphicData uri="http://schemas.openxmlformats.org/drawingml/2006/table">
            <a:tbl>
              <a:tblPr firstRow="0" bandRow="0">
                <a:tableStyleId>{2D5ABB26-0587-4C30-8999-92F81FD0307C}</a:tableStyleId>
              </a:tblPr>
              <a:tblGrid>
                <a:gridCol w="1376809"/>
                <a:gridCol w="1591935"/>
                <a:gridCol w="731429"/>
                <a:gridCol w="903531"/>
                <a:gridCol w="1591935"/>
              </a:tblGrid>
              <a:tr h="289560">
                <a:tc>
                  <a:txBody>
                    <a:bodyPr/>
                    <a:lstStyle/>
                    <a:p>
                      <a:pPr algn="l"/>
                      <a:r>
                        <a:rPr sz="1200" b="1" u="none">
                          <a:solidFill>
                            <a:srgbClr val="FFFFFF"/>
                          </a:solidFill>
                          <a:latin typeface="Garamond"/>
                          <a:ea typeface="Garamond"/>
                          <a:cs typeface="Garamond"/>
                        </a:rPr>
                        <a:t>Company</a:t>
                      </a: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Model</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Revenue</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Adj. EBITDA</a:t>
                      </a: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Threat</a:t>
                      </a:r>
                    </a:p>
                  </a:txBody>
                  <a:tcPr marL="54864" marR="54864" marT="18288" marB="18288" anchor="ctr">
                    <a:lnL w="0">
                      <a:noFill/>
                    </a:lnL>
                    <a:lnR w="0">
                      <a:noFill/>
                    </a:lnR>
                    <a:lnT w="0">
                      <a:noFill/>
                    </a:lnT>
                    <a:lnB w="0">
                      <a:noFill/>
                    </a:lnB>
                    <a:solidFill>
                      <a:srgbClr val="002060"/>
                    </a:solidFill>
                  </a:tcPr>
                </a:tc>
              </a:tr>
              <a:tr h="289560">
                <a:tc>
                  <a:txBody>
                    <a:bodyPr/>
                    <a:lstStyle/>
                    <a:p>
                      <a:pPr algn="l"/>
                      <a:r>
                        <a:rPr sz="1200" b="0" u="none">
                          <a:solidFill>
                            <a:srgbClr val="000000"/>
                          </a:solidFill>
                          <a:latin typeface="Garamond"/>
                          <a:ea typeface="Garamond"/>
                          <a:cs typeface="Garamond"/>
                        </a:rPr>
                        <a:t>StandardAero</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Licensed MRO</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$6.06B</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$808M</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CFM56/LEAP capacity</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Willis Lease</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Lessor + MRO</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$0.73B</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$459M</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Module Shop + CFM</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AerSale</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Used parts (USM)</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$0.34B</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$46M</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Widebody focus</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GE / CFM (OEM)</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New parts + licenses</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n/a</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n/a</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Now supplies FTAI</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1" u="none">
                          <a:solidFill>
                            <a:srgbClr val="000000"/>
                          </a:solidFill>
                          <a:latin typeface="Garamond"/>
                          <a:ea typeface="Garamond"/>
                          <a:cs typeface="Garamond"/>
                        </a:rPr>
                        <a:t>FTAI (AP segment)</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l"/>
                      <a:r>
                        <a:rPr sz="1200" b="1" u="none">
                          <a:solidFill>
                            <a:srgbClr val="000000"/>
                          </a:solidFill>
                          <a:latin typeface="Garamond"/>
                          <a:ea typeface="Garamond"/>
                          <a:cs typeface="Garamond"/>
                        </a:rPr>
                        <a:t>Module swap + PMA</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200" b="1" u="none">
                          <a:solidFill>
                            <a:srgbClr val="000000"/>
                          </a:solidFill>
                          <a:latin typeface="Garamond"/>
                          <a:ea typeface="Garamond"/>
                          <a:cs typeface="Garamond"/>
                        </a:rPr>
                        <a:t>$1.94B</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200" b="1" u="none">
                          <a:solidFill>
                            <a:srgbClr val="000000"/>
                          </a:solidFill>
                          <a:latin typeface="Garamond"/>
                          <a:ea typeface="Garamond"/>
                          <a:cs typeface="Garamond"/>
                        </a:rPr>
                        <a:t>$671M</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l"/>
                      <a:r>
                        <a:rPr sz="1200" b="1" u="none">
                          <a:solidFill>
                            <a:srgbClr val="000000"/>
                          </a:solidFill>
                          <a:latin typeface="Garamond"/>
                          <a:ea typeface="Garamond"/>
                          <a:cs typeface="Garamond"/>
                        </a:rPr>
                        <a:t>-</a:t>
                      </a:r>
                    </a:p>
                  </a:txBody>
                  <a:tcPr marL="54864" marR="54864" marT="18288" marB="18288" anchor="ctr">
                    <a:lnL w="0">
                      <a:noFill/>
                    </a:lnL>
                    <a:lnR w="0">
                      <a:noFill/>
                    </a:lnR>
                    <a:lnT w="0">
                      <a:noFill/>
                    </a:lnT>
                    <a:lnB w="6350">
                      <a:solidFill>
                        <a:srgbClr val="D9D9D9"/>
                      </a:solidFill>
                    </a:lnB>
                    <a:solidFill>
                      <a:srgbClr val="FFF2CC"/>
                    </a:solidFill>
                  </a:tcPr>
                </a:tc>
              </a:tr>
            </a:tbl>
          </a:graphicData>
        </a:graphic>
      </p:graphicFrame>
      <p:sp>
        <p:nvSpPr>
          <p:cNvPr id="5" name="Header: 2025 Adj. EBITDA Margin (%): FTAI vs. Restoration Peers"/>
          <p:cNvSpPr/>
          <p:nvPr/>
        </p:nvSpPr>
        <p:spPr>
          <a:xfrm>
            <a:off x="270662" y="3300984"/>
            <a:ext cx="6195641"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2025 Adj. EBITDA Margin (%): FTAI vs. Restoration Peers</a:t>
            </a:r>
          </a:p>
        </p:txBody>
      </p:sp>
      <p:graphicFrame>
        <p:nvGraphicFramePr>
          <p:cNvPr id="6" name="Chart 5" descr="Column chart. Adj. EBITDA margin: FTAI Aerospace Products 34.7; StandardAero 13.3; AerSale 13.7."/>
          <p:cNvGraphicFramePr>
            <a:graphicFrameLocks noGrp="1"/>
          </p:cNvGraphicFramePr>
          <p:nvPr/>
        </p:nvGraphicFramePr>
        <p:xfrm>
          <a:off x="270662" y="3739896"/>
          <a:ext cx="6195641" cy="2368296"/>
        </p:xfrm>
        <a:graphic>
          <a:graphicData uri="http://schemas.openxmlformats.org/drawingml/2006/chart">
            <c:chart xmlns:c="http://schemas.openxmlformats.org/drawingml/2006/chart" r:id="rId2"/>
          </a:graphicData>
        </a:graphic>
      </p:graphicFrame>
      <p:sp>
        <p:nvSpPr>
          <p:cNvPr id="7" name="TextBox 6"/>
          <p:cNvSpPr txBox="1"/>
          <p:nvPr/>
        </p:nvSpPr>
        <p:spPr>
          <a:xfrm>
            <a:off x="270662" y="6108192"/>
            <a:ext cx="6195641"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FY2025 releases; Willis Lease excluded (lessor economics)</a:t>
            </a:r>
          </a:p>
        </p:txBody>
      </p:sp>
      <p:sp>
        <p:nvSpPr>
          <p:cNvPr id="8" name="Header: Helmer's Powers: No Proven Moat"/>
          <p:cNvSpPr/>
          <p:nvPr/>
        </p:nvSpPr>
        <p:spPr>
          <a:xfrm>
            <a:off x="6740624" y="914400"/>
            <a:ext cx="5163034"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Helmer's Powers: No Proven Moat</a:t>
            </a:r>
          </a:p>
        </p:txBody>
      </p:sp>
      <p:graphicFrame>
        <p:nvGraphicFramePr>
          <p:cNvPr id="9" name="Table 8"/>
          <p:cNvGraphicFramePr>
            <a:graphicFrameLocks noGrp="1"/>
          </p:cNvGraphicFramePr>
          <p:nvPr/>
        </p:nvGraphicFramePr>
        <p:xfrm>
          <a:off x="6740624" y="1353312"/>
          <a:ext cx="5163033" cy="1737360"/>
        </p:xfrm>
        <a:graphic>
          <a:graphicData uri="http://schemas.openxmlformats.org/drawingml/2006/table">
            <a:tbl>
              <a:tblPr firstRow="0" bandRow="0">
                <a:tableStyleId>{2D5ABB26-0587-4C30-8999-92F81FD0307C}</a:tableStyleId>
              </a:tblPr>
              <a:tblGrid>
                <a:gridCol w="1529788"/>
                <a:gridCol w="2772740"/>
                <a:gridCol w="860505"/>
              </a:tblGrid>
              <a:tr h="289560">
                <a:tc>
                  <a:txBody>
                    <a:bodyPr/>
                    <a:lstStyle/>
                    <a:p>
                      <a:pPr algn="l"/>
                      <a:r>
                        <a:rPr sz="1200" b="1" u="none">
                          <a:solidFill>
                            <a:srgbClr val="FFFFFF"/>
                          </a:solidFill>
                          <a:latin typeface="Garamond"/>
                          <a:ea typeface="Garamond"/>
                          <a:cs typeface="Garamond"/>
                        </a:rPr>
                        <a:t>Power</a:t>
                      </a: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Evidence</a:t>
                      </a:r>
                    </a:p>
                  </a:txBody>
                  <a:tcPr marL="54864" marR="54864" marT="18288" marB="18288" anchor="ctr">
                    <a:lnL w="0">
                      <a:noFill/>
                    </a:lnL>
                    <a:lnR w="0">
                      <a:noFill/>
                    </a:lnR>
                    <a:lnT w="0">
                      <a:noFill/>
                    </a:lnT>
                    <a:lnB w="0">
                      <a:noFill/>
                    </a:lnB>
                    <a:solidFill>
                      <a:srgbClr val="002060"/>
                    </a:solidFill>
                  </a:tcPr>
                </a:tc>
                <a:tc>
                  <a:txBody>
                    <a:bodyPr/>
                    <a:lstStyle/>
                    <a:p>
                      <a:pPr algn="l"/>
                      <a:r>
                        <a:rPr sz="1200" b="1" u="none">
                          <a:solidFill>
                            <a:srgbClr val="FFFFFF"/>
                          </a:solidFill>
                          <a:latin typeface="Garamond"/>
                          <a:ea typeface="Garamond"/>
                          <a:cs typeface="Garamond"/>
                        </a:rPr>
                        <a:t>Trend</a:t>
                      </a:r>
                    </a:p>
                  </a:txBody>
                  <a:tcPr marL="54864" marR="54864" marT="18288" marB="18288" anchor="ctr">
                    <a:lnL w="0">
                      <a:noFill/>
                    </a:lnL>
                    <a:lnR w="0">
                      <a:noFill/>
                    </a:lnR>
                    <a:lnT w="0">
                      <a:noFill/>
                    </a:lnT>
                    <a:lnB w="0">
                      <a:noFill/>
                    </a:lnB>
                    <a:solidFill>
                      <a:srgbClr val="002060"/>
                    </a:solidFill>
                  </a:tcPr>
                </a:tc>
              </a:tr>
              <a:tr h="289560">
                <a:tc>
                  <a:txBody>
                    <a:bodyPr/>
                    <a:lstStyle/>
                    <a:p>
                      <a:pPr algn="l"/>
                      <a:r>
                        <a:rPr sz="1200" b="0" u="none">
                          <a:solidFill>
                            <a:srgbClr val="000000"/>
                          </a:solidFill>
                          <a:latin typeface="Garamond"/>
                          <a:ea typeface="Garamond"/>
                          <a:cs typeface="Garamond"/>
                        </a:rPr>
                        <a:t>Counter-positioning</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OEM can't copy without cannibalizing</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Thinning</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Scale economies</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Largest module pool; 5-25 day swaps</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Stable</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Cornered resource</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Chromalloy PMA JV; ~600 SCI engines</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Partial</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Switching costs</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Spot buys; MRE contracts stickier</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Weak</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Other powers</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Network, brand, process: not evidenced</a:t>
                      </a:r>
                    </a:p>
                  </a:txBody>
                  <a:tcPr marL="54864" marR="54864" marT="18288" marB="18288" anchor="ctr">
                    <a:lnL w="0">
                      <a:noFill/>
                    </a:lnL>
                    <a:lnR w="0">
                      <a:noFill/>
                    </a:lnR>
                    <a:lnT w="0">
                      <a:noFill/>
                    </a:lnT>
                    <a:lnB w="6350">
                      <a:solidFill>
                        <a:srgbClr val="D9D9D9"/>
                      </a:solidFill>
                    </a:lnB>
                    <a:noFill/>
                  </a:tcPr>
                </a:tc>
                <a:tc>
                  <a:txBody>
                    <a:bodyPr/>
                    <a:lstStyle/>
                    <a:p>
                      <a:pPr algn="l"/>
                      <a:r>
                        <a:rPr sz="1200" b="0" u="none">
                          <a:solidFill>
                            <a:srgbClr val="000000"/>
                          </a:solidFill>
                          <a:latin typeface="Garamond"/>
                          <a:ea typeface="Garamond"/>
                          <a:cs typeface="Garamond"/>
                        </a:rPr>
                        <a:t>-</a:t>
                      </a:r>
                    </a:p>
                  </a:txBody>
                  <a:tcPr marL="54864" marR="54864" marT="18288" marB="18288" anchor="ctr">
                    <a:lnL w="0">
                      <a:noFill/>
                    </a:lnL>
                    <a:lnR w="0">
                      <a:noFill/>
                    </a:lnR>
                    <a:lnT w="0">
                      <a:noFill/>
                    </a:lnT>
                    <a:lnB w="6350">
                      <a:solidFill>
                        <a:srgbClr val="D9D9D9"/>
                      </a:solidFill>
                    </a:lnB>
                    <a:noFill/>
                  </a:tcPr>
                </a:tc>
              </a:tr>
            </a:tbl>
          </a:graphicData>
        </a:graphic>
      </p:graphicFrame>
      <p:sp>
        <p:nvSpPr>
          <p:cNvPr id="10" name="Header: Evidence Tests"/>
          <p:cNvSpPr/>
          <p:nvPr/>
        </p:nvSpPr>
        <p:spPr>
          <a:xfrm>
            <a:off x="6740624" y="3300984"/>
            <a:ext cx="5163034"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Evidence Tests</a:t>
            </a:r>
          </a:p>
        </p:txBody>
      </p:sp>
      <p:sp>
        <p:nvSpPr>
          <p:cNvPr id="11" name="Bullets"/>
          <p:cNvSpPr txBox="1"/>
          <p:nvPr/>
        </p:nvSpPr>
        <p:spPr>
          <a:xfrm>
            <a:off x="6740624" y="3739896"/>
            <a:ext cx="5163034" cy="1763267"/>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Excess ROIC is only </a:t>
            </a:r>
            <a:r>
              <a:rPr sz="1700" b="1" u="none">
                <a:solidFill>
                  <a:srgbClr val="000000"/>
                </a:solidFill>
                <a:latin typeface="Garamond"/>
                <a:ea typeface="Garamond"/>
                <a:cs typeface="Garamond"/>
              </a:rPr>
              <a:t>~2 years</a:t>
            </a:r>
            <a:r>
              <a:rPr sz="1700" b="0" u="none">
                <a:solidFill>
                  <a:srgbClr val="000000"/>
                </a:solidFill>
                <a:latin typeface="Garamond"/>
                <a:ea typeface="Garamond"/>
                <a:cs typeface="Garamond"/>
              </a:rPr>
              <a:t> old; untested in a downturn</a:t>
            </a:r>
          </a:p>
          <a:p>
            <a:pPr marL="457200" indent="-336499">
              <a:buClr>
                <a:srgbClr val="000000"/>
              </a:buClr>
              <a:buSzPts val="1700"/>
              <a:buFont typeface="Garamond"/>
              <a:buChar char="●"/>
            </a:pPr>
            <a:r>
              <a:rPr sz="1700" b="0" u="none">
                <a:solidFill>
                  <a:srgbClr val="000000"/>
                </a:solidFill>
                <a:latin typeface="Garamond"/>
                <a:ea typeface="Garamond"/>
                <a:cs typeface="Garamond"/>
              </a:rPr>
              <a:t>No price increase stuck: margins </a:t>
            </a:r>
            <a:r>
              <a:rPr sz="1700" b="1" u="none">
                <a:solidFill>
                  <a:srgbClr val="000000"/>
                </a:solidFill>
                <a:latin typeface="Garamond"/>
                <a:ea typeface="Garamond"/>
                <a:cs typeface="Garamond"/>
              </a:rPr>
              <a:t>-6pp</a:t>
            </a:r>
            <a:r>
              <a:rPr sz="1700" b="0" u="none">
                <a:solidFill>
                  <a:srgbClr val="000000"/>
                </a:solidFill>
                <a:latin typeface="Garamond"/>
                <a:ea typeface="Garamond"/>
                <a:cs typeface="Garamond"/>
              </a:rPr>
              <a:t> as share rose 10% to 14%</a:t>
            </a:r>
          </a:p>
          <a:p>
            <a:pPr marL="457200" indent="-336499">
              <a:buClr>
                <a:srgbClr val="000000"/>
              </a:buClr>
              <a:buSzPts val="1700"/>
              <a:buFont typeface="Garamond"/>
              <a:buChar char="●"/>
            </a:pPr>
            <a:r>
              <a:rPr sz="1700" b="0" u="none">
                <a:solidFill>
                  <a:srgbClr val="000000"/>
                </a:solidFill>
                <a:latin typeface="Garamond"/>
                <a:ea typeface="Garamond"/>
                <a:cs typeface="Garamond"/>
              </a:rPr>
              <a:t>Threats: Willis Lease </a:t>
            </a:r>
            <a:r>
              <a:rPr sz="1700" b="1" u="none">
                <a:solidFill>
                  <a:srgbClr val="000000"/>
                </a:solidFill>
                <a:latin typeface="Garamond"/>
                <a:ea typeface="Garamond"/>
                <a:cs typeface="Garamond"/>
              </a:rPr>
              <a:t>Module Shop</a:t>
            </a:r>
            <a:r>
              <a:rPr sz="1700" b="0" u="none">
                <a:solidFill>
                  <a:srgbClr val="000000"/>
                </a:solidFill>
                <a:latin typeface="Garamond"/>
                <a:ea typeface="Garamond"/>
                <a:cs typeface="Garamond"/>
              </a:rPr>
              <a:t>, StandardAero, CFM supply control</a:t>
            </a:r>
          </a:p>
        </p:txBody>
      </p:sp>
      <p:sp>
        <p:nvSpPr>
          <p:cNvPr id="12"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3"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4" name="Tracker: Industry (active)"/>
          <p:cNvSpPr/>
          <p:nvPr/>
        </p:nvSpPr>
        <p:spPr>
          <a:xfrm>
            <a:off x="4183075"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5"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6"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7"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8"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IV.	Growth Legs: FTAI Power &amp; SCI</a:t>
            </a:r>
          </a:p>
        </p:txBody>
      </p:sp>
      <p:sp>
        <p:nvSpPr>
          <p:cNvPr id="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FTAI Power: Mod-1 Gensets for Data Centers</a:t>
            </a:r>
          </a:p>
        </p:txBody>
      </p:sp>
      <p:sp>
        <p:nvSpPr>
          <p:cNvPr id="3" name="Header: The Opportunity"/>
          <p:cNvSpPr/>
          <p:nvPr/>
        </p:nvSpPr>
        <p:spPr>
          <a:xfrm>
            <a:off x="270662" y="914400"/>
            <a:ext cx="5949783"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The Opportunity</a:t>
            </a:r>
          </a:p>
        </p:txBody>
      </p:sp>
      <p:sp>
        <p:nvSpPr>
          <p:cNvPr id="4" name="Bullets"/>
          <p:cNvSpPr txBox="1"/>
          <p:nvPr/>
        </p:nvSpPr>
        <p:spPr>
          <a:xfrm>
            <a:off x="270662" y="1353312"/>
            <a:ext cx="5949783" cy="202666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Turns surplus CFM56 cores into </a:t>
            </a:r>
            <a:r>
              <a:rPr sz="1700" b="1" u="none">
                <a:solidFill>
                  <a:srgbClr val="000000"/>
                </a:solidFill>
                <a:latin typeface="Garamond"/>
                <a:ea typeface="Garamond"/>
                <a:cs typeface="Garamond"/>
              </a:rPr>
              <a:t>25 MW</a:t>
            </a:r>
            <a:r>
              <a:rPr sz="1700" b="0" u="none">
                <a:solidFill>
                  <a:srgbClr val="000000"/>
                </a:solidFill>
                <a:latin typeface="Garamond"/>
                <a:ea typeface="Garamond"/>
                <a:cs typeface="Garamond"/>
              </a:rPr>
              <a:t> gas-turbine gensets</a:t>
            </a:r>
          </a:p>
          <a:p>
            <a:pPr marL="457200" indent="-336499">
              <a:buClr>
                <a:srgbClr val="000000"/>
              </a:buClr>
              <a:buSzPts val="1700"/>
              <a:buFont typeface="Garamond"/>
              <a:buChar char="●"/>
            </a:pPr>
            <a:r>
              <a:rPr sz="1700" b="0" u="none">
                <a:solidFill>
                  <a:srgbClr val="000000"/>
                </a:solidFill>
                <a:latin typeface="Garamond"/>
                <a:ea typeface="Garamond"/>
                <a:cs typeface="Garamond"/>
              </a:rPr>
              <a:t>J&amp;F Power Systems (JV with </a:t>
            </a:r>
            <a:r>
              <a:rPr sz="1700" b="1" u="none">
                <a:solidFill>
                  <a:srgbClr val="000000"/>
                </a:solidFill>
                <a:latin typeface="Garamond"/>
                <a:ea typeface="Garamond"/>
                <a:cs typeface="Garamond"/>
              </a:rPr>
              <a:t>Jereh Group</a:t>
            </a:r>
            <a:r>
              <a:rPr sz="1700" b="0" u="none">
                <a:solidFill>
                  <a:srgbClr val="000000"/>
                </a:solidFill>
                <a:latin typeface="Garamond"/>
                <a:ea typeface="Garamond"/>
                <a:cs typeface="Garamond"/>
              </a:rPr>
              <a:t>, Yantai, China) packages and sells them</a:t>
            </a:r>
          </a:p>
          <a:p>
            <a:pPr marL="457200" indent="-336499">
              <a:buClr>
                <a:srgbClr val="000000"/>
              </a:buClr>
              <a:buSzPts val="1700"/>
              <a:buFont typeface="Garamond"/>
              <a:buChar char="●"/>
            </a:pPr>
            <a:r>
              <a:rPr sz="1700" b="0" u="none">
                <a:solidFill>
                  <a:srgbClr val="000000"/>
                </a:solidFill>
                <a:latin typeface="Garamond"/>
                <a:ea typeface="Garamond"/>
                <a:cs typeface="Garamond"/>
              </a:rPr>
              <a:t>First order </a:t>
            </a:r>
            <a:r>
              <a:rPr sz="1700" b="1" u="none">
                <a:solidFill>
                  <a:srgbClr val="000000"/>
                </a:solidFill>
                <a:latin typeface="Garamond"/>
                <a:ea typeface="Garamond"/>
                <a:cs typeface="Garamond"/>
              </a:rPr>
              <a:t>$1.465B</a:t>
            </a:r>
            <a:r>
              <a:rPr sz="1700" b="0" u="none">
                <a:solidFill>
                  <a:srgbClr val="000000"/>
                </a:solidFill>
                <a:latin typeface="Garamond"/>
                <a:ea typeface="Garamond"/>
                <a:cs typeface="Garamond"/>
              </a:rPr>
              <a:t> (US hyperscaler); 5-year master agreement; deliveries to Nov 2027</a:t>
            </a:r>
          </a:p>
          <a:p>
            <a:pPr marL="457200" indent="-336499">
              <a:buClr>
                <a:srgbClr val="000000"/>
              </a:buClr>
              <a:buSzPts val="1700"/>
              <a:buFont typeface="Garamond"/>
              <a:buChar char="●"/>
            </a:pPr>
            <a:r>
              <a:rPr sz="1700" b="1" u="none">
                <a:solidFill>
                  <a:srgbClr val="000000"/>
                </a:solidFill>
                <a:latin typeface="Garamond"/>
                <a:ea typeface="Garamond"/>
                <a:cs typeface="Garamond"/>
              </a:rPr>
              <a:t>100</a:t>
            </a:r>
            <a:r>
              <a:rPr sz="1700" b="0" u="none">
                <a:solidFill>
                  <a:srgbClr val="000000"/>
                </a:solidFill>
                <a:latin typeface="Garamond"/>
                <a:ea typeface="Garamond"/>
                <a:cs typeface="Garamond"/>
              </a:rPr>
              <a:t> units (~2.5 GW) planned for 2027; first delivery targeted for end-2026</a:t>
            </a:r>
          </a:p>
        </p:txBody>
      </p:sp>
      <p:sp>
        <p:nvSpPr>
          <p:cNvPr id="5" name="Header: Policy Risk (S4)"/>
          <p:cNvSpPr/>
          <p:nvPr/>
        </p:nvSpPr>
        <p:spPr>
          <a:xfrm>
            <a:off x="270662" y="3544570"/>
            <a:ext cx="5949783"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Policy Risk (S4)</a:t>
            </a:r>
          </a:p>
        </p:txBody>
      </p:sp>
      <p:sp>
        <p:nvSpPr>
          <p:cNvPr id="6" name="Bullets"/>
          <p:cNvSpPr txBox="1"/>
          <p:nvPr/>
        </p:nvSpPr>
        <p:spPr>
          <a:xfrm>
            <a:off x="270662" y="3983482"/>
            <a:ext cx="5949783" cy="973073"/>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EO 14420 (8/26/26): DOE may block turbines with a foreign-adversary nexus; rules due </a:t>
            </a:r>
            <a:r>
              <a:rPr sz="1700" b="1" u="none">
                <a:solidFill>
                  <a:srgbClr val="000000"/>
                </a:solidFill>
                <a:latin typeface="Garamond"/>
                <a:ea typeface="Garamond"/>
                <a:cs typeface="Garamond"/>
              </a:rPr>
              <a:t>12/24/26</a:t>
            </a:r>
          </a:p>
          <a:p>
            <a:pPr marL="457200" indent="-336499">
              <a:buClr>
                <a:srgbClr val="000000"/>
              </a:buClr>
              <a:buSzPts val="1700"/>
              <a:buFont typeface="Garamond"/>
              <a:buChar char="●"/>
            </a:pPr>
            <a:r>
              <a:rPr sz="1700" b="0" u="none">
                <a:solidFill>
                  <a:srgbClr val="000000"/>
                </a:solidFill>
                <a:latin typeface="Garamond"/>
                <a:ea typeface="Garamond"/>
                <a:cs typeface="Garamond"/>
              </a:rPr>
              <a:t>Jereh settled Iran-sanctions charges with OFAC in 2018</a:t>
            </a:r>
          </a:p>
        </p:txBody>
      </p:sp>
      <p:sp>
        <p:nvSpPr>
          <p:cNvPr id="7" name="Header: 2027 Power EBITDA Scenarios ($M)"/>
          <p:cNvSpPr/>
          <p:nvPr/>
        </p:nvSpPr>
        <p:spPr>
          <a:xfrm>
            <a:off x="6494765" y="914400"/>
            <a:ext cx="5408893"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2027 Power EBITDA Scenarios ($M)</a:t>
            </a:r>
          </a:p>
        </p:txBody>
      </p:sp>
      <p:graphicFrame>
        <p:nvGraphicFramePr>
          <p:cNvPr id="8" name="Chart 7" descr="Column chart. 2027 Power EBITDA: Bear (S3) 300; Plan 450; Bull (L2) 600; Release high 750."/>
          <p:cNvGraphicFramePr>
            <a:graphicFrameLocks noGrp="1"/>
          </p:cNvGraphicFramePr>
          <p:nvPr/>
        </p:nvGraphicFramePr>
        <p:xfrm>
          <a:off x="6494765" y="1353312"/>
          <a:ext cx="5408893" cy="3675887"/>
        </p:xfrm>
        <a:graphic>
          <a:graphicData uri="http://schemas.openxmlformats.org/drawingml/2006/chart">
            <c:chart xmlns:c="http://schemas.openxmlformats.org/drawingml/2006/chart" r:id="rId2"/>
          </a:graphicData>
        </a:graphic>
      </p:graphicFrame>
      <p:sp>
        <p:nvSpPr>
          <p:cNvPr id="9" name="TextBox 8"/>
          <p:cNvSpPr txBox="1"/>
          <p:nvPr/>
        </p:nvSpPr>
        <p:spPr>
          <a:xfrm>
            <a:off x="6494765" y="5029200"/>
            <a:ext cx="5408893"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Q2'26 call, order release, thesis file</a:t>
            </a:r>
          </a:p>
        </p:txBody>
      </p:sp>
      <p:sp>
        <p:nvSpPr>
          <p:cNvPr id="10" name="Metric Tile"/>
          <p:cNvSpPr/>
          <p:nvPr/>
        </p:nvSpPr>
        <p:spPr>
          <a:xfrm>
            <a:off x="6494765" y="5422392"/>
            <a:ext cx="2649582" cy="914400"/>
          </a:xfrm>
          <a:prstGeom prst="rect">
            <a:avLst/>
          </a:prstGeom>
          <a:solidFill>
            <a:srgbClr val="E4E9F0"/>
          </a:solidFill>
          <a:ln w="12700">
            <a:solidFill>
              <a:srgbClr val="203764"/>
            </a:solidFill>
          </a:ln>
        </p:spPr>
        <p:txBody>
          <a:bodyPr rtlCol="0" anchor="ctr" wrap="square">
            <a:noAutofit/>
          </a:bodyPr>
          <a:lstStyle/>
          <a:p>
            <a:pPr algn="ctr" marL="0" indent="0">
              <a:buNone/>
            </a:pPr>
            <a:r>
              <a:rPr sz="2600" b="1" u="none" cap="small">
                <a:solidFill>
                  <a:srgbClr val="000000"/>
                </a:solidFill>
                <a:latin typeface="Garamond"/>
                <a:ea typeface="Garamond"/>
                <a:cs typeface="Garamond"/>
              </a:rPr>
              <a:t>Order: $1.465B</a:t>
            </a:r>
          </a:p>
        </p:txBody>
      </p:sp>
      <p:sp>
        <p:nvSpPr>
          <p:cNvPr id="11" name="Metric Tile"/>
          <p:cNvSpPr/>
          <p:nvPr/>
        </p:nvSpPr>
        <p:spPr>
          <a:xfrm>
            <a:off x="9254076" y="5422392"/>
            <a:ext cx="2649582" cy="914400"/>
          </a:xfrm>
          <a:prstGeom prst="rect">
            <a:avLst/>
          </a:prstGeom>
          <a:solidFill>
            <a:srgbClr val="E4E9F0"/>
          </a:solidFill>
          <a:ln w="12700">
            <a:solidFill>
              <a:srgbClr val="203764"/>
            </a:solidFill>
          </a:ln>
        </p:spPr>
        <p:txBody>
          <a:bodyPr rtlCol="0" anchor="ctr" wrap="square">
            <a:noAutofit/>
          </a:bodyPr>
          <a:lstStyle/>
          <a:p>
            <a:pPr algn="ctr" marL="0" indent="0">
              <a:buNone/>
            </a:pPr>
            <a:r>
              <a:rPr sz="2600" b="1" u="none" cap="small">
                <a:solidFill>
                  <a:srgbClr val="000000"/>
                </a:solidFill>
                <a:latin typeface="Garamond"/>
                <a:ea typeface="Garamond"/>
                <a:cs typeface="Garamond"/>
              </a:rPr>
              <a:t>Units: 100</a:t>
            </a:r>
          </a:p>
        </p:txBody>
      </p:sp>
      <p:sp>
        <p:nvSpPr>
          <p:cNvPr id="12"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3"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4"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5" name="Tracker: Growth Legs (active)"/>
          <p:cNvSpPr/>
          <p:nvPr/>
        </p:nvSpPr>
        <p:spPr>
          <a:xfrm>
            <a:off x="5702198"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6"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7"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8"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SCI: Leasing Goes Asset-Light</a:t>
            </a:r>
          </a:p>
        </p:txBody>
      </p:sp>
      <p:sp>
        <p:nvSpPr>
          <p:cNvPr id="3" name="Header: How SCI Works"/>
          <p:cNvSpPr/>
          <p:nvPr/>
        </p:nvSpPr>
        <p:spPr>
          <a:xfrm>
            <a:off x="270662" y="914400"/>
            <a:ext cx="5949783"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How SCI Works</a:t>
            </a:r>
          </a:p>
        </p:txBody>
      </p:sp>
      <p:sp>
        <p:nvSpPr>
          <p:cNvPr id="4" name="Bullets"/>
          <p:cNvSpPr txBox="1"/>
          <p:nvPr/>
        </p:nvSpPr>
        <p:spPr>
          <a:xfrm>
            <a:off x="270662" y="1353312"/>
            <a:ext cx="5949783" cy="202666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Third-party funds buy mid-life aircraft; FTAI manages, co-invests (</a:t>
            </a:r>
            <a:r>
              <a:rPr sz="1700" b="1" u="none">
                <a:solidFill>
                  <a:srgbClr val="000000"/>
                </a:solidFill>
                <a:latin typeface="Garamond"/>
                <a:ea typeface="Garamond"/>
                <a:cs typeface="Garamond"/>
              </a:rPr>
              <a:t>15%</a:t>
            </a:r>
            <a:r>
              <a:rPr sz="1700" b="0" u="none">
                <a:solidFill>
                  <a:srgbClr val="000000"/>
                </a:solidFill>
                <a:latin typeface="Garamond"/>
                <a:ea typeface="Garamond"/>
                <a:cs typeface="Garamond"/>
              </a:rPr>
              <a:t> in SCI II) and maintains the engines</a:t>
            </a:r>
          </a:p>
          <a:p>
            <a:pPr marL="457200" indent="-336499">
              <a:buClr>
                <a:srgbClr val="000000"/>
              </a:buClr>
              <a:buSzPts val="1700"/>
              <a:buFont typeface="Garamond"/>
              <a:buChar char="●"/>
            </a:pPr>
            <a:r>
              <a:rPr sz="1700" b="0" u="none">
                <a:solidFill>
                  <a:srgbClr val="000000"/>
                </a:solidFill>
                <a:latin typeface="Garamond"/>
                <a:ea typeface="Garamond"/>
                <a:cs typeface="Garamond"/>
              </a:rPr>
              <a:t>SCI I: </a:t>
            </a:r>
            <a:r>
              <a:rPr sz="1700" b="1" u="none">
                <a:solidFill>
                  <a:srgbClr val="000000"/>
                </a:solidFill>
                <a:latin typeface="Garamond"/>
                <a:ea typeface="Garamond"/>
                <a:cs typeface="Garamond"/>
              </a:rPr>
              <a:t>$2.0B</a:t>
            </a:r>
            <a:r>
              <a:rPr sz="1700" b="0" u="none">
                <a:solidFill>
                  <a:srgbClr val="000000"/>
                </a:solidFill>
                <a:latin typeface="Garamond"/>
                <a:ea typeface="Garamond"/>
                <a:cs typeface="Garamond"/>
              </a:rPr>
              <a:t> equity, ~</a:t>
            </a:r>
            <a:r>
              <a:rPr sz="1700" b="1" u="none">
                <a:solidFill>
                  <a:srgbClr val="000000"/>
                </a:solidFill>
                <a:latin typeface="Garamond"/>
                <a:ea typeface="Garamond"/>
                <a:cs typeface="Garamond"/>
              </a:rPr>
              <a:t>$6B</a:t>
            </a:r>
            <a:r>
              <a:rPr sz="1700" b="0" u="none">
                <a:solidFill>
                  <a:srgbClr val="000000"/>
                </a:solidFill>
                <a:latin typeface="Garamond"/>
                <a:ea typeface="Garamond"/>
                <a:cs typeface="Garamond"/>
              </a:rPr>
              <a:t> deployed, ~300 aircraft, ~600 engines</a:t>
            </a:r>
          </a:p>
          <a:p>
            <a:pPr marL="457200" indent="-336499">
              <a:buClr>
                <a:srgbClr val="000000"/>
              </a:buClr>
              <a:buSzPts val="1700"/>
              <a:buFont typeface="Garamond"/>
              <a:buChar char="●"/>
            </a:pPr>
            <a:r>
              <a:rPr sz="1700" b="0" u="none">
                <a:solidFill>
                  <a:srgbClr val="000000"/>
                </a:solidFill>
                <a:latin typeface="Garamond"/>
                <a:ea typeface="Garamond"/>
                <a:cs typeface="Garamond"/>
              </a:rPr>
              <a:t>SCI II (Aug 2026): </a:t>
            </a:r>
            <a:r>
              <a:rPr sz="1700" b="1" u="none">
                <a:solidFill>
                  <a:srgbClr val="000000"/>
                </a:solidFill>
                <a:latin typeface="Garamond"/>
                <a:ea typeface="Garamond"/>
                <a:cs typeface="Garamond"/>
              </a:rPr>
              <a:t>$2.0B</a:t>
            </a:r>
            <a:r>
              <a:rPr sz="1700" b="0" u="none">
                <a:solidFill>
                  <a:srgbClr val="000000"/>
                </a:solidFill>
                <a:latin typeface="Garamond"/>
                <a:ea typeface="Garamond"/>
                <a:cs typeface="Garamond"/>
              </a:rPr>
              <a:t> 13-bank warehouse; goal of </a:t>
            </a:r>
            <a:r>
              <a:rPr sz="1700" b="1" u="none">
                <a:solidFill>
                  <a:srgbClr val="000000"/>
                </a:solidFill>
                <a:latin typeface="Garamond"/>
                <a:ea typeface="Garamond"/>
                <a:cs typeface="Garamond"/>
              </a:rPr>
              <a:t>$20B</a:t>
            </a:r>
            <a:r>
              <a:rPr sz="1700" b="0" u="none">
                <a:solidFill>
                  <a:srgbClr val="000000"/>
                </a:solidFill>
                <a:latin typeface="Garamond"/>
                <a:ea typeface="Garamond"/>
                <a:cs typeface="Garamond"/>
              </a:rPr>
              <a:t> under management</a:t>
            </a:r>
          </a:p>
          <a:p>
            <a:pPr marL="457200" indent="-336499">
              <a:buClr>
                <a:srgbClr val="000000"/>
              </a:buClr>
              <a:buSzPts val="1700"/>
              <a:buFont typeface="Garamond"/>
              <a:buChar char="●"/>
            </a:pPr>
            <a:r>
              <a:rPr sz="1700" b="0" u="none">
                <a:solidFill>
                  <a:srgbClr val="000000"/>
                </a:solidFill>
                <a:latin typeface="Garamond"/>
                <a:ea typeface="Garamond"/>
                <a:cs typeface="Garamond"/>
              </a:rPr>
              <a:t>First securitization: </a:t>
            </a:r>
            <a:r>
              <a:rPr sz="1700" b="1" u="none">
                <a:solidFill>
                  <a:srgbClr val="000000"/>
                </a:solidFill>
                <a:latin typeface="Garamond"/>
                <a:ea typeface="Garamond"/>
                <a:cs typeface="Garamond"/>
              </a:rPr>
              <a:t>$612M</a:t>
            </a:r>
            <a:r>
              <a:rPr sz="1700" b="0" u="none">
                <a:solidFill>
                  <a:srgbClr val="000000"/>
                </a:solidFill>
                <a:latin typeface="Garamond"/>
                <a:ea typeface="Garamond"/>
                <a:cs typeface="Garamond"/>
              </a:rPr>
              <a:t> on 48 aircraft (May 2026)</a:t>
            </a:r>
          </a:p>
        </p:txBody>
      </p:sp>
      <p:sp>
        <p:nvSpPr>
          <p:cNvPr id="5" name="Header: The Catch"/>
          <p:cNvSpPr/>
          <p:nvPr/>
        </p:nvSpPr>
        <p:spPr>
          <a:xfrm>
            <a:off x="270662" y="3544570"/>
            <a:ext cx="5949783"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The Catch</a:t>
            </a:r>
          </a:p>
        </p:txBody>
      </p:sp>
      <p:sp>
        <p:nvSpPr>
          <p:cNvPr id="6" name="Bullets"/>
          <p:cNvSpPr txBox="1"/>
          <p:nvPr/>
        </p:nvSpPr>
        <p:spPr>
          <a:xfrm>
            <a:off x="270662" y="3983482"/>
            <a:ext cx="5949783" cy="973073"/>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2026 Leasing EBITDA guide cut from </a:t>
            </a:r>
            <a:r>
              <a:rPr sz="1700" b="1" u="none">
                <a:solidFill>
                  <a:srgbClr val="000000"/>
                </a:solidFill>
                <a:latin typeface="Garamond"/>
                <a:ea typeface="Garamond"/>
                <a:cs typeface="Garamond"/>
              </a:rPr>
              <a:t>$575M to $475M</a:t>
            </a:r>
          </a:p>
          <a:p>
            <a:pPr marL="457200" indent="-336499">
              <a:buClr>
                <a:srgbClr val="000000"/>
              </a:buClr>
              <a:buSzPts val="1700"/>
              <a:buFont typeface="Garamond"/>
              <a:buChar char="●"/>
            </a:pPr>
            <a:r>
              <a:rPr sz="1700" b="0" u="none">
                <a:solidFill>
                  <a:srgbClr val="000000"/>
                </a:solidFill>
                <a:latin typeface="Garamond"/>
                <a:ea typeface="Garamond"/>
                <a:cs typeface="Garamond"/>
              </a:rPr>
              <a:t>Maintenance sold to SCI = </a:t>
            </a:r>
            <a:r>
              <a:rPr sz="1700" b="1" u="none">
                <a:solidFill>
                  <a:srgbClr val="000000"/>
                </a:solidFill>
                <a:latin typeface="Garamond"/>
                <a:ea typeface="Garamond"/>
                <a:cs typeface="Garamond"/>
              </a:rPr>
              <a:t>21%</a:t>
            </a:r>
            <a:r>
              <a:rPr sz="1700" b="0" u="none">
                <a:solidFill>
                  <a:srgbClr val="000000"/>
                </a:solidFill>
                <a:latin typeface="Garamond"/>
                <a:ea typeface="Garamond"/>
                <a:cs typeface="Garamond"/>
              </a:rPr>
              <a:t> of AP revenue, priced by FTAI as manager</a:t>
            </a:r>
          </a:p>
        </p:txBody>
      </p:sp>
      <p:sp>
        <p:nvSpPr>
          <p:cNvPr id="7" name="Header: Q2'26 Leasing EBITDA Mix ($88.2M)"/>
          <p:cNvSpPr/>
          <p:nvPr/>
        </p:nvSpPr>
        <p:spPr>
          <a:xfrm>
            <a:off x="6494765" y="914400"/>
            <a:ext cx="5408893"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Q2'26 Leasing EBITDA Mix ($88.2M)</a:t>
            </a:r>
          </a:p>
        </p:txBody>
      </p:sp>
      <p:graphicFrame>
        <p:nvGraphicFramePr>
          <p:cNvPr id="8" name="Chart 7" descr="Doughnut chart. Q2'26 Leasing EBITDA ($M): Balance-sheet leasing + gains 48; SCI fees + co-invest 35; Insurance recoveries 5."/>
          <p:cNvGraphicFramePr>
            <a:graphicFrameLocks noGrp="1"/>
          </p:cNvGraphicFramePr>
          <p:nvPr/>
        </p:nvGraphicFramePr>
        <p:xfrm>
          <a:off x="6494765" y="1353312"/>
          <a:ext cx="5408893" cy="3944721"/>
        </p:xfrm>
        <a:graphic>
          <a:graphicData uri="http://schemas.openxmlformats.org/drawingml/2006/chart">
            <c:chart xmlns:c="http://schemas.openxmlformats.org/drawingml/2006/chart" r:id="rId2"/>
          </a:graphicData>
        </a:graphic>
      </p:graphicFrame>
      <p:sp>
        <p:nvSpPr>
          <p:cNvPr id="9" name="TextBox 8"/>
          <p:cNvSpPr txBox="1"/>
          <p:nvPr/>
        </p:nvSpPr>
        <p:spPr>
          <a:xfrm>
            <a:off x="6494765" y="5298033"/>
            <a:ext cx="5408893"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Q2'26 earnings call (approximate)</a:t>
            </a:r>
          </a:p>
        </p:txBody>
      </p:sp>
      <p:sp>
        <p:nvSpPr>
          <p:cNvPr id="10" name="Stat Callout"/>
          <p:cNvSpPr/>
          <p:nvPr/>
        </p:nvSpPr>
        <p:spPr>
          <a:xfrm>
            <a:off x="6494765" y="5691225"/>
            <a:ext cx="2590146"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~$353M run-rate</a:t>
            </a:r>
            <a:r>
              <a:rPr sz="1300" b="0" u="none">
                <a:solidFill>
                  <a:srgbClr val="FFFFFF"/>
                </a:solidFill>
                <a:latin typeface="Garamond"/>
                <a:ea typeface="Garamond"/>
                <a:cs typeface="Garamond"/>
              </a:rPr>
              <a:t> vs. a $450M 2027 target (S8)</a:t>
            </a:r>
          </a:p>
        </p:txBody>
      </p:sp>
      <p:sp>
        <p:nvSpPr>
          <p:cNvPr id="11" name="Stat Callout"/>
          <p:cNvSpPr/>
          <p:nvPr/>
        </p:nvSpPr>
        <p:spPr>
          <a:xfrm>
            <a:off x="9313512" y="5691225"/>
            <a:ext cx="2590146"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Bull (L8):</a:t>
            </a:r>
            <a:r>
              <a:rPr sz="1300" b="0" u="none">
                <a:solidFill>
                  <a:srgbClr val="FFFFFF"/>
                </a:solidFill>
                <a:latin typeface="Garamond"/>
                <a:ea typeface="Garamond"/>
                <a:cs typeface="Garamond"/>
              </a:rPr>
              <a:t> a captive ~600-engine pool</a:t>
            </a:r>
          </a:p>
        </p:txBody>
      </p:sp>
      <p:sp>
        <p:nvSpPr>
          <p:cNvPr id="12"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3"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4"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5" name="Tracker: Growth Legs (active)"/>
          <p:cNvSpPr/>
          <p:nvPr/>
        </p:nvSpPr>
        <p:spPr>
          <a:xfrm>
            <a:off x="5702198"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6"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7"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8"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	Valuation</a:t>
            </a:r>
          </a:p>
        </p:txBody>
      </p:sp>
      <p:sp>
        <p:nvSpPr>
          <p:cNvPr id="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Price Implies: Reverse DCF</a:t>
            </a:r>
          </a:p>
        </p:txBody>
      </p:sp>
      <p:sp>
        <p:nvSpPr>
          <p:cNvPr id="3" name="Header: Perpetual Growth After 2027 Implied by Each Valuation (%)"/>
          <p:cNvSpPr/>
          <p:nvPr/>
        </p:nvSpPr>
        <p:spPr>
          <a:xfrm>
            <a:off x="270662"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Perpetual Growth After 2027 Implied by Each Valuation (%)</a:t>
            </a:r>
          </a:p>
        </p:txBody>
      </p:sp>
      <p:graphicFrame>
        <p:nvGraphicFramePr>
          <p:cNvPr id="4" name="Chart 3" descr="Stacked column chart. Implied by $167 price: WACC 8.5% 0.4; WACC 9% 0.9; WACC 10% (base) 1.9; WACC 11% 2.9. Implied by $316 mean target (10% WACC): Street target 5.4."/>
          <p:cNvGraphicFramePr>
            <a:graphicFrameLocks noGrp="1"/>
          </p:cNvGraphicFramePr>
          <p:nvPr/>
        </p:nvGraphicFramePr>
        <p:xfrm>
          <a:off x="270662" y="1353312"/>
          <a:ext cx="5679338" cy="3944721"/>
        </p:xfrm>
        <a:graphic>
          <a:graphicData uri="http://schemas.openxmlformats.org/drawingml/2006/chart">
            <c:chart xmlns:c="http://schemas.openxmlformats.org/drawingml/2006/chart" r:id="rId2"/>
          </a:graphicData>
        </a:graphic>
      </p:graphicFrame>
      <p:sp>
        <p:nvSpPr>
          <p:cNvPr id="5" name="TextBox 4"/>
          <p:cNvSpPr txBox="1"/>
          <p:nvPr/>
        </p:nvSpPr>
        <p:spPr>
          <a:xfrm>
            <a:off x="270662" y="5298033"/>
            <a:ext cx="5679338"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Reverse DCF with 2027 total EBITDA at plan ($2.15B)</a:t>
            </a:r>
          </a:p>
        </p:txBody>
      </p:sp>
      <p:sp>
        <p:nvSpPr>
          <p:cNvPr id="6" name="Stat Callout"/>
          <p:cNvSpPr/>
          <p:nvPr/>
        </p:nvSpPr>
        <p:spPr>
          <a:xfrm>
            <a:off x="270662" y="5691225"/>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Price =</a:t>
            </a:r>
            <a:r>
              <a:rPr sz="1300" b="0" u="none">
                <a:solidFill>
                  <a:srgbClr val="FFFFFF"/>
                </a:solidFill>
                <a:latin typeface="Garamond"/>
                <a:ea typeface="Garamond"/>
                <a:cs typeface="Garamond"/>
              </a:rPr>
              <a:t> 2027 plan on time, then +1.9%/yr forever</a:t>
            </a:r>
          </a:p>
        </p:txBody>
      </p:sp>
      <p:sp>
        <p:nvSpPr>
          <p:cNvPr id="7" name="Stat Callout"/>
          <p:cNvSpPr/>
          <p:nvPr/>
        </p:nvSpPr>
        <p:spPr>
          <a:xfrm>
            <a:off x="3224631" y="5691225"/>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If earnings fade 2%/yr,</a:t>
            </a:r>
            <a:r>
              <a:rPr sz="1300" b="0" u="none">
                <a:solidFill>
                  <a:srgbClr val="FFFFFF"/>
                </a:solidFill>
                <a:latin typeface="Garamond"/>
                <a:ea typeface="Garamond"/>
                <a:cs typeface="Garamond"/>
              </a:rPr>
              <a:t> price needs $3.2B 2027 EBITDA</a:t>
            </a:r>
          </a:p>
        </p:txBody>
      </p:sp>
      <p:sp>
        <p:nvSpPr>
          <p:cNvPr id="8" name="Header: Multiples at $167.03"/>
          <p:cNvSpPr/>
          <p:nvPr/>
        </p:nvSpPr>
        <p:spPr>
          <a:xfrm>
            <a:off x="6224320"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Multiples at $167.03</a:t>
            </a:r>
          </a:p>
        </p:txBody>
      </p:sp>
      <p:graphicFrame>
        <p:nvGraphicFramePr>
          <p:cNvPr id="9" name="Table 8"/>
          <p:cNvGraphicFramePr>
            <a:graphicFrameLocks noGrp="1"/>
          </p:cNvGraphicFramePr>
          <p:nvPr/>
        </p:nvGraphicFramePr>
        <p:xfrm>
          <a:off x="6224320" y="1353312"/>
          <a:ext cx="5679337" cy="3016250"/>
        </p:xfrm>
        <a:graphic>
          <a:graphicData uri="http://schemas.openxmlformats.org/drawingml/2006/table">
            <a:tbl>
              <a:tblPr firstRow="0" bandRow="0">
                <a:tableStyleId>{2D5ABB26-0587-4C30-8999-92F81FD0307C}</a:tableStyleId>
              </a:tblPr>
              <a:tblGrid>
                <a:gridCol w="4022864"/>
                <a:gridCol w="1656473"/>
              </a:tblGrid>
              <a:tr h="301625">
                <a:tc>
                  <a:txBody>
                    <a:bodyPr/>
                    <a:lstStyle/>
                    <a:p>
                      <a:pPr algn="l"/>
                      <a:r>
                        <a:rPr sz="1250" b="1" u="none">
                          <a:solidFill>
                            <a:srgbClr val="FFFFFF"/>
                          </a:solidFill>
                          <a:latin typeface="Garamond"/>
                          <a:ea typeface="Garamond"/>
                          <a:cs typeface="Garamond"/>
                        </a:rPr>
                        <a:t>Metric</a:t>
                      </a:r>
                    </a:p>
                  </a:txBody>
                  <a:tcPr marL="54864" marR="54864" marT="18288" marB="18288" anchor="ctr">
                    <a:lnL w="0">
                      <a:noFill/>
                    </a:lnL>
                    <a:lnR w="0">
                      <a:noFill/>
                    </a:lnR>
                    <a:lnT w="0">
                      <a:noFill/>
                    </a:lnT>
                    <a:lnB w="0">
                      <a:noFill/>
                    </a:lnB>
                    <a:solidFill>
                      <a:srgbClr val="002060"/>
                    </a:solidFill>
                  </a:tcPr>
                </a:tc>
                <a:tc>
                  <a:txBody>
                    <a:bodyPr/>
                    <a:lstStyle/>
                    <a:p>
                      <a:pPr algn="r"/>
                      <a:r>
                        <a:rPr sz="1250" b="1" u="none">
                          <a:solidFill>
                            <a:srgbClr val="FFFFFF"/>
                          </a:solidFill>
                          <a:latin typeface="Garamond"/>
                          <a:ea typeface="Garamond"/>
                          <a:cs typeface="Garamond"/>
                        </a:rPr>
                        <a:t>Multiple</a:t>
                      </a:r>
                    </a:p>
                  </a:txBody>
                  <a:tcPr marL="54864" marR="54864" marT="18288" marB="18288" anchor="ctr">
                    <a:lnL w="0">
                      <a:noFill/>
                    </a:lnL>
                    <a:lnR w="0">
                      <a:noFill/>
                    </a:lnR>
                    <a:lnT w="0">
                      <a:noFill/>
                    </a:lnT>
                    <a:lnB w="0">
                      <a:noFill/>
                    </a:lnB>
                    <a:solidFill>
                      <a:srgbClr val="002060"/>
                    </a:solidFill>
                  </a:tcPr>
                </a:tc>
              </a:tr>
              <a:tr h="301625">
                <a:tc>
                  <a:txBody>
                    <a:bodyPr/>
                    <a:lstStyle/>
                    <a:p>
                      <a:pPr algn="l"/>
                      <a:r>
                        <a:rPr sz="1250" b="0" u="none">
                          <a:solidFill>
                            <a:srgbClr val="000000"/>
                          </a:solidFill>
                          <a:latin typeface="Garamond"/>
                          <a:ea typeface="Garamond"/>
                          <a:cs typeface="Garamond"/>
                        </a:rPr>
                        <a:t>EV / TTM Adj. EBITDA</a:t>
                      </a:r>
                    </a:p>
                  </a:txBody>
                  <a:tcPr marL="54864" marR="54864" marT="18288" marB="18288" anchor="ctr">
                    <a:lnL w="0">
                      <a:noFill/>
                    </a:lnL>
                    <a:lnR w="0">
                      <a:noFill/>
                    </a:lnR>
                    <a:lnT w="0">
                      <a:noFill/>
                    </a:lnT>
                    <a:lnB w="6350">
                      <a:solidFill>
                        <a:srgbClr val="D9D9D9"/>
                      </a:solidFill>
                    </a:lnB>
                    <a:noFill/>
                  </a:tcPr>
                </a:tc>
                <a:tc>
                  <a:txBody>
                    <a:bodyPr/>
                    <a:lstStyle/>
                    <a:p>
                      <a:pPr algn="r"/>
                      <a:r>
                        <a:rPr sz="1250" b="0" u="none">
                          <a:solidFill>
                            <a:srgbClr val="000000"/>
                          </a:solidFill>
                          <a:latin typeface="Garamond"/>
                          <a:ea typeface="Garamond"/>
                          <a:cs typeface="Garamond"/>
                        </a:rPr>
                        <a:t>17.3x</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a:solidFill>
                            <a:srgbClr val="000000"/>
                          </a:solidFill>
                          <a:latin typeface="Garamond"/>
                          <a:ea typeface="Garamond"/>
                          <a:cs typeface="Garamond"/>
                        </a:rPr>
                        <a:t>EV / 2026E EBITDA</a:t>
                      </a:r>
                    </a:p>
                  </a:txBody>
                  <a:tcPr marL="54864" marR="54864" marT="18288" marB="18288" anchor="ctr">
                    <a:lnL w="0">
                      <a:noFill/>
                    </a:lnL>
                    <a:lnR w="0">
                      <a:noFill/>
                    </a:lnR>
                    <a:lnT w="0">
                      <a:noFill/>
                    </a:lnT>
                    <a:lnB w="6350">
                      <a:solidFill>
                        <a:srgbClr val="D9D9D9"/>
                      </a:solidFill>
                    </a:lnB>
                    <a:noFill/>
                  </a:tcPr>
                </a:tc>
                <a:tc>
                  <a:txBody>
                    <a:bodyPr/>
                    <a:lstStyle/>
                    <a:p>
                      <a:pPr algn="r"/>
                      <a:r>
                        <a:rPr sz="1250" b="0" u="none">
                          <a:solidFill>
                            <a:srgbClr val="000000"/>
                          </a:solidFill>
                          <a:latin typeface="Garamond"/>
                          <a:ea typeface="Garamond"/>
                          <a:cs typeface="Garamond"/>
                        </a:rPr>
                        <a:t>15.5x</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1" u="none">
                          <a:solidFill>
                            <a:srgbClr val="000000"/>
                          </a:solidFill>
                          <a:latin typeface="Garamond"/>
                          <a:ea typeface="Garamond"/>
                          <a:cs typeface="Garamond"/>
                        </a:rPr>
                        <a:t>EV / 2027 plan EBITDA</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250" b="1" u="none">
                          <a:solidFill>
                            <a:srgbClr val="000000"/>
                          </a:solidFill>
                          <a:latin typeface="Garamond"/>
                          <a:ea typeface="Garamond"/>
                          <a:cs typeface="Garamond"/>
                        </a:rPr>
                        <a:t>9.6x</a:t>
                      </a:r>
                    </a:p>
                  </a:txBody>
                  <a:tcPr marL="54864" marR="54864" marT="18288" marB="18288" anchor="ctr">
                    <a:lnL w="0">
                      <a:noFill/>
                    </a:lnL>
                    <a:lnR w="0">
                      <a:noFill/>
                    </a:lnR>
                    <a:lnT w="0">
                      <a:noFill/>
                    </a:lnT>
                    <a:lnB w="6350">
                      <a:solidFill>
                        <a:srgbClr val="D9D9D9"/>
                      </a:solidFill>
                    </a:lnB>
                    <a:solidFill>
                      <a:srgbClr val="FFF2CC"/>
                    </a:solidFill>
                  </a:tcPr>
                </a:tc>
              </a:tr>
              <a:tr h="301625">
                <a:tc>
                  <a:txBody>
                    <a:bodyPr/>
                    <a:lstStyle/>
                    <a:p>
                      <a:pPr algn="l"/>
                      <a:r>
                        <a:rPr sz="1250" b="0" u="none">
                          <a:solidFill>
                            <a:srgbClr val="000000"/>
                          </a:solidFill>
                          <a:latin typeface="Garamond"/>
                          <a:ea typeface="Garamond"/>
                          <a:cs typeface="Garamond"/>
                        </a:rPr>
                        <a:t>P/E on 2027 plan EPS (~$13.50)</a:t>
                      </a:r>
                    </a:p>
                  </a:txBody>
                  <a:tcPr marL="54864" marR="54864" marT="18288" marB="18288" anchor="ctr">
                    <a:lnL w="0">
                      <a:noFill/>
                    </a:lnL>
                    <a:lnR w="0">
                      <a:noFill/>
                    </a:lnR>
                    <a:lnT w="0">
                      <a:noFill/>
                    </a:lnT>
                    <a:lnB w="6350">
                      <a:solidFill>
                        <a:srgbClr val="D9D9D9"/>
                      </a:solidFill>
                    </a:lnB>
                    <a:noFill/>
                  </a:tcPr>
                </a:tc>
                <a:tc>
                  <a:txBody>
                    <a:bodyPr/>
                    <a:lstStyle/>
                    <a:p>
                      <a:pPr algn="r"/>
                      <a:r>
                        <a:rPr sz="1250" b="0" u="none">
                          <a:solidFill>
                            <a:srgbClr val="000000"/>
                          </a:solidFill>
                          <a:latin typeface="Garamond"/>
                          <a:ea typeface="Garamond"/>
                          <a:cs typeface="Garamond"/>
                        </a:rPr>
                        <a:t>12.3x</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a:solidFill>
                            <a:srgbClr val="000000"/>
                          </a:solidFill>
                          <a:latin typeface="Garamond"/>
                          <a:ea typeface="Garamond"/>
                          <a:cs typeface="Garamond"/>
                        </a:rPr>
                        <a:t>Street mean target / 2027 EBITDA</a:t>
                      </a:r>
                    </a:p>
                  </a:txBody>
                  <a:tcPr marL="54864" marR="54864" marT="18288" marB="18288" anchor="ctr">
                    <a:lnL w="0">
                      <a:noFill/>
                    </a:lnL>
                    <a:lnR w="0">
                      <a:noFill/>
                    </a:lnR>
                    <a:lnT w="0">
                      <a:noFill/>
                    </a:lnT>
                    <a:lnB w="6350">
                      <a:solidFill>
                        <a:srgbClr val="D9D9D9"/>
                      </a:solidFill>
                    </a:lnB>
                    <a:noFill/>
                  </a:tcPr>
                </a:tc>
                <a:tc>
                  <a:txBody>
                    <a:bodyPr/>
                    <a:lstStyle/>
                    <a:p>
                      <a:pPr algn="r"/>
                      <a:r>
                        <a:rPr sz="1250" b="0" u="none">
                          <a:solidFill>
                            <a:srgbClr val="000000"/>
                          </a:solidFill>
                          <a:latin typeface="Garamond"/>
                          <a:ea typeface="Garamond"/>
                          <a:cs typeface="Garamond"/>
                        </a:rPr>
                        <a:t>16.8x</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i="1">
                          <a:solidFill>
                            <a:srgbClr val="000000"/>
                          </a:solidFill>
                          <a:latin typeface="Garamond"/>
                          <a:ea typeface="Garamond"/>
                          <a:cs typeface="Garamond"/>
                        </a:rPr>
                        <a:t>Peers</a:t>
                      </a:r>
                    </a:p>
                  </a:txBody>
                  <a:tcPr marL="54864" marR="54864" marT="18288" marB="18288" anchor="ctr">
                    <a:lnL w="0">
                      <a:noFill/>
                    </a:lnL>
                    <a:lnR w="0">
                      <a:noFill/>
                    </a:lnR>
                    <a:lnT w="0">
                      <a:noFill/>
                    </a:lnT>
                    <a:lnB w="6350">
                      <a:solidFill>
                        <a:srgbClr val="D9D9D9"/>
                      </a:solidFill>
                    </a:lnB>
                    <a:noFill/>
                  </a:tcPr>
                </a:tc>
                <a:tc>
                  <a:txBody>
                    <a:bodyPr/>
                    <a:lstStyle/>
                    <a:p>
                      <a:pPr algn="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a:solidFill>
                            <a:srgbClr val="000000"/>
                          </a:solidFill>
                          <a:latin typeface="Garamond"/>
                          <a:ea typeface="Garamond"/>
                          <a:cs typeface="Garamond"/>
                        </a:rPr>
                        <a:t>    StandardAero (EV/EBITDA)</a:t>
                      </a:r>
                    </a:p>
                  </a:txBody>
                  <a:tcPr marL="54864" marR="54864" marT="18288" marB="18288" anchor="ctr">
                    <a:lnL w="0">
                      <a:noFill/>
                    </a:lnL>
                    <a:lnR w="0">
                      <a:noFill/>
                    </a:lnR>
                    <a:lnT w="0">
                      <a:noFill/>
                    </a:lnT>
                    <a:lnB w="6350">
                      <a:solidFill>
                        <a:srgbClr val="D9D9D9"/>
                      </a:solidFill>
                    </a:lnB>
                    <a:noFill/>
                  </a:tcPr>
                </a:tc>
                <a:tc>
                  <a:txBody>
                    <a:bodyPr/>
                    <a:lstStyle/>
                    <a:p>
                      <a:pPr algn="r"/>
                      <a:r>
                        <a:rPr sz="1250" b="0" u="none">
                          <a:solidFill>
                            <a:srgbClr val="000000"/>
                          </a:solidFill>
                          <a:latin typeface="Garamond"/>
                          <a:ea typeface="Garamond"/>
                          <a:cs typeface="Garamond"/>
                        </a:rPr>
                        <a:t>~14.5x</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a:solidFill>
                            <a:srgbClr val="000000"/>
                          </a:solidFill>
                          <a:latin typeface="Garamond"/>
                          <a:ea typeface="Garamond"/>
                          <a:cs typeface="Garamond"/>
                        </a:rPr>
                        <a:t>    TransDigm (EV/EBITDA)</a:t>
                      </a:r>
                    </a:p>
                  </a:txBody>
                  <a:tcPr marL="54864" marR="54864" marT="18288" marB="18288" anchor="ctr">
                    <a:lnL w="0">
                      <a:noFill/>
                    </a:lnL>
                    <a:lnR w="0">
                      <a:noFill/>
                    </a:lnR>
                    <a:lnT w="0">
                      <a:noFill/>
                    </a:lnT>
                    <a:lnB w="6350">
                      <a:solidFill>
                        <a:srgbClr val="D9D9D9"/>
                      </a:solidFill>
                    </a:lnB>
                    <a:noFill/>
                  </a:tcPr>
                </a:tc>
                <a:tc>
                  <a:txBody>
                    <a:bodyPr/>
                    <a:lstStyle/>
                    <a:p>
                      <a:pPr algn="r"/>
                      <a:r>
                        <a:rPr sz="1250" b="0" u="none">
                          <a:solidFill>
                            <a:srgbClr val="000000"/>
                          </a:solidFill>
                          <a:latin typeface="Garamond"/>
                          <a:ea typeface="Garamond"/>
                          <a:cs typeface="Garamond"/>
                        </a:rPr>
                        <a:t>~18-21x</a:t>
                      </a:r>
                    </a:p>
                  </a:txBody>
                  <a:tcPr marL="54864" marR="54864" marT="18288" marB="18288" anchor="ctr">
                    <a:lnL w="0">
                      <a:noFill/>
                    </a:lnL>
                    <a:lnR w="0">
                      <a:noFill/>
                    </a:lnR>
                    <a:lnT w="0">
                      <a:noFill/>
                    </a:lnT>
                    <a:lnB w="6350">
                      <a:solidFill>
                        <a:srgbClr val="D9D9D9"/>
                      </a:solidFill>
                    </a:lnB>
                    <a:noFill/>
                  </a:tcPr>
                </a:tc>
              </a:tr>
              <a:tr h="301625">
                <a:tc>
                  <a:txBody>
                    <a:bodyPr/>
                    <a:lstStyle/>
                    <a:p>
                      <a:pPr algn="l"/>
                      <a:r>
                        <a:rPr sz="1250" b="0" u="none">
                          <a:solidFill>
                            <a:srgbClr val="000000"/>
                          </a:solidFill>
                          <a:latin typeface="Garamond"/>
                          <a:ea typeface="Garamond"/>
                          <a:cs typeface="Garamond"/>
                        </a:rPr>
                        <a:t>    HEICO (EV/EBITDA)</a:t>
                      </a:r>
                    </a:p>
                  </a:txBody>
                  <a:tcPr marL="54864" marR="54864" marT="18288" marB="18288" anchor="ctr">
                    <a:lnL w="0">
                      <a:noFill/>
                    </a:lnL>
                    <a:lnR w="0">
                      <a:noFill/>
                    </a:lnR>
                    <a:lnT w="0">
                      <a:noFill/>
                    </a:lnT>
                    <a:lnB w="6350">
                      <a:solidFill>
                        <a:srgbClr val="D9D9D9"/>
                      </a:solidFill>
                    </a:lnB>
                    <a:noFill/>
                  </a:tcPr>
                </a:tc>
                <a:tc>
                  <a:txBody>
                    <a:bodyPr/>
                    <a:lstStyle/>
                    <a:p>
                      <a:pPr algn="r"/>
                      <a:r>
                        <a:rPr sz="1250" b="0" u="none">
                          <a:solidFill>
                            <a:srgbClr val="000000"/>
                          </a:solidFill>
                          <a:latin typeface="Garamond"/>
                          <a:ea typeface="Garamond"/>
                          <a:cs typeface="Garamond"/>
                        </a:rPr>
                        <a:t>~34-40x</a:t>
                      </a:r>
                    </a:p>
                  </a:txBody>
                  <a:tcPr marL="54864" marR="54864" marT="18288" marB="18288" anchor="ctr">
                    <a:lnL w="0">
                      <a:noFill/>
                    </a:lnL>
                    <a:lnR w="0">
                      <a:noFill/>
                    </a:lnR>
                    <a:lnT w="0">
                      <a:noFill/>
                    </a:lnT>
                    <a:lnB w="6350">
                      <a:solidFill>
                        <a:srgbClr val="D9D9D9"/>
                      </a:solidFill>
                    </a:lnB>
                    <a:noFill/>
                  </a:tcPr>
                </a:tc>
              </a:tr>
            </a:tbl>
          </a:graphicData>
        </a:graphic>
      </p:graphicFrame>
      <p:sp>
        <p:nvSpPr>
          <p:cNvPr id="10" name="Bullets"/>
          <p:cNvSpPr txBox="1"/>
          <p:nvPr/>
        </p:nvSpPr>
        <p:spPr>
          <a:xfrm>
            <a:off x="6224320" y="4581144"/>
            <a:ext cx="5679338" cy="70967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Peers own their IP or span many engines; FTAI rents CFM's IP on </a:t>
            </a:r>
            <a:r>
              <a:rPr sz="1700" b="1" u="none">
                <a:solidFill>
                  <a:srgbClr val="000000"/>
                </a:solidFill>
                <a:latin typeface="Garamond"/>
                <a:ea typeface="Garamond"/>
                <a:cs typeface="Garamond"/>
              </a:rPr>
              <a:t>one engine family</a:t>
            </a:r>
          </a:p>
        </p:txBody>
      </p:sp>
      <p:sp>
        <p:nvSpPr>
          <p:cNvPr id="11"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2"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3"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4"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5" name="Tracker: Valuation (active)"/>
          <p:cNvSpPr/>
          <p:nvPr/>
        </p:nvSpPr>
        <p:spPr>
          <a:xfrm>
            <a:off x="7221321"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6"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7"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Market-Implied Assumptions vs. Our Base</a:t>
            </a:r>
          </a:p>
        </p:txBody>
      </p:sp>
      <p:sp>
        <p:nvSpPr>
          <p:cNvPr id="3" name="Header: The Load-Bearing Variables Are Durability and Power Delivery"/>
          <p:cNvSpPr/>
          <p:nvPr/>
        </p:nvSpPr>
        <p:spPr>
          <a:xfrm>
            <a:off x="270662" y="914400"/>
            <a:ext cx="11632996"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The Load-Bearing Variables Are Durability and Power Delivery</a:t>
            </a:r>
          </a:p>
        </p:txBody>
      </p:sp>
      <p:graphicFrame>
        <p:nvGraphicFramePr>
          <p:cNvPr id="4" name="Table 3"/>
          <p:cNvGraphicFramePr>
            <a:graphicFrameLocks noGrp="1"/>
          </p:cNvGraphicFramePr>
          <p:nvPr/>
        </p:nvGraphicFramePr>
        <p:xfrm>
          <a:off x="270662" y="1444752"/>
          <a:ext cx="11632993" cy="2195830"/>
        </p:xfrm>
        <a:graphic>
          <a:graphicData uri="http://schemas.openxmlformats.org/drawingml/2006/table">
            <a:tbl>
              <a:tblPr firstRow="0" bandRow="0">
                <a:tableStyleId>{2D5ABB26-0587-4C30-8999-92F81FD0307C}</a:tableStyleId>
              </a:tblPr>
              <a:tblGrid>
                <a:gridCol w="2607395"/>
                <a:gridCol w="1704835"/>
                <a:gridCol w="1905404"/>
                <a:gridCol w="1504266"/>
                <a:gridCol w="1604551"/>
                <a:gridCol w="2306542"/>
              </a:tblGrid>
              <a:tr h="313690">
                <a:tc>
                  <a:txBody>
                    <a:bodyPr/>
                    <a:lstStyle/>
                    <a:p>
                      <a:pPr algn="l"/>
                      <a:r>
                        <a:rPr sz="1300" b="1" u="none">
                          <a:solidFill>
                            <a:srgbClr val="FFFFFF"/>
                          </a:solidFill>
                          <a:latin typeface="Garamond"/>
                          <a:ea typeface="Garamond"/>
                          <a:cs typeface="Garamond"/>
                        </a:rPr>
                        <a:t>Variable</a:t>
                      </a:r>
                    </a:p>
                  </a:txBody>
                  <a:tcPr marL="54864" marR="54864" marT="18288" marB="18288" anchor="ctr">
                    <a:lnL w="0">
                      <a:noFill/>
                    </a:lnL>
                    <a:lnR w="0">
                      <a:noFill/>
                    </a:lnR>
                    <a:lnT w="0">
                      <a:noFill/>
                    </a:lnT>
                    <a:lnB w="0">
                      <a:noFill/>
                    </a:lnB>
                    <a:solidFill>
                      <a:srgbClr val="002060"/>
                    </a:solidFill>
                  </a:tcPr>
                </a:tc>
                <a:tc>
                  <a:txBody>
                    <a:bodyPr/>
                    <a:lstStyle/>
                    <a:p>
                      <a:pPr algn="r"/>
                      <a:r>
                        <a:rPr sz="1300" b="1" u="none">
                          <a:solidFill>
                            <a:srgbClr val="FFFFFF"/>
                          </a:solidFill>
                          <a:latin typeface="Garamond"/>
                          <a:ea typeface="Garamond"/>
                          <a:cs typeface="Garamond"/>
                        </a:rPr>
                        <a:t>Implied by price</a:t>
                      </a:r>
                    </a:p>
                  </a:txBody>
                  <a:tcPr marL="54864" marR="54864" marT="18288" marB="18288" anchor="ctr">
                    <a:lnL w="0">
                      <a:noFill/>
                    </a:lnL>
                    <a:lnR w="0">
                      <a:noFill/>
                    </a:lnR>
                    <a:lnT w="0">
                      <a:noFill/>
                    </a:lnT>
                    <a:lnB w="0">
                      <a:noFill/>
                    </a:lnB>
                    <a:solidFill>
                      <a:srgbClr val="002060"/>
                    </a:solidFill>
                  </a:tcPr>
                </a:tc>
                <a:tc>
                  <a:txBody>
                    <a:bodyPr/>
                    <a:lstStyle/>
                    <a:p>
                      <a:pPr algn="r"/>
                      <a:r>
                        <a:rPr sz="1300" b="1" u="none">
                          <a:solidFill>
                            <a:srgbClr val="FFFFFF"/>
                          </a:solidFill>
                          <a:latin typeface="Garamond"/>
                          <a:ea typeface="Garamond"/>
                          <a:cs typeface="Garamond"/>
                        </a:rPr>
                        <a:t>Consensus</a:t>
                      </a:r>
                    </a:p>
                  </a:txBody>
                  <a:tcPr marL="54864" marR="54864" marT="18288" marB="18288" anchor="ctr">
                    <a:lnL w="0">
                      <a:noFill/>
                    </a:lnL>
                    <a:lnR w="0">
                      <a:noFill/>
                    </a:lnR>
                    <a:lnT w="0">
                      <a:noFill/>
                    </a:lnT>
                    <a:lnB w="0">
                      <a:noFill/>
                    </a:lnB>
                    <a:solidFill>
                      <a:srgbClr val="002060"/>
                    </a:solidFill>
                  </a:tcPr>
                </a:tc>
                <a:tc>
                  <a:txBody>
                    <a:bodyPr/>
                    <a:lstStyle/>
                    <a:p>
                      <a:pPr algn="r"/>
                      <a:r>
                        <a:rPr sz="1300" b="1" u="none">
                          <a:solidFill>
                            <a:srgbClr val="FFFFFF"/>
                          </a:solidFill>
                          <a:latin typeface="Garamond"/>
                          <a:ea typeface="Garamond"/>
                          <a:cs typeface="Garamond"/>
                        </a:rPr>
                        <a:t>Our base</a:t>
                      </a:r>
                    </a:p>
                  </a:txBody>
                  <a:tcPr marL="54864" marR="54864" marT="18288" marB="18288" anchor="ctr">
                    <a:lnL w="0">
                      <a:noFill/>
                    </a:lnL>
                    <a:lnR w="0">
                      <a:noFill/>
                    </a:lnR>
                    <a:lnT w="0">
                      <a:noFill/>
                    </a:lnT>
                    <a:lnB w="0">
                      <a:noFill/>
                    </a:lnB>
                    <a:solidFill>
                      <a:srgbClr val="002060"/>
                    </a:solidFill>
                  </a:tcPr>
                </a:tc>
                <a:tc>
                  <a:txBody>
                    <a:bodyPr/>
                    <a:lstStyle/>
                    <a:p>
                      <a:pPr algn="r"/>
                      <a:r>
                        <a:rPr sz="1300" b="1" u="none">
                          <a:solidFill>
                            <a:srgbClr val="FFFFFF"/>
                          </a:solidFill>
                          <a:latin typeface="Garamond"/>
                          <a:ea typeface="Garamond"/>
                          <a:cs typeface="Garamond"/>
                        </a:rPr>
                        <a:t>Range</a:t>
                      </a:r>
                    </a:p>
                  </a:txBody>
                  <a:tcPr marL="54864" marR="54864" marT="18288" marB="18288" anchor="ctr">
                    <a:lnL w="0">
                      <a:noFill/>
                    </a:lnL>
                    <a:lnR w="0">
                      <a:noFill/>
                    </a:lnR>
                    <a:lnT w="0">
                      <a:noFill/>
                    </a:lnT>
                    <a:lnB w="0">
                      <a:noFill/>
                    </a:lnB>
                    <a:solidFill>
                      <a:srgbClr val="002060"/>
                    </a:solidFill>
                  </a:tcPr>
                </a:tc>
                <a:tc>
                  <a:txBody>
                    <a:bodyPr/>
                    <a:lstStyle/>
                    <a:p>
                      <a:pPr algn="r"/>
                      <a:r>
                        <a:rPr sz="1300" b="1" u="none">
                          <a:solidFill>
                            <a:srgbClr val="FFFFFF"/>
                          </a:solidFill>
                          <a:latin typeface="Garamond"/>
                          <a:ea typeface="Garamond"/>
                          <a:cs typeface="Garamond"/>
                        </a:rPr>
                        <a:t>Sensitivity ($/sh)</a:t>
                      </a:r>
                    </a:p>
                  </a:txBody>
                  <a:tcPr marL="54864" marR="54864" marT="18288" marB="18288" anchor="ctr">
                    <a:lnL w="0">
                      <a:noFill/>
                    </a:lnL>
                    <a:lnR w="0">
                      <a:noFill/>
                    </a:lnR>
                    <a:lnT w="0">
                      <a:noFill/>
                    </a:lnT>
                    <a:lnB w="0">
                      <a:noFill/>
                    </a:lnB>
                    <a:solidFill>
                      <a:srgbClr val="002060"/>
                    </a:solidFill>
                  </a:tcPr>
                </a:tc>
              </a:tr>
              <a:tr h="313690">
                <a:tc>
                  <a:txBody>
                    <a:bodyPr/>
                    <a:lstStyle/>
                    <a:p>
                      <a:pPr algn="l"/>
                      <a:r>
                        <a:rPr sz="1300" b="1" u="none">
                          <a:solidFill>
                            <a:srgbClr val="000000"/>
                          </a:solidFill>
                          <a:latin typeface="Garamond"/>
                          <a:ea typeface="Garamond"/>
                          <a:cs typeface="Garamond"/>
                        </a:rPr>
                        <a:t>Post-2027 growth (perpetual)</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+1.9%</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+5.4% (Street)</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~-2%</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-4% to +3%</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+/-1pp = +/-$25</a:t>
                      </a:r>
                    </a:p>
                  </a:txBody>
                  <a:tcPr marL="54864" marR="54864" marT="18288" marB="18288" anchor="ctr">
                    <a:lnL w="0">
                      <a:noFill/>
                    </a:lnL>
                    <a:lnR w="0">
                      <a:noFill/>
                    </a:lnR>
                    <a:lnT w="0">
                      <a:noFill/>
                    </a:lnT>
                    <a:lnB w="6350">
                      <a:solidFill>
                        <a:srgbClr val="D9D9D9"/>
                      </a:solidFill>
                    </a:lnB>
                    <a:solidFill>
                      <a:srgbClr val="FFF2CC"/>
                    </a:solidFill>
                  </a:tcPr>
                </a:tc>
              </a:tr>
              <a:tr h="313690">
                <a:tc>
                  <a:txBody>
                    <a:bodyPr/>
                    <a:lstStyle/>
                    <a:p>
                      <a:pPr algn="l"/>
                      <a:r>
                        <a:rPr sz="1300" b="0" u="none">
                          <a:solidFill>
                            <a:srgbClr val="000000"/>
                          </a:solidFill>
                          <a:latin typeface="Garamond"/>
                          <a:ea typeface="Garamond"/>
                          <a:cs typeface="Garamond"/>
                        </a:rPr>
                        <a:t>2027 AP EBITDA</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Plan ($1.4B)</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$1.4B</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$1.3B</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$1.15-1.5B</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+/-$100M = +/-$9</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2027 AP EBITDA margin</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~30%</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29.8%</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27.5%</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25-31%</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1pp = $4</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1" u="none">
                          <a:solidFill>
                            <a:srgbClr val="000000"/>
                          </a:solidFill>
                          <a:latin typeface="Garamond"/>
                          <a:ea typeface="Garamond"/>
                          <a:cs typeface="Garamond"/>
                        </a:rPr>
                        <a:t>2027 Power EBITDA</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$450M+</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$450M</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$300M</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$0-750M</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300" b="1" u="none">
                          <a:solidFill>
                            <a:srgbClr val="000000"/>
                          </a:solidFill>
                          <a:latin typeface="Garamond"/>
                          <a:ea typeface="Garamond"/>
                          <a:cs typeface="Garamond"/>
                        </a:rPr>
                        <a:t>+/-$150M = +/-$14</a:t>
                      </a:r>
                    </a:p>
                  </a:txBody>
                  <a:tcPr marL="54864" marR="54864" marT="18288" marB="18288" anchor="ctr">
                    <a:lnL w="0">
                      <a:noFill/>
                    </a:lnL>
                    <a:lnR w="0">
                      <a:noFill/>
                    </a:lnR>
                    <a:lnT w="0">
                      <a:noFill/>
                    </a:lnT>
                    <a:lnB w="6350">
                      <a:solidFill>
                        <a:srgbClr val="D9D9D9"/>
                      </a:solidFill>
                    </a:lnB>
                    <a:solidFill>
                      <a:srgbClr val="FFF2CC"/>
                    </a:solidFill>
                  </a:tcPr>
                </a:tc>
              </a:tr>
              <a:tr h="313690">
                <a:tc>
                  <a:txBody>
                    <a:bodyPr/>
                    <a:lstStyle/>
                    <a:p>
                      <a:pPr algn="l"/>
                      <a:r>
                        <a:rPr sz="1300" b="0" u="none">
                          <a:solidFill>
                            <a:srgbClr val="000000"/>
                          </a:solidFill>
                          <a:latin typeface="Garamond"/>
                          <a:ea typeface="Garamond"/>
                          <a:cs typeface="Garamond"/>
                        </a:rPr>
                        <a:t>2027 Leasing / SCI EBITDA</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$450M</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$450M</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$450M</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$400-500M</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+/-1x = +/-$4</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WACC</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10%</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n/a</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10%</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9-11%</a:t>
                      </a:r>
                    </a:p>
                  </a:txBody>
                  <a:tcPr marL="54864" marR="54864" marT="18288" marB="18288" anchor="ctr">
                    <a:lnL w="0">
                      <a:noFill/>
                    </a:lnL>
                    <a:lnR w="0">
                      <a:noFill/>
                    </a:lnR>
                    <a:lnT w="0">
                      <a:noFill/>
                    </a:lnT>
                    <a:lnB w="6350">
                      <a:solidFill>
                        <a:srgbClr val="D9D9D9"/>
                      </a:solidFill>
                    </a:lnB>
                    <a:noFill/>
                  </a:tcPr>
                </a:tc>
                <a:tc>
                  <a:txBody>
                    <a:bodyPr/>
                    <a:lstStyle/>
                    <a:p>
                      <a:pPr algn="r"/>
                      <a:r>
                        <a:rPr sz="1300" b="0" u="none">
                          <a:solidFill>
                            <a:srgbClr val="000000"/>
                          </a:solidFill>
                          <a:latin typeface="Garamond"/>
                          <a:ea typeface="Garamond"/>
                          <a:cs typeface="Garamond"/>
                        </a:rPr>
                        <a:t>+/-1pp = -/+$21-28</a:t>
                      </a:r>
                    </a:p>
                  </a:txBody>
                  <a:tcPr marL="54864" marR="54864" marT="18288" marB="18288" anchor="ctr">
                    <a:lnL w="0">
                      <a:noFill/>
                    </a:lnL>
                    <a:lnR w="0">
                      <a:noFill/>
                    </a:lnR>
                    <a:lnT w="0">
                      <a:noFill/>
                    </a:lnT>
                    <a:lnB w="6350">
                      <a:solidFill>
                        <a:srgbClr val="D9D9D9"/>
                      </a:solidFill>
                    </a:lnB>
                    <a:noFill/>
                  </a:tcPr>
                </a:tc>
              </a:tr>
            </a:tbl>
          </a:graphicData>
        </a:graphic>
      </p:graphicFrame>
      <p:sp>
        <p:nvSpPr>
          <p:cNvPr id="5" name="Header: Value at Stake per One-Step Change ($/share)"/>
          <p:cNvSpPr/>
          <p:nvPr/>
        </p:nvSpPr>
        <p:spPr>
          <a:xfrm>
            <a:off x="270662" y="3849624"/>
            <a:ext cx="6525197"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Value at Stake per One-Step Change ($/share)</a:t>
            </a:r>
          </a:p>
        </p:txBody>
      </p:sp>
      <p:graphicFrame>
        <p:nvGraphicFramePr>
          <p:cNvPr id="6" name="Chart 5" descr="Bar chart. Value per share: Leasing +/-1x 4; AP margin +/-1pp 4; AP EBITDA +/-$100M 9; Power +/-$150M 14; WACC +/-1pp 25; Post-2027 growth +/-1pp 25."/>
          <p:cNvGraphicFramePr>
            <a:graphicFrameLocks noGrp="1"/>
          </p:cNvGraphicFramePr>
          <p:nvPr/>
        </p:nvGraphicFramePr>
        <p:xfrm>
          <a:off x="270662" y="4288536"/>
          <a:ext cx="6525197" cy="2048255"/>
        </p:xfrm>
        <a:graphic>
          <a:graphicData uri="http://schemas.openxmlformats.org/drawingml/2006/chart">
            <c:chart xmlns:c="http://schemas.openxmlformats.org/drawingml/2006/chart" r:id="rId2"/>
          </a:graphicData>
        </a:graphic>
      </p:graphicFrame>
      <p:sp>
        <p:nvSpPr>
          <p:cNvPr id="7" name="Header: Base Rates"/>
          <p:cNvSpPr/>
          <p:nvPr/>
        </p:nvSpPr>
        <p:spPr>
          <a:xfrm>
            <a:off x="7070179" y="3849624"/>
            <a:ext cx="4833479"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Base Rates</a:t>
            </a:r>
          </a:p>
        </p:txBody>
      </p:sp>
      <p:sp>
        <p:nvSpPr>
          <p:cNvPr id="8" name="Stat Callout"/>
          <p:cNvSpPr/>
          <p:nvPr/>
        </p:nvSpPr>
        <p:spPr>
          <a:xfrm>
            <a:off x="7070179" y="4288536"/>
            <a:ext cx="483347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Growth:</a:t>
            </a:r>
            <a:r>
              <a:rPr sz="1300" b="0" u="none">
                <a:solidFill>
                  <a:srgbClr val="FFFFFF"/>
                </a:solidFill>
                <a:latin typeface="Garamond"/>
                <a:ea typeface="Garamond"/>
                <a:cs typeface="Garamond"/>
              </a:rPr>
              <a:t> plan needs 56%/yr AP growth; $2-5B firms average 6.9%</a:t>
            </a:r>
          </a:p>
        </p:txBody>
      </p:sp>
      <p:sp>
        <p:nvSpPr>
          <p:cNvPr id="9" name="Stat Callout"/>
          <p:cNvSpPr/>
          <p:nvPr/>
        </p:nvSpPr>
        <p:spPr>
          <a:xfrm>
            <a:off x="7070179" y="5025542"/>
            <a:ext cx="483347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Durability:</a:t>
            </a:r>
            <a:r>
              <a:rPr sz="1300" b="0" u="none">
                <a:solidFill>
                  <a:srgbClr val="FFFFFF"/>
                </a:solidFill>
                <a:latin typeface="Garamond"/>
                <a:ea typeface="Garamond"/>
                <a:cs typeface="Garamond"/>
              </a:rPr>
              <a:t> ~41% of top-quintile ROIC firms stay there ~9 years</a:t>
            </a:r>
          </a:p>
        </p:txBody>
      </p:sp>
      <p:sp>
        <p:nvSpPr>
          <p:cNvPr id="10"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1"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2"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3"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4" name="Tracker: Valuation (active)"/>
          <p:cNvSpPr/>
          <p:nvPr/>
        </p:nvSpPr>
        <p:spPr>
          <a:xfrm>
            <a:off x="7221321"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5"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6"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Scenarios: 24-Month Value vs. Intrinsic DCF</a:t>
            </a:r>
          </a:p>
        </p:txBody>
      </p:sp>
      <p:sp>
        <p:nvSpPr>
          <p:cNvPr id="3" name="Header: 24-Month Scenarios ($/share)"/>
          <p:cNvSpPr/>
          <p:nvPr/>
        </p:nvSpPr>
        <p:spPr>
          <a:xfrm>
            <a:off x="270662"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24-Month Scenarios ($/share)</a:t>
            </a:r>
          </a:p>
        </p:txBody>
      </p:sp>
      <p:graphicFrame>
        <p:nvGraphicFramePr>
          <p:cNvPr id="4" name="Chart 3" descr="Stacked column chart. Scenario value: Bear (30%) 89; Base (45%) 172; Bull (25%) 306. Probability-weighted: Weighted 181. Price today: Price today 167."/>
          <p:cNvGraphicFramePr>
            <a:graphicFrameLocks noGrp="1"/>
          </p:cNvGraphicFramePr>
          <p:nvPr/>
        </p:nvGraphicFramePr>
        <p:xfrm>
          <a:off x="270662" y="1353312"/>
          <a:ext cx="5679338" cy="3207715"/>
        </p:xfrm>
        <a:graphic>
          <a:graphicData uri="http://schemas.openxmlformats.org/drawingml/2006/chart">
            <c:chart xmlns:c="http://schemas.openxmlformats.org/drawingml/2006/chart" r:id="rId2"/>
          </a:graphicData>
        </a:graphic>
      </p:graphicFrame>
      <p:sp>
        <p:nvSpPr>
          <p:cNvPr id="5" name="TextBox 4"/>
          <p:cNvSpPr txBox="1"/>
          <p:nvPr/>
        </p:nvSpPr>
        <p:spPr>
          <a:xfrm>
            <a:off x="270662" y="4561027"/>
            <a:ext cx="5679338" cy="228600"/>
          </a:xfrm>
          <a:prstGeom prst="rect">
            <a:avLst/>
          </a:prstGeom>
          <a:noFill/>
        </p:spPr>
        <p:txBody>
          <a:bodyPr wrap="square" tIns="0" bIns="0" anchor="t">
            <a:noAutofit/>
          </a:bodyPr>
          <a:lstStyle/>
          <a:p>
            <a:r>
              <a:rPr sz="900" b="0" u="none">
                <a:solidFill>
                  <a:srgbClr val="888888"/>
                </a:solidFill>
                <a:latin typeface="Garamond"/>
                <a:ea typeface="Garamond"/>
                <a:cs typeface="Garamond"/>
              </a:rPr>
              <a:t>Source: Model, App. A: exit at Oct 2028 on 2029E EBITDA, incl. ~$4 of dividends</a:t>
            </a:r>
          </a:p>
        </p:txBody>
      </p:sp>
      <p:sp>
        <p:nvSpPr>
          <p:cNvPr id="6" name="Stat Callout"/>
          <p:cNvSpPr/>
          <p:nvPr/>
        </p:nvSpPr>
        <p:spPr>
          <a:xfrm>
            <a:off x="270662" y="4954219"/>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+8% in 24 months</a:t>
            </a:r>
            <a:r>
              <a:rPr sz="1300" b="0" u="none">
                <a:solidFill>
                  <a:srgbClr val="FFFFFF"/>
                </a:solidFill>
                <a:latin typeface="Garamond"/>
                <a:ea typeface="Garamond"/>
                <a:cs typeface="Garamond"/>
              </a:rPr>
              <a:t> (~4%/yr) vs. a ~10% hurdle</a:t>
            </a:r>
          </a:p>
        </p:txBody>
      </p:sp>
      <p:sp>
        <p:nvSpPr>
          <p:cNvPr id="7" name="Stat Callout"/>
          <p:cNvSpPr/>
          <p:nvPr/>
        </p:nvSpPr>
        <p:spPr>
          <a:xfrm>
            <a:off x="3224631" y="4954219"/>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Skew:</a:t>
            </a:r>
            <a:r>
              <a:rPr sz="1300" b="0" u="none">
                <a:solidFill>
                  <a:srgbClr val="FFFFFF"/>
                </a:solidFill>
                <a:latin typeface="Garamond"/>
                <a:ea typeface="Garamond"/>
                <a:cs typeface="Garamond"/>
              </a:rPr>
              <a:t> +83% bull vs. -46% bear</a:t>
            </a:r>
          </a:p>
        </p:txBody>
      </p:sp>
      <p:sp>
        <p:nvSpPr>
          <p:cNvPr id="8" name="Stat Callout"/>
          <p:cNvSpPr/>
          <p:nvPr/>
        </p:nvSpPr>
        <p:spPr>
          <a:xfrm>
            <a:off x="270662" y="5691225"/>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Weighted DCF (30/45/25):</a:t>
            </a:r>
            <a:r>
              <a:rPr sz="1300" b="0" u="none">
                <a:solidFill>
                  <a:srgbClr val="FFFFFF"/>
                </a:solidFill>
                <a:latin typeface="Garamond"/>
                <a:ea typeface="Garamond"/>
                <a:cs typeface="Garamond"/>
              </a:rPr>
              <a:t> $98 a share</a:t>
            </a:r>
          </a:p>
        </p:txBody>
      </p:sp>
      <p:sp>
        <p:nvSpPr>
          <p:cNvPr id="9" name="Stat Callout"/>
          <p:cNvSpPr/>
          <p:nvPr/>
        </p:nvSpPr>
        <p:spPr>
          <a:xfrm>
            <a:off x="3224631" y="5691225"/>
            <a:ext cx="2725369"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Even the bull DCF</a:t>
            </a:r>
            <a:r>
              <a:rPr sz="1300" b="0" u="none">
                <a:solidFill>
                  <a:srgbClr val="FFFFFF"/>
                </a:solidFill>
                <a:latin typeface="Garamond"/>
                <a:ea typeface="Garamond"/>
                <a:cs typeface="Garamond"/>
              </a:rPr>
              <a:t> is only ~11% above price</a:t>
            </a:r>
          </a:p>
        </p:txBody>
      </p:sp>
      <p:sp>
        <p:nvSpPr>
          <p:cNvPr id="10" name="Header: Intrinsic SOTP DCF at 10% WACC ($M)"/>
          <p:cNvSpPr/>
          <p:nvPr/>
        </p:nvSpPr>
        <p:spPr>
          <a:xfrm>
            <a:off x="6224320"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Intrinsic SOTP DCF at 10% WACC ($M)</a:t>
            </a:r>
          </a:p>
        </p:txBody>
      </p:sp>
      <p:graphicFrame>
        <p:nvGraphicFramePr>
          <p:cNvPr id="11" name="Table 10"/>
          <p:cNvGraphicFramePr>
            <a:graphicFrameLocks noGrp="1"/>
          </p:cNvGraphicFramePr>
          <p:nvPr/>
        </p:nvGraphicFramePr>
        <p:xfrm>
          <a:off x="6224320" y="1353312"/>
          <a:ext cx="5679336" cy="2026920"/>
        </p:xfrm>
        <a:graphic>
          <a:graphicData uri="http://schemas.openxmlformats.org/drawingml/2006/table">
            <a:tbl>
              <a:tblPr firstRow="0" bandRow="0">
                <a:tableStyleId>{2D5ABB26-0587-4C30-8999-92F81FD0307C}</a:tableStyleId>
              </a:tblPr>
              <a:tblGrid>
                <a:gridCol w="2271735"/>
                <a:gridCol w="1135867"/>
                <a:gridCol w="1135867"/>
                <a:gridCol w="1135867"/>
              </a:tblGrid>
              <a:tr h="289560">
                <a:tc>
                  <a:txBody>
                    <a:bodyPr/>
                    <a:lstStyle/>
                    <a:p>
                      <a:pPr algn="l"/>
                      <a:r>
                        <a:rPr sz="1200" b="1" u="none">
                          <a:solidFill>
                            <a:srgbClr val="FFFFFF"/>
                          </a:solidFill>
                          <a:latin typeface="Garamond"/>
                          <a:ea typeface="Garamond"/>
                          <a:cs typeface="Garamond"/>
                        </a:rPr>
                        <a:t>Block</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Bear</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Base</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Bull</a:t>
                      </a:r>
                    </a:p>
                  </a:txBody>
                  <a:tcPr marL="54864" marR="54864" marT="18288" marB="18288" anchor="ctr">
                    <a:lnL w="0">
                      <a:noFill/>
                    </a:lnL>
                    <a:lnR w="0">
                      <a:noFill/>
                    </a:lnR>
                    <a:lnT w="0">
                      <a:noFill/>
                    </a:lnT>
                    <a:lnB w="0">
                      <a:noFill/>
                    </a:lnB>
                    <a:solidFill>
                      <a:srgbClr val="002060"/>
                    </a:solidFill>
                  </a:tcPr>
                </a:tc>
              </a:tr>
              <a:tr h="289560">
                <a:tc>
                  <a:txBody>
                    <a:bodyPr/>
                    <a:lstStyle/>
                    <a:p>
                      <a:pPr algn="l"/>
                      <a:r>
                        <a:rPr sz="1200" b="0" u="none">
                          <a:solidFill>
                            <a:srgbClr val="000000"/>
                          </a:solidFill>
                          <a:latin typeface="Garamond"/>
                          <a:ea typeface="Garamond"/>
                          <a:cs typeface="Garamond"/>
                        </a:rPr>
                        <a:t>Aerospace Products</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5,488</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7,820</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14,017</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FTAI Power</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242</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1,889</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4,295</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Leasing / SCI</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2,400</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3,600</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5,000</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Corporate cost</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(867)</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(867)</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(867)</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1" u="none">
                          <a:solidFill>
                            <a:srgbClr val="000000"/>
                          </a:solidFill>
                          <a:latin typeface="Garamond"/>
                          <a:ea typeface="Garamond"/>
                          <a:cs typeface="Garamond"/>
                        </a:rPr>
                        <a:t>Enterprise value</a:t>
                      </a:r>
                    </a:p>
                  </a:txBody>
                  <a:tcPr marL="54864" marR="54864" marT="18288" marB="18288" anchor="ctr">
                    <a:lnL w="0">
                      <a:noFill/>
                    </a:lnL>
                    <a:lnR w="0">
                      <a:noFill/>
                    </a:lnR>
                    <a:lnT w="12700">
                      <a:solidFill>
                        <a:srgbClr val="002060"/>
                      </a:solidFill>
                    </a:lnT>
                    <a:lnB w="6350">
                      <a:solidFill>
                        <a:srgbClr val="D9D9D9"/>
                      </a:solidFill>
                    </a:lnB>
                    <a:noFill/>
                  </a:tcPr>
                </a:tc>
                <a:tc>
                  <a:txBody>
                    <a:bodyPr/>
                    <a:lstStyle/>
                    <a:p>
                      <a:pPr algn="r"/>
                      <a:r>
                        <a:rPr sz="1200" b="1" u="none">
                          <a:solidFill>
                            <a:srgbClr val="000000"/>
                          </a:solidFill>
                          <a:latin typeface="Garamond"/>
                          <a:ea typeface="Garamond"/>
                          <a:cs typeface="Garamond"/>
                        </a:rPr>
                        <a:t>7,263</a:t>
                      </a:r>
                    </a:p>
                  </a:txBody>
                  <a:tcPr marL="54864" marR="54864" marT="18288" marB="18288" anchor="ctr">
                    <a:lnL w="0">
                      <a:noFill/>
                    </a:lnL>
                    <a:lnR w="0">
                      <a:noFill/>
                    </a:lnR>
                    <a:lnT w="12700">
                      <a:solidFill>
                        <a:srgbClr val="002060"/>
                      </a:solidFill>
                    </a:lnT>
                    <a:lnB w="6350">
                      <a:solidFill>
                        <a:srgbClr val="D9D9D9"/>
                      </a:solidFill>
                    </a:lnB>
                    <a:noFill/>
                  </a:tcPr>
                </a:tc>
                <a:tc>
                  <a:txBody>
                    <a:bodyPr/>
                    <a:lstStyle/>
                    <a:p>
                      <a:pPr algn="r"/>
                      <a:r>
                        <a:rPr sz="1200" b="1" u="none">
                          <a:solidFill>
                            <a:srgbClr val="000000"/>
                          </a:solidFill>
                          <a:latin typeface="Garamond"/>
                          <a:ea typeface="Garamond"/>
                          <a:cs typeface="Garamond"/>
                        </a:rPr>
                        <a:t>12,442</a:t>
                      </a:r>
                    </a:p>
                  </a:txBody>
                  <a:tcPr marL="54864" marR="54864" marT="18288" marB="18288" anchor="ctr">
                    <a:lnL w="0">
                      <a:noFill/>
                    </a:lnL>
                    <a:lnR w="0">
                      <a:noFill/>
                    </a:lnR>
                    <a:lnT w="12700">
                      <a:solidFill>
                        <a:srgbClr val="002060"/>
                      </a:solidFill>
                    </a:lnT>
                    <a:lnB w="6350">
                      <a:solidFill>
                        <a:srgbClr val="D9D9D9"/>
                      </a:solidFill>
                    </a:lnB>
                    <a:noFill/>
                  </a:tcPr>
                </a:tc>
                <a:tc>
                  <a:txBody>
                    <a:bodyPr/>
                    <a:lstStyle/>
                    <a:p>
                      <a:pPr algn="r"/>
                      <a:r>
                        <a:rPr sz="1200" b="1" u="none">
                          <a:solidFill>
                            <a:srgbClr val="000000"/>
                          </a:solidFill>
                          <a:latin typeface="Garamond"/>
                          <a:ea typeface="Garamond"/>
                          <a:cs typeface="Garamond"/>
                        </a:rPr>
                        <a:t>22,446</a:t>
                      </a:r>
                    </a:p>
                  </a:txBody>
                  <a:tcPr marL="54864" marR="54864" marT="18288" marB="18288" anchor="ctr">
                    <a:lnL w="0">
                      <a:noFill/>
                    </a:lnL>
                    <a:lnR w="0">
                      <a:noFill/>
                    </a:lnR>
                    <a:lnT w="12700">
                      <a:solidFill>
                        <a:srgbClr val="002060"/>
                      </a:solidFill>
                    </a:lnT>
                    <a:lnB w="6350">
                      <a:solidFill>
                        <a:srgbClr val="D9D9D9"/>
                      </a:solidFill>
                    </a:lnB>
                    <a:noFill/>
                  </a:tcPr>
                </a:tc>
              </a:tr>
              <a:tr h="289560">
                <a:tc>
                  <a:txBody>
                    <a:bodyPr/>
                    <a:lstStyle/>
                    <a:p>
                      <a:pPr algn="l"/>
                      <a:r>
                        <a:rPr sz="1200" b="1" u="none">
                          <a:solidFill>
                            <a:srgbClr val="000000"/>
                          </a:solidFill>
                          <a:latin typeface="Garamond"/>
                          <a:ea typeface="Garamond"/>
                          <a:cs typeface="Garamond"/>
                        </a:rPr>
                        <a:t>Value per share</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200" b="1" u="none">
                          <a:solidFill>
                            <a:srgbClr val="000000"/>
                          </a:solidFill>
                          <a:latin typeface="Garamond"/>
                          <a:ea typeface="Garamond"/>
                          <a:cs typeface="Garamond"/>
                        </a:rPr>
                        <a:t>$39</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200" b="1" u="none">
                          <a:solidFill>
                            <a:srgbClr val="000000"/>
                          </a:solidFill>
                          <a:latin typeface="Garamond"/>
                          <a:ea typeface="Garamond"/>
                          <a:cs typeface="Garamond"/>
                        </a:rPr>
                        <a:t>$89</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r"/>
                      <a:r>
                        <a:rPr sz="1200" b="1" u="none">
                          <a:solidFill>
                            <a:srgbClr val="000000"/>
                          </a:solidFill>
                          <a:latin typeface="Garamond"/>
                          <a:ea typeface="Garamond"/>
                          <a:cs typeface="Garamond"/>
                        </a:rPr>
                        <a:t>$185</a:t>
                      </a:r>
                    </a:p>
                  </a:txBody>
                  <a:tcPr marL="54864" marR="54864" marT="18288" marB="18288" anchor="ctr">
                    <a:lnL w="0">
                      <a:noFill/>
                    </a:lnL>
                    <a:lnR w="0">
                      <a:noFill/>
                    </a:lnR>
                    <a:lnT w="0">
                      <a:noFill/>
                    </a:lnT>
                    <a:lnB w="6350">
                      <a:solidFill>
                        <a:srgbClr val="D9D9D9"/>
                      </a:solidFill>
                    </a:lnB>
                    <a:solidFill>
                      <a:srgbClr val="FFF2CC"/>
                    </a:solidFill>
                  </a:tcPr>
                </a:tc>
              </a:tr>
            </a:tbl>
          </a:graphicData>
        </a:graphic>
      </p:graphicFrame>
      <p:sp>
        <p:nvSpPr>
          <p:cNvPr id="12" name="Header: 24-Month Scenario Math"/>
          <p:cNvSpPr/>
          <p:nvPr/>
        </p:nvSpPr>
        <p:spPr>
          <a:xfrm>
            <a:off x="6224320" y="3575304"/>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24-Month Scenario Math</a:t>
            </a:r>
          </a:p>
        </p:txBody>
      </p:sp>
      <p:graphicFrame>
        <p:nvGraphicFramePr>
          <p:cNvPr id="13" name="Table 12"/>
          <p:cNvGraphicFramePr>
            <a:graphicFrameLocks noGrp="1"/>
          </p:cNvGraphicFramePr>
          <p:nvPr/>
        </p:nvGraphicFramePr>
        <p:xfrm>
          <a:off x="6224320" y="4014216"/>
          <a:ext cx="5679336" cy="1447800"/>
        </p:xfrm>
        <a:graphic>
          <a:graphicData uri="http://schemas.openxmlformats.org/drawingml/2006/table">
            <a:tbl>
              <a:tblPr firstRow="0" bandRow="0">
                <a:tableStyleId>{2D5ABB26-0587-4C30-8999-92F81FD0307C}</a:tableStyleId>
              </a:tblPr>
              <a:tblGrid>
                <a:gridCol w="1652171"/>
                <a:gridCol w="1445649"/>
                <a:gridCol w="1445649"/>
                <a:gridCol w="1135867"/>
              </a:tblGrid>
              <a:tr h="289560">
                <a:tc>
                  <a:txBody>
                    <a:bodyPr/>
                    <a:lstStyle/>
                    <a:p>
                      <a:pPr algn="l"/>
                      <a:r>
                        <a:rPr sz="1200" b="1" u="none">
                          <a:solidFill>
                            <a:srgbClr val="FFFFFF"/>
                          </a:solidFill>
                          <a:latin typeface="Garamond"/>
                          <a:ea typeface="Garamond"/>
                          <a:cs typeface="Garamond"/>
                        </a:rPr>
                        <a:t>Scenario</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2029E EBITDA</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Exit multiple</a:t>
                      </a:r>
                    </a:p>
                  </a:txBody>
                  <a:tcPr marL="54864" marR="54864" marT="18288" marB="18288" anchor="ctr">
                    <a:lnL w="0">
                      <a:noFill/>
                    </a:lnL>
                    <a:lnR w="0">
                      <a:noFill/>
                    </a:lnR>
                    <a:lnT w="0">
                      <a:noFill/>
                    </a:lnT>
                    <a:lnB w="0">
                      <a:noFill/>
                    </a:lnB>
                    <a:solidFill>
                      <a:srgbClr val="002060"/>
                    </a:solidFill>
                  </a:tcPr>
                </a:tc>
                <a:tc>
                  <a:txBody>
                    <a:bodyPr/>
                    <a:lstStyle/>
                    <a:p>
                      <a:pPr algn="r"/>
                      <a:r>
                        <a:rPr sz="1200" b="1" u="none">
                          <a:solidFill>
                            <a:srgbClr val="FFFFFF"/>
                          </a:solidFill>
                          <a:latin typeface="Garamond"/>
                          <a:ea typeface="Garamond"/>
                          <a:cs typeface="Garamond"/>
                        </a:rPr>
                        <a:t>Value</a:t>
                      </a:r>
                    </a:p>
                  </a:txBody>
                  <a:tcPr marL="54864" marR="54864" marT="18288" marB="18288" anchor="ctr">
                    <a:lnL w="0">
                      <a:noFill/>
                    </a:lnL>
                    <a:lnR w="0">
                      <a:noFill/>
                    </a:lnR>
                    <a:lnT w="0">
                      <a:noFill/>
                    </a:lnT>
                    <a:lnB w="0">
                      <a:noFill/>
                    </a:lnB>
                    <a:solidFill>
                      <a:srgbClr val="002060"/>
                    </a:solidFill>
                  </a:tcPr>
                </a:tc>
              </a:tr>
              <a:tr h="289560">
                <a:tc>
                  <a:txBody>
                    <a:bodyPr/>
                    <a:lstStyle/>
                    <a:p>
                      <a:pPr algn="l"/>
                      <a:r>
                        <a:rPr sz="1200" b="0" u="none">
                          <a:solidFill>
                            <a:srgbClr val="000000"/>
                          </a:solidFill>
                          <a:latin typeface="Garamond"/>
                          <a:ea typeface="Garamond"/>
                          <a:cs typeface="Garamond"/>
                        </a:rPr>
                        <a:t>Bear (30%)</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$1.55B</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7.5x</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$89</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Base (45%)</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$2.18B</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9.0x</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$172</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0" u="none">
                          <a:solidFill>
                            <a:srgbClr val="000000"/>
                          </a:solidFill>
                          <a:latin typeface="Garamond"/>
                          <a:ea typeface="Garamond"/>
                          <a:cs typeface="Garamond"/>
                        </a:rPr>
                        <a:t>Bull (25%)</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$2.84B</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11.5x</a:t>
                      </a:r>
                    </a:p>
                  </a:txBody>
                  <a:tcPr marL="54864" marR="54864" marT="18288" marB="18288" anchor="ctr">
                    <a:lnL w="0">
                      <a:noFill/>
                    </a:lnL>
                    <a:lnR w="0">
                      <a:noFill/>
                    </a:lnR>
                    <a:lnT w="0">
                      <a:noFill/>
                    </a:lnT>
                    <a:lnB w="6350">
                      <a:solidFill>
                        <a:srgbClr val="D9D9D9"/>
                      </a:solidFill>
                    </a:lnB>
                    <a:noFill/>
                  </a:tcPr>
                </a:tc>
                <a:tc>
                  <a:txBody>
                    <a:bodyPr/>
                    <a:lstStyle/>
                    <a:p>
                      <a:pPr algn="r"/>
                      <a:r>
                        <a:rPr sz="1200" b="0" u="none">
                          <a:solidFill>
                            <a:srgbClr val="000000"/>
                          </a:solidFill>
                          <a:latin typeface="Garamond"/>
                          <a:ea typeface="Garamond"/>
                          <a:cs typeface="Garamond"/>
                        </a:rPr>
                        <a:t>$306</a:t>
                      </a:r>
                    </a:p>
                  </a:txBody>
                  <a:tcPr marL="54864" marR="54864" marT="18288" marB="18288" anchor="ctr">
                    <a:lnL w="0">
                      <a:noFill/>
                    </a:lnL>
                    <a:lnR w="0">
                      <a:noFill/>
                    </a:lnR>
                    <a:lnT w="0">
                      <a:noFill/>
                    </a:lnT>
                    <a:lnB w="6350">
                      <a:solidFill>
                        <a:srgbClr val="D9D9D9"/>
                      </a:solidFill>
                    </a:lnB>
                    <a:noFill/>
                  </a:tcPr>
                </a:tc>
              </a:tr>
              <a:tr h="289560">
                <a:tc>
                  <a:txBody>
                    <a:bodyPr/>
                    <a:lstStyle/>
                    <a:p>
                      <a:pPr algn="l"/>
                      <a:r>
                        <a:rPr sz="1200" b="1" u="none">
                          <a:solidFill>
                            <a:srgbClr val="000000"/>
                          </a:solidFill>
                          <a:latin typeface="Garamond"/>
                          <a:ea typeface="Garamond"/>
                          <a:cs typeface="Garamond"/>
                        </a:rPr>
                        <a:t>Probability-weighted</a:t>
                      </a:r>
                    </a:p>
                  </a:txBody>
                  <a:tcPr marL="54864" marR="54864" marT="18288" marB="18288" anchor="ctr">
                    <a:lnL w="0">
                      <a:noFill/>
                    </a:lnL>
                    <a:lnR w="0">
                      <a:noFill/>
                    </a:lnR>
                    <a:lnT w="12700">
                      <a:solidFill>
                        <a:srgbClr val="002060"/>
                      </a:solidFill>
                    </a:lnT>
                    <a:lnB w="6350">
                      <a:solidFill>
                        <a:srgbClr val="D9D9D9"/>
                      </a:solidFill>
                    </a:lnB>
                    <a:noFill/>
                  </a:tcPr>
                </a:tc>
                <a:tc>
                  <a:txBody>
                    <a:bodyPr/>
                    <a:lstStyle/>
                    <a:p>
                      <a:pPr algn="r"/>
                    </a:p>
                  </a:txBody>
                  <a:tcPr marL="54864" marR="54864" marT="18288" marB="18288" anchor="ctr">
                    <a:lnL w="0">
                      <a:noFill/>
                    </a:lnL>
                    <a:lnR w="0">
                      <a:noFill/>
                    </a:lnR>
                    <a:lnT w="12700">
                      <a:solidFill>
                        <a:srgbClr val="002060"/>
                      </a:solidFill>
                    </a:lnT>
                    <a:lnB w="6350">
                      <a:solidFill>
                        <a:srgbClr val="D9D9D9"/>
                      </a:solidFill>
                    </a:lnB>
                    <a:noFill/>
                  </a:tcPr>
                </a:tc>
                <a:tc>
                  <a:txBody>
                    <a:bodyPr/>
                    <a:lstStyle/>
                    <a:p>
                      <a:pPr algn="r"/>
                    </a:p>
                  </a:txBody>
                  <a:tcPr marL="54864" marR="54864" marT="18288" marB="18288" anchor="ctr">
                    <a:lnL w="0">
                      <a:noFill/>
                    </a:lnL>
                    <a:lnR w="0">
                      <a:noFill/>
                    </a:lnR>
                    <a:lnT w="12700">
                      <a:solidFill>
                        <a:srgbClr val="002060"/>
                      </a:solidFill>
                    </a:lnT>
                    <a:lnB w="6350">
                      <a:solidFill>
                        <a:srgbClr val="D9D9D9"/>
                      </a:solidFill>
                    </a:lnB>
                    <a:noFill/>
                  </a:tcPr>
                </a:tc>
                <a:tc>
                  <a:txBody>
                    <a:bodyPr/>
                    <a:lstStyle/>
                    <a:p>
                      <a:pPr algn="r"/>
                      <a:r>
                        <a:rPr sz="1200" b="1" u="none">
                          <a:solidFill>
                            <a:srgbClr val="000000"/>
                          </a:solidFill>
                          <a:latin typeface="Garamond"/>
                          <a:ea typeface="Garamond"/>
                          <a:cs typeface="Garamond"/>
                        </a:rPr>
                        <a:t>$181</a:t>
                      </a:r>
                    </a:p>
                  </a:txBody>
                  <a:tcPr marL="54864" marR="54864" marT="18288" marB="18288" anchor="ctr">
                    <a:lnL w="0">
                      <a:noFill/>
                    </a:lnL>
                    <a:lnR w="0">
                      <a:noFill/>
                    </a:lnR>
                    <a:lnT w="12700">
                      <a:solidFill>
                        <a:srgbClr val="002060"/>
                      </a:solidFill>
                    </a:lnT>
                    <a:lnB w="6350">
                      <a:solidFill>
                        <a:srgbClr val="D9D9D9"/>
                      </a:solidFill>
                    </a:lnB>
                    <a:noFill/>
                  </a:tcPr>
                </a:tc>
              </a:tr>
            </a:tbl>
          </a:graphicData>
        </a:graphic>
      </p:graphicFrame>
      <p:sp>
        <p:nvSpPr>
          <p:cNvPr id="14"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15"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16"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7"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8" name="Tracker: Valuation (active)"/>
          <p:cNvSpPr/>
          <p:nvPr/>
        </p:nvSpPr>
        <p:spPr>
          <a:xfrm>
            <a:off x="7221321"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9" name="Tracker: Risks"/>
          <p:cNvSpPr/>
          <p:nvPr/>
        </p:nvSpPr>
        <p:spPr>
          <a:xfrm>
            <a:off x="8740444"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20"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	Risks, Catalysts &amp; Recommendation</a:t>
            </a:r>
          </a:p>
        </p:txBody>
      </p:sp>
      <p:sp>
        <p:nvSpPr>
          <p:cNvPr id="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to Owning FTAI</a:t>
            </a:r>
          </a:p>
        </p:txBody>
      </p:sp>
      <p:sp>
        <p:nvSpPr>
          <p:cNvPr id="3" name="Risk 1"/>
          <p:cNvSpPr/>
          <p:nvPr/>
        </p:nvSpPr>
        <p:spPr>
          <a:xfrm>
            <a:off x="75895" y="1164031"/>
            <a:ext cx="3395167" cy="833932"/>
          </a:xfrm>
          <a:prstGeom prst="homePlate">
            <a:avLst/>
          </a:prstGeom>
          <a:solidFill>
            <a:srgbClr val="FFFFFF"/>
          </a:solidFill>
          <a:ln w="28575">
            <a:solidFill>
              <a:srgbClr val="002060"/>
            </a:solidFill>
          </a:ln>
        </p:spPr>
        <p:txBody>
          <a:bodyPr rtlCol="0" anchor="ctr" tIns="91440" bIns="91440" wrap="square">
            <a:noAutofit/>
          </a:bodyPr>
          <a:lstStyle/>
          <a:p>
            <a:pPr algn="ctr" marL="0" indent="0">
              <a:buNone/>
            </a:pPr>
            <a:r>
              <a:rPr sz="1400" b="0" u="none">
                <a:solidFill>
                  <a:srgbClr val="000000"/>
                </a:solidFill>
                <a:latin typeface="Garamond"/>
                <a:ea typeface="Garamond"/>
                <a:cs typeface="Garamond"/>
              </a:rPr>
              <a:t>EO 14420: US policy blocks Jereh-packaged Power gensets</a:t>
            </a:r>
          </a:p>
        </p:txBody>
      </p:sp>
      <p:sp>
        <p:nvSpPr>
          <p:cNvPr id="4" name="Rectangle 3"/>
          <p:cNvSpPr/>
          <p:nvPr/>
        </p:nvSpPr>
        <p:spPr>
          <a:xfrm>
            <a:off x="3641140" y="868680"/>
            <a:ext cx="2061057" cy="205740"/>
          </a:xfrm>
          <a:prstGeom prst="rect">
            <a:avLst/>
          </a:prstGeom>
          <a:solidFill>
            <a:srgbClr val="001746"/>
          </a:solidFill>
          <a:ln w="12700">
            <a:solidFill>
              <a:srgbClr val="001746"/>
            </a:solidFill>
          </a:ln>
        </p:spPr>
        <p:txBody>
          <a:bodyPr rtlCol="0" anchor="ctr" wrap="square">
            <a:noAutofit/>
          </a:bodyPr>
          <a:lstStyle/>
          <a:p>
            <a:pPr algn="ctr" marL="0" indent="0">
              <a:buNone/>
            </a:pPr>
            <a:r>
              <a:rPr sz="1200" b="0" u="none">
                <a:solidFill>
                  <a:srgbClr val="FFFFFF"/>
                </a:solidFill>
                <a:latin typeface="Garamond"/>
                <a:ea typeface="Garamond"/>
                <a:cs typeface="Garamond"/>
              </a:rPr>
              <a:t>Level of Risk</a:t>
            </a:r>
          </a:p>
        </p:txBody>
      </p:sp>
      <p:sp>
        <p:nvSpPr>
          <p:cNvPr id="5" name="Rectangle 4"/>
          <p:cNvSpPr/>
          <p:nvPr/>
        </p:nvSpPr>
        <p:spPr>
          <a:xfrm>
            <a:off x="3641140" y="1164031"/>
            <a:ext cx="2061057" cy="833932"/>
          </a:xfrm>
          <a:prstGeom prst="rect">
            <a:avLst/>
          </a:prstGeom>
          <a:solidFill>
            <a:srgbClr val="002060"/>
          </a:solidFill>
          <a:ln w="12700">
            <a:solidFill>
              <a:srgbClr val="E4E9F0"/>
            </a:solidFill>
          </a:ln>
        </p:spPr>
        <p:txBody>
          <a:bodyPr rtlCol="0" anchor="ctr" wrap="square">
            <a:noAutofit/>
          </a:bodyPr>
          <a:lstStyle/>
          <a:p>
            <a:pPr algn="ctr" marL="0" indent="0">
              <a:buNone/>
            </a:pPr>
            <a:r>
              <a:rPr sz="2000" b="1" u="none">
                <a:solidFill>
                  <a:srgbClr val="FFFFFF"/>
                </a:solidFill>
                <a:latin typeface="Garamond"/>
                <a:ea typeface="Garamond"/>
                <a:cs typeface="Garamond"/>
              </a:rPr>
              <a:t>High</a:t>
            </a:r>
          </a:p>
        </p:txBody>
      </p:sp>
      <p:sp>
        <p:nvSpPr>
          <p:cNvPr id="6" name="Rectangle 5"/>
          <p:cNvSpPr/>
          <p:nvPr/>
        </p:nvSpPr>
        <p:spPr>
          <a:xfrm>
            <a:off x="6095390" y="868680"/>
            <a:ext cx="5691225" cy="205740"/>
          </a:xfrm>
          <a:prstGeom prst="rect">
            <a:avLst/>
          </a:prstGeom>
          <a:solidFill>
            <a:srgbClr val="001746"/>
          </a:solidFill>
          <a:ln w="12700">
            <a:solidFill>
              <a:srgbClr val="001746"/>
            </a:solidFill>
          </a:ln>
        </p:spPr>
        <p:txBody>
          <a:bodyPr rtlCol="0" anchor="ctr" wrap="square">
            <a:noAutofit/>
          </a:bodyPr>
          <a:lstStyle/>
          <a:p>
            <a:pPr algn="ctr" marL="0" indent="0">
              <a:buNone/>
            </a:pPr>
            <a:r>
              <a:rPr sz="1200" b="0" u="none">
                <a:solidFill>
                  <a:srgbClr val="FFFFFF"/>
                </a:solidFill>
                <a:latin typeface="Garamond"/>
                <a:ea typeface="Garamond"/>
                <a:cs typeface="Garamond"/>
              </a:rPr>
              <a:t>Mitigation:</a:t>
            </a:r>
          </a:p>
        </p:txBody>
      </p:sp>
      <p:sp>
        <p:nvSpPr>
          <p:cNvPr id="7" name="Rectangle 6"/>
          <p:cNvSpPr/>
          <p:nvPr/>
        </p:nvSpPr>
        <p:spPr>
          <a:xfrm>
            <a:off x="6095390" y="1164031"/>
            <a:ext cx="5691225" cy="833932"/>
          </a:xfrm>
          <a:prstGeom prst="rect">
            <a:avLst/>
          </a:prstGeom>
          <a:solidFill>
            <a:srgbClr val="E4E9F0"/>
          </a:solidFill>
          <a:ln w="12700">
            <a:solidFill>
              <a:srgbClr val="E4E9F0"/>
            </a:solidFill>
          </a:ln>
        </p:spPr>
        <p:txBody>
          <a:bodyPr rtlCol="0" anchor="ctr" wrap="square">
            <a:noAutofit/>
          </a:bodyPr>
          <a:lstStyle/>
          <a:p>
            <a:pPr algn="ctr" marL="0" indent="0">
              <a:buNone/>
            </a:pPr>
            <a:r>
              <a:rPr sz="1200" b="0" u="none">
                <a:solidFill>
                  <a:srgbClr val="001746"/>
                </a:solidFill>
                <a:latin typeface="Garamond"/>
                <a:ea typeface="Garamond"/>
                <a:cs typeface="Garamond"/>
              </a:rPr>
              <a:t>US assembly of Mod-1 packages, or a DOE carve-out for behind-the-meter units, would neutralize it. Watch DOE rules due 12/24/26 and J&amp;F disclosures.</a:t>
            </a:r>
          </a:p>
        </p:txBody>
      </p:sp>
      <p:cxnSp>
        <p:nvCxnSpPr>
          <p:cNvPr id="8" name="Connector 7"/>
          <p:cNvCxnSpPr/>
          <p:nvPr/>
        </p:nvCxnSpPr>
        <p:spPr>
          <a:xfrm>
            <a:off x="5702198" y="1580997"/>
            <a:ext cx="393192" cy="0"/>
          </a:xfrm>
          <a:prstGeom prst="line">
            <a:avLst/>
          </a:prstGeom>
          <a:ln w="38100">
            <a:solidFill>
              <a:srgbClr val="E4E9F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592677" y="2116836"/>
            <a:ext cx="8310982" cy="0"/>
          </a:xfrm>
          <a:prstGeom prst="line">
            <a:avLst/>
          </a:prstGeom>
          <a:ln w="9525">
            <a:solidFill>
              <a:srgbClr val="001746"/>
            </a:solidFill>
          </a:ln>
        </p:spPr>
        <p:style>
          <a:lnRef idx="2">
            <a:schemeClr val="accent1"/>
          </a:lnRef>
          <a:fillRef idx="0">
            <a:schemeClr val="accent1"/>
          </a:fillRef>
          <a:effectRef idx="1">
            <a:schemeClr val="accent1"/>
          </a:effectRef>
          <a:fontRef idx="minor">
            <a:schemeClr val="tx1"/>
          </a:fontRef>
        </p:style>
      </p:cxnSp>
      <p:sp>
        <p:nvSpPr>
          <p:cNvPr id="10" name="Risk 2"/>
          <p:cNvSpPr/>
          <p:nvPr/>
        </p:nvSpPr>
        <p:spPr>
          <a:xfrm>
            <a:off x="75895" y="2531059"/>
            <a:ext cx="3395167" cy="833932"/>
          </a:xfrm>
          <a:prstGeom prst="homePlate">
            <a:avLst/>
          </a:prstGeom>
          <a:solidFill>
            <a:srgbClr val="FFFFFF"/>
          </a:solidFill>
          <a:ln w="28575">
            <a:solidFill>
              <a:srgbClr val="002060"/>
            </a:solidFill>
          </a:ln>
        </p:spPr>
        <p:txBody>
          <a:bodyPr rtlCol="0" anchor="ctr" tIns="91440" bIns="91440" wrap="square">
            <a:noAutofit/>
          </a:bodyPr>
          <a:lstStyle/>
          <a:p>
            <a:pPr algn="ctr" marL="0" indent="0">
              <a:buNone/>
            </a:pPr>
            <a:r>
              <a:rPr sz="1400" b="0" u="none">
                <a:solidFill>
                  <a:srgbClr val="000000"/>
                </a:solidFill>
                <a:latin typeface="Garamond"/>
                <a:ea typeface="Garamond"/>
                <a:cs typeface="Garamond"/>
              </a:rPr>
              <a:t>AP margin keeps sliding toward 25%</a:t>
            </a:r>
          </a:p>
        </p:txBody>
      </p:sp>
      <p:sp>
        <p:nvSpPr>
          <p:cNvPr id="11" name="Rectangle 10"/>
          <p:cNvSpPr/>
          <p:nvPr/>
        </p:nvSpPr>
        <p:spPr>
          <a:xfrm>
            <a:off x="3641140" y="2235708"/>
            <a:ext cx="2061057" cy="205740"/>
          </a:xfrm>
          <a:prstGeom prst="rect">
            <a:avLst/>
          </a:prstGeom>
          <a:solidFill>
            <a:srgbClr val="001746"/>
          </a:solidFill>
          <a:ln w="12700">
            <a:solidFill>
              <a:srgbClr val="001746"/>
            </a:solidFill>
          </a:ln>
        </p:spPr>
        <p:txBody>
          <a:bodyPr rtlCol="0" anchor="ctr" wrap="square">
            <a:noAutofit/>
          </a:bodyPr>
          <a:lstStyle/>
          <a:p>
            <a:pPr algn="ctr" marL="0" indent="0">
              <a:buNone/>
            </a:pPr>
            <a:r>
              <a:rPr sz="1200" b="0" u="none">
                <a:solidFill>
                  <a:srgbClr val="FFFFFF"/>
                </a:solidFill>
                <a:latin typeface="Garamond"/>
                <a:ea typeface="Garamond"/>
                <a:cs typeface="Garamond"/>
              </a:rPr>
              <a:t>Level of Risk</a:t>
            </a:r>
          </a:p>
        </p:txBody>
      </p:sp>
      <p:sp>
        <p:nvSpPr>
          <p:cNvPr id="12" name="Rectangle 11"/>
          <p:cNvSpPr/>
          <p:nvPr/>
        </p:nvSpPr>
        <p:spPr>
          <a:xfrm>
            <a:off x="3641140" y="2531059"/>
            <a:ext cx="2061057" cy="833932"/>
          </a:xfrm>
          <a:prstGeom prst="rect">
            <a:avLst/>
          </a:prstGeom>
          <a:solidFill>
            <a:srgbClr val="002060"/>
          </a:solidFill>
          <a:ln w="12700">
            <a:solidFill>
              <a:srgbClr val="E4E9F0"/>
            </a:solidFill>
          </a:ln>
        </p:spPr>
        <p:txBody>
          <a:bodyPr rtlCol="0" anchor="ctr" wrap="square">
            <a:noAutofit/>
          </a:bodyPr>
          <a:lstStyle/>
          <a:p>
            <a:pPr algn="ctr" marL="0" indent="0">
              <a:buNone/>
            </a:pPr>
            <a:r>
              <a:rPr sz="2000" b="1" u="none">
                <a:solidFill>
                  <a:srgbClr val="FFFFFF"/>
                </a:solidFill>
                <a:latin typeface="Garamond"/>
                <a:ea typeface="Garamond"/>
                <a:cs typeface="Garamond"/>
              </a:rPr>
              <a:t>High</a:t>
            </a:r>
          </a:p>
        </p:txBody>
      </p:sp>
      <p:sp>
        <p:nvSpPr>
          <p:cNvPr id="13" name="Rectangle 12"/>
          <p:cNvSpPr/>
          <p:nvPr/>
        </p:nvSpPr>
        <p:spPr>
          <a:xfrm>
            <a:off x="6095390" y="2235708"/>
            <a:ext cx="5691225" cy="205740"/>
          </a:xfrm>
          <a:prstGeom prst="rect">
            <a:avLst/>
          </a:prstGeom>
          <a:solidFill>
            <a:srgbClr val="001746"/>
          </a:solidFill>
          <a:ln w="12700">
            <a:solidFill>
              <a:srgbClr val="001746"/>
            </a:solidFill>
          </a:ln>
        </p:spPr>
        <p:txBody>
          <a:bodyPr rtlCol="0" anchor="ctr" wrap="square">
            <a:noAutofit/>
          </a:bodyPr>
          <a:lstStyle/>
          <a:p>
            <a:pPr algn="ctr" marL="0" indent="0">
              <a:buNone/>
            </a:pPr>
            <a:r>
              <a:rPr sz="1200" b="0" u="none">
                <a:solidFill>
                  <a:srgbClr val="FFFFFF"/>
                </a:solidFill>
                <a:latin typeface="Garamond"/>
                <a:ea typeface="Garamond"/>
                <a:cs typeface="Garamond"/>
              </a:rPr>
              <a:t>Mitigation:</a:t>
            </a:r>
          </a:p>
        </p:txBody>
      </p:sp>
      <p:sp>
        <p:nvSpPr>
          <p:cNvPr id="14" name="Rectangle 13"/>
          <p:cNvSpPr/>
          <p:nvPr/>
        </p:nvSpPr>
        <p:spPr>
          <a:xfrm>
            <a:off x="6095390" y="2531059"/>
            <a:ext cx="5691225" cy="833932"/>
          </a:xfrm>
          <a:prstGeom prst="rect">
            <a:avLst/>
          </a:prstGeom>
          <a:solidFill>
            <a:srgbClr val="E4E9F0"/>
          </a:solidFill>
          <a:ln w="12700">
            <a:solidFill>
              <a:srgbClr val="E4E9F0"/>
            </a:solidFill>
          </a:ln>
        </p:spPr>
        <p:txBody>
          <a:bodyPr rtlCol="0" anchor="ctr" wrap="square">
            <a:noAutofit/>
          </a:bodyPr>
          <a:lstStyle/>
          <a:p>
            <a:pPr algn="ctr" marL="0" indent="0">
              <a:buNone/>
            </a:pPr>
            <a:r>
              <a:rPr sz="1200" b="0" u="none">
                <a:solidFill>
                  <a:srgbClr val="001746"/>
                </a:solidFill>
                <a:latin typeface="Garamond"/>
                <a:ea typeface="Garamond"/>
                <a:cs typeface="Garamond"/>
              </a:rPr>
              <a:t>The last two PMA parts and normalizing workscopes could restore ~30%+. This risk is falsified if AP margin is 30%+ in both Q3 and Q4'26.</a:t>
            </a:r>
          </a:p>
        </p:txBody>
      </p:sp>
      <p:cxnSp>
        <p:nvCxnSpPr>
          <p:cNvPr id="15" name="Connector 14"/>
          <p:cNvCxnSpPr/>
          <p:nvPr/>
        </p:nvCxnSpPr>
        <p:spPr>
          <a:xfrm>
            <a:off x="5702198" y="2948025"/>
            <a:ext cx="393192" cy="0"/>
          </a:xfrm>
          <a:prstGeom prst="line">
            <a:avLst/>
          </a:prstGeom>
          <a:ln w="38100">
            <a:solidFill>
              <a:srgbClr val="E4E9F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592677" y="3483863"/>
            <a:ext cx="8310982" cy="0"/>
          </a:xfrm>
          <a:prstGeom prst="line">
            <a:avLst/>
          </a:prstGeom>
          <a:ln w="9525">
            <a:solidFill>
              <a:srgbClr val="001746"/>
            </a:solidFill>
          </a:ln>
        </p:spPr>
        <p:style>
          <a:lnRef idx="2">
            <a:schemeClr val="accent1"/>
          </a:lnRef>
          <a:fillRef idx="0">
            <a:schemeClr val="accent1"/>
          </a:fillRef>
          <a:effectRef idx="1">
            <a:schemeClr val="accent1"/>
          </a:effectRef>
          <a:fontRef idx="minor">
            <a:schemeClr val="tx1"/>
          </a:fontRef>
        </p:style>
      </p:cxnSp>
      <p:sp>
        <p:nvSpPr>
          <p:cNvPr id="17" name="Risk 3"/>
          <p:cNvSpPr/>
          <p:nvPr/>
        </p:nvSpPr>
        <p:spPr>
          <a:xfrm>
            <a:off x="75895" y="3898087"/>
            <a:ext cx="3395167" cy="833932"/>
          </a:xfrm>
          <a:prstGeom prst="homePlate">
            <a:avLst/>
          </a:prstGeom>
          <a:solidFill>
            <a:srgbClr val="FFFFFF"/>
          </a:solidFill>
          <a:ln w="28575">
            <a:solidFill>
              <a:srgbClr val="002060"/>
            </a:solidFill>
          </a:ln>
        </p:spPr>
        <p:txBody>
          <a:bodyPr rtlCol="0" anchor="ctr" tIns="91440" bIns="91440" wrap="square">
            <a:noAutofit/>
          </a:bodyPr>
          <a:lstStyle/>
          <a:p>
            <a:pPr algn="ctr" marL="0" indent="0">
              <a:buNone/>
            </a:pPr>
            <a:r>
              <a:rPr sz="1400" b="0" u="none">
                <a:solidFill>
                  <a:srgbClr val="000000"/>
                </a:solidFill>
                <a:latin typeface="Garamond"/>
                <a:ea typeface="Garamond"/>
                <a:cs typeface="Garamond"/>
              </a:rPr>
              <a:t>CFM56 run-off speeds up as LEAP fixes land</a:t>
            </a:r>
          </a:p>
        </p:txBody>
      </p:sp>
      <p:sp>
        <p:nvSpPr>
          <p:cNvPr id="18" name="Rectangle 17"/>
          <p:cNvSpPr/>
          <p:nvPr/>
        </p:nvSpPr>
        <p:spPr>
          <a:xfrm>
            <a:off x="3641140" y="3602735"/>
            <a:ext cx="2061057" cy="205740"/>
          </a:xfrm>
          <a:prstGeom prst="rect">
            <a:avLst/>
          </a:prstGeom>
          <a:solidFill>
            <a:srgbClr val="001746"/>
          </a:solidFill>
          <a:ln w="12700">
            <a:solidFill>
              <a:srgbClr val="001746"/>
            </a:solidFill>
          </a:ln>
        </p:spPr>
        <p:txBody>
          <a:bodyPr rtlCol="0" anchor="ctr" wrap="square">
            <a:noAutofit/>
          </a:bodyPr>
          <a:lstStyle/>
          <a:p>
            <a:pPr algn="ctr" marL="0" indent="0">
              <a:buNone/>
            </a:pPr>
            <a:r>
              <a:rPr sz="1200" b="0" u="none">
                <a:solidFill>
                  <a:srgbClr val="FFFFFF"/>
                </a:solidFill>
                <a:latin typeface="Garamond"/>
                <a:ea typeface="Garamond"/>
                <a:cs typeface="Garamond"/>
              </a:rPr>
              <a:t>Level of Risk</a:t>
            </a:r>
          </a:p>
        </p:txBody>
      </p:sp>
      <p:sp>
        <p:nvSpPr>
          <p:cNvPr id="19" name="Rectangle 18"/>
          <p:cNvSpPr/>
          <p:nvPr/>
        </p:nvSpPr>
        <p:spPr>
          <a:xfrm>
            <a:off x="3641140" y="3898087"/>
            <a:ext cx="2061057" cy="833932"/>
          </a:xfrm>
          <a:prstGeom prst="rect">
            <a:avLst/>
          </a:prstGeom>
          <a:solidFill>
            <a:srgbClr val="002060"/>
          </a:solidFill>
          <a:ln w="12700">
            <a:solidFill>
              <a:srgbClr val="E4E9F0"/>
            </a:solidFill>
          </a:ln>
        </p:spPr>
        <p:txBody>
          <a:bodyPr rtlCol="0" anchor="ctr" wrap="square">
            <a:noAutofit/>
          </a:bodyPr>
          <a:lstStyle/>
          <a:p>
            <a:pPr algn="ctr" marL="0" indent="0">
              <a:buNone/>
            </a:pPr>
            <a:r>
              <a:rPr sz="2000" b="1" u="none">
                <a:solidFill>
                  <a:srgbClr val="FFFFFF"/>
                </a:solidFill>
                <a:latin typeface="Garamond"/>
                <a:ea typeface="Garamond"/>
                <a:cs typeface="Garamond"/>
              </a:rPr>
              <a:t>Medium</a:t>
            </a:r>
          </a:p>
        </p:txBody>
      </p:sp>
      <p:sp>
        <p:nvSpPr>
          <p:cNvPr id="20" name="Rectangle 19"/>
          <p:cNvSpPr/>
          <p:nvPr/>
        </p:nvSpPr>
        <p:spPr>
          <a:xfrm>
            <a:off x="6095390" y="3602735"/>
            <a:ext cx="5691225" cy="205740"/>
          </a:xfrm>
          <a:prstGeom prst="rect">
            <a:avLst/>
          </a:prstGeom>
          <a:solidFill>
            <a:srgbClr val="001746"/>
          </a:solidFill>
          <a:ln w="12700">
            <a:solidFill>
              <a:srgbClr val="001746"/>
            </a:solidFill>
          </a:ln>
        </p:spPr>
        <p:txBody>
          <a:bodyPr rtlCol="0" anchor="ctr" wrap="square">
            <a:noAutofit/>
          </a:bodyPr>
          <a:lstStyle/>
          <a:p>
            <a:pPr algn="ctr" marL="0" indent="0">
              <a:buNone/>
            </a:pPr>
            <a:r>
              <a:rPr sz="1200" b="0" u="none">
                <a:solidFill>
                  <a:srgbClr val="FFFFFF"/>
                </a:solidFill>
                <a:latin typeface="Garamond"/>
                <a:ea typeface="Garamond"/>
                <a:cs typeface="Garamond"/>
              </a:rPr>
              <a:t>Mitigation:</a:t>
            </a:r>
          </a:p>
        </p:txBody>
      </p:sp>
      <p:sp>
        <p:nvSpPr>
          <p:cNvPr id="21" name="Rectangle 20"/>
          <p:cNvSpPr/>
          <p:nvPr/>
        </p:nvSpPr>
        <p:spPr>
          <a:xfrm>
            <a:off x="6095390" y="3898087"/>
            <a:ext cx="5691225" cy="833932"/>
          </a:xfrm>
          <a:prstGeom prst="rect">
            <a:avLst/>
          </a:prstGeom>
          <a:solidFill>
            <a:srgbClr val="E4E9F0"/>
          </a:solidFill>
          <a:ln w="12700">
            <a:solidFill>
              <a:srgbClr val="E4E9F0"/>
            </a:solidFill>
          </a:ln>
        </p:spPr>
        <p:txBody>
          <a:bodyPr rtlCol="0" anchor="ctr" wrap="square">
            <a:noAutofit/>
          </a:bodyPr>
          <a:lstStyle/>
          <a:p>
            <a:pPr algn="ctr" marL="0" indent="0">
              <a:buNone/>
            </a:pPr>
            <a:r>
              <a:rPr sz="1200" b="0" u="none">
                <a:solidFill>
                  <a:srgbClr val="001746"/>
                </a:solidFill>
                <a:latin typeface="Garamond"/>
                <a:ea typeface="Garamond"/>
                <a:cs typeface="Garamond"/>
              </a:rPr>
              <a:t>Share gains (14% toward a 25% target), V2500 work and LEAP entry via SCI (2028-29) extend the runway. A GE 2028 retirement guide of 2.5% or less would ease it.</a:t>
            </a:r>
          </a:p>
        </p:txBody>
      </p:sp>
      <p:cxnSp>
        <p:nvCxnSpPr>
          <p:cNvPr id="22" name="Connector 21"/>
          <p:cNvCxnSpPr/>
          <p:nvPr/>
        </p:nvCxnSpPr>
        <p:spPr>
          <a:xfrm>
            <a:off x="5702198" y="4315053"/>
            <a:ext cx="393192" cy="0"/>
          </a:xfrm>
          <a:prstGeom prst="line">
            <a:avLst/>
          </a:prstGeom>
          <a:ln w="38100">
            <a:solidFill>
              <a:srgbClr val="E4E9F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92677" y="4850892"/>
            <a:ext cx="8310982" cy="0"/>
          </a:xfrm>
          <a:prstGeom prst="line">
            <a:avLst/>
          </a:prstGeom>
          <a:ln w="9525">
            <a:solidFill>
              <a:srgbClr val="001746"/>
            </a:solidFill>
          </a:ln>
        </p:spPr>
        <p:style>
          <a:lnRef idx="2">
            <a:schemeClr val="accent1"/>
          </a:lnRef>
          <a:fillRef idx="0">
            <a:schemeClr val="accent1"/>
          </a:fillRef>
          <a:effectRef idx="1">
            <a:schemeClr val="accent1"/>
          </a:effectRef>
          <a:fontRef idx="minor">
            <a:schemeClr val="tx1"/>
          </a:fontRef>
        </p:style>
      </p:cxnSp>
      <p:sp>
        <p:nvSpPr>
          <p:cNvPr id="24" name="Risk 4"/>
          <p:cNvSpPr/>
          <p:nvPr/>
        </p:nvSpPr>
        <p:spPr>
          <a:xfrm>
            <a:off x="75895" y="5265115"/>
            <a:ext cx="3395167" cy="833932"/>
          </a:xfrm>
          <a:prstGeom prst="homePlate">
            <a:avLst/>
          </a:prstGeom>
          <a:solidFill>
            <a:srgbClr val="FFFFFF"/>
          </a:solidFill>
          <a:ln w="28575">
            <a:solidFill>
              <a:srgbClr val="002060"/>
            </a:solidFill>
          </a:ln>
        </p:spPr>
        <p:txBody>
          <a:bodyPr rtlCol="0" anchor="ctr" tIns="91440" bIns="91440" wrap="square">
            <a:noAutofit/>
          </a:bodyPr>
          <a:lstStyle/>
          <a:p>
            <a:pPr algn="ctr" marL="0" indent="0">
              <a:buNone/>
            </a:pPr>
            <a:r>
              <a:rPr sz="1400" b="0" u="none">
                <a:solidFill>
                  <a:srgbClr val="000000"/>
                </a:solidFill>
                <a:latin typeface="Garamond"/>
                <a:ea typeface="Garamond"/>
                <a:cs typeface="Garamond"/>
              </a:rPr>
              <a:t>Earnings quality: affiliate revenue and open litigation</a:t>
            </a:r>
          </a:p>
        </p:txBody>
      </p:sp>
      <p:sp>
        <p:nvSpPr>
          <p:cNvPr id="25" name="Rectangle 24"/>
          <p:cNvSpPr/>
          <p:nvPr/>
        </p:nvSpPr>
        <p:spPr>
          <a:xfrm>
            <a:off x="3641140" y="4969764"/>
            <a:ext cx="2061057" cy="205740"/>
          </a:xfrm>
          <a:prstGeom prst="rect">
            <a:avLst/>
          </a:prstGeom>
          <a:solidFill>
            <a:srgbClr val="001746"/>
          </a:solidFill>
          <a:ln w="12700">
            <a:solidFill>
              <a:srgbClr val="001746"/>
            </a:solidFill>
          </a:ln>
        </p:spPr>
        <p:txBody>
          <a:bodyPr rtlCol="0" anchor="ctr" wrap="square">
            <a:noAutofit/>
          </a:bodyPr>
          <a:lstStyle/>
          <a:p>
            <a:pPr algn="ctr" marL="0" indent="0">
              <a:buNone/>
            </a:pPr>
            <a:r>
              <a:rPr sz="1200" b="0" u="none">
                <a:solidFill>
                  <a:srgbClr val="FFFFFF"/>
                </a:solidFill>
                <a:latin typeface="Garamond"/>
                <a:ea typeface="Garamond"/>
                <a:cs typeface="Garamond"/>
              </a:rPr>
              <a:t>Level of Risk</a:t>
            </a:r>
          </a:p>
        </p:txBody>
      </p:sp>
      <p:sp>
        <p:nvSpPr>
          <p:cNvPr id="26" name="Rectangle 25"/>
          <p:cNvSpPr/>
          <p:nvPr/>
        </p:nvSpPr>
        <p:spPr>
          <a:xfrm>
            <a:off x="3641140" y="5265115"/>
            <a:ext cx="2061057" cy="833932"/>
          </a:xfrm>
          <a:prstGeom prst="rect">
            <a:avLst/>
          </a:prstGeom>
          <a:solidFill>
            <a:srgbClr val="002060"/>
          </a:solidFill>
          <a:ln w="12700">
            <a:solidFill>
              <a:srgbClr val="E4E9F0"/>
            </a:solidFill>
          </a:ln>
        </p:spPr>
        <p:txBody>
          <a:bodyPr rtlCol="0" anchor="ctr" wrap="square">
            <a:noAutofit/>
          </a:bodyPr>
          <a:lstStyle/>
          <a:p>
            <a:pPr algn="ctr" marL="0" indent="0">
              <a:buNone/>
            </a:pPr>
            <a:r>
              <a:rPr sz="2000" b="1" u="none">
                <a:solidFill>
                  <a:srgbClr val="FFFFFF"/>
                </a:solidFill>
                <a:latin typeface="Garamond"/>
                <a:ea typeface="Garamond"/>
                <a:cs typeface="Garamond"/>
              </a:rPr>
              <a:t>Medium</a:t>
            </a:r>
          </a:p>
        </p:txBody>
      </p:sp>
      <p:sp>
        <p:nvSpPr>
          <p:cNvPr id="27" name="Rectangle 26"/>
          <p:cNvSpPr/>
          <p:nvPr/>
        </p:nvSpPr>
        <p:spPr>
          <a:xfrm>
            <a:off x="6095390" y="4969764"/>
            <a:ext cx="5691225" cy="205740"/>
          </a:xfrm>
          <a:prstGeom prst="rect">
            <a:avLst/>
          </a:prstGeom>
          <a:solidFill>
            <a:srgbClr val="001746"/>
          </a:solidFill>
          <a:ln w="12700">
            <a:solidFill>
              <a:srgbClr val="001746"/>
            </a:solidFill>
          </a:ln>
        </p:spPr>
        <p:txBody>
          <a:bodyPr rtlCol="0" anchor="ctr" wrap="square">
            <a:noAutofit/>
          </a:bodyPr>
          <a:lstStyle/>
          <a:p>
            <a:pPr algn="ctr" marL="0" indent="0">
              <a:buNone/>
            </a:pPr>
            <a:r>
              <a:rPr sz="1200" b="0" u="none">
                <a:solidFill>
                  <a:srgbClr val="FFFFFF"/>
                </a:solidFill>
                <a:latin typeface="Garamond"/>
                <a:ea typeface="Garamond"/>
                <a:cs typeface="Garamond"/>
              </a:rPr>
              <a:t>Mitigation:</a:t>
            </a:r>
          </a:p>
        </p:txBody>
      </p:sp>
      <p:sp>
        <p:nvSpPr>
          <p:cNvPr id="28" name="Rectangle 27"/>
          <p:cNvSpPr/>
          <p:nvPr/>
        </p:nvSpPr>
        <p:spPr>
          <a:xfrm>
            <a:off x="6095390" y="5265115"/>
            <a:ext cx="5691225" cy="833932"/>
          </a:xfrm>
          <a:prstGeom prst="rect">
            <a:avLst/>
          </a:prstGeom>
          <a:solidFill>
            <a:srgbClr val="E4E9F0"/>
          </a:solidFill>
          <a:ln w="12700">
            <a:solidFill>
              <a:srgbClr val="E4E9F0"/>
            </a:solidFill>
          </a:ln>
        </p:spPr>
        <p:txBody>
          <a:bodyPr rtlCol="0" anchor="ctr" wrap="square">
            <a:noAutofit/>
          </a:bodyPr>
          <a:lstStyle/>
          <a:p>
            <a:pPr algn="ctr" marL="0" indent="0">
              <a:buNone/>
            </a:pPr>
            <a:r>
              <a:rPr sz="1200" b="0" u="none">
                <a:solidFill>
                  <a:srgbClr val="001746"/>
                </a:solidFill>
                <a:latin typeface="Garamond"/>
                <a:ea typeface="Garamond"/>
                <a:cs typeface="Garamond"/>
              </a:rPr>
              <a:t>Clean KPMG control opinion and the 2025 Audit Committee review limit accounting risk. Disclosing third-party vs. SCI margins would help most.</a:t>
            </a:r>
          </a:p>
        </p:txBody>
      </p:sp>
      <p:cxnSp>
        <p:nvCxnSpPr>
          <p:cNvPr id="29" name="Connector 28"/>
          <p:cNvCxnSpPr/>
          <p:nvPr/>
        </p:nvCxnSpPr>
        <p:spPr>
          <a:xfrm>
            <a:off x="5702198" y="5682081"/>
            <a:ext cx="393192" cy="0"/>
          </a:xfrm>
          <a:prstGeom prst="line">
            <a:avLst/>
          </a:prstGeom>
          <a:ln w="38100">
            <a:solidFill>
              <a:srgbClr val="E4E9F0"/>
            </a:solidFill>
          </a:ln>
        </p:spPr>
        <p:style>
          <a:lnRef idx="2">
            <a:schemeClr val="accent1"/>
          </a:lnRef>
          <a:fillRef idx="0">
            <a:schemeClr val="accent1"/>
          </a:fillRef>
          <a:effectRef idx="1">
            <a:schemeClr val="accent1"/>
          </a:effectRef>
          <a:fontRef idx="minor">
            <a:schemeClr val="tx1"/>
          </a:fontRef>
        </p:style>
      </p:cxnSp>
      <p:sp>
        <p:nvSpPr>
          <p:cNvPr id="30"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31"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32"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33"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34"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35" name="Tracker: Risks (active)"/>
          <p:cNvSpPr/>
          <p:nvPr/>
        </p:nvSpPr>
        <p:spPr>
          <a:xfrm>
            <a:off x="8740444"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36"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Catalysts &amp; Signposts: What to Watch</a:t>
            </a:r>
          </a:p>
        </p:txBody>
      </p:sp>
      <p:sp>
        <p:nvSpPr>
          <p:cNvPr id="3" name="Header: Dated Tests Over the Next 15 Months"/>
          <p:cNvSpPr/>
          <p:nvPr/>
        </p:nvSpPr>
        <p:spPr>
          <a:xfrm>
            <a:off x="270662" y="914400"/>
            <a:ext cx="11632996"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Dated Tests Over the Next 15 Months</a:t>
            </a:r>
          </a:p>
        </p:txBody>
      </p:sp>
      <p:graphicFrame>
        <p:nvGraphicFramePr>
          <p:cNvPr id="4" name="Table 3"/>
          <p:cNvGraphicFramePr>
            <a:graphicFrameLocks noGrp="1"/>
          </p:cNvGraphicFramePr>
          <p:nvPr/>
        </p:nvGraphicFramePr>
        <p:xfrm>
          <a:off x="270662" y="1353312"/>
          <a:ext cx="11632995" cy="2823210"/>
        </p:xfrm>
        <a:graphic>
          <a:graphicData uri="http://schemas.openxmlformats.org/drawingml/2006/table">
            <a:tbl>
              <a:tblPr firstRow="0" bandRow="0">
                <a:tableStyleId>{2D5ABB26-0587-4C30-8999-92F81FD0307C}</a:tableStyleId>
              </a:tblPr>
              <a:tblGrid>
                <a:gridCol w="1196810"/>
                <a:gridCol w="2489365"/>
                <a:gridCol w="5744689"/>
                <a:gridCol w="2202131"/>
              </a:tblGrid>
              <a:tr h="313690">
                <a:tc>
                  <a:txBody>
                    <a:bodyPr/>
                    <a:lstStyle/>
                    <a:p>
                      <a:pPr algn="l"/>
                      <a:r>
                        <a:rPr sz="1300" b="1" u="none">
                          <a:solidFill>
                            <a:srgbClr val="FFFFFF"/>
                          </a:solidFill>
                          <a:latin typeface="Garamond"/>
                          <a:ea typeface="Garamond"/>
                          <a:cs typeface="Garamond"/>
                        </a:rPr>
                        <a:t>Date</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Event</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Watch for</a:t>
                      </a:r>
                    </a:p>
                  </a:txBody>
                  <a:tcPr marL="54864" marR="54864" marT="18288" marB="18288" anchor="ctr">
                    <a:lnL w="0">
                      <a:noFill/>
                    </a:lnL>
                    <a:lnR w="0">
                      <a:noFill/>
                    </a:lnR>
                    <a:lnT w="0">
                      <a:noFill/>
                    </a:lnT>
                    <a:lnB w="0">
                      <a:noFill/>
                    </a:lnB>
                    <a:solidFill>
                      <a:srgbClr val="002060"/>
                    </a:solidFill>
                  </a:tcPr>
                </a:tc>
                <a:tc>
                  <a:txBody>
                    <a:bodyPr/>
                    <a:lstStyle/>
                    <a:p>
                      <a:pPr algn="l"/>
                      <a:r>
                        <a:rPr sz="1300" b="1" u="none">
                          <a:solidFill>
                            <a:srgbClr val="FFFFFF"/>
                          </a:solidFill>
                          <a:latin typeface="Garamond"/>
                          <a:ea typeface="Garamond"/>
                          <a:cs typeface="Garamond"/>
                        </a:rPr>
                        <a:t>Tests</a:t>
                      </a:r>
                    </a:p>
                  </a:txBody>
                  <a:tcPr marL="54864" marR="54864" marT="18288" marB="18288" anchor="ctr">
                    <a:lnL w="0">
                      <a:noFill/>
                    </a:lnL>
                    <a:lnR w="0">
                      <a:noFill/>
                    </a:lnR>
                    <a:lnT w="0">
                      <a:noFill/>
                    </a:lnT>
                    <a:lnB w="0">
                      <a:noFill/>
                    </a:lnB>
                    <a:solidFill>
                      <a:srgbClr val="002060"/>
                    </a:solidFill>
                  </a:tcPr>
                </a:tc>
              </a:tr>
              <a:tr h="313690">
                <a:tc>
                  <a:txBody>
                    <a:bodyPr/>
                    <a:lstStyle/>
                    <a:p>
                      <a:pPr algn="l"/>
                      <a:r>
                        <a:rPr sz="1300" b="0" u="none">
                          <a:solidFill>
                            <a:srgbClr val="000000"/>
                          </a:solidFill>
                          <a:latin typeface="Garamond"/>
                          <a:ea typeface="Garamond"/>
                          <a:cs typeface="Garamond"/>
                        </a:rPr>
                        <a:t>10/28/26</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Q3'26 results</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AP EBITDA $270M+; AP margin 28%+; 300+ modules; H2 needs ~$578M</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S2, L1</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12/24/26</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DOE rules under EO 14420</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Treatment of turbines, behind-the-meter units, US assembly</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S4</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End-2026</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First Mod-1 delivery</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On-time shipment and commissioning</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S3, L2</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Jan 2027</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GE 2027 outlook</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CFM56 retirement and shop-visit guide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L3, S9</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Feb 2027</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Q4'26 and 2027 guidance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Segment EBITDA $2.3B+ reaffirmed; FY26 Adj. FCF $850M+</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L4, S6, S8</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3/31/27</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Mod-1 commissioning</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First unit commissioned on schedule</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S3</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6/30/27</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Power follow-on order</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No follow-on order falsifies L2; $1B+ for 2028+ delivery tests S1</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L2, S1</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0" u="none">
                          <a:solidFill>
                            <a:srgbClr val="000000"/>
                          </a:solidFill>
                          <a:latin typeface="Garamond"/>
                          <a:ea typeface="Garamond"/>
                          <a:cs typeface="Garamond"/>
                        </a:rPr>
                        <a:t>Jan 2028</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GE 2028 outlook</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Retirements 3.5%+ (bear) vs. 2.5% or less (bull)</a:t>
                      </a:r>
                    </a:p>
                  </a:txBody>
                  <a:tcPr marL="54864" marR="54864" marT="18288" marB="18288" anchor="ctr">
                    <a:lnL w="0">
                      <a:noFill/>
                    </a:lnL>
                    <a:lnR w="0">
                      <a:noFill/>
                    </a:lnR>
                    <a:lnT w="0">
                      <a:noFill/>
                    </a:lnT>
                    <a:lnB w="6350">
                      <a:solidFill>
                        <a:srgbClr val="D9D9D9"/>
                      </a:solidFill>
                    </a:lnB>
                    <a:noFill/>
                  </a:tcPr>
                </a:tc>
                <a:tc>
                  <a:txBody>
                    <a:bodyPr/>
                    <a:lstStyle/>
                    <a:p>
                      <a:pPr algn="l"/>
                      <a:r>
                        <a:rPr sz="1300" b="0" u="none">
                          <a:solidFill>
                            <a:srgbClr val="000000"/>
                          </a:solidFill>
                          <a:latin typeface="Garamond"/>
                          <a:ea typeface="Garamond"/>
                          <a:cs typeface="Garamond"/>
                        </a:rPr>
                        <a:t>L3 vs. S9</a:t>
                      </a:r>
                    </a:p>
                  </a:txBody>
                  <a:tcPr marL="54864" marR="54864" marT="18288" marB="18288" anchor="ctr">
                    <a:lnL w="0">
                      <a:noFill/>
                    </a:lnL>
                    <a:lnR w="0">
                      <a:noFill/>
                    </a:lnR>
                    <a:lnT w="0">
                      <a:noFill/>
                    </a:lnT>
                    <a:lnB w="6350">
                      <a:solidFill>
                        <a:srgbClr val="D9D9D9"/>
                      </a:solidFill>
                    </a:lnB>
                    <a:noFill/>
                  </a:tcPr>
                </a:tc>
              </a:tr>
            </a:tbl>
          </a:graphicData>
        </a:graphic>
      </p:graphicFrame>
      <p:sp>
        <p:nvSpPr>
          <p:cNvPr id="5" name="Stat Callout"/>
          <p:cNvSpPr/>
          <p:nvPr/>
        </p:nvSpPr>
        <p:spPr>
          <a:xfrm>
            <a:off x="270662" y="4352544"/>
            <a:ext cx="5702198"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Exit any long:</a:t>
            </a:r>
            <a:r>
              <a:rPr sz="1300" b="0" u="none">
                <a:solidFill>
                  <a:srgbClr val="FFFFFF"/>
                </a:solidFill>
                <a:latin typeface="Garamond"/>
                <a:ea typeface="Garamond"/>
                <a:cs typeface="Garamond"/>
              </a:rPr>
              <a:t> 2027 segment EBITDA guide below $2.0B</a:t>
            </a:r>
          </a:p>
        </p:txBody>
      </p:sp>
      <p:sp>
        <p:nvSpPr>
          <p:cNvPr id="6" name="Stat Callout"/>
          <p:cNvSpPr/>
          <p:nvPr/>
        </p:nvSpPr>
        <p:spPr>
          <a:xfrm>
            <a:off x="6201460" y="4352544"/>
            <a:ext cx="5702198" cy="645566"/>
          </a:xfrm>
          <a:prstGeom prst="rect">
            <a:avLst/>
          </a:prstGeom>
          <a:solidFill>
            <a:srgbClr val="041E41"/>
          </a:solidFill>
          <a:ln>
            <a:noFill/>
          </a:ln>
        </p:spPr>
        <p:txBody>
          <a:bodyPr rtlCol="0" anchor="ctr" tIns="91440" bIns="91440" wrap="square">
            <a:noAutofit/>
          </a:bodyPr>
          <a:lstStyle/>
          <a:p>
            <a:pPr algn="ctr" marL="0" indent="0">
              <a:buNone/>
            </a:pPr>
            <a:r>
              <a:rPr sz="1300" b="1" u="sng">
                <a:solidFill>
                  <a:srgbClr val="FFFFFF"/>
                </a:solidFill>
                <a:latin typeface="Garamond"/>
                <a:ea typeface="Garamond"/>
                <a:cs typeface="Garamond"/>
              </a:rPr>
              <a:t>Turn long:</a:t>
            </a:r>
            <a:r>
              <a:rPr sz="1300" b="0" u="none">
                <a:solidFill>
                  <a:srgbClr val="FFFFFF"/>
                </a:solidFill>
                <a:latin typeface="Garamond"/>
                <a:ea typeface="Garamond"/>
                <a:cs typeface="Garamond"/>
              </a:rPr>
              <a:t> below ~$120, or $1B+ new Power orders plus AP margin 30%+</a:t>
            </a:r>
          </a:p>
        </p:txBody>
      </p:sp>
      <p:sp>
        <p:nvSpPr>
          <p:cNvPr id="7" name="Tracker: Debate"/>
          <p:cNvSpPr/>
          <p:nvPr/>
        </p:nvSpPr>
        <p:spPr>
          <a:xfrm>
            <a:off x="114482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Debate</a:t>
            </a:r>
          </a:p>
        </p:txBody>
      </p:sp>
      <p:sp>
        <p:nvSpPr>
          <p:cNvPr id="8" name="Tracker: Company"/>
          <p:cNvSpPr/>
          <p:nvPr/>
        </p:nvSpPr>
        <p:spPr>
          <a:xfrm>
            <a:off x="2663952"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Company</a:t>
            </a:r>
          </a:p>
        </p:txBody>
      </p:sp>
      <p:sp>
        <p:nvSpPr>
          <p:cNvPr id="9" name="Tracker: Industry"/>
          <p:cNvSpPr/>
          <p:nvPr/>
        </p:nvSpPr>
        <p:spPr>
          <a:xfrm>
            <a:off x="4183075"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Industry</a:t>
            </a:r>
          </a:p>
        </p:txBody>
      </p:sp>
      <p:sp>
        <p:nvSpPr>
          <p:cNvPr id="10" name="Tracker: Growth Legs"/>
          <p:cNvSpPr/>
          <p:nvPr/>
        </p:nvSpPr>
        <p:spPr>
          <a:xfrm>
            <a:off x="5702198"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Growth Legs</a:t>
            </a:r>
          </a:p>
        </p:txBody>
      </p:sp>
      <p:sp>
        <p:nvSpPr>
          <p:cNvPr id="11" name="Tracker: Valuation"/>
          <p:cNvSpPr/>
          <p:nvPr/>
        </p:nvSpPr>
        <p:spPr>
          <a:xfrm>
            <a:off x="7221321" y="6485839"/>
            <a:ext cx="1270406" cy="281635"/>
          </a:xfrm>
          <a:prstGeom prst="rect">
            <a:avLst/>
          </a:prstGeom>
          <a:solidFill>
            <a:srgbClr val="A5A5A5"/>
          </a:solidFill>
          <a:ln w="12700">
            <a:solidFill>
              <a:srgbClr val="A5A5A5"/>
            </a:solidFill>
          </a:ln>
        </p:spPr>
        <p:txBody>
          <a:bodyPr rtlCol="0" anchor="ctr" wrap="square">
            <a:noAutofit/>
          </a:bodyPr>
          <a:lstStyle/>
          <a:p>
            <a:pPr algn="ctr" marL="0" indent="0">
              <a:buNone/>
            </a:pPr>
            <a:r>
              <a:rPr sz="1400" b="0" u="none">
                <a:solidFill>
                  <a:srgbClr val="FFFFFF"/>
                </a:solidFill>
                <a:latin typeface="Garamond"/>
                <a:ea typeface="Garamond"/>
                <a:cs typeface="Garamond"/>
              </a:rPr>
              <a:t>Valuation</a:t>
            </a:r>
          </a:p>
        </p:txBody>
      </p:sp>
      <p:sp>
        <p:nvSpPr>
          <p:cNvPr id="12" name="Tracker: Risks (active)"/>
          <p:cNvSpPr/>
          <p:nvPr/>
        </p:nvSpPr>
        <p:spPr>
          <a:xfrm>
            <a:off x="8740444" y="6485839"/>
            <a:ext cx="1270406" cy="281635"/>
          </a:xfrm>
          <a:prstGeom prst="rect">
            <a:avLst/>
          </a:prstGeom>
          <a:solidFill>
            <a:srgbClr val="041E41"/>
          </a:solidFill>
          <a:ln w="12700">
            <a:solidFill>
              <a:srgbClr val="041E41"/>
            </a:solidFill>
          </a:ln>
        </p:spPr>
        <p:txBody>
          <a:bodyPr rtlCol="0" anchor="ctr" wrap="square">
            <a:noAutofit/>
          </a:bodyPr>
          <a:lstStyle/>
          <a:p>
            <a:pPr algn="ctr" marL="0" indent="0">
              <a:buNone/>
            </a:pPr>
            <a:r>
              <a:rPr sz="1400" b="0" u="none">
                <a:solidFill>
                  <a:srgbClr val="FFFFFF"/>
                </a:solidFill>
                <a:latin typeface="Garamond"/>
                <a:ea typeface="Garamond"/>
                <a:cs typeface="Garamond"/>
              </a:rPr>
              <a:t>Risks</a:t>
            </a:r>
          </a:p>
        </p:txBody>
      </p:sp>
      <p:sp>
        <p:nvSpPr>
          <p:cNvPr id="1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Recommendation: Pass</a:t>
            </a:r>
          </a:p>
        </p:txBody>
      </p:sp>
      <p:sp>
        <p:nvSpPr>
          <p:cNvPr id="3" name="Header: Base-Case Value Sensitivity ($/share)"/>
          <p:cNvSpPr/>
          <p:nvPr/>
        </p:nvSpPr>
        <p:spPr>
          <a:xfrm>
            <a:off x="270662"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Base-Case Value Sensitivity ($/share)</a:t>
            </a:r>
          </a:p>
        </p:txBody>
      </p:sp>
      <p:sp>
        <p:nvSpPr>
          <p:cNvPr id="4" name="Text"/>
          <p:cNvSpPr txBox="1"/>
          <p:nvPr/>
        </p:nvSpPr>
        <p:spPr>
          <a:xfrm>
            <a:off x="270662" y="1353312"/>
            <a:ext cx="5679338" cy="492760"/>
          </a:xfrm>
          <a:prstGeom prst="rect">
            <a:avLst/>
          </a:prstGeom>
          <a:noFill/>
        </p:spPr>
        <p:txBody>
          <a:bodyPr wrap="square" tIns="91440" bIns="91440" anchor="t">
            <a:noAutofit/>
          </a:bodyPr>
          <a:lstStyle/>
          <a:p>
            <a:pPr algn="ctr" marL="0" indent="0">
              <a:buNone/>
            </a:pPr>
            <a:r>
              <a:rPr sz="2000" b="1" u="none" cap="small">
                <a:solidFill>
                  <a:srgbClr val="000000"/>
                </a:solidFill>
                <a:latin typeface="Garamond"/>
                <a:ea typeface="Garamond"/>
                <a:cs typeface="Garamond"/>
              </a:rPr>
              <a:t>Every cell sits below the $167 price</a:t>
            </a:r>
          </a:p>
        </p:txBody>
      </p:sp>
      <p:graphicFrame>
        <p:nvGraphicFramePr>
          <p:cNvPr id="5" name="Table 4"/>
          <p:cNvGraphicFramePr>
            <a:graphicFrameLocks noGrp="1"/>
          </p:cNvGraphicFramePr>
          <p:nvPr/>
        </p:nvGraphicFramePr>
        <p:xfrm>
          <a:off x="270662" y="2010664"/>
          <a:ext cx="5679335" cy="1254760"/>
        </p:xfrm>
        <a:graphic>
          <a:graphicData uri="http://schemas.openxmlformats.org/drawingml/2006/table">
            <a:tbl>
              <a:tblPr firstRow="0" bandRow="0">
                <a:tableStyleId>{2D5ABB26-0587-4C30-8999-92F81FD0307C}</a:tableStyleId>
              </a:tblPr>
              <a:tblGrid>
                <a:gridCol w="2129751"/>
                <a:gridCol w="887396"/>
                <a:gridCol w="887396"/>
                <a:gridCol w="887396"/>
                <a:gridCol w="887396"/>
              </a:tblGrid>
              <a:tr h="313690">
                <a:tc>
                  <a:txBody>
                    <a:bodyPr/>
                    <a:lstStyle/>
                    <a:p>
                      <a:pPr algn="l"/>
                      <a:r>
                        <a:rPr sz="1300" b="1" u="none">
                          <a:solidFill>
                            <a:srgbClr val="FFFFFF"/>
                          </a:solidFill>
                          <a:latin typeface="Garamond"/>
                          <a:ea typeface="Garamond"/>
                          <a:cs typeface="Garamond"/>
                        </a:rPr>
                        <a:t>WACC  \  AP plateau after 2028</a:t>
                      </a:r>
                    </a:p>
                  </a:txBody>
                  <a:tcPr marL="54864" marR="54864" marT="18288" marB="18288" anchor="ctr">
                    <a:lnL w="0">
                      <a:noFill/>
                    </a:lnL>
                    <a:lnR w="0">
                      <a:noFill/>
                    </a:lnR>
                    <a:lnT w="0">
                      <a:noFill/>
                    </a:lnT>
                    <a:lnB w="0">
                      <a:noFill/>
                    </a:lnB>
                    <a:solidFill>
                      <a:srgbClr val="002060"/>
                    </a:solidFill>
                  </a:tcPr>
                </a:tc>
                <a:tc>
                  <a:txBody>
                    <a:bodyPr/>
                    <a:lstStyle/>
                    <a:p>
                      <a:pPr algn="ctr"/>
                      <a:r>
                        <a:rPr sz="1300" b="1" u="none">
                          <a:solidFill>
                            <a:srgbClr val="FFFFFF"/>
                          </a:solidFill>
                          <a:latin typeface="Garamond"/>
                          <a:ea typeface="Garamond"/>
                          <a:cs typeface="Garamond"/>
                        </a:rPr>
                        <a:t>2 yrs</a:t>
                      </a:r>
                    </a:p>
                  </a:txBody>
                  <a:tcPr marL="54864" marR="54864" marT="18288" marB="18288" anchor="ctr">
                    <a:lnL w="0">
                      <a:noFill/>
                    </a:lnL>
                    <a:lnR w="0">
                      <a:noFill/>
                    </a:lnR>
                    <a:lnT w="0">
                      <a:noFill/>
                    </a:lnT>
                    <a:lnB w="0">
                      <a:noFill/>
                    </a:lnB>
                    <a:solidFill>
                      <a:srgbClr val="002060"/>
                    </a:solidFill>
                  </a:tcPr>
                </a:tc>
                <a:tc>
                  <a:txBody>
                    <a:bodyPr/>
                    <a:lstStyle/>
                    <a:p>
                      <a:pPr algn="ctr"/>
                      <a:r>
                        <a:rPr sz="1300" b="1" u="none">
                          <a:solidFill>
                            <a:srgbClr val="FFFFFF"/>
                          </a:solidFill>
                          <a:latin typeface="Garamond"/>
                          <a:ea typeface="Garamond"/>
                          <a:cs typeface="Garamond"/>
                        </a:rPr>
                        <a:t>4 yrs</a:t>
                      </a:r>
                    </a:p>
                  </a:txBody>
                  <a:tcPr marL="54864" marR="54864" marT="18288" marB="18288" anchor="ctr">
                    <a:lnL w="0">
                      <a:noFill/>
                    </a:lnL>
                    <a:lnR w="0">
                      <a:noFill/>
                    </a:lnR>
                    <a:lnT w="0">
                      <a:noFill/>
                    </a:lnT>
                    <a:lnB w="0">
                      <a:noFill/>
                    </a:lnB>
                    <a:solidFill>
                      <a:srgbClr val="002060"/>
                    </a:solidFill>
                  </a:tcPr>
                </a:tc>
                <a:tc>
                  <a:txBody>
                    <a:bodyPr/>
                    <a:lstStyle/>
                    <a:p>
                      <a:pPr algn="ctr"/>
                      <a:r>
                        <a:rPr sz="1300" b="1" u="none">
                          <a:solidFill>
                            <a:srgbClr val="FFFFFF"/>
                          </a:solidFill>
                          <a:latin typeface="Garamond"/>
                          <a:ea typeface="Garamond"/>
                          <a:cs typeface="Garamond"/>
                        </a:rPr>
                        <a:t>6 yrs</a:t>
                      </a:r>
                    </a:p>
                  </a:txBody>
                  <a:tcPr marL="54864" marR="54864" marT="18288" marB="18288" anchor="ctr">
                    <a:lnL w="0">
                      <a:noFill/>
                    </a:lnL>
                    <a:lnR w="0">
                      <a:noFill/>
                    </a:lnR>
                    <a:lnT w="0">
                      <a:noFill/>
                    </a:lnT>
                    <a:lnB w="0">
                      <a:noFill/>
                    </a:lnB>
                    <a:solidFill>
                      <a:srgbClr val="002060"/>
                    </a:solidFill>
                  </a:tcPr>
                </a:tc>
                <a:tc>
                  <a:txBody>
                    <a:bodyPr/>
                    <a:lstStyle/>
                    <a:p>
                      <a:pPr algn="ctr"/>
                      <a:r>
                        <a:rPr sz="1300" b="1" u="none">
                          <a:solidFill>
                            <a:srgbClr val="FFFFFF"/>
                          </a:solidFill>
                          <a:latin typeface="Garamond"/>
                          <a:ea typeface="Garamond"/>
                          <a:cs typeface="Garamond"/>
                        </a:rPr>
                        <a:t>8 yrs</a:t>
                      </a:r>
                    </a:p>
                  </a:txBody>
                  <a:tcPr marL="54864" marR="54864" marT="18288" marB="18288" anchor="ctr">
                    <a:lnL w="0">
                      <a:noFill/>
                    </a:lnL>
                    <a:lnR w="0">
                      <a:noFill/>
                    </a:lnR>
                    <a:lnT w="0">
                      <a:noFill/>
                    </a:lnT>
                    <a:lnB w="0">
                      <a:noFill/>
                    </a:lnB>
                    <a:solidFill>
                      <a:srgbClr val="002060"/>
                    </a:solidFill>
                  </a:tcPr>
                </a:tc>
              </a:tr>
              <a:tr h="313690">
                <a:tc>
                  <a:txBody>
                    <a:bodyPr/>
                    <a:lstStyle/>
                    <a:p>
                      <a:pPr algn="l"/>
                      <a:r>
                        <a:rPr sz="1300" b="0" u="none">
                          <a:solidFill>
                            <a:srgbClr val="000000"/>
                          </a:solidFill>
                          <a:latin typeface="Garamond"/>
                          <a:ea typeface="Garamond"/>
                          <a:cs typeface="Garamond"/>
                        </a:rPr>
                        <a:t>9%</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$85</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$92</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$99</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$105</a:t>
                      </a:r>
                    </a:p>
                  </a:txBody>
                  <a:tcPr marL="54864" marR="54864" marT="18288" marB="18288" anchor="ctr">
                    <a:lnL w="0">
                      <a:noFill/>
                    </a:lnL>
                    <a:lnR w="0">
                      <a:noFill/>
                    </a:lnR>
                    <a:lnT w="0">
                      <a:noFill/>
                    </a:lnT>
                    <a:lnB w="6350">
                      <a:solidFill>
                        <a:srgbClr val="D9D9D9"/>
                      </a:solidFill>
                    </a:lnB>
                    <a:noFill/>
                  </a:tcPr>
                </a:tc>
              </a:tr>
              <a:tr h="313690">
                <a:tc>
                  <a:txBody>
                    <a:bodyPr/>
                    <a:lstStyle/>
                    <a:p>
                      <a:pPr algn="l"/>
                      <a:r>
                        <a:rPr sz="1300" b="1" u="none">
                          <a:solidFill>
                            <a:srgbClr val="000000"/>
                          </a:solidFill>
                          <a:latin typeface="Garamond"/>
                          <a:ea typeface="Garamond"/>
                          <a:cs typeface="Garamond"/>
                        </a:rPr>
                        <a:t>10% (base)</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ctr"/>
                      <a:r>
                        <a:rPr sz="1300" b="1" u="none">
                          <a:solidFill>
                            <a:srgbClr val="000000"/>
                          </a:solidFill>
                          <a:latin typeface="Garamond"/>
                          <a:ea typeface="Garamond"/>
                          <a:cs typeface="Garamond"/>
                        </a:rPr>
                        <a:t>$81</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ctr"/>
                      <a:r>
                        <a:rPr sz="1300" b="1" u="none">
                          <a:solidFill>
                            <a:srgbClr val="000000"/>
                          </a:solidFill>
                          <a:latin typeface="Garamond"/>
                          <a:ea typeface="Garamond"/>
                          <a:cs typeface="Garamond"/>
                        </a:rPr>
                        <a:t>$89</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ctr"/>
                      <a:r>
                        <a:rPr sz="1300" b="1" u="none">
                          <a:solidFill>
                            <a:srgbClr val="000000"/>
                          </a:solidFill>
                          <a:latin typeface="Garamond"/>
                          <a:ea typeface="Garamond"/>
                          <a:cs typeface="Garamond"/>
                        </a:rPr>
                        <a:t>$94</a:t>
                      </a:r>
                    </a:p>
                  </a:txBody>
                  <a:tcPr marL="54864" marR="54864" marT="18288" marB="18288" anchor="ctr">
                    <a:lnL w="0">
                      <a:noFill/>
                    </a:lnL>
                    <a:lnR w="0">
                      <a:noFill/>
                    </a:lnR>
                    <a:lnT w="0">
                      <a:noFill/>
                    </a:lnT>
                    <a:lnB w="6350">
                      <a:solidFill>
                        <a:srgbClr val="D9D9D9"/>
                      </a:solidFill>
                    </a:lnB>
                    <a:solidFill>
                      <a:srgbClr val="FFF2CC"/>
                    </a:solidFill>
                  </a:tcPr>
                </a:tc>
                <a:tc>
                  <a:txBody>
                    <a:bodyPr/>
                    <a:lstStyle/>
                    <a:p>
                      <a:pPr algn="ctr"/>
                      <a:r>
                        <a:rPr sz="1300" b="1" u="none">
                          <a:solidFill>
                            <a:srgbClr val="000000"/>
                          </a:solidFill>
                          <a:latin typeface="Garamond"/>
                          <a:ea typeface="Garamond"/>
                          <a:cs typeface="Garamond"/>
                        </a:rPr>
                        <a:t>$99</a:t>
                      </a:r>
                    </a:p>
                  </a:txBody>
                  <a:tcPr marL="54864" marR="54864" marT="18288" marB="18288" anchor="ctr">
                    <a:lnL w="0">
                      <a:noFill/>
                    </a:lnL>
                    <a:lnR w="0">
                      <a:noFill/>
                    </a:lnR>
                    <a:lnT w="0">
                      <a:noFill/>
                    </a:lnT>
                    <a:lnB w="6350">
                      <a:solidFill>
                        <a:srgbClr val="D9D9D9"/>
                      </a:solidFill>
                    </a:lnB>
                    <a:solidFill>
                      <a:srgbClr val="FFF2CC"/>
                    </a:solidFill>
                  </a:tcPr>
                </a:tc>
              </a:tr>
              <a:tr h="313690">
                <a:tc>
                  <a:txBody>
                    <a:bodyPr/>
                    <a:lstStyle/>
                    <a:p>
                      <a:pPr algn="l"/>
                      <a:r>
                        <a:rPr sz="1300" b="0" u="none">
                          <a:solidFill>
                            <a:srgbClr val="000000"/>
                          </a:solidFill>
                          <a:latin typeface="Garamond"/>
                          <a:ea typeface="Garamond"/>
                          <a:cs typeface="Garamond"/>
                        </a:rPr>
                        <a:t>11%</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$79</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$85</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$90</a:t>
                      </a:r>
                    </a:p>
                  </a:txBody>
                  <a:tcPr marL="54864" marR="54864" marT="18288" marB="18288" anchor="ctr">
                    <a:lnL w="0">
                      <a:noFill/>
                    </a:lnL>
                    <a:lnR w="0">
                      <a:noFill/>
                    </a:lnR>
                    <a:lnT w="0">
                      <a:noFill/>
                    </a:lnT>
                    <a:lnB w="6350">
                      <a:solidFill>
                        <a:srgbClr val="D9D9D9"/>
                      </a:solidFill>
                    </a:lnB>
                    <a:noFill/>
                  </a:tcPr>
                </a:tc>
                <a:tc>
                  <a:txBody>
                    <a:bodyPr/>
                    <a:lstStyle/>
                    <a:p>
                      <a:pPr algn="ctr"/>
                      <a:r>
                        <a:rPr sz="1300" b="0" u="none">
                          <a:solidFill>
                            <a:srgbClr val="000000"/>
                          </a:solidFill>
                          <a:latin typeface="Garamond"/>
                          <a:ea typeface="Garamond"/>
                          <a:cs typeface="Garamond"/>
                        </a:rPr>
                        <a:t>$94</a:t>
                      </a:r>
                    </a:p>
                  </a:txBody>
                  <a:tcPr marL="54864" marR="54864" marT="18288" marB="18288" anchor="ctr">
                    <a:lnL w="0">
                      <a:noFill/>
                    </a:lnL>
                    <a:lnR w="0">
                      <a:noFill/>
                    </a:lnR>
                    <a:lnT w="0">
                      <a:noFill/>
                    </a:lnT>
                    <a:lnB w="6350">
                      <a:solidFill>
                        <a:srgbClr val="D9D9D9"/>
                      </a:solidFill>
                    </a:lnB>
                    <a:noFill/>
                  </a:tcPr>
                </a:tc>
              </a:tr>
            </a:tbl>
          </a:graphicData>
        </a:graphic>
      </p:graphicFrame>
      <p:sp>
        <p:nvSpPr>
          <p:cNvPr id="6" name="Header: Key Metrics"/>
          <p:cNvSpPr/>
          <p:nvPr/>
        </p:nvSpPr>
        <p:spPr>
          <a:xfrm>
            <a:off x="270662" y="3455416"/>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Key Metrics</a:t>
            </a:r>
          </a:p>
        </p:txBody>
      </p:sp>
      <p:sp>
        <p:nvSpPr>
          <p:cNvPr id="7" name="Metric Tile"/>
          <p:cNvSpPr/>
          <p:nvPr/>
        </p:nvSpPr>
        <p:spPr>
          <a:xfrm>
            <a:off x="270662" y="3894328"/>
            <a:ext cx="2784805" cy="914400"/>
          </a:xfrm>
          <a:prstGeom prst="rect">
            <a:avLst/>
          </a:prstGeom>
          <a:solidFill>
            <a:srgbClr val="E4E9F0"/>
          </a:solidFill>
          <a:ln w="12700">
            <a:solidFill>
              <a:srgbClr val="203764"/>
            </a:solidFill>
          </a:ln>
        </p:spPr>
        <p:txBody>
          <a:bodyPr rtlCol="0" anchor="ctr" wrap="square">
            <a:noAutofit/>
          </a:bodyPr>
          <a:lstStyle/>
          <a:p>
            <a:pPr algn="ctr" marL="0" indent="0">
              <a:buNone/>
            </a:pPr>
            <a:r>
              <a:rPr sz="2600" b="1" u="none" cap="small">
                <a:solidFill>
                  <a:srgbClr val="000000"/>
                </a:solidFill>
                <a:latin typeface="Garamond"/>
                <a:ea typeface="Garamond"/>
                <a:cs typeface="Garamond"/>
              </a:rPr>
              <a:t>24-Mo. Value: $181</a:t>
            </a:r>
          </a:p>
        </p:txBody>
      </p:sp>
      <p:sp>
        <p:nvSpPr>
          <p:cNvPr id="8" name="Metric Tile"/>
          <p:cNvSpPr/>
          <p:nvPr/>
        </p:nvSpPr>
        <p:spPr>
          <a:xfrm>
            <a:off x="3165195" y="3894328"/>
            <a:ext cx="2784805" cy="914400"/>
          </a:xfrm>
          <a:prstGeom prst="rect">
            <a:avLst/>
          </a:prstGeom>
          <a:solidFill>
            <a:srgbClr val="E4E9F0"/>
          </a:solidFill>
          <a:ln w="12700">
            <a:solidFill>
              <a:srgbClr val="203764"/>
            </a:solidFill>
          </a:ln>
        </p:spPr>
        <p:txBody>
          <a:bodyPr rtlCol="0" anchor="ctr" wrap="square">
            <a:noAutofit/>
          </a:bodyPr>
          <a:lstStyle/>
          <a:p>
            <a:pPr algn="ctr" marL="0" indent="0">
              <a:buNone/>
            </a:pPr>
            <a:r>
              <a:rPr sz="2600" b="1" u="none" cap="small">
                <a:solidFill>
                  <a:srgbClr val="000000"/>
                </a:solidFill>
                <a:latin typeface="Garamond"/>
                <a:ea typeface="Garamond"/>
                <a:cs typeface="Garamond"/>
              </a:rPr>
              <a:t>DCF Value: $98</a:t>
            </a:r>
          </a:p>
        </p:txBody>
      </p:sp>
      <p:sp>
        <p:nvSpPr>
          <p:cNvPr id="9" name="Header: Why Not Short"/>
          <p:cNvSpPr/>
          <p:nvPr/>
        </p:nvSpPr>
        <p:spPr>
          <a:xfrm>
            <a:off x="270662" y="497332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Why Not Short</a:t>
            </a:r>
          </a:p>
        </p:txBody>
      </p:sp>
      <p:sp>
        <p:nvSpPr>
          <p:cNvPr id="10" name="Bullets"/>
          <p:cNvSpPr txBox="1"/>
          <p:nvPr/>
        </p:nvSpPr>
        <p:spPr>
          <a:xfrm>
            <a:off x="270662" y="5412232"/>
            <a:ext cx="5679338" cy="70967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Catalysts lean positive near term; </a:t>
            </a:r>
            <a:r>
              <a:rPr sz="1700" b="1" u="none">
                <a:solidFill>
                  <a:srgbClr val="000000"/>
                </a:solidFill>
                <a:latin typeface="Garamond"/>
                <a:ea typeface="Garamond"/>
                <a:cs typeface="Garamond"/>
              </a:rPr>
              <a:t>10.4%</a:t>
            </a:r>
            <a:r>
              <a:rPr sz="1700" b="0" u="none">
                <a:solidFill>
                  <a:srgbClr val="000000"/>
                </a:solidFill>
                <a:latin typeface="Garamond"/>
                <a:ea typeface="Garamond"/>
                <a:cs typeface="Garamond"/>
              </a:rPr>
              <a:t> short interest and a </a:t>
            </a:r>
            <a:r>
              <a:rPr sz="1700" b="1" u="none">
                <a:solidFill>
                  <a:srgbClr val="000000"/>
                </a:solidFill>
                <a:latin typeface="Garamond"/>
                <a:ea typeface="Garamond"/>
                <a:cs typeface="Garamond"/>
              </a:rPr>
              <a:t>$500M</a:t>
            </a:r>
            <a:r>
              <a:rPr sz="1700" b="0" u="none">
                <a:solidFill>
                  <a:srgbClr val="000000"/>
                </a:solidFill>
                <a:latin typeface="Garamond"/>
                <a:ea typeface="Garamond"/>
                <a:cs typeface="Garamond"/>
              </a:rPr>
              <a:t> buyback add squeeze risk</a:t>
            </a:r>
          </a:p>
        </p:txBody>
      </p:sp>
      <p:sp>
        <p:nvSpPr>
          <p:cNvPr id="11" name="Header: Carry-Forward Theses &amp; Diligence"/>
          <p:cNvSpPr/>
          <p:nvPr/>
        </p:nvSpPr>
        <p:spPr>
          <a:xfrm>
            <a:off x="6224320"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Carry-Forward Theses &amp; Diligence</a:t>
            </a:r>
          </a:p>
        </p:txBody>
      </p:sp>
      <p:sp>
        <p:nvSpPr>
          <p:cNvPr id="12" name="Rectangle 11"/>
          <p:cNvSpPr/>
          <p:nvPr/>
        </p:nvSpPr>
        <p:spPr>
          <a:xfrm>
            <a:off x="6224320" y="1353312"/>
            <a:ext cx="580644" cy="346557"/>
          </a:xfrm>
          <a:prstGeom prst="rect">
            <a:avLst/>
          </a:prstGeom>
          <a:solidFill>
            <a:srgbClr val="001746"/>
          </a:solidFill>
          <a:ln w="12700">
            <a:solidFill>
              <a:srgbClr val="001746"/>
            </a:solidFill>
          </a:ln>
        </p:spPr>
        <p:txBody>
          <a:bodyPr rtlCol="0" anchor="ctr" wrap="square">
            <a:noAutofit/>
          </a:bodyPr>
          <a:lstStyle/>
          <a:p>
            <a:pPr algn="ctr" marL="0" indent="0">
              <a:buNone/>
            </a:pPr>
            <a:r>
              <a:rPr sz="1800" b="0" u="none">
                <a:solidFill>
                  <a:srgbClr val="FFFFFF"/>
                </a:solidFill>
                <a:latin typeface="Garamond"/>
                <a:ea typeface="Garamond"/>
                <a:cs typeface="Garamond"/>
              </a:rPr>
              <a:t>1</a:t>
            </a:r>
          </a:p>
        </p:txBody>
      </p:sp>
      <p:sp>
        <p:nvSpPr>
          <p:cNvPr id="13" name="Rectangle 12"/>
          <p:cNvSpPr/>
          <p:nvPr/>
        </p:nvSpPr>
        <p:spPr>
          <a:xfrm>
            <a:off x="6819595" y="1353312"/>
            <a:ext cx="5084064" cy="346557"/>
          </a:xfrm>
          <a:prstGeom prst="rect">
            <a:avLst/>
          </a:prstGeom>
          <a:solidFill>
            <a:srgbClr val="E4E9F0"/>
          </a:solidFill>
          <a:ln w="12700">
            <a:solidFill>
              <a:srgbClr val="E4E9F0"/>
            </a:solidFill>
          </a:ln>
        </p:spPr>
        <p:txBody>
          <a:bodyPr rtlCol="0" anchor="ctr" wrap="square">
            <a:noAutofit/>
          </a:bodyPr>
          <a:lstStyle/>
          <a:p>
            <a:pPr algn="ctr" marL="0" indent="0">
              <a:buNone/>
            </a:pPr>
            <a:r>
              <a:rPr sz="1800" b="1" u="none">
                <a:solidFill>
                  <a:srgbClr val="001746"/>
                </a:solidFill>
                <a:latin typeface="Garamond"/>
                <a:ea typeface="Garamond"/>
                <a:cs typeface="Garamond"/>
              </a:rPr>
              <a:t>S4: EO 14420 risk to Power</a:t>
            </a:r>
          </a:p>
        </p:txBody>
      </p:sp>
      <p:sp>
        <p:nvSpPr>
          <p:cNvPr id="14" name="TextBox 13"/>
          <p:cNvSpPr txBox="1"/>
          <p:nvPr/>
        </p:nvSpPr>
        <p:spPr>
          <a:xfrm>
            <a:off x="6224320" y="1754733"/>
            <a:ext cx="5679338" cy="339343"/>
          </a:xfrm>
          <a:prstGeom prst="rect">
            <a:avLst/>
          </a:prstGeom>
          <a:noFill/>
        </p:spPr>
        <p:txBody>
          <a:bodyPr wrap="square" anchor="t">
            <a:noAutofit/>
          </a:bodyPr>
          <a:lstStyle/>
          <a:p>
            <a:pPr marL="0" indent="0">
              <a:buNone/>
            </a:pPr>
            <a:r>
              <a:rPr sz="1600" b="0" u="none">
                <a:solidFill>
                  <a:srgbClr val="1E1E1E"/>
                </a:solidFill>
                <a:latin typeface="Garamond"/>
                <a:ea typeface="Garamond"/>
                <a:cs typeface="Garamond"/>
              </a:rPr>
              <a:t>Where are J&amp;F units built, and do DOE rules cover them?</a:t>
            </a:r>
          </a:p>
        </p:txBody>
      </p:sp>
      <p:sp>
        <p:nvSpPr>
          <p:cNvPr id="15" name="Rectangle 14"/>
          <p:cNvSpPr/>
          <p:nvPr/>
        </p:nvSpPr>
        <p:spPr>
          <a:xfrm>
            <a:off x="6224320" y="2203805"/>
            <a:ext cx="580644" cy="346557"/>
          </a:xfrm>
          <a:prstGeom prst="rect">
            <a:avLst/>
          </a:prstGeom>
          <a:solidFill>
            <a:srgbClr val="001746"/>
          </a:solidFill>
          <a:ln w="12700">
            <a:solidFill>
              <a:srgbClr val="001746"/>
            </a:solidFill>
          </a:ln>
        </p:spPr>
        <p:txBody>
          <a:bodyPr rtlCol="0" anchor="ctr" wrap="square">
            <a:noAutofit/>
          </a:bodyPr>
          <a:lstStyle/>
          <a:p>
            <a:pPr algn="ctr" marL="0" indent="0">
              <a:buNone/>
            </a:pPr>
            <a:r>
              <a:rPr sz="1800" b="0" u="none">
                <a:solidFill>
                  <a:srgbClr val="FFFFFF"/>
                </a:solidFill>
                <a:latin typeface="Garamond"/>
                <a:ea typeface="Garamond"/>
                <a:cs typeface="Garamond"/>
              </a:rPr>
              <a:t>2</a:t>
            </a:r>
          </a:p>
        </p:txBody>
      </p:sp>
      <p:sp>
        <p:nvSpPr>
          <p:cNvPr id="16" name="Rectangle 15"/>
          <p:cNvSpPr/>
          <p:nvPr/>
        </p:nvSpPr>
        <p:spPr>
          <a:xfrm>
            <a:off x="6819595" y="2203805"/>
            <a:ext cx="5084064" cy="346557"/>
          </a:xfrm>
          <a:prstGeom prst="rect">
            <a:avLst/>
          </a:prstGeom>
          <a:solidFill>
            <a:srgbClr val="E4E9F0"/>
          </a:solidFill>
          <a:ln w="12700">
            <a:solidFill>
              <a:srgbClr val="E4E9F0"/>
            </a:solidFill>
          </a:ln>
        </p:spPr>
        <p:txBody>
          <a:bodyPr rtlCol="0" anchor="ctr" wrap="square">
            <a:noAutofit/>
          </a:bodyPr>
          <a:lstStyle/>
          <a:p>
            <a:pPr algn="ctr" marL="0" indent="0">
              <a:buNone/>
            </a:pPr>
            <a:r>
              <a:rPr sz="1800" b="1" u="none">
                <a:solidFill>
                  <a:srgbClr val="001746"/>
                </a:solidFill>
                <a:latin typeface="Garamond"/>
                <a:ea typeface="Garamond"/>
                <a:cs typeface="Garamond"/>
              </a:rPr>
              <a:t>S2: AP margin of 27% or less</a:t>
            </a:r>
          </a:p>
        </p:txBody>
      </p:sp>
      <p:sp>
        <p:nvSpPr>
          <p:cNvPr id="17" name="TextBox 16"/>
          <p:cNvSpPr txBox="1"/>
          <p:nvPr/>
        </p:nvSpPr>
        <p:spPr>
          <a:xfrm>
            <a:off x="6224320" y="2605227"/>
            <a:ext cx="5679338" cy="339343"/>
          </a:xfrm>
          <a:prstGeom prst="rect">
            <a:avLst/>
          </a:prstGeom>
          <a:noFill/>
        </p:spPr>
        <p:txBody>
          <a:bodyPr wrap="square" anchor="t">
            <a:noAutofit/>
          </a:bodyPr>
          <a:lstStyle/>
          <a:p>
            <a:pPr marL="0" indent="0">
              <a:buNone/>
            </a:pPr>
            <a:r>
              <a:rPr sz="1600" b="0" u="none">
                <a:solidFill>
                  <a:srgbClr val="1E1E1E"/>
                </a:solidFill>
                <a:latin typeface="Garamond"/>
                <a:ea typeface="Garamond"/>
                <a:cs typeface="Garamond"/>
              </a:rPr>
              <a:t>Third-party vs. SCI margins; heavy vs. light workscopes?</a:t>
            </a:r>
          </a:p>
        </p:txBody>
      </p:sp>
      <p:sp>
        <p:nvSpPr>
          <p:cNvPr id="18" name="Rectangle 17"/>
          <p:cNvSpPr/>
          <p:nvPr/>
        </p:nvSpPr>
        <p:spPr>
          <a:xfrm>
            <a:off x="6224320" y="3054299"/>
            <a:ext cx="580644" cy="346557"/>
          </a:xfrm>
          <a:prstGeom prst="rect">
            <a:avLst/>
          </a:prstGeom>
          <a:solidFill>
            <a:srgbClr val="001746"/>
          </a:solidFill>
          <a:ln w="12700">
            <a:solidFill>
              <a:srgbClr val="001746"/>
            </a:solidFill>
          </a:ln>
        </p:spPr>
        <p:txBody>
          <a:bodyPr rtlCol="0" anchor="ctr" wrap="square">
            <a:noAutofit/>
          </a:bodyPr>
          <a:lstStyle/>
          <a:p>
            <a:pPr algn="ctr" marL="0" indent="0">
              <a:buNone/>
            </a:pPr>
            <a:r>
              <a:rPr sz="1800" b="0" u="none">
                <a:solidFill>
                  <a:srgbClr val="FFFFFF"/>
                </a:solidFill>
                <a:latin typeface="Garamond"/>
                <a:ea typeface="Garamond"/>
                <a:cs typeface="Garamond"/>
              </a:rPr>
              <a:t>3</a:t>
            </a:r>
          </a:p>
        </p:txBody>
      </p:sp>
      <p:sp>
        <p:nvSpPr>
          <p:cNvPr id="19" name="Rectangle 18"/>
          <p:cNvSpPr/>
          <p:nvPr/>
        </p:nvSpPr>
        <p:spPr>
          <a:xfrm>
            <a:off x="6819595" y="3054299"/>
            <a:ext cx="5084064" cy="346557"/>
          </a:xfrm>
          <a:prstGeom prst="rect">
            <a:avLst/>
          </a:prstGeom>
          <a:solidFill>
            <a:srgbClr val="E4E9F0"/>
          </a:solidFill>
          <a:ln w="12700">
            <a:solidFill>
              <a:srgbClr val="E4E9F0"/>
            </a:solidFill>
          </a:ln>
        </p:spPr>
        <p:txBody>
          <a:bodyPr rtlCol="0" anchor="ctr" wrap="square">
            <a:noAutofit/>
          </a:bodyPr>
          <a:lstStyle/>
          <a:p>
            <a:pPr algn="ctr" marL="0" indent="0">
              <a:buNone/>
            </a:pPr>
            <a:r>
              <a:rPr sz="1800" b="1" u="none">
                <a:solidFill>
                  <a:srgbClr val="001746"/>
                </a:solidFill>
                <a:latin typeface="Garamond"/>
                <a:ea typeface="Garamond"/>
                <a:cs typeface="Garamond"/>
              </a:rPr>
              <a:t>L3: retirements of 2% or less</a:t>
            </a:r>
          </a:p>
        </p:txBody>
      </p:sp>
      <p:sp>
        <p:nvSpPr>
          <p:cNvPr id="20" name="TextBox 19"/>
          <p:cNvSpPr txBox="1"/>
          <p:nvPr/>
        </p:nvSpPr>
        <p:spPr>
          <a:xfrm>
            <a:off x="6224320" y="3455720"/>
            <a:ext cx="5679338" cy="339343"/>
          </a:xfrm>
          <a:prstGeom prst="rect">
            <a:avLst/>
          </a:prstGeom>
          <a:noFill/>
        </p:spPr>
        <p:txBody>
          <a:bodyPr wrap="square" anchor="t">
            <a:noAutofit/>
          </a:bodyPr>
          <a:lstStyle/>
          <a:p>
            <a:pPr marL="0" indent="0">
              <a:buNone/>
            </a:pPr>
            <a:r>
              <a:rPr sz="1600" b="0" u="none">
                <a:solidFill>
                  <a:srgbClr val="1E1E1E"/>
                </a:solidFill>
                <a:latin typeface="Garamond"/>
                <a:ea typeface="Garamond"/>
                <a:cs typeface="Garamond"/>
              </a:rPr>
              <a:t>Do GE's 2027-28 assumptions stay at or below 2%?</a:t>
            </a:r>
          </a:p>
        </p:txBody>
      </p:sp>
      <p:sp>
        <p:nvSpPr>
          <p:cNvPr id="21" name="Header: What Would Change Our Mind"/>
          <p:cNvSpPr/>
          <p:nvPr/>
        </p:nvSpPr>
        <p:spPr>
          <a:xfrm>
            <a:off x="6224320" y="4069384"/>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What Would Change Our Mind</a:t>
            </a:r>
          </a:p>
        </p:txBody>
      </p:sp>
      <p:sp>
        <p:nvSpPr>
          <p:cNvPr id="22" name="Bullets"/>
          <p:cNvSpPr txBox="1"/>
          <p:nvPr/>
        </p:nvSpPr>
        <p:spPr>
          <a:xfrm>
            <a:off x="6224320" y="4508296"/>
            <a:ext cx="5679338" cy="1236471"/>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1" u="none">
                <a:solidFill>
                  <a:srgbClr val="000000"/>
                </a:solidFill>
                <a:latin typeface="Garamond"/>
                <a:ea typeface="Garamond"/>
                <a:cs typeface="Garamond"/>
              </a:rPr>
              <a:t>Buy</a:t>
            </a:r>
            <a:r>
              <a:rPr sz="1700" b="0" u="none">
                <a:solidFill>
                  <a:srgbClr val="000000"/>
                </a:solidFill>
                <a:latin typeface="Garamond"/>
                <a:ea typeface="Garamond"/>
                <a:cs typeface="Garamond"/>
              </a:rPr>
              <a:t> below ~$120, or on $1B+ of 2028+ Power orders plus AP margin 30%+</a:t>
            </a:r>
          </a:p>
          <a:p>
            <a:pPr marL="457200" indent="-336499">
              <a:buClr>
                <a:srgbClr val="000000"/>
              </a:buClr>
              <a:buSzPts val="1700"/>
              <a:buFont typeface="Garamond"/>
              <a:buChar char="●"/>
            </a:pPr>
            <a:r>
              <a:rPr sz="1700" b="1" u="none">
                <a:solidFill>
                  <a:srgbClr val="000000"/>
                </a:solidFill>
                <a:latin typeface="Garamond"/>
                <a:ea typeface="Garamond"/>
                <a:cs typeface="Garamond"/>
              </a:rPr>
              <a:t>Short</a:t>
            </a:r>
            <a:r>
              <a:rPr sz="1700" b="0" u="none">
                <a:solidFill>
                  <a:srgbClr val="000000"/>
                </a:solidFill>
                <a:latin typeface="Garamond"/>
                <a:ea typeface="Garamond"/>
                <a:cs typeface="Garamond"/>
              </a:rPr>
              <a:t> if 2027 guidance lands below $2.1B with the stock above $200</a:t>
            </a:r>
          </a:p>
        </p:txBody>
      </p:sp>
      <p:sp>
        <p:nvSpPr>
          <p:cNvPr id="2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	Appendix</a:t>
            </a:r>
          </a:p>
        </p:txBody>
      </p:sp>
      <p:sp>
        <p:nvSpPr>
          <p:cNvPr id="3"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&amp; Sources</a:t>
            </a:r>
          </a:p>
        </p:txBody>
      </p:sp>
      <p:sp>
        <p:nvSpPr>
          <p:cNvPr id="3" name="Header: Methodology"/>
          <p:cNvSpPr/>
          <p:nvPr/>
        </p:nvSpPr>
        <p:spPr>
          <a:xfrm>
            <a:off x="270662"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Methodology</a:t>
            </a:r>
          </a:p>
        </p:txBody>
      </p:sp>
      <p:sp>
        <p:nvSpPr>
          <p:cNvPr id="4" name="Bullets"/>
          <p:cNvSpPr txBox="1"/>
          <p:nvPr/>
        </p:nvSpPr>
        <p:spPr>
          <a:xfrm>
            <a:off x="270662" y="1353312"/>
            <a:ext cx="5679338" cy="2816859"/>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Data as of the </a:t>
            </a:r>
            <a:r>
              <a:rPr sz="1700" b="1" u="none">
                <a:solidFill>
                  <a:srgbClr val="000000"/>
                </a:solidFill>
                <a:latin typeface="Garamond"/>
                <a:ea typeface="Garamond"/>
                <a:cs typeface="Garamond"/>
              </a:rPr>
              <a:t>10/2/26</a:t>
            </a:r>
            <a:r>
              <a:rPr sz="1700" b="0" u="none">
                <a:solidFill>
                  <a:srgbClr val="000000"/>
                </a:solidFill>
                <a:latin typeface="Garamond"/>
                <a:ea typeface="Garamond"/>
                <a:cs typeface="Garamond"/>
              </a:rPr>
              <a:t> close; filings through the Q2'26 10-Q</a:t>
            </a:r>
          </a:p>
          <a:p>
            <a:pPr marL="457200" indent="-336499">
              <a:buClr>
                <a:srgbClr val="000000"/>
              </a:buClr>
              <a:buSzPts val="1700"/>
              <a:buFont typeface="Garamond"/>
              <a:buChar char="●"/>
            </a:pPr>
            <a:r>
              <a:rPr sz="1700" b="0" u="none">
                <a:solidFill>
                  <a:srgbClr val="000000"/>
                </a:solidFill>
                <a:latin typeface="Garamond"/>
                <a:ea typeface="Garamond"/>
                <a:cs typeface="Garamond"/>
              </a:rPr>
              <a:t>Reverse DCF: </a:t>
            </a:r>
            <a:r>
              <a:rPr sz="1700" b="1" u="none">
                <a:solidFill>
                  <a:srgbClr val="000000"/>
                </a:solidFill>
                <a:latin typeface="Garamond"/>
                <a:ea typeface="Garamond"/>
                <a:cs typeface="Garamond"/>
              </a:rPr>
              <a:t>10%</a:t>
            </a:r>
            <a:r>
              <a:rPr sz="1700" b="0" u="none">
                <a:solidFill>
                  <a:srgbClr val="000000"/>
                </a:solidFill>
                <a:latin typeface="Garamond"/>
                <a:ea typeface="Garamond"/>
                <a:cs typeface="Garamond"/>
              </a:rPr>
              <a:t> WACC, </a:t>
            </a:r>
            <a:r>
              <a:rPr sz="1700" b="1" u="none">
                <a:solidFill>
                  <a:srgbClr val="000000"/>
                </a:solidFill>
                <a:latin typeface="Garamond"/>
                <a:ea typeface="Garamond"/>
                <a:cs typeface="Garamond"/>
              </a:rPr>
              <a:t>76%</a:t>
            </a:r>
            <a:r>
              <a:rPr sz="1700" b="0" u="none">
                <a:solidFill>
                  <a:srgbClr val="000000"/>
                </a:solidFill>
                <a:latin typeface="Garamond"/>
                <a:ea typeface="Garamond"/>
                <a:cs typeface="Garamond"/>
              </a:rPr>
              <a:t> cash conversion, </a:t>
            </a:r>
            <a:r>
              <a:rPr sz="1700" b="1" u="none">
                <a:solidFill>
                  <a:srgbClr val="000000"/>
                </a:solidFill>
                <a:latin typeface="Garamond"/>
                <a:ea typeface="Garamond"/>
                <a:cs typeface="Garamond"/>
              </a:rPr>
              <a:t>$20.6B</a:t>
            </a:r>
            <a:r>
              <a:rPr sz="1700" b="0" u="none">
                <a:solidFill>
                  <a:srgbClr val="000000"/>
                </a:solidFill>
                <a:latin typeface="Garamond"/>
                <a:ea typeface="Garamond"/>
                <a:cs typeface="Garamond"/>
              </a:rPr>
              <a:t> diluted EV</a:t>
            </a:r>
          </a:p>
          <a:p>
            <a:pPr marL="457200" indent="-336499">
              <a:buClr>
                <a:srgbClr val="000000"/>
              </a:buClr>
              <a:buSzPts val="1700"/>
              <a:buFont typeface="Garamond"/>
              <a:buChar char="●"/>
            </a:pPr>
            <a:r>
              <a:rPr sz="1700" b="0" u="none">
                <a:solidFill>
                  <a:srgbClr val="000000"/>
                </a:solidFill>
                <a:latin typeface="Garamond"/>
                <a:ea typeface="Garamond"/>
                <a:cs typeface="Garamond"/>
              </a:rPr>
              <a:t>SOTP: AP plateau then run-off; Power plateau then fade; Leasing at a multiple</a:t>
            </a:r>
          </a:p>
          <a:p>
            <a:pPr marL="457200" indent="-336499">
              <a:buClr>
                <a:srgbClr val="000000"/>
              </a:buClr>
              <a:buSzPts val="1700"/>
              <a:buFont typeface="Garamond"/>
              <a:buChar char="●"/>
            </a:pPr>
            <a:r>
              <a:rPr sz="1700" b="0" u="none">
                <a:solidFill>
                  <a:srgbClr val="000000"/>
                </a:solidFill>
                <a:latin typeface="Garamond"/>
                <a:ea typeface="Garamond"/>
                <a:cs typeface="Garamond"/>
              </a:rPr>
              <a:t>Theses scored 1-5 on Edge, Materiality, Testability, Evidence</a:t>
            </a:r>
          </a:p>
          <a:p>
            <a:pPr marL="457200" indent="-336499">
              <a:buClr>
                <a:srgbClr val="000000"/>
              </a:buClr>
              <a:buSzPts val="1700"/>
              <a:buFont typeface="Garamond"/>
              <a:buChar char="●"/>
            </a:pPr>
            <a:r>
              <a:rPr sz="1700" b="0" u="none">
                <a:solidFill>
                  <a:srgbClr val="000000"/>
                </a:solidFill>
                <a:latin typeface="Garamond"/>
                <a:ea typeface="Garamond"/>
                <a:cs typeface="Garamond"/>
              </a:rPr>
              <a:t>Figures from search extracts of filings (SEC site blocked); single-source items flagged</a:t>
            </a:r>
          </a:p>
        </p:txBody>
      </p:sp>
      <p:sp>
        <p:nvSpPr>
          <p:cNvPr id="5" name="Header: Key Sources"/>
          <p:cNvSpPr/>
          <p:nvPr/>
        </p:nvSpPr>
        <p:spPr>
          <a:xfrm>
            <a:off x="6224320" y="914400"/>
            <a:ext cx="5679338" cy="365760"/>
          </a:xfrm>
          <a:prstGeom prst="rect">
            <a:avLst/>
          </a:prstGeom>
          <a:solidFill>
            <a:srgbClr val="002060"/>
          </a:solidFill>
          <a:ln w="9525">
            <a:solidFill>
              <a:srgbClr val="041E41"/>
            </a:solidFill>
          </a:ln>
        </p:spPr>
        <p:txBody>
          <a:bodyPr rtlCol="0" anchor="ctr" wrap="square">
            <a:noAutofit/>
          </a:bodyPr>
          <a:lstStyle/>
          <a:p>
            <a:pPr algn="ctr" marL="0" indent="0">
              <a:buNone/>
            </a:pPr>
            <a:r>
              <a:rPr sz="1600" b="1" u="none">
                <a:solidFill>
                  <a:srgbClr val="FFFFFF"/>
                </a:solidFill>
                <a:latin typeface="Garamond"/>
                <a:ea typeface="Garamond"/>
                <a:cs typeface="Garamond"/>
              </a:rPr>
              <a:t>Key Sources</a:t>
            </a:r>
          </a:p>
        </p:txBody>
      </p:sp>
      <p:sp>
        <p:nvSpPr>
          <p:cNvPr id="6" name="Bullets"/>
          <p:cNvSpPr txBox="1"/>
          <p:nvPr/>
        </p:nvSpPr>
        <p:spPr>
          <a:xfrm>
            <a:off x="6224320" y="1353312"/>
            <a:ext cx="5679338" cy="3343655"/>
          </a:xfrm>
          <a:prstGeom prst="rect">
            <a:avLst/>
          </a:prstGeom>
          <a:noFill/>
        </p:spPr>
        <p:txBody>
          <a:bodyPr wrap="square" tIns="91440" bIns="91440" anchor="t">
            <a:noAutofit/>
          </a:bodyPr>
          <a:lstStyle/>
          <a:p>
            <a:pPr marL="457200" indent="-336499">
              <a:buClr>
                <a:srgbClr val="000000"/>
              </a:buClr>
              <a:buSzPts val="1700"/>
              <a:buFont typeface="Garamond"/>
              <a:buChar char="●"/>
            </a:pPr>
            <a:r>
              <a:rPr sz="1700" b="0" u="none">
                <a:solidFill>
                  <a:srgbClr val="000000"/>
                </a:solidFill>
                <a:latin typeface="Garamond"/>
                <a:ea typeface="Garamond"/>
                <a:cs typeface="Garamond"/>
              </a:rPr>
              <a:t>FTAI: Q2'26 release and 10-Q; FY25 10-K; Q4'25-Q2'26 calls; 2026 proxy</a:t>
            </a:r>
          </a:p>
          <a:p>
            <a:pPr marL="457200" indent="-336499">
              <a:buClr>
                <a:srgbClr val="000000"/>
              </a:buClr>
              <a:buSzPts val="1700"/>
              <a:buFont typeface="Garamond"/>
              <a:buChar char="●"/>
            </a:pPr>
            <a:r>
              <a:rPr sz="1700" b="0" u="none">
                <a:solidFill>
                  <a:srgbClr val="000000"/>
                </a:solidFill>
                <a:latin typeface="Garamond"/>
                <a:ea typeface="Garamond"/>
                <a:cs typeface="Garamond"/>
              </a:rPr>
              <a:t>Street: MarketBeat (9/23/26); firm notes; Earnings Whispers</a:t>
            </a:r>
          </a:p>
          <a:p>
            <a:pPr marL="457200" indent="-336499">
              <a:buClr>
                <a:srgbClr val="000000"/>
              </a:buClr>
              <a:buSzPts val="1700"/>
              <a:buFont typeface="Garamond"/>
              <a:buChar char="●"/>
            </a:pPr>
            <a:r>
              <a:rPr sz="1700" b="0" u="none">
                <a:solidFill>
                  <a:srgbClr val="000000"/>
                </a:solidFill>
                <a:latin typeface="Garamond"/>
                <a:ea typeface="Garamond"/>
                <a:cs typeface="Garamond"/>
              </a:rPr>
              <a:t>Industry: GE Aerospace calls; Aviation Week; Leeham; IATA (June 2026)</a:t>
            </a:r>
          </a:p>
          <a:p>
            <a:pPr marL="457200" indent="-336499">
              <a:buClr>
                <a:srgbClr val="000000"/>
              </a:buClr>
              <a:buSzPts val="1700"/>
              <a:buFont typeface="Garamond"/>
              <a:buChar char="●"/>
            </a:pPr>
            <a:r>
              <a:rPr sz="1700" b="0" u="none">
                <a:solidFill>
                  <a:srgbClr val="000000"/>
                </a:solidFill>
                <a:latin typeface="Garamond"/>
                <a:ea typeface="Garamond"/>
                <a:cs typeface="Garamond"/>
              </a:rPr>
              <a:t>Peers: StandardAero, Willis Lease, AerSale FY25 releases</a:t>
            </a:r>
          </a:p>
          <a:p>
            <a:pPr marL="457200" indent="-336499">
              <a:buClr>
                <a:srgbClr val="000000"/>
              </a:buClr>
              <a:buSzPts val="1700"/>
              <a:buFont typeface="Garamond"/>
              <a:buChar char="●"/>
            </a:pPr>
            <a:r>
              <a:rPr sz="1700" b="0" u="none">
                <a:solidFill>
                  <a:srgbClr val="000000"/>
                </a:solidFill>
                <a:latin typeface="Garamond"/>
                <a:ea typeface="Garamond"/>
                <a:cs typeface="Garamond"/>
              </a:rPr>
              <a:t>Policy: EO 14420 (Baker McKenzie, V&amp;E); OFAC (2018); Section 232 (KPMG)</a:t>
            </a:r>
          </a:p>
          <a:p>
            <a:pPr marL="457200" indent="-336499">
              <a:buClr>
                <a:srgbClr val="000000"/>
              </a:buClr>
              <a:buSzPts val="1700"/>
              <a:buFont typeface="Garamond"/>
              <a:buChar char="●"/>
            </a:pPr>
            <a:r>
              <a:rPr sz="1700" b="0" u="none">
                <a:solidFill>
                  <a:srgbClr val="000000"/>
                </a:solidFill>
                <a:latin typeface="Garamond"/>
                <a:ea typeface="Garamond"/>
                <a:cs typeface="Garamond"/>
              </a:rPr>
              <a:t>Base rates: Mauboussin &amp; Callahan (2026); Damodaran (2026)</a:t>
            </a:r>
          </a:p>
        </p:txBody>
      </p:sp>
      <p:sp>
        <p:nvSpPr>
          <p:cNvPr id="7" name="Page Number"/>
          <p:cNvSpPr txBox="1"/>
          <p:nvPr/>
        </p:nvSpPr>
        <p:spPr>
          <a:xfrm>
            <a:off x="11475720" y="6466636"/>
            <a:ext cx="685800" cy="322783"/>
          </a:xfrm>
          <a:prstGeom prst="rect">
            <a:avLst/>
          </a:prstGeom>
          <a:noFill/>
        </p:spPr>
        <p:txBody>
          <a:bodyPr wrap="none" anchor="ctr">
            <a:noAutofit/>
          </a:bodyPr>
          <a:lstStyle/>
          <a:p>
            <a:r>
              <a:rPr sz="1200" b="0" u="none">
                <a:solidFill>
                  <a:srgbClr val="888888"/>
                </a:solidFill>
                <a:latin typeface="Calibri"/>
                <a:ea typeface="Calibri"/>
                <a:cs typeface="Calibri"/>
              </a:rPr>
              <a:t>|  </a:t>
            </a:r>
            <a:fld id="{B6F15528-21DE-4FAA-801E-634DDDAF4B2B}" type="slidenum">
              <a:rPr lang="en-US" sz="1200">
                <a:solidFill>
                  <a:srgbClr val="888888"/>
                </a:solidFill>
                <a:latin typeface="Calibri"/>
              </a:rPr>
              <a:t>30</a:t>
            </a:fld>
          </a:p>
        </p:txBody>
      </p:sp>
    </p:spTree>
  </p:cSld>
  <p:clrMapOvr>
    <a:masterClrMapping/>
  </p:clrMapOvr>
</p:sld>
</file>

<file path=ppt/theme/theme1.xml><?xml version="1.0" encoding="utf-8"?>
<a:theme xmlns:a="http://schemas.openxmlformats.org/drawingml/2006/main" name="Pitch Navy">
  <a:themeElements>
    <a:clrScheme name="Pitch Navy">
      <a:dk1>
        <a:srgbClr val="000000"/>
      </a:dk1>
      <a:lt1>
        <a:srgbClr val="FFFFFF"/>
      </a:lt1>
      <a:dk2>
        <a:srgbClr val="002060"/>
      </a:dk2>
      <a:lt2>
        <a:srgbClr val="E4E9F0"/>
      </a:lt2>
      <a:accent1>
        <a:srgbClr val="002060"/>
      </a:accent1>
      <a:accent2>
        <a:srgbClr val="FFC000"/>
      </a:accent2>
      <a:accent3>
        <a:srgbClr val="A5A5A5"/>
      </a:accent3>
      <a:accent4>
        <a:srgbClr val="041E41"/>
      </a:accent4>
      <a:accent5>
        <a:srgbClr val="476779"/>
      </a:accent5>
      <a:accent6>
        <a:srgbClr val="8FA9C8"/>
      </a:accent6>
      <a:hlink>
        <a:srgbClr val="0563C1"/>
      </a:hlink>
      <a:folHlink>
        <a:srgbClr val="954F72"/>
      </a:folHlink>
    </a:clrScheme>
    <a:fontScheme name="Pitch Navy">
      <a:majorFont>
        <a:latin typeface="Garamon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aramo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Bull/Bear Debate and Evaluation</dc:title>
  <dc:subject/>
  <dc:creator>Equity Research</dc:creator>
  <cp:keywords/>
  <dc:description/>
  <cp:lastModifiedBy>Equity Research</cp:lastModifiedBy>
  <cp:revision>1</cp:revision>
  <dcterms:created xsi:type="dcterms:W3CDTF">2026-10-05T18:10:16Z</dcterms:created>
  <dcterms:modified xsi:type="dcterms:W3CDTF">2026-10-05T18:10:16Z</dcterms:modified>
  <cp:category/>
</cp:coreProperties>
</file>