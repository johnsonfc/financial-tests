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Industry vs DKS chart"/>
          <p:cNvGrpSpPr/>
          <p:nvPr/>
        </p:nvGrpSpPr>
        <p:grpSpPr>
          <a:xfrm>
            <a:off x="4956048" y="3630168"/>
            <a:ext cx="3840480" cy="2157984"/>
            <a:chOff x="4956048" y="3630168"/>
            <a:chExt cx="3840480" cy="2157984"/>
          </a:xfrm>
        </p:grpSpPr>
        <p:sp>
          <p:nvSpPr>
            <p:cNvPr id="2" name="Chart title"/>
            <p:cNvSpPr txBox="1"/>
            <p:nvPr/>
          </p:nvSpPr>
          <p:spPr>
            <a:xfrm>
              <a:off x="4956048" y="3630168"/>
              <a:ext cx="3840480" cy="256032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spAutoFit/>
            </a:bodyPr>
            <a:lstStyle/>
            <a:p>
              <a:pPr algn="ctr"/>
              <a:r>
                <a:rPr sz="1200" b="0" i="0">
                  <a:solidFill>
                    <a:srgbClr val="000000"/>
                  </a:solidFill>
                  <a:latin typeface="Garamond"/>
                </a:rPr>
                <a:t>Industry Growth vs. DICK'S Comps (%)</a:t>
              </a:r>
            </a:p>
          </p:txBody>
        </p:sp>
        <p:sp>
          <p:nvSpPr>
            <p:cNvPr id="3" name="Bar 1"/>
            <p:cNvSpPr/>
            <p:nvPr/>
          </p:nvSpPr>
          <p:spPr>
            <a:xfrm>
              <a:off x="5253228" y="4725395"/>
              <a:ext cx="685800" cy="559836"/>
            </a:xfrm>
            <a:prstGeom prst="rect">
              <a:avLst/>
            </a:prstGeom>
            <a:solidFill>
              <a:srgbClr val="161E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Value 1"/>
            <p:cNvSpPr txBox="1"/>
            <p:nvPr/>
          </p:nvSpPr>
          <p:spPr>
            <a:xfrm>
              <a:off x="5230368" y="4505939"/>
              <a:ext cx="731520" cy="1828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spAutoFit/>
            </a:bodyPr>
            <a:lstStyle/>
            <a:p>
              <a:pPr algn="ctr"/>
              <a:r>
                <a:rPr sz="1100" b="0" i="0">
                  <a:solidFill>
                    <a:srgbClr val="000000"/>
                  </a:solidFill>
                  <a:latin typeface="Garamond"/>
                </a:rPr>
                <a:t>2.4</a:t>
              </a:r>
            </a:p>
          </p:txBody>
        </p:sp>
        <p:sp>
          <p:nvSpPr>
            <p:cNvPr id="5" name="Label 1"/>
            <p:cNvSpPr txBox="1"/>
            <p:nvPr/>
          </p:nvSpPr>
          <p:spPr>
            <a:xfrm>
              <a:off x="5001768" y="5330952"/>
              <a:ext cx="1188720" cy="329184"/>
            </a:xfrm>
            <a:prstGeom prst="rect">
              <a:avLst/>
            </a:prstGeom>
            <a:noFill/>
          </p:spPr>
          <p:txBody>
            <a:bodyPr wrap="none" anchor="t" lIns="0" rIns="0" tIns="0" bIns="0">
              <a:spAutoFit/>
            </a:bodyPr>
            <a:lstStyle/>
            <a:p>
              <a:pPr algn="ctr"/>
              <a:r>
                <a:rPr sz="950" b="0" i="0">
                  <a:solidFill>
                    <a:srgbClr val="666666"/>
                  </a:solidFill>
                  <a:latin typeface="Garamond"/>
                </a:rPr>
                <a:t>Industry growth</a:t>
              </a:r>
            </a:p>
            <a:p>
              <a:pPr algn="ctr"/>
              <a:r>
                <a:rPr sz="950" b="0" i="0">
                  <a:solidFill>
                    <a:srgbClr val="666666"/>
                  </a:solidFill>
                  <a:latin typeface="Garamond"/>
                </a:rPr>
                <a:t>(2025–29E CAGR)</a:t>
              </a:r>
            </a:p>
          </p:txBody>
        </p:sp>
        <p:sp>
          <p:nvSpPr>
            <p:cNvPr id="6" name="Bar 2"/>
            <p:cNvSpPr/>
            <p:nvPr/>
          </p:nvSpPr>
          <p:spPr>
            <a:xfrm>
              <a:off x="6533388" y="4655415"/>
              <a:ext cx="685800" cy="629816"/>
            </a:xfrm>
            <a:prstGeom prst="rect">
              <a:avLst/>
            </a:prstGeom>
            <a:solidFill>
              <a:srgbClr val="E067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Value 2"/>
            <p:cNvSpPr txBox="1"/>
            <p:nvPr/>
          </p:nvSpPr>
          <p:spPr>
            <a:xfrm>
              <a:off x="6510527" y="4435959"/>
              <a:ext cx="731520" cy="1828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spAutoFit/>
            </a:bodyPr>
            <a:lstStyle/>
            <a:p>
              <a:pPr algn="ctr"/>
              <a:r>
                <a:rPr sz="1100" b="0" i="0">
                  <a:solidFill>
                    <a:srgbClr val="000000"/>
                  </a:solidFill>
                  <a:latin typeface="Garamond"/>
                </a:rPr>
                <a:t>2.7</a:t>
              </a:r>
            </a:p>
          </p:txBody>
        </p:sp>
        <p:sp>
          <p:nvSpPr>
            <p:cNvPr id="8" name="Label 2"/>
            <p:cNvSpPr txBox="1"/>
            <p:nvPr/>
          </p:nvSpPr>
          <p:spPr>
            <a:xfrm>
              <a:off x="6281927" y="5330952"/>
              <a:ext cx="1188720" cy="329184"/>
            </a:xfrm>
            <a:prstGeom prst="rect">
              <a:avLst/>
            </a:prstGeom>
            <a:noFill/>
          </p:spPr>
          <p:txBody>
            <a:bodyPr wrap="none" anchor="t" lIns="0" rIns="0" tIns="0" bIns="0">
              <a:spAutoFit/>
            </a:bodyPr>
            <a:lstStyle/>
            <a:p>
              <a:pPr algn="ctr"/>
              <a:r>
                <a:rPr sz="950" b="0" i="0">
                  <a:solidFill>
                    <a:srgbClr val="666666"/>
                  </a:solidFill>
                  <a:latin typeface="Garamond"/>
                </a:rPr>
                <a:t>DICK'S adjusted</a:t>
              </a:r>
            </a:p>
            <a:p>
              <a:pPr algn="ctr"/>
              <a:r>
                <a:rPr sz="950" b="0" i="0">
                  <a:solidFill>
                    <a:srgbClr val="666666"/>
                  </a:solidFill>
                  <a:latin typeface="Garamond"/>
                </a:rPr>
                <a:t>comp (Q2 FY26)</a:t>
              </a:r>
            </a:p>
          </p:txBody>
        </p:sp>
        <p:sp>
          <p:nvSpPr>
            <p:cNvPr id="9" name="Bar 3"/>
            <p:cNvSpPr/>
            <p:nvPr/>
          </p:nvSpPr>
          <p:spPr>
            <a:xfrm>
              <a:off x="7813548" y="4142232"/>
              <a:ext cx="685800" cy="1143000"/>
            </a:xfrm>
            <a:prstGeom prst="rect">
              <a:avLst/>
            </a:prstGeom>
            <a:solidFill>
              <a:srgbClr val="161E4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Value 3"/>
            <p:cNvSpPr txBox="1"/>
            <p:nvPr/>
          </p:nvSpPr>
          <p:spPr>
            <a:xfrm>
              <a:off x="7790688" y="3922776"/>
              <a:ext cx="731520" cy="1828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spAutoFit/>
            </a:bodyPr>
            <a:lstStyle/>
            <a:p>
              <a:pPr algn="ctr"/>
              <a:r>
                <a:rPr sz="1100" b="0" i="0">
                  <a:solidFill>
                    <a:srgbClr val="000000"/>
                  </a:solidFill>
                  <a:latin typeface="Garamond"/>
                </a:rPr>
                <a:t>4.9</a:t>
              </a:r>
            </a:p>
          </p:txBody>
        </p:sp>
        <p:sp>
          <p:nvSpPr>
            <p:cNvPr id="11" name="Label 3"/>
            <p:cNvSpPr txBox="1"/>
            <p:nvPr/>
          </p:nvSpPr>
          <p:spPr>
            <a:xfrm>
              <a:off x="7562088" y="5330952"/>
              <a:ext cx="1188720" cy="329184"/>
            </a:xfrm>
            <a:prstGeom prst="rect">
              <a:avLst/>
            </a:prstGeom>
            <a:noFill/>
          </p:spPr>
          <p:txBody>
            <a:bodyPr wrap="none" anchor="t" lIns="0" rIns="0" tIns="0" bIns="0">
              <a:spAutoFit/>
            </a:bodyPr>
            <a:lstStyle/>
            <a:p>
              <a:pPr algn="ctr"/>
              <a:r>
                <a:rPr sz="950" b="0" i="0">
                  <a:solidFill>
                    <a:srgbClr val="666666"/>
                  </a:solidFill>
                  <a:latin typeface="Garamond"/>
                </a:rPr>
                <a:t>DICK'S reported</a:t>
              </a:r>
            </a:p>
            <a:p>
              <a:pPr algn="ctr"/>
              <a:r>
                <a:rPr sz="950" b="0" i="0">
                  <a:solidFill>
                    <a:srgbClr val="666666"/>
                  </a:solidFill>
                  <a:latin typeface="Garamond"/>
                </a:rPr>
                <a:t>comp (Q2 FY26)</a:t>
              </a:r>
            </a:p>
          </p:txBody>
        </p:sp>
        <p:cxnSp>
          <p:nvCxnSpPr>
            <p:cNvPr id="12" name="Baseline"/>
            <p:cNvCxnSpPr/>
            <p:nvPr/>
          </p:nvCxnSpPr>
          <p:spPr>
            <a:xfrm>
              <a:off x="5047488" y="5285232"/>
              <a:ext cx="3657600" cy="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</p:cxnSp>
        <p:sp>
          <p:nvSpPr>
            <p:cNvPr id="13" name="Source"/>
            <p:cNvSpPr txBox="1"/>
            <p:nvPr/>
          </p:nvSpPr>
          <p:spPr>
            <a:xfrm>
              <a:off x="4956048" y="5660136"/>
              <a:ext cx="3840480" cy="1280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spAutoFit/>
            </a:bodyPr>
            <a:lstStyle/>
            <a:p>
              <a:pPr algn="ctr"/>
              <a:r>
                <a:rPr sz="700" b="0" i="1">
                  <a:solidFill>
                    <a:srgbClr val="666666"/>
                  </a:solidFill>
                  <a:latin typeface="Garamond"/>
                </a:rPr>
                <a:t>Source: Verticaliq/Inforum (sporting goods stores); DKS Q2 FY26; team calc.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