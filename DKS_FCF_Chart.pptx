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H1 FY26 ($M)</c:v>
                </c:pt>
              </c:strCache>
            </c:strRef>
          </c:tx>
          <c:dPt>
            <c:idx val="0"/>
            <c:spPr>
              <a:solidFill>
                <a:srgbClr val="ED672B"/>
              </a:solidFill>
            </c:spPr>
          </c:dPt>
          <c:dPt>
            <c:idx val="1"/>
            <c:spPr>
              <a:solidFill>
                <a:srgbClr val="111E40"/>
              </a:solidFill>
            </c:spPr>
          </c:dPt>
          <c:cat>
            <c:strRef>
              <c:f>Sheet1!$A$2:$A$3</c:f>
              <c:strCache>
                <c:ptCount val="2"/>
                <c:pt idx="0">
                  <c:v>Dividends +
buybacks</c:v>
                </c:pt>
                <c:pt idx="1">
                  <c:v>Free cash
flow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366</c:v>
                </c:pt>
                <c:pt idx="1">
                  <c:v>178</c:v>
                </c:pt>
              </c:numCache>
            </c:numRef>
          </c:val>
        </c:ser>
        <c:dLbls>
          <c:numFmt formatCode="&quot;$&quot;0&quot;M&quot;" sourceLinked="0"/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Garamon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66666"/>
                </a:solidFill>
                <a:latin typeface="Garamon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1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rt title"/>
          <p:cNvSpPr txBox="1"/>
          <p:nvPr/>
        </p:nvSpPr>
        <p:spPr>
          <a:xfrm>
            <a:off x="3191256" y="3703320"/>
            <a:ext cx="2743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>
                <a:solidFill>
                  <a:srgbClr val="000000"/>
                </a:solidFill>
                <a:latin typeface="Garamond"/>
              </a:rPr>
              <a:t>H1 FY26 Free Cash Flow vs. Payouts</a:t>
            </a:r>
          </a:p>
        </p:txBody>
      </p:sp>
      <p:graphicFrame>
        <p:nvGraphicFramePr>
          <p:cNvPr id="3" name="FCF vs returns chart"/>
          <p:cNvGraphicFramePr>
            <a:graphicFrameLocks noGrp="1"/>
          </p:cNvGraphicFramePr>
          <p:nvPr/>
        </p:nvGraphicFramePr>
        <p:xfrm>
          <a:off x="3191256" y="4023360"/>
          <a:ext cx="27432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hart caption"/>
          <p:cNvSpPr txBox="1"/>
          <p:nvPr/>
        </p:nvSpPr>
        <p:spPr>
          <a:xfrm>
            <a:off x="3191256" y="5641848"/>
            <a:ext cx="2743200" cy="24688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b="0" sz="1050">
                <a:solidFill>
                  <a:srgbClr val="666666"/>
                </a:solidFill>
                <a:latin typeface="Garamond"/>
              </a:rPr>
              <a:t>Dividends + buybacks = </a:t>
            </a:r>
            <a:r>
              <a:rPr b="1" sz="1050">
                <a:solidFill>
                  <a:srgbClr val="000000"/>
                </a:solidFill>
                <a:latin typeface="Garamond"/>
              </a:rPr>
              <a:t>~2x FCF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3191256" y="5897880"/>
            <a:ext cx="2743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 i="1">
                <a:solidFill>
                  <a:srgbClr val="666666"/>
                </a:solidFill>
                <a:latin typeface="Garamond"/>
              </a:rPr>
              <a:t>Dividends $225M + buybacks $141M; FCF = $792M OCF – $614M capex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