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FCF vs payouts chart"/>
          <p:cNvGrpSpPr/>
          <p:nvPr/>
        </p:nvGrpSpPr>
        <p:grpSpPr>
          <a:xfrm>
            <a:off x="3191256" y="3703320"/>
            <a:ext cx="2743200" cy="2103119"/>
            <a:chOff x="3191256" y="3703320"/>
            <a:chExt cx="2743200" cy="2103119"/>
          </a:xfrm>
        </p:grpSpPr>
        <p:sp>
          <p:nvSpPr>
            <p:cNvPr id="2" name="Chart title"/>
            <p:cNvSpPr txBox="1"/>
            <p:nvPr/>
          </p:nvSpPr>
          <p:spPr>
            <a:xfrm>
              <a:off x="3191256" y="3703320"/>
              <a:ext cx="2743200" cy="256032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spAutoFit/>
            </a:bodyPr>
            <a:lstStyle/>
            <a:p>
              <a:pPr algn="ctr"/>
              <a:r>
                <a:rPr sz="1300" b="0" i="0">
                  <a:solidFill>
                    <a:srgbClr val="000000"/>
                  </a:solidFill>
                  <a:latin typeface="Garamond"/>
                </a:rPr>
                <a:t>H1 FY26 Cash Flow vs. Payouts ($M)</a:t>
              </a:r>
            </a:p>
          </p:txBody>
        </p:sp>
        <p:sp>
          <p:nvSpPr>
            <p:cNvPr id="3" name="Label 1"/>
            <p:cNvSpPr txBox="1"/>
            <p:nvPr/>
          </p:nvSpPr>
          <p:spPr>
            <a:xfrm>
              <a:off x="3191256" y="4160520"/>
              <a:ext cx="1261872" cy="420624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spAutoFit/>
            </a:bodyPr>
            <a:lstStyle/>
            <a:p>
              <a:pPr algn="r"/>
              <a:r>
                <a:rPr sz="1100" b="0" i="0">
                  <a:solidFill>
                    <a:srgbClr val="666666"/>
                  </a:solidFill>
                  <a:latin typeface="Garamond"/>
                </a:rPr>
                <a:t>Free cash flow</a:t>
              </a:r>
            </a:p>
          </p:txBody>
        </p:sp>
        <p:sp>
          <p:nvSpPr>
            <p:cNvPr id="4" name="Bar 1"/>
            <p:cNvSpPr/>
            <p:nvPr/>
          </p:nvSpPr>
          <p:spPr>
            <a:xfrm>
              <a:off x="4526280" y="4160520"/>
              <a:ext cx="498073" cy="420624"/>
            </a:xfrm>
            <a:prstGeom prst="rect">
              <a:avLst/>
            </a:prstGeom>
            <a:solidFill>
              <a:srgbClr val="E067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Value 1"/>
            <p:cNvSpPr txBox="1"/>
            <p:nvPr/>
          </p:nvSpPr>
          <p:spPr>
            <a:xfrm>
              <a:off x="5079217" y="4160520"/>
              <a:ext cx="292608" cy="420624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spAutoFit/>
            </a:bodyPr>
            <a:lstStyle/>
            <a:p>
              <a:pPr algn="l"/>
              <a:r>
                <a:rPr sz="1100" b="0" i="0">
                  <a:solidFill>
                    <a:srgbClr val="000000"/>
                  </a:solidFill>
                  <a:latin typeface="Garamond"/>
                </a:rPr>
                <a:t>178</a:t>
              </a:r>
            </a:p>
          </p:txBody>
        </p:sp>
        <p:sp>
          <p:nvSpPr>
            <p:cNvPr id="6" name="Label 2"/>
            <p:cNvSpPr txBox="1"/>
            <p:nvPr/>
          </p:nvSpPr>
          <p:spPr>
            <a:xfrm>
              <a:off x="3191256" y="4782312"/>
              <a:ext cx="1261872" cy="420624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spAutoFit/>
            </a:bodyPr>
            <a:lstStyle/>
            <a:p>
              <a:pPr algn="r"/>
              <a:r>
                <a:rPr sz="1100" b="0" i="0">
                  <a:solidFill>
                    <a:srgbClr val="666666"/>
                  </a:solidFill>
                  <a:latin typeface="Garamond"/>
                </a:rPr>
                <a:t>Dividends + buybacks</a:t>
              </a:r>
            </a:p>
          </p:txBody>
        </p:sp>
        <p:sp>
          <p:nvSpPr>
            <p:cNvPr id="7" name="Bar 2"/>
            <p:cNvSpPr/>
            <p:nvPr/>
          </p:nvSpPr>
          <p:spPr>
            <a:xfrm>
              <a:off x="4526280" y="4782312"/>
              <a:ext cx="1024128" cy="420624"/>
            </a:xfrm>
            <a:prstGeom prst="rect">
              <a:avLst/>
            </a:prstGeom>
            <a:solidFill>
              <a:srgbClr val="161E4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Value 2"/>
            <p:cNvSpPr txBox="1"/>
            <p:nvPr/>
          </p:nvSpPr>
          <p:spPr>
            <a:xfrm>
              <a:off x="5605272" y="4782312"/>
              <a:ext cx="292608" cy="420624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spAutoFit/>
            </a:bodyPr>
            <a:lstStyle/>
            <a:p>
              <a:pPr algn="l"/>
              <a:r>
                <a:rPr sz="1100" b="0" i="0">
                  <a:solidFill>
                    <a:srgbClr val="000000"/>
                  </a:solidFill>
                  <a:latin typeface="Garamond"/>
                </a:rPr>
                <a:t>366</a:t>
              </a:r>
            </a:p>
          </p:txBody>
        </p:sp>
        <p:cxnSp>
          <p:nvCxnSpPr>
            <p:cNvPr id="9" name="Baseline"/>
            <p:cNvCxnSpPr/>
            <p:nvPr/>
          </p:nvCxnSpPr>
          <p:spPr>
            <a:xfrm>
              <a:off x="4526280" y="4069080"/>
              <a:ext cx="0" cy="1225295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</p:cxnSp>
        <p:sp>
          <p:nvSpPr>
            <p:cNvPr id="10" name="Caption"/>
            <p:cNvSpPr txBox="1"/>
            <p:nvPr/>
          </p:nvSpPr>
          <p:spPr>
            <a:xfrm>
              <a:off x="3191256" y="5385816"/>
              <a:ext cx="2743200" cy="21945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spAutoFit/>
            </a:bodyPr>
            <a:lstStyle/>
            <a:p>
              <a:pPr algn="ctr"/>
              <a:r>
                <a:rPr sz="1050" b="0" i="0">
                  <a:solidFill>
                    <a:srgbClr val="666666"/>
                  </a:solidFill>
                  <a:latin typeface="Garamond"/>
                </a:rPr>
                <a:t>Dividends $225M + buybacks $141M = </a:t>
              </a:r>
              <a:r>
                <a:rPr sz="1050" b="1" i="0">
                  <a:solidFill>
                    <a:srgbClr val="000000"/>
                  </a:solidFill>
                  <a:latin typeface="Garamond"/>
                </a:rPr>
                <a:t>~2x FCF</a:t>
              </a:r>
            </a:p>
          </p:txBody>
        </p:sp>
        <p:sp>
          <p:nvSpPr>
            <p:cNvPr id="11" name="Source"/>
            <p:cNvSpPr txBox="1"/>
            <p:nvPr/>
          </p:nvSpPr>
          <p:spPr>
            <a:xfrm>
              <a:off x="3191256" y="5623559"/>
              <a:ext cx="2743200" cy="18288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spAutoFit/>
            </a:bodyPr>
            <a:lstStyle/>
            <a:p>
              <a:pPr algn="ctr"/>
              <a:r>
                <a:rPr sz="800" b="0" i="1">
                  <a:solidFill>
                    <a:srgbClr val="666666"/>
                  </a:solidFill>
                  <a:latin typeface="Garamond"/>
                </a:rPr>
                <a:t>FCF = $792M operating cash flow – $614M capex (team calc.)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