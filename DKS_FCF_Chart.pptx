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H1 FY26 ($M)</c:v>
                </c:pt>
              </c:strCache>
            </c:strRef>
          </c:tx>
          <c:dPt>
            <c:idx val="0"/>
            <c:spPr>
              <a:solidFill>
                <a:srgbClr val="ED672B"/>
              </a:solidFill>
            </c:spPr>
          </c:dPt>
          <c:dPt>
            <c:idx val="1"/>
            <c:spPr>
              <a:solidFill>
                <a:srgbClr val="111E40"/>
              </a:solidFill>
            </c:spPr>
          </c:dPt>
          <c:cat>
            <c:strRef>
              <c:f>Sheet1!$A$2:$A$3</c:f>
              <c:strCache>
                <c:ptCount val="2"/>
                <c:pt idx="0">
                  <c:v>Dividends +
buybacks</c:v>
                </c:pt>
                <c:pt idx="1">
                  <c:v>Free cash
flow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366</c:v>
                </c:pt>
                <c:pt idx="1">
                  <c:v>178</c:v>
                </c:pt>
              </c:numCache>
            </c:numRef>
          </c:val>
        </c:ser>
        <c:dLbls>
          <c:numFmt formatCode="&quot;$&quot;0&quot;M&quot;" sourceLinked="0"/>
          <c:txPr>
            <a:bodyPr/>
            <a:lstStyle/>
            <a:p>
              <a:pPr>
                <a:defRPr sz="900">
                  <a:solidFill>
                    <a:srgbClr val="000000"/>
                  </a:solidFill>
                  <a:latin typeface="Garamond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666666"/>
                </a:solidFill>
                <a:latin typeface="Garamond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5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rt title"/>
          <p:cNvSpPr txBox="1"/>
          <p:nvPr/>
        </p:nvSpPr>
        <p:spPr>
          <a:xfrm>
            <a:off x="3200400" y="3703320"/>
            <a:ext cx="2743200" cy="2743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ctr"/>
            <a:r>
              <a:rPr sz="1000">
                <a:solidFill>
                  <a:srgbClr val="000000"/>
                </a:solidFill>
                <a:latin typeface="Garamond"/>
              </a:rPr>
              <a:t>H1 FY26: Cash Returned vs. Free Cash Flow ($M)</a:t>
            </a:r>
          </a:p>
        </p:txBody>
      </p:sp>
      <p:graphicFrame>
        <p:nvGraphicFramePr>
          <p:cNvPr id="3" name="FCF vs returns chart"/>
          <p:cNvGraphicFramePr>
            <a:graphicFrameLocks noGrp="1"/>
          </p:cNvGraphicFramePr>
          <p:nvPr/>
        </p:nvGraphicFramePr>
        <p:xfrm>
          <a:off x="3200400" y="3959352"/>
          <a:ext cx="2743200" cy="12801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Chart caption"/>
          <p:cNvSpPr txBox="1"/>
          <p:nvPr/>
        </p:nvSpPr>
        <p:spPr>
          <a:xfrm>
            <a:off x="3200400" y="5239512"/>
            <a:ext cx="274320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ctr"/>
            <a:r>
              <a:rPr b="0" sz="850">
                <a:solidFill>
                  <a:srgbClr val="666666"/>
                </a:solidFill>
                <a:latin typeface="Garamond"/>
              </a:rPr>
              <a:t>Dividends $225M + buybacks $141M = </a:t>
            </a:r>
            <a:r>
              <a:rPr b="1" sz="850">
                <a:solidFill>
                  <a:srgbClr val="000000"/>
                </a:solidFill>
                <a:latin typeface="Garamond"/>
              </a:rPr>
              <a:t>~2x free cash flow</a:t>
            </a:r>
          </a:p>
        </p:txBody>
      </p:sp>
      <p:sp>
        <p:nvSpPr>
          <p:cNvPr id="5" name="Source"/>
          <p:cNvSpPr txBox="1"/>
          <p:nvPr/>
        </p:nvSpPr>
        <p:spPr>
          <a:xfrm>
            <a:off x="3200400" y="5440680"/>
            <a:ext cx="27432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ctr"/>
            <a:r>
              <a:rPr sz="650" i="1">
                <a:solidFill>
                  <a:srgbClr val="666666"/>
                </a:solidFill>
                <a:latin typeface="Garamond"/>
              </a:rPr>
              <a:t>FCF = op. cash flow $792M – net capex $614M (team calc.)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