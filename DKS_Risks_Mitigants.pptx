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 top"/>
          <p:cNvSpPr/>
          <p:nvPr/>
        </p:nvSpPr>
        <p:spPr>
          <a:xfrm>
            <a:off x="0" y="0"/>
            <a:ext cx="2432304" cy="1325880"/>
          </a:xfrm>
          <a:prstGeom prst="rect">
            <a:avLst/>
          </a:prstGeom>
          <a:solidFill>
            <a:srgbClr val="1B2644"/>
          </a:solidFill>
          <a:ln w="12700">
            <a:solidFill>
              <a:srgbClr val="1B2644"/>
            </a:solidFill>
            <a:prstDash val="solid"/>
          </a:ln>
        </p:spPr>
      </p:sp>
      <p:sp>
        <p:nvSpPr>
          <p:cNvPr id="3" name="Sidebar bottom"/>
          <p:cNvSpPr/>
          <p:nvPr/>
        </p:nvSpPr>
        <p:spPr>
          <a:xfrm>
            <a:off x="0" y="5522976"/>
            <a:ext cx="2432304" cy="1335024"/>
          </a:xfrm>
          <a:prstGeom prst="rect">
            <a:avLst/>
          </a:prstGeom>
          <a:solidFill>
            <a:srgbClr val="1B2644"/>
          </a:solidFill>
          <a:ln w="12700">
            <a:solidFill>
              <a:srgbClr val="1B2644"/>
            </a:solidFill>
            <a:prstDash val="solid"/>
          </a:ln>
        </p:spPr>
      </p:sp>
      <p:pic>
        <p:nvPicPr>
          <p:cNvPr id="4" name="Logo" descr="MII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03504"/>
            <a:ext cx="1463040" cy="244145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3154680" y="182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Risks &amp; Mitigants</a:t>
            </a:r>
            <a:endParaRPr lang="en-US" sz="4000" dirty="0"/>
          </a:p>
        </p:txBody>
      </p:sp>
      <p:sp>
        <p:nvSpPr>
          <p:cNvPr id="6" name="Footer rule"/>
          <p:cNvSpPr/>
          <p:nvPr/>
        </p:nvSpPr>
        <p:spPr>
          <a:xfrm>
            <a:off x="521208" y="6318504"/>
            <a:ext cx="816559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" name="Footer"/>
          <p:cNvSpPr txBox="1"/>
          <p:nvPr/>
        </p:nvSpPr>
        <p:spPr>
          <a:xfrm>
            <a:off x="68580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CONFIDENTIAL</a:t>
            </a:r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14</a:t>
            </a:r>
            <a:endParaRPr lang="en-US" sz="900" dirty="0"/>
          </a:p>
        </p:txBody>
      </p:sp>
      <p:sp>
        <p:nvSpPr>
          <p:cNvPr id="8" name="Risk 1"/>
          <p:cNvSpPr/>
          <p:nvPr/>
        </p:nvSpPr>
        <p:spPr>
          <a:xfrm>
            <a:off x="36576" y="1481328"/>
            <a:ext cx="2615184" cy="603504"/>
          </a:xfrm>
          <a:prstGeom prst="homePlate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 Growth Proves Organic, Not Conversion-Driven</a:t>
            </a:r>
            <a:endParaRPr lang="en-US" sz="1050" dirty="0"/>
          </a:p>
        </p:txBody>
      </p:sp>
      <p:sp>
        <p:nvSpPr>
          <p:cNvPr id="9" name="Level header 1"/>
          <p:cNvSpPr/>
          <p:nvPr/>
        </p:nvSpPr>
        <p:spPr>
          <a:xfrm>
            <a:off x="2788920" y="1389888"/>
            <a:ext cx="1600200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Level of Risk</a:t>
            </a:r>
            <a:endParaRPr lang="en-US" sz="900" dirty="0"/>
          </a:p>
        </p:txBody>
      </p:sp>
      <p:sp>
        <p:nvSpPr>
          <p:cNvPr id="10" name="Level 1"/>
          <p:cNvSpPr/>
          <p:nvPr/>
        </p:nvSpPr>
        <p:spPr>
          <a:xfrm>
            <a:off x="2788920" y="1581912"/>
            <a:ext cx="1600200" cy="585216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</a:t>
            </a:r>
            <a:endParaRPr lang="en-US" sz="1700" dirty="0"/>
          </a:p>
        </p:txBody>
      </p:sp>
      <p:sp>
        <p:nvSpPr>
          <p:cNvPr id="11" name="Connector 1"/>
          <p:cNvSpPr/>
          <p:nvPr/>
        </p:nvSpPr>
        <p:spPr>
          <a:xfrm>
            <a:off x="4425696" y="1874520"/>
            <a:ext cx="219456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ysDot"/>
          </a:ln>
        </p:spPr>
      </p:sp>
      <p:sp>
        <p:nvSpPr>
          <p:cNvPr id="12" name="Mitigant header 1"/>
          <p:cNvSpPr/>
          <p:nvPr/>
        </p:nvSpPr>
        <p:spPr>
          <a:xfrm>
            <a:off x="4681728" y="1389888"/>
            <a:ext cx="4416552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Mitigant:</a:t>
            </a:r>
            <a:endParaRPr lang="en-US" sz="900" dirty="0"/>
          </a:p>
        </p:txBody>
      </p:sp>
      <p:sp>
        <p:nvSpPr>
          <p:cNvPr id="13" name="Mitigant 1"/>
          <p:cNvSpPr/>
          <p:nvPr/>
        </p:nvSpPr>
        <p:spPr>
          <a:xfrm>
            <a:off x="4681728" y="1581912"/>
            <a:ext cx="4416552" cy="585216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txBody>
          <a:bodyPr wrap="square" lIns="0" tIns="63500" rIns="635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6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 of 20 House of Sport stores (65%) say attraction users rarely buy, and 15 of 20 (75%) see traffic fading since opening. Q3 FY26 earnings (late Nov) test comps once conversion lift is stripped out.</a:t>
            </a:r>
            <a:endParaRPr lang="en-US" sz="950" dirty="0"/>
          </a:p>
        </p:txBody>
      </p:sp>
      <p:sp>
        <p:nvSpPr>
          <p:cNvPr id="14" name="Divider 1"/>
          <p:cNvSpPr/>
          <p:nvPr/>
        </p:nvSpPr>
        <p:spPr>
          <a:xfrm>
            <a:off x="2743200" y="2217420"/>
            <a:ext cx="6400800" cy="0"/>
          </a:xfrm>
          <a:prstGeom prst="line">
            <a:avLst/>
          </a:prstGeom>
          <a:noFill/>
          <a:ln w="9525">
            <a:solidFill>
              <a:srgbClr val="001746"/>
            </a:solidFill>
            <a:prstDash val="solid"/>
          </a:ln>
        </p:spPr>
      </p:sp>
      <p:sp>
        <p:nvSpPr>
          <p:cNvPr id="15" name="Risk 2"/>
          <p:cNvSpPr/>
          <p:nvPr/>
        </p:nvSpPr>
        <p:spPr>
          <a:xfrm>
            <a:off x="36576" y="2359152"/>
            <a:ext cx="2615184" cy="603504"/>
          </a:xfrm>
          <a:prstGeom prst="homePlate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Capex Normalizes and FCF Recovers</a:t>
            </a:r>
            <a:endParaRPr lang="en-US" sz="1050" dirty="0"/>
          </a:p>
        </p:txBody>
      </p:sp>
      <p:sp>
        <p:nvSpPr>
          <p:cNvPr id="16" name="Level header 2"/>
          <p:cNvSpPr/>
          <p:nvPr/>
        </p:nvSpPr>
        <p:spPr>
          <a:xfrm>
            <a:off x="2788920" y="2267712"/>
            <a:ext cx="1600200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Level of Risk</a:t>
            </a:r>
            <a:endParaRPr lang="en-US" sz="900" dirty="0"/>
          </a:p>
        </p:txBody>
      </p:sp>
      <p:sp>
        <p:nvSpPr>
          <p:cNvPr id="17" name="Level 2"/>
          <p:cNvSpPr/>
          <p:nvPr/>
        </p:nvSpPr>
        <p:spPr>
          <a:xfrm>
            <a:off x="2788920" y="2459736"/>
            <a:ext cx="1600200" cy="585216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Low</a:t>
            </a:r>
            <a:endParaRPr lang="en-US" sz="1700" dirty="0"/>
          </a:p>
        </p:txBody>
      </p:sp>
      <p:sp>
        <p:nvSpPr>
          <p:cNvPr id="18" name="Connector 2"/>
          <p:cNvSpPr/>
          <p:nvPr/>
        </p:nvSpPr>
        <p:spPr>
          <a:xfrm>
            <a:off x="4425696" y="2752344"/>
            <a:ext cx="219456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ysDot"/>
          </a:ln>
        </p:spPr>
      </p:sp>
      <p:sp>
        <p:nvSpPr>
          <p:cNvPr id="19" name="Mitigant header 2"/>
          <p:cNvSpPr/>
          <p:nvPr/>
        </p:nvSpPr>
        <p:spPr>
          <a:xfrm>
            <a:off x="4681728" y="2267712"/>
            <a:ext cx="4416552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Mitigant:</a:t>
            </a:r>
            <a:endParaRPr lang="en-US" sz="900" dirty="0"/>
          </a:p>
        </p:txBody>
      </p:sp>
      <p:sp>
        <p:nvSpPr>
          <p:cNvPr id="20" name="Mitigant 2"/>
          <p:cNvSpPr/>
          <p:nvPr/>
        </p:nvSpPr>
        <p:spPr>
          <a:xfrm>
            <a:off x="4681728" y="2459736"/>
            <a:ext cx="4416552" cy="585216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txBody>
          <a:bodyPr wrap="square" lIns="0" tIns="63500" rIns="635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6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~36 more House of Sport and Field House openings are planned for FY26, so reinvestment is structural; even at normal investment, cash trails the EPS-implied path by ~$500M. FY27 capex guide (Mar 2027) confirms.</a:t>
            </a:r>
            <a:endParaRPr lang="en-US" sz="950" dirty="0"/>
          </a:p>
        </p:txBody>
      </p:sp>
      <p:sp>
        <p:nvSpPr>
          <p:cNvPr id="21" name="Divider 2"/>
          <p:cNvSpPr/>
          <p:nvPr/>
        </p:nvSpPr>
        <p:spPr>
          <a:xfrm>
            <a:off x="2743200" y="3095244"/>
            <a:ext cx="6400800" cy="0"/>
          </a:xfrm>
          <a:prstGeom prst="line">
            <a:avLst/>
          </a:prstGeom>
          <a:noFill/>
          <a:ln w="9525">
            <a:solidFill>
              <a:srgbClr val="001746"/>
            </a:solidFill>
            <a:prstDash val="solid"/>
          </a:ln>
        </p:spPr>
      </p:sp>
      <p:sp>
        <p:nvSpPr>
          <p:cNvPr id="22" name="Risk 3"/>
          <p:cNvSpPr/>
          <p:nvPr/>
        </p:nvSpPr>
        <p:spPr>
          <a:xfrm>
            <a:off x="36576" y="3236976"/>
            <a:ext cx="2615184" cy="603504"/>
          </a:xfrm>
          <a:prstGeom prst="homePlate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Nike Product Cycle Rebounds</a:t>
            </a:r>
            <a:endParaRPr lang="en-US" sz="1050" dirty="0"/>
          </a:p>
        </p:txBody>
      </p:sp>
      <p:sp>
        <p:nvSpPr>
          <p:cNvPr id="23" name="Level header 3"/>
          <p:cNvSpPr/>
          <p:nvPr/>
        </p:nvSpPr>
        <p:spPr>
          <a:xfrm>
            <a:off x="2788920" y="3145536"/>
            <a:ext cx="1600200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Level of Risk</a:t>
            </a:r>
            <a:endParaRPr lang="en-US" sz="900" dirty="0"/>
          </a:p>
        </p:txBody>
      </p:sp>
      <p:sp>
        <p:nvSpPr>
          <p:cNvPr id="24" name="Level 3"/>
          <p:cNvSpPr/>
          <p:nvPr/>
        </p:nvSpPr>
        <p:spPr>
          <a:xfrm>
            <a:off x="2788920" y="3337560"/>
            <a:ext cx="1600200" cy="585216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Medium</a:t>
            </a:r>
            <a:endParaRPr lang="en-US" sz="1700" dirty="0"/>
          </a:p>
        </p:txBody>
      </p:sp>
      <p:sp>
        <p:nvSpPr>
          <p:cNvPr id="25" name="Connector 3"/>
          <p:cNvSpPr/>
          <p:nvPr/>
        </p:nvSpPr>
        <p:spPr>
          <a:xfrm>
            <a:off x="4425696" y="3630168"/>
            <a:ext cx="219456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ysDot"/>
          </a:ln>
        </p:spPr>
      </p:sp>
      <p:sp>
        <p:nvSpPr>
          <p:cNvPr id="26" name="Mitigant header 3"/>
          <p:cNvSpPr/>
          <p:nvPr/>
        </p:nvSpPr>
        <p:spPr>
          <a:xfrm>
            <a:off x="4681728" y="3145536"/>
            <a:ext cx="4416552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Mitigant:</a:t>
            </a:r>
            <a:endParaRPr lang="en-US" sz="900" dirty="0"/>
          </a:p>
        </p:txBody>
      </p:sp>
      <p:sp>
        <p:nvSpPr>
          <p:cNvPr id="27" name="Mitigant 3"/>
          <p:cNvSpPr/>
          <p:nvPr/>
        </p:nvSpPr>
        <p:spPr>
          <a:xfrm>
            <a:off x="4681728" y="3337560"/>
            <a:ext cx="4416552" cy="585216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txBody>
          <a:bodyPr wrap="square" lIns="0" tIns="63500" rIns="635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6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Nike's North American wholesale grew 9% while total revenue fell 4%, so sell-in is outpacing demand. With 61% of Nike sales via wholesale, Nike FQ2 (Dec 2026) and holiday markdowns show where excess lands.</a:t>
            </a:r>
            <a:endParaRPr lang="en-US" sz="950" dirty="0"/>
          </a:p>
        </p:txBody>
      </p:sp>
      <p:sp>
        <p:nvSpPr>
          <p:cNvPr id="28" name="Divider 3"/>
          <p:cNvSpPr/>
          <p:nvPr/>
        </p:nvSpPr>
        <p:spPr>
          <a:xfrm>
            <a:off x="2743200" y="3973068"/>
            <a:ext cx="6400800" cy="0"/>
          </a:xfrm>
          <a:prstGeom prst="line">
            <a:avLst/>
          </a:prstGeom>
          <a:noFill/>
          <a:ln w="9525">
            <a:solidFill>
              <a:srgbClr val="001746"/>
            </a:solidFill>
            <a:prstDash val="solid"/>
          </a:ln>
        </p:spPr>
      </p:sp>
      <p:sp>
        <p:nvSpPr>
          <p:cNvPr id="29" name="Risk 4"/>
          <p:cNvSpPr/>
          <p:nvPr/>
        </p:nvSpPr>
        <p:spPr>
          <a:xfrm>
            <a:off x="36576" y="4114800"/>
            <a:ext cx="2615184" cy="603504"/>
          </a:xfrm>
          <a:prstGeom prst="homePlate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Foot Locker Turnaround Beats Expectations</a:t>
            </a:r>
            <a:endParaRPr lang="en-US" sz="1050" dirty="0"/>
          </a:p>
        </p:txBody>
      </p:sp>
      <p:sp>
        <p:nvSpPr>
          <p:cNvPr id="30" name="Level header 4"/>
          <p:cNvSpPr/>
          <p:nvPr/>
        </p:nvSpPr>
        <p:spPr>
          <a:xfrm>
            <a:off x="2788920" y="4023360"/>
            <a:ext cx="1600200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Level of Risk</a:t>
            </a:r>
            <a:endParaRPr lang="en-US" sz="900" dirty="0"/>
          </a:p>
        </p:txBody>
      </p:sp>
      <p:sp>
        <p:nvSpPr>
          <p:cNvPr id="31" name="Level 4"/>
          <p:cNvSpPr/>
          <p:nvPr/>
        </p:nvSpPr>
        <p:spPr>
          <a:xfrm>
            <a:off x="2788920" y="4215384"/>
            <a:ext cx="1600200" cy="585216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High</a:t>
            </a:r>
            <a:endParaRPr lang="en-US" sz="1700" dirty="0"/>
          </a:p>
        </p:txBody>
      </p:sp>
      <p:sp>
        <p:nvSpPr>
          <p:cNvPr id="32" name="Connector 4"/>
          <p:cNvSpPr/>
          <p:nvPr/>
        </p:nvSpPr>
        <p:spPr>
          <a:xfrm>
            <a:off x="4425696" y="4507992"/>
            <a:ext cx="219456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ysDot"/>
          </a:ln>
        </p:spPr>
      </p:sp>
      <p:sp>
        <p:nvSpPr>
          <p:cNvPr id="33" name="Mitigant header 4"/>
          <p:cNvSpPr/>
          <p:nvPr/>
        </p:nvSpPr>
        <p:spPr>
          <a:xfrm>
            <a:off x="4681728" y="4023360"/>
            <a:ext cx="4416552" cy="155448"/>
          </a:xfrm>
          <a:prstGeom prst="rect">
            <a:avLst/>
          </a:prstGeom>
          <a:solidFill>
            <a:srgbClr val="001746"/>
          </a:solidFill>
          <a:ln>
            <a:solidFill>
              <a:srgbClr val="0017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Mitigant:</a:t>
            </a:r>
            <a:endParaRPr lang="en-US" sz="900" dirty="0"/>
          </a:p>
        </p:txBody>
      </p:sp>
      <p:sp>
        <p:nvSpPr>
          <p:cNvPr id="34" name="Mitigant 4"/>
          <p:cNvSpPr/>
          <p:nvPr/>
        </p:nvSpPr>
        <p:spPr>
          <a:xfrm>
            <a:off x="4681728" y="4215384"/>
            <a:ext cx="4416552" cy="585216"/>
          </a:xfrm>
          <a:prstGeom prst="rect">
            <a:avLst/>
          </a:prstGeom>
          <a:solidFill>
            <a:srgbClr val="E4E9F0"/>
          </a:solidFill>
          <a:ln>
            <a:solidFill>
              <a:srgbClr val="E4E9F0"/>
            </a:solidFill>
          </a:ln>
        </p:spPr>
        <p:txBody>
          <a:bodyPr wrap="square" lIns="0" tIns="63500" rIns="635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64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Foot Locker needs $142.1M of added profit to support a $13.15 EPS recovery, and a 10% discount on 15% of its sales erases $74.5M (52%) of that. It enters the comp base in Q4 FY26, guided –2% to 0%.</a:t>
            </a:r>
            <a:endParaRPr lang="en-US" sz="950" dirty="0"/>
          </a:p>
        </p:txBody>
      </p:sp>
      <p:sp>
        <p:nvSpPr>
          <p:cNvPr id="35" name="Headwinds label"/>
          <p:cNvSpPr txBox="1"/>
          <p:nvPr/>
        </p:nvSpPr>
        <p:spPr>
          <a:xfrm>
            <a:off x="2788920" y="4983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Headwinds</a:t>
            </a:r>
            <a:endParaRPr lang="en-US" sz="1100" dirty="0"/>
          </a:p>
        </p:txBody>
      </p:sp>
      <p:sp>
        <p:nvSpPr>
          <p:cNvPr id="36" name="Headwinds rule"/>
          <p:cNvSpPr/>
          <p:nvPr/>
        </p:nvSpPr>
        <p:spPr>
          <a:xfrm>
            <a:off x="2788920" y="5212080"/>
            <a:ext cx="3063240" cy="0"/>
          </a:xfrm>
          <a:prstGeom prst="line">
            <a:avLst/>
          </a:prstGeom>
          <a:noFill/>
          <a:ln w="12700">
            <a:solidFill>
              <a:srgbClr val="800020"/>
            </a:solidFill>
            <a:prstDash val="solid"/>
          </a:ln>
        </p:spPr>
      </p:sp>
      <p:sp>
        <p:nvSpPr>
          <p:cNvPr id="37" name="Headwinds callout"/>
          <p:cNvSpPr/>
          <p:nvPr/>
        </p:nvSpPr>
        <p:spPr>
          <a:xfrm>
            <a:off x="2788920" y="5285232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1B2644"/>
            </a:solidFill>
            <a:prstDash val="dash"/>
          </a:ln>
        </p:spPr>
        <p:txBody>
          <a:bodyPr wrap="square" lIns="38100" tIns="88900" rIns="889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u="sng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Price-Led Spending &amp; Nike Sell-In</a:t>
            </a:r>
            <a:endParaRPr lang="en-US" sz="10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Consumers are paying more for fewer items while Nike pushes inventory into wholesale, raising promotional and markdown pressure on DICK'S and Foot Locker into holiday.</a:t>
            </a:r>
            <a:endParaRPr lang="en-US" sz="1000" dirty="0"/>
          </a:p>
        </p:txBody>
      </p:sp>
      <p:sp>
        <p:nvSpPr>
          <p:cNvPr id="38" name="Tailwinds label"/>
          <p:cNvSpPr txBox="1"/>
          <p:nvPr/>
        </p:nvSpPr>
        <p:spPr>
          <a:xfrm>
            <a:off x="6035040" y="4983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33A2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Tailwinds</a:t>
            </a:r>
            <a:endParaRPr lang="en-US" sz="1100" dirty="0"/>
          </a:p>
        </p:txBody>
      </p:sp>
      <p:sp>
        <p:nvSpPr>
          <p:cNvPr id="39" name="Tailwinds rule"/>
          <p:cNvSpPr/>
          <p:nvPr/>
        </p:nvSpPr>
        <p:spPr>
          <a:xfrm>
            <a:off x="6035040" y="5212080"/>
            <a:ext cx="3063240" cy="0"/>
          </a:xfrm>
          <a:prstGeom prst="line">
            <a:avLst/>
          </a:prstGeom>
          <a:noFill/>
          <a:ln w="12700">
            <a:solidFill>
              <a:srgbClr val="133A2E"/>
            </a:solidFill>
            <a:prstDash val="solid"/>
          </a:ln>
        </p:spPr>
      </p:sp>
      <p:sp>
        <p:nvSpPr>
          <p:cNvPr id="40" name="Tailwinds callout"/>
          <p:cNvSpPr/>
          <p:nvPr/>
        </p:nvSpPr>
        <p:spPr>
          <a:xfrm>
            <a:off x="6035040" y="5285232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1B2644"/>
            </a:solidFill>
            <a:prstDash val="dash"/>
          </a:ln>
        </p:spPr>
        <p:txBody>
          <a:bodyPr wrap="square" lIns="38100" tIns="88900" rIns="889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u="sng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Strong Core Execution &amp; Event Demand</a:t>
            </a:r>
            <a:endParaRPr lang="en-US" sz="10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DICK'S comps grew 4.9% in Q2 FY26 with ticket and transactions both up, helped by the 2026 World Cup; GameChanger and the Media Network add higher-margin growth.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DKS Risks &amp; Mitigants</dc:title>
  <dc:subject>PptxGenJS Presentation</dc:subject>
  <dc:creator>PptxGenJS</dc:creator>
  <cp:lastModifiedBy>PptxGenJS</cp:lastModifiedBy>
  <cp:revision>1</cp:revision>
  <dcterms:created xsi:type="dcterms:W3CDTF">2026-10-12T04:53:43Z</dcterms:created>
  <dcterms:modified xsi:type="dcterms:W3CDTF">2026-10-12T04:53:43Z</dcterms:modified>
</cp:coreProperties>
</file>