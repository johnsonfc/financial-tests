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Bear (12.2 / 20)</c:v>
                </c:pt>
              </c:strCache>
            </c:strRef>
          </c:tx>
          <c:spPr>
            <a:solidFill>
              <a:srgbClr val="002060"/>
            </a:solidFill>
          </c:spPr>
          <c:cat>
            <c:strRef>
              <c:f>Sheet1!$A$2:$A$5</c:f>
              <c:strCache>
                <c:ptCount val="4"/>
                <c:pt idx="0">
                  <c:v>Edge</c:v>
                </c:pt>
                <c:pt idx="1">
                  <c:v>Materiality</c:v>
                </c:pt>
                <c:pt idx="2">
                  <c:v>Testability</c:v>
                </c:pt>
                <c:pt idx="3">
                  <c:v>Evidence</c:v>
                </c:pt>
              </c:strCache>
            </c:strRef>
          </c:cat>
          <c:val>
            <c:numRef>
              <c:f>Sheet1!$B$2:$B$5</c:f>
              <c:numCache>
                <c:formatCode>0.0</c:formatCode>
                <c:ptCount val="4"/>
                <c:pt idx="0">
                  <c:v>2.7</c:v>
                </c:pt>
                <c:pt idx="1">
                  <c:v>2.2</c:v>
                </c:pt>
                <c:pt idx="2">
                  <c:v>4.2</c:v>
                </c:pt>
                <c:pt idx="3">
                  <c:v>3.1</c:v>
                </c:pt>
              </c:numCache>
            </c:numRef>
          </c:val>
        </c:ser>
        <c:ser>
          <c:idx val="1"/>
          <c:order val="1"/>
          <c:tx>
            <c:strRef>
              <c:f>Sheet1!$C$1</c:f>
              <c:strCache>
                <c:ptCount val="1"/>
                <c:pt idx="0">
                  <c:v>Bull (11.4 / 20)</c:v>
                </c:pt>
              </c:strCache>
            </c:strRef>
          </c:tx>
          <c:spPr>
            <a:solidFill>
              <a:srgbClr val="FFC000"/>
            </a:solidFill>
          </c:spPr>
          <c:cat>
            <c:strRef>
              <c:f>Sheet1!$A$2:$A$5</c:f>
              <c:strCache>
                <c:ptCount val="4"/>
                <c:pt idx="0">
                  <c:v>Edge</c:v>
                </c:pt>
                <c:pt idx="1">
                  <c:v>Materiality</c:v>
                </c:pt>
                <c:pt idx="2">
                  <c:v>Testability</c:v>
                </c:pt>
                <c:pt idx="3">
                  <c:v>Evidence</c:v>
                </c:pt>
              </c:strCache>
            </c:strRef>
          </c:cat>
          <c:val>
            <c:numRef>
              <c:f>Sheet1!$C$2:$C$5</c:f>
              <c:numCache>
                <c:formatCode>0.0</c:formatCode>
                <c:ptCount val="4"/>
                <c:pt idx="0">
                  <c:v>2.3</c:v>
                </c:pt>
                <c:pt idx="1">
                  <c:v>2.1</c:v>
                </c:pt>
                <c:pt idx="2">
                  <c:v>4.3</c:v>
                </c:pt>
                <c:pt idx="3">
                  <c:v>2.7</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FY26 sales guide</c:v>
                </c:pt>
              </c:strCache>
            </c:strRef>
          </c:tx>
          <c:dPt>
            <c:idx val="0"/>
            <c:spPr>
              <a:solidFill>
                <a:srgbClr val="002060"/>
              </a:solidFill>
              <a:ln>
                <a:solidFill>
                  <a:srgbClr val="FFFFFF"/>
                </a:solidFill>
              </a:ln>
            </c:spPr>
          </c:dPt>
          <c:dPt>
            <c:idx val="1"/>
            <c:spPr>
              <a:solidFill>
                <a:srgbClr val="FFC000"/>
              </a:solidFill>
              <a:ln>
                <a:solidFill>
                  <a:srgbClr val="FFFFFF"/>
                </a:solidFill>
              </a:ln>
            </c:spPr>
          </c:dPt>
          <c:dLbls>
            <c:dLbl>
              <c:idx val="0"/>
              <c:spPr/>
              <c:txPr>
                <a:bodyPr/>
                <a:lstStyle/>
                <a:p>
                  <a:pPr>
                    <a:defRPr sz="1100" b="0">
                      <a:solidFill>
                        <a:srgbClr val="FFFFFF"/>
                      </a:solidFill>
                      <a:latin typeface="Garamond"/>
                    </a:defRPr>
                  </a:pPr>
                </a:p>
              </c:txPr>
              <c:showLegendKey val="0"/>
              <c:showVal val="1"/>
              <c:showCatName val="0"/>
              <c:showSerName val="0"/>
              <c:showPercent val="0"/>
              <c:showBubbleSize val="0"/>
            </c:dLbl>
            <c:dLbl>
              <c:idx val="1"/>
              <c:spPr/>
              <c:txPr>
                <a:bodyPr/>
                <a:lstStyle/>
                <a:p>
                  <a:pPr>
                    <a:defRPr sz="1100" b="0">
                      <a:solidFill>
                        <a:srgbClr val="3F3F3F"/>
                      </a:solidFill>
                      <a:latin typeface="Garamond"/>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DICK'S Business</c:v>
                </c:pt>
                <c:pt idx="1">
                  <c:v>Foot Locker Business</c:v>
                </c:pt>
              </c:strCache>
            </c:strRef>
          </c:cat>
          <c:val>
            <c:numRef>
              <c:f>Sheet1!$B$2:$B$3</c:f>
              <c:numCache>
                <c:formatCode>#,##0</c:formatCode>
                <c:ptCount val="2"/>
                <c:pt idx="0">
                  <c:v>14600</c:v>
                </c:pt>
                <c:pt idx="1">
                  <c:v>7450</c:v>
                </c:pt>
              </c:numCache>
            </c:numRef>
          </c:val>
        </c:ser>
        <c:dLbls>
          <c:numFmt formatCode="#,##0" sourceLinked="0"/>
          <c:txPr>
            <a:bodyPr/>
            <a:lstStyle/>
            <a:p>
              <a:pPr>
                <a:defRPr sz="1100" b="0">
                  <a:solidFill>
                    <a:srgbClr val="3F3F3F"/>
                  </a:solidFill>
                  <a:latin typeface="Garamond"/>
                </a:defRPr>
              </a:pPr>
            </a:p>
          </c:txPr>
          <c:showLegendKey val="0"/>
          <c:showVal val="1"/>
          <c:showCatName val="0"/>
          <c:showSerName val="0"/>
          <c:showPercent val="0"/>
          <c:showBubbleSize val="0"/>
          <c:showLeaderLines val="1"/>
        </c:dLbls>
        <c:firstSliceAng val="0"/>
        <c:holeSize val="50"/>
      </c:doughnutChart>
    </c:plotArea>
    <c:legend>
      <c:legendPos val="b"/>
      <c:layout/>
      <c:overlay val="0"/>
      <c:txPr>
        <a:bodyPr/>
        <a:lstStyle/>
        <a:p>
          <a:pPr>
            <a:defRPr sz="1100" b="0">
              <a:solidFill>
                <a:srgbClr val="3F3F3F"/>
              </a:solidFill>
              <a:latin typeface="Garamond"/>
            </a:defRPr>
          </a:pPr>
        </a:p>
      </c:txPr>
    </c:legend>
    <c:plotVisOnly val="1"/>
    <c:dispBlanksAs val="gap"/>
    <c:showDLblsOverMax val="0"/>
  </c:chart>
  <c:txPr>
    <a:bodyPr/>
    <a:lstStyle/>
    <a:p>
      <a:pPr>
        <a:defRPr sz="1200" b="0">
          <a:solidFill>
            <a:srgbClr val="3F3F3F"/>
          </a:solidFill>
          <a:latin typeface="Garamond"/>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DICK'S Business</c:v>
                </c:pt>
              </c:strCache>
            </c:strRef>
          </c:tx>
          <c:spPr>
            <a:solidFill>
              <a:srgbClr val="002060"/>
            </a:solidFill>
          </c:spPr>
          <c:cat>
            <c:strRef>
              <c:f>Sheet1!$A$2:$A$4</c:f>
              <c:strCache>
                <c:ptCount val="3"/>
                <c:pt idx="0">
                  <c:v>FY24</c:v>
                </c:pt>
                <c:pt idx="1">
                  <c:v>FY25</c:v>
                </c:pt>
                <c:pt idx="2">
                  <c:v>FY26 Guide</c:v>
                </c:pt>
              </c:strCache>
            </c:strRef>
          </c:cat>
          <c:val>
            <c:numRef>
              <c:f>Sheet1!$B$2:$B$4</c:f>
              <c:numCache>
                <c:formatCode>#,##0</c:formatCode>
                <c:ptCount val="3"/>
                <c:pt idx="0">
                  <c:v>1497</c:v>
                </c:pt>
                <c:pt idx="1">
                  <c:v>1570</c:v>
                </c:pt>
                <c:pt idx="2">
                  <c:v>1640</c:v>
                </c:pt>
              </c:numCache>
            </c:numRef>
          </c:val>
        </c:ser>
        <c:ser>
          <c:idx val="1"/>
          <c:order val="1"/>
          <c:tx>
            <c:strRef>
              <c:f>Sheet1!$C$1</c:f>
              <c:strCache>
                <c:ptCount val="1"/>
                <c:pt idx="0">
                  <c:v>Foot Locker Business</c:v>
                </c:pt>
              </c:strCache>
            </c:strRef>
          </c:tx>
          <c:spPr>
            <a:solidFill>
              <a:srgbClr val="FFC000"/>
            </a:solidFill>
          </c:spPr>
          <c:cat>
            <c:strRef>
              <c:f>Sheet1!$A$2:$A$4</c:f>
              <c:strCache>
                <c:ptCount val="3"/>
                <c:pt idx="0">
                  <c:v>FY24</c:v>
                </c:pt>
                <c:pt idx="1">
                  <c:v>FY25</c:v>
                </c:pt>
                <c:pt idx="2">
                  <c:v>FY26 Guide</c:v>
                </c:pt>
              </c:strCache>
            </c:strRef>
          </c:cat>
          <c:val>
            <c:numRef>
              <c:f>Sheet1!$C$2:$C$4</c:f>
              <c:numCache>
                <c:formatCode>#,##0</c:formatCode>
                <c:ptCount val="3"/>
                <c:pt idx="0">
                  <c:v>0</c:v>
                </c:pt>
                <c:pt idx="1">
                  <c:v>-52</c:v>
                </c:pt>
                <c:pt idx="2">
                  <c:v>-60</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Comparable sales</c:v>
                </c:pt>
              </c:strCache>
            </c:strRef>
          </c:tx>
          <c:spPr>
            <a:solidFill>
              <a:srgbClr val="002060"/>
            </a:solidFill>
          </c:spPr>
          <c:cat>
            <c:strRef>
              <c:f>Sheet1!$A$2:$A$6</c:f>
              <c:strCache>
                <c:ptCount val="5"/>
                <c:pt idx="0">
                  <c:v>FY23</c:v>
                </c:pt>
                <c:pt idx="1">
                  <c:v>FY24</c:v>
                </c:pt>
                <c:pt idx="2">
                  <c:v>FY25</c:v>
                </c:pt>
                <c:pt idx="3">
                  <c:v>Q1 FY26</c:v>
                </c:pt>
                <c:pt idx="4">
                  <c:v>Q2 FY26</c:v>
                </c:pt>
              </c:strCache>
            </c:strRef>
          </c:cat>
          <c:val>
            <c:numRef>
              <c:f>Sheet1!$B$2:$B$6</c:f>
              <c:numCache>
                <c:formatCode>0.0</c:formatCode>
                <c:ptCount val="5"/>
                <c:pt idx="0">
                  <c:v>2.4</c:v>
                </c:pt>
                <c:pt idx="1">
                  <c:v>5.2</c:v>
                </c:pt>
                <c:pt idx="2">
                  <c:v>4.5</c:v>
                </c:pt>
                <c:pt idx="3">
                  <c:v>6.0</c:v>
                </c:pt>
                <c:pt idx="4">
                  <c:v>4.9</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Operating margin</c:v>
                </c:pt>
              </c:strCache>
            </c:strRef>
          </c:tx>
          <c:spPr>
            <a:ln w="28575">
              <a:solidFill>
                <a:srgbClr val="002060"/>
              </a:solidFill>
            </a:ln>
          </c:spPr>
          <c:marker>
            <c:symbol val="none"/>
          </c:marker>
          <c:cat>
            <c:strRef>
              <c:f>Sheet1!$A$2:$A$4</c:f>
              <c:strCache>
                <c:ptCount val="3"/>
                <c:pt idx="0">
                  <c:v>Q2 FY25</c:v>
                </c:pt>
                <c:pt idx="1">
                  <c:v>Q2 FY26</c:v>
                </c:pt>
                <c:pt idx="2">
                  <c:v>Q2 FY26 ex-refund</c:v>
                </c:pt>
              </c:strCache>
            </c:strRef>
          </c:cat>
          <c:val>
            <c:numRef>
              <c:f>Sheet1!$B$2:$B$4</c:f>
              <c:numCache>
                <c:formatCode>0.0</c:formatCode>
                <c:ptCount val="3"/>
                <c:pt idx="0">
                  <c:v>13.0</c:v>
                </c:pt>
                <c:pt idx="1">
                  <c:v>12.6</c:v>
                </c:pt>
                <c:pt idx="2">
                  <c:v>11.1</c:v>
                </c:pt>
              </c:numCache>
            </c:numRef>
          </c:val>
          <c:smooth val="0"/>
        </c:ser>
        <c:dLbls>
          <c:numFmt formatCode="0.0" sourceLinked="0"/>
          <c:txPr>
            <a:bodyPr/>
            <a:lstStyle/>
            <a:p>
              <a:pPr>
                <a:defRPr sz="1100" b="0">
                  <a:solidFill>
                    <a:srgbClr val="3F3F3F"/>
                  </a:solidFill>
                  <a:latin typeface="Garamond"/>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118791784"/>
        <c:crosses val="autoZero"/>
      </c:valAx>
    </c:plotArea>
    <c:plotVisOnly val="1"/>
    <c:dispBlanksAs val="gap"/>
    <c:showDLblsOverMax val="0"/>
  </c:chart>
  <c:txPr>
    <a:bodyPr/>
    <a:lstStyle/>
    <a:p>
      <a:pPr>
        <a:defRPr sz="1200" b="0">
          <a:solidFill>
            <a:srgbClr val="3F3F3F"/>
          </a:solidFill>
          <a:latin typeface="Garamon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F3F3F"/>
                </a:solidFill>
                <a:latin typeface="Garamond"/>
              </a:rPr>
              <a:t>FY26 Cash Uses vs. Free Cash Flow ($M)</a:t>
            </a:r>
          </a:p>
        </c:rich>
      </c:tx>
      <c:layout/>
      <c:overlay val="0"/>
    </c:title>
    <c:autoTitleDeleted val="0"/>
    <c:plotArea>
      <c:barChart>
        <c:barDir val="col"/>
        <c:grouping val="clustered"/>
        <c:ser>
          <c:idx val="0"/>
          <c:order val="0"/>
          <c:tx>
            <c:strRef>
              <c:f>Sheet1!$B$1</c:f>
              <c:strCache>
                <c:ptCount val="1"/>
                <c:pt idx="0">
                  <c:v>$M</c:v>
                </c:pt>
              </c:strCache>
            </c:strRef>
          </c:tx>
          <c:spPr>
            <a:solidFill>
              <a:srgbClr val="002060"/>
            </a:solidFill>
          </c:spPr>
          <c:cat>
            <c:strRef>
              <c:f>Sheet1!$A$2:$A$5</c:f>
              <c:strCache>
                <c:ptCount val="4"/>
                <c:pt idx="0">
                  <c:v>FY25 FCF</c:v>
                </c:pt>
                <c:pt idx="1">
                  <c:v>FY26E FCF</c:v>
                </c:pt>
                <c:pt idx="2">
                  <c:v>FY26 dividends</c:v>
                </c:pt>
                <c:pt idx="3">
                  <c:v>FY26 capex</c:v>
                </c:pt>
              </c:strCache>
            </c:strRef>
          </c:cat>
          <c:val>
            <c:numRef>
              <c:f>Sheet1!$B$2:$B$5</c:f>
              <c:numCache>
                <c:formatCode>#,##0</c:formatCode>
                <c:ptCount val="4"/>
                <c:pt idx="0">
                  <c:v>400</c:v>
                </c:pt>
                <c:pt idx="1">
                  <c:v>307</c:v>
                </c:pt>
                <c:pt idx="2">
                  <c:v>450</c:v>
                </c:pt>
                <c:pt idx="3">
                  <c:v>1400</c:v>
                </c:pt>
              </c:numCache>
            </c:numRef>
          </c:val>
        </c:ser>
        <c:dLbls>
          <c:numFmt formatCode="#,##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Comparable sales</c:v>
                </c:pt>
              </c:strCache>
            </c:strRef>
          </c:tx>
          <c:spPr>
            <a:solidFill>
              <a:srgbClr val="002060"/>
            </a:solidFill>
          </c:spPr>
          <c:cat>
            <c:strRef>
              <c:f>Sheet1!$A$2:$A$5</c:f>
              <c:strCache>
                <c:ptCount val="4"/>
                <c:pt idx="0">
                  <c:v>DICK'S</c:v>
                </c:pt>
                <c:pt idx="1">
                  <c:v>Academy</c:v>
                </c:pt>
                <c:pt idx="2">
                  <c:v>Foot Locker</c:v>
                </c:pt>
                <c:pt idx="3">
                  <c:v>JD North America</c:v>
                </c:pt>
              </c:strCache>
            </c:strRef>
          </c:cat>
          <c:val>
            <c:numRef>
              <c:f>Sheet1!$B$2:$B$5</c:f>
              <c:numCache>
                <c:formatCode>0.0</c:formatCode>
                <c:ptCount val="4"/>
                <c:pt idx="0">
                  <c:v>4.9</c:v>
                </c:pt>
                <c:pt idx="1">
                  <c:v>-0.4</c:v>
                </c:pt>
                <c:pt idx="2">
                  <c:v>-3.6</c:v>
                </c:pt>
                <c:pt idx="3">
                  <c:v>-6.8</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Operating margin</c:v>
                </c:pt>
              </c:strCache>
            </c:strRef>
          </c:tx>
          <c:spPr>
            <a:solidFill>
              <a:srgbClr val="002060"/>
            </a:solidFill>
          </c:spPr>
          <c:cat>
            <c:strRef>
              <c:f>Sheet1!$A$2:$A$6</c:f>
              <c:strCache>
                <c:ptCount val="5"/>
                <c:pt idx="0">
                  <c:v>DICK'S Business</c:v>
                </c:pt>
                <c:pt idx="1">
                  <c:v>Academy</c:v>
                </c:pt>
                <c:pt idx="2">
                  <c:v>Hibbett (FY24)</c:v>
                </c:pt>
                <c:pt idx="3">
                  <c:v>JD North America</c:v>
                </c:pt>
                <c:pt idx="4">
                  <c:v>Foot Locker (FY24)</c:v>
                </c:pt>
              </c:strCache>
            </c:strRef>
          </c:cat>
          <c:val>
            <c:numRef>
              <c:f>Sheet1!$B$2:$B$6</c:f>
              <c:numCache>
                <c:formatCode>0.0</c:formatCode>
                <c:ptCount val="5"/>
                <c:pt idx="0">
                  <c:v>11.1</c:v>
                </c:pt>
                <c:pt idx="1">
                  <c:v>8.5</c:v>
                </c:pt>
                <c:pt idx="2">
                  <c:v>7.9</c:v>
                </c:pt>
                <c:pt idx="3">
                  <c:v>7.4</c:v>
                </c:pt>
                <c:pt idx="4">
                  <c:v>1.3</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Operating income</c:v>
                </c:pt>
              </c:strCache>
            </c:strRef>
          </c:tx>
          <c:spPr>
            <a:solidFill>
              <a:srgbClr val="002060"/>
            </a:solidFill>
          </c:spPr>
          <c:cat>
            <c:strRef>
              <c:f>Sheet1!$A$2:$A$5</c:f>
              <c:strCache>
                <c:ptCount val="4"/>
                <c:pt idx="0">
                  <c:v>Q3 FY25</c:v>
                </c:pt>
                <c:pt idx="1">
                  <c:v>Q4 FY25</c:v>
                </c:pt>
                <c:pt idx="2">
                  <c:v>Q1 FY26</c:v>
                </c:pt>
                <c:pt idx="3">
                  <c:v>Q2 FY26</c:v>
                </c:pt>
              </c:strCache>
            </c:strRef>
          </c:cat>
          <c:val>
            <c:numRef>
              <c:f>Sheet1!$B$2:$B$5</c:f>
              <c:numCache>
                <c:formatCode>#,##0.0</c:formatCode>
                <c:ptCount val="4"/>
                <c:pt idx="0">
                  <c:v>-46.3</c:v>
                </c:pt>
                <c:pt idx="1">
                  <c:v>-5.9</c:v>
                </c:pt>
                <c:pt idx="2">
                  <c:v>17.5</c:v>
                </c:pt>
                <c:pt idx="3">
                  <c:v>-31.9</c:v>
                </c:pt>
              </c:numCache>
            </c:numRef>
          </c:val>
        </c:ser>
        <c:dLbls>
          <c:numFmt formatCode="#,##0.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FY26 openings</c:v>
                </c:pt>
              </c:strCache>
            </c:strRef>
          </c:tx>
          <c:dPt>
            <c:idx val="0"/>
            <c:spPr>
              <a:solidFill>
                <a:srgbClr val="002060"/>
              </a:solidFill>
              <a:ln>
                <a:solidFill>
                  <a:srgbClr val="FFFFFF"/>
                </a:solidFill>
              </a:ln>
            </c:spPr>
          </c:dPt>
          <c:dPt>
            <c:idx val="1"/>
            <c:spPr>
              <a:solidFill>
                <a:srgbClr val="FFC000"/>
              </a:solidFill>
              <a:ln>
                <a:solidFill>
                  <a:srgbClr val="FFFFFF"/>
                </a:solidFill>
              </a:ln>
            </c:spPr>
          </c:dPt>
          <c:dPt>
            <c:idx val="2"/>
            <c:spPr>
              <a:solidFill>
                <a:srgbClr val="A5A5A5"/>
              </a:solidFill>
              <a:ln>
                <a:solidFill>
                  <a:srgbClr val="FFFFFF"/>
                </a:solidFill>
              </a:ln>
            </c:spPr>
          </c:dPt>
          <c:dLbls>
            <c:dLbl>
              <c:idx val="0"/>
              <c:spPr/>
              <c:txPr>
                <a:bodyPr/>
                <a:lstStyle/>
                <a:p>
                  <a:pPr>
                    <a:defRPr sz="1100" b="0">
                      <a:solidFill>
                        <a:srgbClr val="FFFFFF"/>
                      </a:solidFill>
                      <a:latin typeface="Garamond"/>
                    </a:defRPr>
                  </a:pPr>
                </a:p>
              </c:txPr>
              <c:showLegendKey val="0"/>
              <c:showVal val="1"/>
              <c:showCatName val="0"/>
              <c:showSerName val="0"/>
              <c:showPercent val="0"/>
              <c:showBubbleSize val="0"/>
            </c:dLbl>
            <c:dLbl>
              <c:idx val="1"/>
              <c:spPr/>
              <c:txPr>
                <a:bodyPr/>
                <a:lstStyle/>
                <a:p>
                  <a:pPr>
                    <a:defRPr sz="1100" b="0">
                      <a:solidFill>
                        <a:srgbClr val="3F3F3F"/>
                      </a:solidFill>
                      <a:latin typeface="Garamond"/>
                    </a:defRPr>
                  </a:pPr>
                </a:p>
              </c:txPr>
              <c:showLegendKey val="0"/>
              <c:showVal val="1"/>
              <c:showCatName val="0"/>
              <c:showSerName val="0"/>
              <c:showPercent val="0"/>
              <c:showBubbleSize val="0"/>
            </c:dLbl>
            <c:dLbl>
              <c:idx val="2"/>
              <c:spPr/>
              <c:txPr>
                <a:bodyPr/>
                <a:lstStyle/>
                <a:p>
                  <a:pPr>
                    <a:defRPr sz="1100" b="0">
                      <a:solidFill>
                        <a:srgbClr val="3F3F3F"/>
                      </a:solidFill>
                      <a:latin typeface="Garamond"/>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House of Sport</c:v>
                </c:pt>
                <c:pt idx="1">
                  <c:v>Field House</c:v>
                </c:pt>
                <c:pt idx="2">
                  <c:v>Golf Galaxy Perf. Centers</c:v>
                </c:pt>
              </c:strCache>
            </c:strRef>
          </c:cat>
          <c:val>
            <c:numRef>
              <c:f>Sheet1!$B$2:$B$4</c:f>
              <c:numCache>
                <c:formatCode>#,##0</c:formatCode>
                <c:ptCount val="3"/>
                <c:pt idx="0">
                  <c:v>14</c:v>
                </c:pt>
                <c:pt idx="1">
                  <c:v>20</c:v>
                </c:pt>
                <c:pt idx="2">
                  <c:v>15</c:v>
                </c:pt>
              </c:numCache>
            </c:numRef>
          </c:val>
        </c:ser>
        <c:dLbls>
          <c:numFmt formatCode="#,##0" sourceLinked="0"/>
          <c:txPr>
            <a:bodyPr/>
            <a:lstStyle/>
            <a:p>
              <a:pPr>
                <a:defRPr sz="1100" b="0">
                  <a:solidFill>
                    <a:srgbClr val="3F3F3F"/>
                  </a:solidFill>
                  <a:latin typeface="Garamond"/>
                </a:defRPr>
              </a:pPr>
            </a:p>
          </c:txPr>
          <c:showLegendKey val="0"/>
          <c:showVal val="1"/>
          <c:showCatName val="0"/>
          <c:showSerName val="0"/>
          <c:showPercent val="0"/>
          <c:showBubbleSize val="0"/>
          <c:showLeaderLines val="1"/>
        </c:dLbls>
        <c:firstSliceAng val="0"/>
        <c:holeSize val="50"/>
      </c:doughnutChart>
    </c:plotArea>
    <c:legend>
      <c:legendPos val="b"/>
      <c:layout/>
      <c:overlay val="0"/>
      <c:txPr>
        <a:bodyPr/>
        <a:lstStyle/>
        <a:p>
          <a:pPr>
            <a:defRPr sz="1100" b="0">
              <a:solidFill>
                <a:srgbClr val="3F3F3F"/>
              </a:solidFill>
              <a:latin typeface="Garamond"/>
            </a:defRPr>
          </a:pPr>
        </a:p>
      </c:txPr>
    </c:legend>
    <c:plotVisOnly val="1"/>
    <c:dispBlanksAs val="gap"/>
    <c:showDLblsOverMax val="0"/>
  </c:chart>
  <c:txPr>
    <a:bodyPr/>
    <a:lstStyle/>
    <a:p>
      <a:pPr>
        <a:defRPr sz="1200" b="0">
          <a:solidFill>
            <a:srgbClr val="3F3F3F"/>
          </a:solidFill>
          <a:latin typeface="Garamond"/>
        </a:defRPr>
      </a:pPr>
      <a:endParaR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Implied by $136 price</c:v>
                </c:pt>
              </c:strCache>
            </c:strRef>
          </c:tx>
          <c:spPr>
            <a:solidFill>
              <a:srgbClr val="002060"/>
            </a:solidFill>
          </c:spPr>
          <c:dLbls>
            <c:numFmt formatCode="0.0;-0.0;;" sourceLinked="0"/>
            <c:txPr>
              <a:bodyPr/>
              <a:lstStyle/>
              <a:p>
                <a:pPr>
                  <a:defRPr sz="1100" b="0">
                    <a:solidFill>
                      <a:srgbClr val="FFFFFF"/>
                    </a:solidFill>
                    <a:latin typeface="Garamond"/>
                  </a:defRPr>
                </a:pPr>
              </a:p>
            </c:txPr>
            <c:dLblPos val="ctr"/>
            <c:showLegendKey val="0"/>
            <c:showVal val="1"/>
            <c:showCatName val="0"/>
            <c:showSerName val="0"/>
            <c:showPercent val="0"/>
            <c:showBubbleSize val="0"/>
            <c:showLeaderLines val="1"/>
          </c:dLbls>
          <c:cat>
            <c:strRef>
              <c:f>Sheet1!$A$2:$A$6</c:f>
              <c:strCache>
                <c:ptCount val="5"/>
                <c:pt idx="0">
                  <c:v>WACC 8%</c:v>
                </c:pt>
                <c:pt idx="1">
                  <c:v>WACC 9% (base)</c:v>
                </c:pt>
                <c:pt idx="2">
                  <c:v>WACC 10%</c:v>
                </c:pt>
                <c:pt idx="3">
                  <c:v>WACC 11%</c:v>
                </c:pt>
                <c:pt idx="4">
                  <c:v>Street target</c:v>
                </c:pt>
              </c:strCache>
            </c:strRef>
          </c:cat>
          <c:val>
            <c:numRef>
              <c:f>Sheet1!$B$2:$B$6</c:f>
              <c:numCache>
                <c:formatCode>0.0</c:formatCode>
                <c:ptCount val="5"/>
                <c:pt idx="0">
                  <c:v>-2.6</c:v>
                </c:pt>
                <c:pt idx="1">
                  <c:v>-0.3</c:v>
                </c:pt>
                <c:pt idx="2">
                  <c:v>2.2</c:v>
                </c:pt>
                <c:pt idx="3">
                  <c:v>4.9</c:v>
                </c:pt>
                <c:pt idx="4">
                  <c:v>0</c:v>
                </c:pt>
              </c:numCache>
            </c:numRef>
          </c:val>
        </c:ser>
        <c:ser>
          <c:idx val="1"/>
          <c:order val="1"/>
          <c:tx>
            <c:strRef>
              <c:f>Sheet1!$C$1</c:f>
              <c:strCache>
                <c:ptCount val="1"/>
                <c:pt idx="0">
                  <c:v>Implied by $166 mean target (9% WACC)</c:v>
                </c:pt>
              </c:strCache>
            </c:strRef>
          </c:tx>
          <c:spPr>
            <a:solidFill>
              <a:srgbClr val="FFC000"/>
            </a:solidFill>
          </c:spPr>
          <c:dLbls>
            <c:numFmt formatCode="0.0;-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cat>
            <c:strRef>
              <c:f>Sheet1!$A$2:$A$6</c:f>
              <c:strCache>
                <c:ptCount val="5"/>
                <c:pt idx="0">
                  <c:v>WACC 8%</c:v>
                </c:pt>
                <c:pt idx="1">
                  <c:v>WACC 9% (base)</c:v>
                </c:pt>
                <c:pt idx="2">
                  <c:v>WACC 10%</c:v>
                </c:pt>
                <c:pt idx="3">
                  <c:v>WACC 11%</c:v>
                </c:pt>
                <c:pt idx="4">
                  <c:v>Street target</c:v>
                </c:pt>
              </c:strCache>
            </c:strRef>
          </c:cat>
          <c:val>
            <c:numRef>
              <c:f>Sheet1!$C$2:$C$6</c:f>
              <c:numCache>
                <c:formatCode>0.0</c:formatCode>
                <c:ptCount val="5"/>
                <c:pt idx="0">
                  <c:v>0</c:v>
                </c:pt>
                <c:pt idx="1">
                  <c:v>0</c:v>
                </c:pt>
                <c:pt idx="2">
                  <c:v>0</c:v>
                </c:pt>
                <c:pt idx="3">
                  <c:v>0</c:v>
                </c:pt>
                <c:pt idx="4">
                  <c:v>2.9</c:v>
                </c:pt>
              </c:numCache>
            </c:numRef>
          </c:val>
        </c:ser>
        <c:dLbls>
          <c:numFmt formatCode="0.0;-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 per share</c:v>
                </c:pt>
              </c:strCache>
            </c:strRef>
          </c:tx>
          <c:spPr>
            <a:solidFill>
              <a:srgbClr val="002060"/>
            </a:solidFill>
          </c:spPr>
          <c:cat>
            <c:strRef>
              <c:f>Sheet1!$A$2:$A$7</c:f>
              <c:strCache>
                <c:ptCount val="6"/>
                <c:pt idx="0">
                  <c:v>Capex +/-1pp</c:v>
                </c:pt>
                <c:pt idx="1">
                  <c:v>Sales growth</c:v>
                </c:pt>
                <c:pt idx="2">
                  <c:v>Terminal growth +/-1pp</c:v>
                </c:pt>
                <c:pt idx="3">
                  <c:v>Foot Locker margin +/-2pp</c:v>
                </c:pt>
                <c:pt idx="4">
                  <c:v>DICK'S margin +/-1pp</c:v>
                </c:pt>
                <c:pt idx="5">
                  <c:v>WACC +/-1pp</c:v>
                </c:pt>
              </c:strCache>
            </c:strRef>
          </c:cat>
          <c:val>
            <c:numRef>
              <c:f>Sheet1!$B$2:$B$7</c:f>
              <c:numCache>
                <c:formatCode>$0</c:formatCode>
                <c:ptCount val="6"/>
                <c:pt idx="0">
                  <c:v>6</c:v>
                </c:pt>
                <c:pt idx="1">
                  <c:v>7</c:v>
                </c:pt>
                <c:pt idx="2">
                  <c:v>10</c:v>
                </c:pt>
                <c:pt idx="3">
                  <c:v>14</c:v>
                </c:pt>
                <c:pt idx="4">
                  <c:v>17</c:v>
                </c:pt>
                <c:pt idx="5">
                  <c:v>27</c:v>
                </c:pt>
              </c:numCache>
            </c:numRef>
          </c:val>
        </c:ser>
        <c:dLbls>
          <c:numFmt formatCode="$0" sourceLinked="0"/>
          <c:txPr>
            <a:bodyPr/>
            <a:lstStyle/>
            <a:p>
              <a:pPr>
                <a:defRPr sz="1100" b="0">
                  <a:solidFill>
                    <a:srgbClr val="3F3F3F"/>
                  </a:solidFill>
                  <a:latin typeface="Garamond"/>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b"/>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dispBlanksAs val="gap"/>
  </c:chart>
  <c:txPr>
    <a:bodyPr/>
    <a:lstStyle/>
    <a:p>
      <a:pPr>
        <a:defRPr sz="1200" b="0">
          <a:solidFill>
            <a:srgbClr val="3F3F3F"/>
          </a:solidFill>
          <a:latin typeface="Garamond"/>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Scenario value</c:v>
                </c:pt>
              </c:strCache>
            </c:strRef>
          </c:tx>
          <c:spPr>
            <a:solidFill>
              <a:srgbClr val="002060"/>
            </a:solidFill>
          </c:spPr>
          <c:dLbls>
            <c:numFmt formatCode="$#,##0;($#,##0);;" sourceLinked="0"/>
            <c:txPr>
              <a:bodyPr/>
              <a:lstStyle/>
              <a:p>
                <a:pPr>
                  <a:defRPr sz="1100" b="0">
                    <a:solidFill>
                      <a:srgbClr val="FFFFFF"/>
                    </a:solidFill>
                    <a:latin typeface="Garamond"/>
                  </a:defRPr>
                </a:pPr>
              </a:p>
            </c:txPr>
            <c:dLblPos val="ctr"/>
            <c:showLegendKey val="0"/>
            <c:showVal val="1"/>
            <c:showCatName val="0"/>
            <c:showSerName val="0"/>
            <c:showPercent val="0"/>
            <c:showBubbleSize val="0"/>
            <c:showLeaderLines val="1"/>
          </c:dLbls>
          <c:cat>
            <c:strRef>
              <c:f>Sheet1!$A$2:$A$6</c:f>
              <c:strCache>
                <c:ptCount val="5"/>
                <c:pt idx="0">
                  <c:v>Bear (30%)</c:v>
                </c:pt>
                <c:pt idx="1">
                  <c:v>Base (45%)</c:v>
                </c:pt>
                <c:pt idx="2">
                  <c:v>Bull (25%)</c:v>
                </c:pt>
                <c:pt idx="3">
                  <c:v>Weighted</c:v>
                </c:pt>
                <c:pt idx="4">
                  <c:v>Price today</c:v>
                </c:pt>
              </c:strCache>
            </c:strRef>
          </c:cat>
          <c:val>
            <c:numRef>
              <c:f>Sheet1!$B$2:$B$6</c:f>
              <c:numCache>
                <c:formatCode>$#,##0</c:formatCode>
                <c:ptCount val="5"/>
                <c:pt idx="0">
                  <c:v>95</c:v>
                </c:pt>
                <c:pt idx="1">
                  <c:v>170</c:v>
                </c:pt>
                <c:pt idx="2">
                  <c:v>270</c:v>
                </c:pt>
                <c:pt idx="3">
                  <c:v>0</c:v>
                </c:pt>
                <c:pt idx="4">
                  <c:v>0</c:v>
                </c:pt>
              </c:numCache>
            </c:numRef>
          </c:val>
        </c:ser>
        <c:ser>
          <c:idx val="1"/>
          <c:order val="1"/>
          <c:tx>
            <c:strRef>
              <c:f>Sheet1!$C$1</c:f>
              <c:strCache>
                <c:ptCount val="1"/>
                <c:pt idx="0">
                  <c:v>Probability-weighted</c:v>
                </c:pt>
              </c:strCache>
            </c:strRef>
          </c:tx>
          <c:spPr>
            <a:solidFill>
              <a:srgbClr val="FFC000"/>
            </a:solidFill>
          </c:spPr>
          <c:dLbls>
            <c:numFmt formatCode="$#,##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cat>
            <c:strRef>
              <c:f>Sheet1!$A$2:$A$6</c:f>
              <c:strCache>
                <c:ptCount val="5"/>
                <c:pt idx="0">
                  <c:v>Bear (30%)</c:v>
                </c:pt>
                <c:pt idx="1">
                  <c:v>Base (45%)</c:v>
                </c:pt>
                <c:pt idx="2">
                  <c:v>Bull (25%)</c:v>
                </c:pt>
                <c:pt idx="3">
                  <c:v>Weighted</c:v>
                </c:pt>
                <c:pt idx="4">
                  <c:v>Price today</c:v>
                </c:pt>
              </c:strCache>
            </c:strRef>
          </c:cat>
          <c:val>
            <c:numRef>
              <c:f>Sheet1!$C$2:$C$6</c:f>
              <c:numCache>
                <c:formatCode>$#,##0</c:formatCode>
                <c:ptCount val="5"/>
                <c:pt idx="0">
                  <c:v>0</c:v>
                </c:pt>
                <c:pt idx="1">
                  <c:v>0</c:v>
                </c:pt>
                <c:pt idx="2">
                  <c:v>0</c:v>
                </c:pt>
                <c:pt idx="3">
                  <c:v>172</c:v>
                </c:pt>
                <c:pt idx="4">
                  <c:v>0</c:v>
                </c:pt>
              </c:numCache>
            </c:numRef>
          </c:val>
        </c:ser>
        <c:ser>
          <c:idx val="2"/>
          <c:order val="2"/>
          <c:tx>
            <c:strRef>
              <c:f>Sheet1!$D$1</c:f>
              <c:strCache>
                <c:ptCount val="1"/>
                <c:pt idx="0">
                  <c:v>Price today</c:v>
                </c:pt>
              </c:strCache>
            </c:strRef>
          </c:tx>
          <c:spPr>
            <a:solidFill>
              <a:srgbClr val="A5A5A5"/>
            </a:solidFill>
          </c:spPr>
          <c:dLbls>
            <c:numFmt formatCode="$#,##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cat>
            <c:strRef>
              <c:f>Sheet1!$A$2:$A$6</c:f>
              <c:strCache>
                <c:ptCount val="5"/>
                <c:pt idx="0">
                  <c:v>Bear (30%)</c:v>
                </c:pt>
                <c:pt idx="1">
                  <c:v>Base (45%)</c:v>
                </c:pt>
                <c:pt idx="2">
                  <c:v>Bull (25%)</c:v>
                </c:pt>
                <c:pt idx="3">
                  <c:v>Weighted</c:v>
                </c:pt>
                <c:pt idx="4">
                  <c:v>Price today</c:v>
                </c:pt>
              </c:strCache>
            </c:strRef>
          </c:cat>
          <c:val>
            <c:numRef>
              <c:f>Sheet1!$D$2:$D$6</c:f>
              <c:numCache>
                <c:formatCode>$#,##0</c:formatCode>
                <c:ptCount val="5"/>
                <c:pt idx="0">
                  <c:v>0</c:v>
                </c:pt>
                <c:pt idx="1">
                  <c:v>0</c:v>
                </c:pt>
                <c:pt idx="2">
                  <c:v>0</c:v>
                </c:pt>
                <c:pt idx="3">
                  <c:v>0</c:v>
                </c:pt>
                <c:pt idx="4">
                  <c:v>136</c:v>
                </c:pt>
              </c:numCache>
            </c:numRef>
          </c:val>
        </c:ser>
        <c:dLbls>
          <c:numFmt formatCode="$#,##0;($#,##0);;" sourceLinked="0"/>
          <c:txPr>
            <a:bodyPr/>
            <a:lstStyle/>
            <a:p>
              <a:pPr>
                <a:defRPr sz="1100" b="0">
                  <a:solidFill>
                    <a:srgbClr val="3F3F3F"/>
                  </a:solidFill>
                  <a:latin typeface="Garamond"/>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1100" b="0">
                <a:solidFill>
                  <a:srgbClr val="3F3F3F"/>
                </a:solidFill>
                <a:latin typeface="Garamond"/>
              </a:defRPr>
            </a:pPr>
          </a:p>
        </c:txPr>
        <c:crossAx val="2113994440"/>
        <c:crosses val="autoZero"/>
        <c:auto val="1"/>
        <c:lblAlgn val="ctr"/>
        <c:lblOffset val="100"/>
        <c:noMultiLvlLbl val="0"/>
      </c:catAx>
      <c:valAx>
        <c:axId val="2113994440"/>
        <c:scaling/>
        <c:delete/>
        <c:axPos val="l"/>
        <c:majorGridlines>
          <c:spPr>
            <a:ln w="6350">
              <a:solidFill>
                <a:srgbClr val="D9D9D9"/>
              </a:solidFill>
            </a:ln>
          </c:spPr>
        </c:majorGridlines>
        <c:majorTickMark val="out"/>
        <c:minorTickMark val="none"/>
        <c:tickLblPos val="nextTo"/>
        <c:spPr>
          <a:ln>
            <a:noFill/>
          </a:ln>
        </c:spPr>
        <c:txPr>
          <a:bodyPr/>
          <a:lstStyle/>
          <a:p>
            <a:pPr>
              <a:defRPr sz="1100" b="0">
                <a:solidFill>
                  <a:srgbClr val="3F3F3F"/>
                </a:solidFill>
                <a:latin typeface="Garamond"/>
              </a:defRPr>
            </a:pPr>
          </a:p>
        </c:txPr>
        <c:crossAx val="2068027336"/>
        <c:crosses val="autoZero"/>
      </c:valAx>
    </c:plotArea>
    <c:legend>
      <c:legendPos val="b"/>
      <c:overlay val="0"/>
      <c:txPr>
        <a:bodyPr/>
        <a:lstStyle/>
        <a:p>
          <a:pPr>
            <a:defRPr sz="1100" b="0">
              <a:solidFill>
                <a:srgbClr val="3F3F3F"/>
              </a:solidFill>
              <a:latin typeface="Garamond"/>
            </a:defRPr>
          </a:pPr>
        </a:p>
      </c:txPr>
    </c:legend>
    <c:dispBlanksAs val="gap"/>
  </c:chart>
  <c:txPr>
    <a:bodyPr/>
    <a:lstStyle/>
    <a:p>
      <a:pPr>
        <a:defRPr sz="1200" b="0">
          <a:solidFill>
            <a:srgbClr val="3F3F3F"/>
          </a:solidFill>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pass. If Foot Locker earns nothing, the $136 price implies a 10.2% DICK'S Business margin from FY27; the base case (10.8%, Foot Locker at 2.5% by FY30) is worth ~$163. The 24-month probability-weighted value is ~$172 (+27% with dividends, ~12.5%/yr), only ~2.5pp a year above a ~10% cost of equity. Sources: DKS_Company_Evaluation.md and DKS_Bull_Bear_Theses.md.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Consensus: stockanalysis (26 analysts, post-Q2, single source) for the mean target; post-Q2 target changes from Stocktwits, MarketBeat and TIKR; short interest from Benzinga (single source). Price-implied figures come from the reverse DCF (9% WACC, RONIC 14%, $13.3B EV excluding leases). Scores: each thesis is scored 1-5 on Edge, Materiality, Testability and Evidence; the chart shows each side's average per dimension. The bear side averages 12.2/20 and the bull side 11.4/20, inside the symmetry band.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Argued as a short-seller who has done the work. Score = Edge + Materiality + Testability + Evidence (each 1-5). Ties are broken by Evidence, then Materiality, then Edge. Consensus to ours shows the Street, guide or price view of each thesis's single variable against ours. Full blocks with evidence tags, catalysts and dated falsifiers are in DKS_Bull_Bear_Theses.md.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Argued as a long PM deciding how much to own. L1 is labeled Consensus (Edge 1) because the Street's $166 mean target already sits near the base-case value; it ranks sixth. Full blocks are in DKS_Bull_Bear_Theses.md.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three per side by score; these carry forward as the diligence questions in the thesis file. Value-if-right uses the evaluation's sensitivities (DICK'S margin $17/sh per point; Foot Locker ~$7/sh per point) and 90.0M diluted shares. Dependency note: S1, S5, S8 and S9 are largely one bet on promotional intensity; L2, L3 and L9 lean on Nike's wholesale push.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variable appears in at least one bull and one bear thesis. 'Price implies' comes from the reverse DCF: a 10.2% DICK'S margin if Foot Locker earns 0%, or a -1.2% Foot Locker margin if DICK'S follows the base case; perpetual growth after FY27 is -0.3% at a 9% WACC. The Foot Locker consensus (~2%) is an estimate of what the $166 mean target needs.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guides: Q2 FY26 8-K (8/25/26), confirmed by Just Style coverage of the business split. Market share: Telsey via Benzinga (2024, single source). House of Sport count: Q2 coverage (single source); target: company statements. Deal terms: Q3 FY25 10-Q. Leadership: Chain Store Age (Sept 2025). Fiscal calendar: 10-K.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data: close of 10/2/26 (single source; consistent with the 10/1 close); 52-week low from MarketBeat-network and Google Finance snippets. Balance sheet: Q2 FY26 10-Q (8/1/26) plus the $1.0B of notes settled ~9/25/26; EV excludes operating leases. TTM revenue = FY25 $17.22B less H1 FY25 $6.82B plus H1 FY26 $10.75B. FY24 DICK'S operating income = 11.14% of $13.44B (estimate); FY25 by business from the FY25 release (single source); FY26 at guidance midpoints. Diluted shares = net income / diluted 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Comps: FY23 (+2.4%, single source), FY24 (+5.2%), FY25 (+4.5%), Q1 FY26 (+6.0%) and Q2 FY26 (+4.9%) from DKS releases; Q1 ticket +5.5% and transactions +0.5% (single source). Academy: Q2 FY26 release (9/9/26). Q2 margin: DICK'S Business segment profit $485.2M on $3.85B (8-K; Pulse2), up from $475M; the $59M IEEPA refund is from the Q2 10-Q, and its booking in the DICK'S segment is an assumption. Q2 FY25: 13.02% non-GAAP operating margin (DKS before Foot Locker).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Participation and cost: Aspen Institute Project Play (2025). Nike purchases: Fortune (5/19/25, single source). Nike Direct: Nike Q1 FY27 release (10/1/26). Academy: FY25 release. Promotion spillover: Ed Stack, Q2 FY26 call (8/25/26). The comparison table is a qualitative judgment from the evaluation's Sections 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Dividend: declared with Q2 FY26 results. H1 FY26 buybacks and dividends: Q2 10-Q (dividends single source). Notes: FWP/424B2 (9/23/26). Capex: Q2 10-Q (~$1.4B net, single source); D&amp;A estimate from the model. FY26E FCF is unlevered from models/dks/run_dks.py. Foot Locker consideration: Q3 FY25 10-Q; charges: CNBC (11/25/25) and the FY25 release. Insider trades: Form 4 summaries (InsiderTrades, Quiver, Simply Wall St; several single source). Class B count: Q2 10-Q cover.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size: SFIA 2026 report via SGB and SGI Europe. Share: Telsey via Benzinga (2024, single source). Nike: Q1 FY27 release (10/1/26); North America wholesale growth from Beancount (single source). Tariffs: CRS (IEEPA ruling, 2/20/26) and Holland &amp; Knight (Section 301, 7/2026; Vietnam rate single source). Rates: 10-year yield of 10/1/26 (single source); FOMC 9/16/26. Comps: Q2 releases; JD North America like-for-likes via AJ Bell (single source).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Peers' latest fiscal year: Academy FY25 release (3/17/26); JD Sports FY25/26 North America (SGI News, FashionUnited; margin single source); Nike FY26 (AlphaSense, single source); Hibbett FY24 8-K (acquired by JD in 2024); Foot Locker FY24 ($103M on $7.99B). DICK'S Business: FY25 non-GAAP 11.12% on ~$14.1B (single source). ROIC: GuruFocus (single source). The moat verdict uses Helmer's 7 Powers.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results: Q3 FY25 (SGI Europe), Q4 FY25 (Bruce Winder, single source), Q1 FY26 (SGI Europe, single source) and Q2 FY26 (release and SGB, single source); Q3 FY25 covers only 9/8-11/1/25. Gross margins: FY25 10-K (single source). Synergies: Q4 FY25 call (3/12/26). Fast Break: Retail Dive (single source). Leadership: Chain Store Age and AAP/PR Newswire. Guide history: Q2 FY26 release and coverage.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Openings: FY25 10-K and Q2 FY26 10-Q (~14 House of Sport, ~20 Field House, ~15 Golf Galaxy Performance Centers; another source gives ~22 Field House). House of Sport count at 8/1/26: Q2 coverage (single source); long-term target: company statements. Gross-margin note: Q2 FY26 call (single source). Capex and ROIC: evaluation Section 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models/dks/run_dks.py. Inputs: price $136.08, 90.0M diluted shares, $2,900M notes, $34M finance leases, $1,914M cash (8/1/26 plus September note proceeds); EV $13,267M excluding operating leases. FY27 anchor: EBIT $1,660M (DICK'S +3.5% at 11.2%, Foot Locker at +0.5%, other -$70M); RONIC 14%. The gold bar is the growth the Street's mean target ($166) implies at a 9% WACC. Academy's P/E is trailing (aggregator, single source). The Jan 2025 high multiple uses FY24 EPS of $14.05.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Sensitivities are per share at 90.0M diluted shares, around the $163 base intrinsic value (9% WACC): WACC -$23/+$30; terminal growth -$9/+$11; DICK'S margin +/-$17 per point; Foot Locker +/-$14 per two points; DICK'S sales growth -$8/+$5; capex +/-$6. The chart shows the average of the up and down moves. 'Implied by price' for each margin holds the other business at its stated level. Base rates: peer margins from company releases; industry growth from SFIA (2026).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24-month scenarios: exit EV/EBITDA on FY29E EBITDA at ~Oct 2028; net debt at exit = today's less 24 months of after-interest FCF, plus $900M of dividends and buybacks (0 / $150M / $300M a year); plus $10 of dividends a share. Intrinsic SOTP at a 9% WACC: DICK'S and Foot Locker DCFs with value-driver terminal values (bear g 0.5% / RONIC 10%; base 2% / 14%; bull 2.5% / 16%); unallocated cost (-$70M a year) capitalized. Moving 5 points of probability from bull to bear brings the weighted 24-month value to ~$164 (~9.7%/yr), at the hurdle.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levels are judgment calls weighted by probability and value at stake (see the thesis scores). Each mitigation names the evidence that would ease the risk, so these double as signposts.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come from the evaluation's signposts and the theses' dated falsifiers. The Q3 FY26 date is not yet announced (the Q2 date was set 21 days ahead); Q3 FY25 was reported on 11/25/25. The FY27 guide comes with Q4 FY26 results (~mid-March 2027; FY25 was reported 3/12/26).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base-case value (~$163) is near the Street's $166, but the expected 24-month return (~12.5%/yr with dividends) beats a ~10% hurdle by only ~2.5pp, and a 5-point shift of probability from bull to bear erases it. Not a short: the price already embeds most of the bear case. The table shows base-case intrinsic value per share by WACC and by Foot Locker's steady-state margin.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evidence trail: DKS_Company_Evaluation.md (Appendix B lists every URL) and DKS_Bull_Bear_Theses.md. The environment's network policy blocked SEC EDGAR and DKS's investor-relations site, and the session's search budget ran out, so filings were read through search extracts and cross-checked where possible; single-source figures are flagged in those files.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1524304" y="2331720"/>
            <a:ext cx="9144000" cy="621792"/>
          </a:xfrm>
        </p:spPr>
        <p:txBody>
          <a:bodyPr anchor="b" lIns="91440" rIns="91440" tIns="45720" bIns="45720" wrap="square">
            <a:noAutofit/>
          </a:bodyPr>
          <a:lstStyle>
            <a:lvl1pPr marL="0" indent="0" algn="ctr">
              <a:lnSpc>
                <a:spcPct val="100000"/>
              </a:lnSpc>
              <a:spcBef>
                <a:spcPts val="0"/>
              </a:spcBef>
              <a:buNone/>
              <a:defRPr sz="3900" b="1" cap="small">
                <a:solidFill>
                  <a:srgbClr val="3F3F3F"/>
                </a:solidFill>
                <a:latin typeface="Garamond"/>
                <a:ea typeface="Garamond"/>
                <a:cs typeface="Garamond"/>
              </a:defRPr>
            </a:lvl1pPr>
          </a:lstStyle>
          <a:p>
            <a:r>
              <a:rPr lang="en-US" smtClean="0"/>
              <a:t>Click to edit Master title style</a:t>
            </a:r>
            <a:endParaRPr lang="en-US"/>
          </a:p>
        </p:txBody>
      </p:sp>
      <p:sp>
        <p:nvSpPr>
          <p:cNvPr id="3" name="Subtitle 2"/>
          <p:cNvSpPr>
            <a:spLocks noGrp="1"/>
          </p:cNvSpPr>
          <p:nvPr>
            <p:ph type="subTitle" idx="1"/>
          </p:nvPr>
        </p:nvSpPr>
        <p:spPr>
          <a:xfrm>
            <a:off x="1524304" y="5715000"/>
            <a:ext cx="9144000" cy="512064"/>
          </a:xfrm>
        </p:spPr>
        <p:txBody>
          <a:bodyPr anchor="b" lIns="91440" rIns="91440" tIns="45720" bIns="45720" wrap="square">
            <a:noAutofit/>
          </a:bodyPr>
          <a:lstStyle>
            <a:lvl1pPr marL="0" indent="0" algn="ctr">
              <a:lnSpc>
                <a:spcPct val="100000"/>
              </a:lnSpc>
              <a:spcBef>
                <a:spcPts val="0"/>
              </a:spcBef>
              <a:buNone/>
              <a:defRPr sz="2000" b="0" cap="none">
                <a:solidFill>
                  <a:srgbClr val="000000"/>
                </a:solidFill>
                <a:latin typeface="Garamond"/>
                <a:ea typeface="Garamond"/>
                <a:cs typeface="Garam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ivider">
    <p:spTree>
      <p:nvGrpSpPr>
        <p:cNvPr id="1" name=""/>
        <p:cNvGrpSpPr/>
        <p:nvPr/>
      </p:nvGrpSpPr>
      <p:grpSpPr>
        <a:xfrm>
          <a:off x="0" y="0"/>
          <a:ext cx="0" cy="0"/>
          <a:chOff x="0" y="0"/>
          <a:chExt cx="0" cy="0"/>
        </a:xfrm>
      </p:grpSpPr>
      <p:sp>
        <p:nvSpPr>
          <p:cNvPr id="3" name="Divider Band"/>
          <p:cNvSpPr/>
          <p:nvPr/>
        </p:nvSpPr>
        <p:spPr>
          <a:xfrm>
            <a:off x="-38404" y="2888589"/>
            <a:ext cx="12268504" cy="1019556"/>
          </a:xfrm>
          <a:prstGeom prst="rect">
            <a:avLst/>
          </a:prstGeom>
          <a:solidFill>
            <a:srgbClr val="002060"/>
          </a:solidFill>
          <a:ln w="9525">
            <a:solidFill>
              <a:srgbClr val="233A44"/>
            </a:solidFill>
          </a:ln>
        </p:spPr>
        <p:txBody>
          <a:bodyPr rtlCol="0" anchor="ctr"/>
          <a:lstStyle/>
          <a:p>
            <a:pPr algn="ctr"/>
          </a:p>
        </p:txBody>
      </p:sp>
      <p:sp>
        <p:nvSpPr>
          <p:cNvPr id="4" name="Divider Stripe"/>
          <p:cNvSpPr/>
          <p:nvPr/>
        </p:nvSpPr>
        <p:spPr>
          <a:xfrm>
            <a:off x="-38404" y="3908145"/>
            <a:ext cx="12268504" cy="61264"/>
          </a:xfrm>
          <a:prstGeom prst="rect">
            <a:avLst/>
          </a:prstGeom>
          <a:solidFill>
            <a:srgbClr val="FFC000"/>
          </a:solidFill>
          <a:ln>
            <a:noFill/>
          </a:ln>
        </p:spPr>
        <p:txBody>
          <a:bodyPr rtlCol="0" anchor="ctr"/>
          <a:lstStyle/>
          <a:p>
            <a:pPr algn="ctr"/>
          </a:p>
        </p:txBody>
      </p:sp>
      <p:sp>
        <p:nvSpPr>
          <p:cNvPr id="2" name="Title 1"/>
          <p:cNvSpPr>
            <a:spLocks noGrp="1"/>
          </p:cNvSpPr>
          <p:nvPr>
            <p:ph type="title"/>
          </p:nvPr>
        </p:nvSpPr>
        <p:spPr>
          <a:xfrm>
            <a:off x="717804" y="2888589"/>
            <a:ext cx="10515600" cy="1019556"/>
          </a:xfrm>
        </p:spPr>
        <p:txBody>
          <a:bodyPr anchor="ctr" lIns="91440" rIns="91440" tIns="91440" bIns="91440" wrap="square">
            <a:noAutofit/>
          </a:bodyPr>
          <a:lstStyle>
            <a:lvl1pPr marL="685800" indent="-685800" algn="l">
              <a:lnSpc>
                <a:spcPct val="100000"/>
              </a:lnSpc>
              <a:spcBef>
                <a:spcPts val="0"/>
              </a:spcBef>
              <a:buNone/>
              <a:defRPr sz="3500" b="1" cap="none">
                <a:solidFill>
                  <a:srgbClr val="FFFFFF"/>
                </a:solidFill>
                <a:latin typeface="Garamond"/>
                <a:ea typeface="Garamond"/>
                <a:cs typeface="Garamond"/>
              </a:defRPr>
            </a:lvl1pPr>
          </a:lstStyle>
          <a:p>
            <a:r>
              <a:rPr lang="en-US" smtClean="0"/>
              <a:t>Click to edit Master title style</a:t>
            </a:r>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351129"/>
            <a:ext cx="10012680" cy="365760"/>
          </a:xfrm>
        </p:spPr>
        <p:txBody>
          <a:bodyPr anchor="b" lIns="91440" rIns="91440" tIns="45720" bIns="45720" wrap="square">
            <a:noAutofit/>
          </a:bodyPr>
          <a:lstStyle>
            <a:lvl1pPr marL="0" indent="0" algn="l">
              <a:lnSpc>
                <a:spcPct val="100000"/>
              </a:lnSpc>
              <a:spcBef>
                <a:spcPts val="0"/>
              </a:spcBef>
              <a:buNone/>
              <a:defRPr sz="3000" b="1" cap="small">
                <a:solidFill>
                  <a:srgbClr val="3F3F3F"/>
                </a:solidFill>
                <a:latin typeface="Garamond"/>
                <a:ea typeface="Garamond"/>
                <a:cs typeface="Garamond"/>
              </a:defRPr>
            </a:lvl1pPr>
          </a:lstStyle>
          <a:p>
            <a:r>
              <a:rPr lang="en-US" smtClean="0"/>
              <a:t>Click to edit Master title style</a:t>
            </a:r>
            <a:endParaRPr lang="en-US"/>
          </a:p>
        </p:txBody>
      </p:sp>
      <p:cxnSp>
        <p:nvCxnSpPr>
          <p:cNvPr id="3" name="Title Rule"/>
          <p:cNvCxnSpPr/>
          <p:nvPr/>
        </p:nvCxnSpPr>
        <p:spPr>
          <a:xfrm>
            <a:off x="270662" y="711403"/>
            <a:ext cx="11632996"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slideLayout" Target="../slideLayouts/slideLayout3.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351129"/>
            <a:ext cx="10012680" cy="365760"/>
          </a:xfrm>
          <a:prstGeom prst="rect">
            <a:avLst/>
          </a:prstGeom>
        </p:spPr>
        <p:txBody>
          <a:bodyPr vert="horz" lIns="91440" tIns="45720" rIns="91440" bIns="45720" rtlCol="0" anchor="b">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2147483660" name="Target Name"/>
          <p:cNvSpPr/>
          <p:nvPr/>
        </p:nvSpPr>
        <p:spPr>
          <a:xfrm>
            <a:off x="9624974" y="173736"/>
            <a:ext cx="2286000" cy="365760"/>
          </a:xfrm>
          <a:prstGeom prst="rect">
            <a:avLst/>
          </a:prstGeom>
          <a:noFill/>
          <a:ln>
            <a:noFill/>
          </a:ln>
        </p:spPr>
        <p:txBody>
          <a:bodyPr rtlCol="0" anchor="ctr" tIns="91440" bIns="91440" wrap="square">
            <a:noAutofit/>
          </a:bodyPr>
          <a:lstStyle/>
          <a:p>
            <a:pPr algn="r"/>
            <a:r>
              <a:rPr sz="1800" b="1" u="none">
                <a:solidFill>
                  <a:srgbClr val="192F63"/>
                </a:solidFill>
                <a:latin typeface="Garamond"/>
                <a:ea typeface="Garamond"/>
                <a:cs typeface="Garamond"/>
              </a:rPr>
              <a:t>DICK'S Sporting Goods</a:t>
            </a:r>
          </a:p>
        </p:txBody>
      </p:sp>
      <p:sp>
        <p:nvSpPr>
          <p:cNvPr id="2147483661" name="Sponsor Name"/>
          <p:cNvSpPr/>
          <p:nvPr/>
        </p:nvSpPr>
        <p:spPr>
          <a:xfrm>
            <a:off x="9189720" y="6466636"/>
            <a:ext cx="2286000" cy="322783"/>
          </a:xfrm>
          <a:prstGeom prst="rect">
            <a:avLst/>
          </a:prstGeom>
          <a:noFill/>
          <a:ln>
            <a:noFill/>
          </a:ln>
        </p:spPr>
        <p:txBody>
          <a:bodyPr rtlCol="0" anchor="ctr" tIns="91440" bIns="91440" wrap="square">
            <a:noAutofit/>
          </a:bodyPr>
          <a:lstStyle/>
          <a:p>
            <a:pPr algn="r"/>
            <a:r>
              <a:rPr sz="1200" b="0" u="none" cap="small">
                <a:solidFill>
                  <a:srgbClr val="476779"/>
                </a:solidFill>
                <a:latin typeface="Garamond"/>
                <a:ea typeface="Garamond"/>
                <a:cs typeface="Garamond"/>
              </a:rPr>
              <a:t>Equity Research</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1" r:id="rId3"/>
    <p:sldLayoutId id="2147483654" r:id="rId6"/>
    <p:sldLayoutId id="2147483655" r:id="rId7"/>
  </p:sldLayoutIdLst>
  <p:txStyles>
    <p:titleStyle>
      <a:lvl1pPr marL="0" indent="0" algn="l">
        <a:lnSpc>
          <a:spcPct val="100000"/>
        </a:lnSpc>
        <a:spcBef>
          <a:spcPts val="0"/>
        </a:spcBef>
        <a:buNone/>
        <a:defRPr sz="3000" b="1" cap="small">
          <a:solidFill>
            <a:srgbClr val="3F3F3F"/>
          </a:solidFill>
          <a:latin typeface="Garamond"/>
          <a:ea typeface="Garamond"/>
          <a:cs typeface="Garamond"/>
        </a:defRPr>
      </a:lvl1pPr>
    </p:titleStyle>
    <p:bodyStyle>
      <a:lvl1pPr marL="457200" indent="-336499" algn="l">
        <a:lnSpc>
          <a:spcPct val="100000"/>
        </a:lnSpc>
        <a:spcBef>
          <a:spcPts val="0"/>
        </a:spcBef>
        <a:buClr>
          <a:srgbClr val="000000"/>
        </a:buClr>
        <a:buFont typeface="Garamond"/>
        <a:buChar char="●"/>
        <a:defRPr sz="1700" b="0" cap="none">
          <a:solidFill>
            <a:srgbClr val="000000"/>
          </a:solidFill>
          <a:latin typeface="Garamond"/>
          <a:ea typeface="Garamond"/>
          <a:cs typeface="Garamond"/>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8.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9.xml"/><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0.xml"/><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1.xml"/><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2.xml"/><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3.xml"/><Relationship Id="rId3"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NYSE: DKS</a:t>
            </a:r>
          </a:p>
        </p:txBody>
      </p:sp>
      <p:sp>
        <p:nvSpPr>
          <p:cNvPr id="3" name="Subtitle 2"/>
          <p:cNvSpPr>
            <a:spLocks noGrp="1"/>
          </p:cNvSpPr>
          <p:nvPr>
            <p:ph type="subTitle" idx="1"/>
          </p:nvPr>
        </p:nvSpPr>
        <p:spPr/>
        <p:txBody>
          <a:bodyPr/>
          <a:lstStyle/>
          <a:p>
            <a:r>
              <a:t>Bull-Bear Debate and Company Evaluation</a:t>
            </a:r>
          </a:p>
        </p:txBody>
      </p:sp>
      <p:sp>
        <p:nvSpPr>
          <p:cNvPr id="4" name="TextBox 3"/>
          <p:cNvSpPr txBox="1"/>
          <p:nvPr/>
        </p:nvSpPr>
        <p:spPr>
          <a:xfrm>
            <a:off x="1524304" y="731520"/>
            <a:ext cx="9144000" cy="1005840"/>
          </a:xfrm>
          <a:prstGeom prst="rect">
            <a:avLst/>
          </a:prstGeom>
          <a:noFill/>
        </p:spPr>
        <p:txBody>
          <a:bodyPr wrap="square" tIns="91440" bIns="91440" anchor="ctr">
            <a:noAutofit/>
          </a:bodyPr>
          <a:lstStyle/>
          <a:p>
            <a:pPr algn="ctr"/>
            <a:r>
              <a:rPr sz="6000" b="1" u="none">
                <a:solidFill>
                  <a:srgbClr val="192F63"/>
                </a:solidFill>
                <a:latin typeface="Garamond"/>
                <a:ea typeface="Garamond"/>
                <a:cs typeface="Garamond"/>
              </a:rPr>
              <a:t>DICK'S Sporting Goods</a:t>
            </a:r>
          </a:p>
        </p:txBody>
      </p:sp>
      <p:sp>
        <p:nvSpPr>
          <p:cNvPr id="5" name="KPI Box"/>
          <p:cNvSpPr/>
          <p:nvPr/>
        </p:nvSpPr>
        <p:spPr>
          <a:xfrm>
            <a:off x="3181197" y="3332988"/>
            <a:ext cx="5829300" cy="2111121"/>
          </a:xfrm>
          <a:prstGeom prst="rect">
            <a:avLst/>
          </a:prstGeom>
          <a:noFill/>
          <a:ln w="19050">
            <a:solidFill>
              <a:srgbClr val="192F63"/>
            </a:solidFill>
          </a:ln>
        </p:spPr>
        <p:txBody>
          <a:bodyPr rtlCol="0" anchor="ctr" tIns="91440" bIns="91440" wrap="square">
            <a:noAutofit/>
          </a:bodyPr>
          <a:lstStyle/>
          <a:p>
            <a:pPr algn="ctr" marL="0" indent="0">
              <a:lnSpc>
                <a:spcPct val="150000"/>
              </a:lnSpc>
              <a:buNone/>
            </a:pPr>
            <a:r>
              <a:rPr sz="2700" b="0" u="none" cap="small">
                <a:solidFill>
                  <a:srgbClr val="192F63"/>
                </a:solidFill>
                <a:latin typeface="Garamond"/>
                <a:ea typeface="Garamond"/>
                <a:cs typeface="Garamond"/>
              </a:rPr>
              <a:t>Price: $136.08 (Oct 2, 2026)</a:t>
            </a:r>
          </a:p>
          <a:p>
            <a:pPr algn="ctr" marL="0" indent="0">
              <a:lnSpc>
                <a:spcPct val="150000"/>
              </a:lnSpc>
              <a:buNone/>
            </a:pPr>
            <a:r>
              <a:rPr sz="2700" b="0" u="none" cap="small">
                <a:solidFill>
                  <a:srgbClr val="192F63"/>
                </a:solidFill>
                <a:latin typeface="Garamond"/>
                <a:ea typeface="Garamond"/>
                <a:cs typeface="Garamond"/>
              </a:rPr>
              <a:t>Verdict: Pass</a:t>
            </a:r>
          </a:p>
          <a:p>
            <a:pPr algn="ctr" marL="0" indent="0">
              <a:lnSpc>
                <a:spcPct val="150000"/>
              </a:lnSpc>
              <a:buNone/>
            </a:pPr>
            <a:r>
              <a:rPr sz="2700" b="0" u="none" cap="small">
                <a:solidFill>
                  <a:srgbClr val="192F63"/>
                </a:solidFill>
                <a:latin typeface="Garamond"/>
                <a:ea typeface="Garamond"/>
                <a:cs typeface="Garamond"/>
              </a:rPr>
              <a:t>24-Month Value: $172 (+27%)</a:t>
            </a:r>
          </a:p>
        </p:txBody>
      </p:sp>
      <p:sp>
        <p:nvSpPr>
          <p:cNvPr id="6" name="Sponsor Name"/>
          <p:cNvSpPr/>
          <p:nvPr/>
        </p:nvSpPr>
        <p:spPr>
          <a:xfrm>
            <a:off x="9189720" y="6466636"/>
            <a:ext cx="2286000" cy="322783"/>
          </a:xfrm>
          <a:prstGeom prst="rect">
            <a:avLst/>
          </a:prstGeom>
          <a:noFill/>
          <a:ln>
            <a:noFill/>
          </a:ln>
        </p:spPr>
        <p:txBody>
          <a:bodyPr rtlCol="0" anchor="ctr" tIns="91440" bIns="91440" wrap="square">
            <a:noAutofit/>
          </a:bodyPr>
          <a:lstStyle/>
          <a:p>
            <a:pPr algn="r"/>
            <a:r>
              <a:rPr sz="1200" b="0" u="none" cap="small">
                <a:solidFill>
                  <a:srgbClr val="476779"/>
                </a:solidFill>
                <a:latin typeface="Garamond"/>
                <a:ea typeface="Garamond"/>
                <a:cs typeface="Garamond"/>
              </a:rPr>
              <a:t>Equity Research</a:t>
            </a:r>
          </a:p>
        </p:txBody>
      </p:sp>
      <p:sp>
        <p:nvSpPr>
          <p:cNvPr id="7" name="TextBox 6"/>
          <p:cNvSpPr txBox="1"/>
          <p:nvPr/>
        </p:nvSpPr>
        <p:spPr>
          <a:xfrm>
            <a:off x="1524304" y="6236208"/>
            <a:ext cx="9144000" cy="274320"/>
          </a:xfrm>
          <a:prstGeom prst="rect">
            <a:avLst/>
          </a:prstGeom>
          <a:noFill/>
        </p:spPr>
        <p:txBody>
          <a:bodyPr wrap="square" tIns="91440" bIns="91440" anchor="t">
            <a:noAutofit/>
          </a:bodyPr>
          <a:lstStyle/>
          <a:p>
            <a:pPr algn="ctr"/>
            <a:r>
              <a:rPr sz="1400" b="0" u="none">
                <a:solidFill>
                  <a:srgbClr val="3F3F3F"/>
                </a:solidFill>
                <a:latin typeface="Garamond"/>
                <a:ea typeface="Garamond"/>
                <a:cs typeface="Garamond"/>
              </a:rPr>
              <a:t>Data as of the October 2, 2026 close</a:t>
            </a:r>
          </a:p>
        </p:txBody>
      </p:sp>
      <p:sp>
        <p:nvSpPr>
          <p:cNvPr id="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a:t>
            </a:fld>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Agenda 1"/>
          <p:cNvSpPr/>
          <p:nvPr/>
        </p:nvSpPr>
        <p:spPr>
          <a:xfrm>
            <a:off x="854049" y="1078992"/>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1</a:t>
            </a:r>
          </a:p>
        </p:txBody>
      </p:sp>
      <p:sp>
        <p:nvSpPr>
          <p:cNvPr id="4" name="TextBox 3"/>
          <p:cNvSpPr txBox="1"/>
          <p:nvPr/>
        </p:nvSpPr>
        <p:spPr>
          <a:xfrm>
            <a:off x="1627632" y="1106424"/>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The Debate: Bear vs. Bull</a:t>
            </a:r>
          </a:p>
        </p:txBody>
      </p:sp>
      <p:sp>
        <p:nvSpPr>
          <p:cNvPr id="5" name="Agenda 2"/>
          <p:cNvSpPr/>
          <p:nvPr/>
        </p:nvSpPr>
        <p:spPr>
          <a:xfrm>
            <a:off x="854049" y="1865376"/>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2</a:t>
            </a:r>
          </a:p>
        </p:txBody>
      </p:sp>
      <p:sp>
        <p:nvSpPr>
          <p:cNvPr id="6" name="TextBox 5"/>
          <p:cNvSpPr txBox="1"/>
          <p:nvPr/>
        </p:nvSpPr>
        <p:spPr>
          <a:xfrm>
            <a:off x="1627632" y="1892807"/>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Company Overview</a:t>
            </a:r>
          </a:p>
        </p:txBody>
      </p:sp>
      <p:sp>
        <p:nvSpPr>
          <p:cNvPr id="7" name="Agenda 3"/>
          <p:cNvSpPr/>
          <p:nvPr/>
        </p:nvSpPr>
        <p:spPr>
          <a:xfrm>
            <a:off x="854049" y="2651760"/>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3</a:t>
            </a:r>
          </a:p>
        </p:txBody>
      </p:sp>
      <p:sp>
        <p:nvSpPr>
          <p:cNvPr id="8" name="TextBox 7"/>
          <p:cNvSpPr txBox="1"/>
          <p:nvPr/>
        </p:nvSpPr>
        <p:spPr>
          <a:xfrm>
            <a:off x="1627632" y="2679191"/>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Industry &amp; Competition</a:t>
            </a:r>
          </a:p>
        </p:txBody>
      </p:sp>
      <p:sp>
        <p:nvSpPr>
          <p:cNvPr id="9" name="Agenda 4"/>
          <p:cNvSpPr/>
          <p:nvPr/>
        </p:nvSpPr>
        <p:spPr>
          <a:xfrm>
            <a:off x="854049" y="3438144"/>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4</a:t>
            </a:r>
          </a:p>
        </p:txBody>
      </p:sp>
      <p:sp>
        <p:nvSpPr>
          <p:cNvPr id="10" name="TextBox 9"/>
          <p:cNvSpPr txBox="1"/>
          <p:nvPr/>
        </p:nvSpPr>
        <p:spPr>
          <a:xfrm>
            <a:off x="1627632" y="3465575"/>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Growth Legs: Foot Locker &amp; House of Sport</a:t>
            </a:r>
          </a:p>
        </p:txBody>
      </p:sp>
      <p:sp>
        <p:nvSpPr>
          <p:cNvPr id="11" name="Agenda 5"/>
          <p:cNvSpPr/>
          <p:nvPr/>
        </p:nvSpPr>
        <p:spPr>
          <a:xfrm>
            <a:off x="854049" y="4224528"/>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5</a:t>
            </a:r>
          </a:p>
        </p:txBody>
      </p:sp>
      <p:sp>
        <p:nvSpPr>
          <p:cNvPr id="12" name="TextBox 11"/>
          <p:cNvSpPr txBox="1"/>
          <p:nvPr/>
        </p:nvSpPr>
        <p:spPr>
          <a:xfrm>
            <a:off x="1627632" y="4251960"/>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Valuation</a:t>
            </a:r>
          </a:p>
        </p:txBody>
      </p:sp>
      <p:sp>
        <p:nvSpPr>
          <p:cNvPr id="13" name="Agenda 6"/>
          <p:cNvSpPr/>
          <p:nvPr/>
        </p:nvSpPr>
        <p:spPr>
          <a:xfrm>
            <a:off x="854049" y="5010912"/>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6</a:t>
            </a:r>
          </a:p>
        </p:txBody>
      </p:sp>
      <p:sp>
        <p:nvSpPr>
          <p:cNvPr id="14" name="TextBox 13"/>
          <p:cNvSpPr txBox="1"/>
          <p:nvPr/>
        </p:nvSpPr>
        <p:spPr>
          <a:xfrm>
            <a:off x="1627632" y="5038344"/>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Risks, Catalysts &amp; Recommendation</a:t>
            </a:r>
          </a:p>
        </p:txBody>
      </p:sp>
      <p:sp>
        <p:nvSpPr>
          <p:cNvPr id="15" name="Agenda 7"/>
          <p:cNvSpPr/>
          <p:nvPr/>
        </p:nvSpPr>
        <p:spPr>
          <a:xfrm>
            <a:off x="854049" y="5797296"/>
            <a:ext cx="534009" cy="547725"/>
          </a:xfrm>
          <a:prstGeom prst="ellipse">
            <a:avLst/>
          </a:prstGeom>
          <a:solidFill>
            <a:srgbClr val="001746"/>
          </a:solidFill>
          <a:ln w="19050">
            <a:solidFill>
              <a:srgbClr val="FFC000"/>
            </a:solidFill>
          </a:ln>
        </p:spPr>
        <p:txBody>
          <a:bodyPr rtlCol="0" anchor="ctr" tIns="0" bIns="0" wrap="square">
            <a:noAutofit/>
          </a:bodyPr>
          <a:lstStyle/>
          <a:p>
            <a:pPr algn="ctr" marL="0" indent="0">
              <a:buNone/>
            </a:pPr>
            <a:r>
              <a:rPr sz="1400" b="0" u="none">
                <a:solidFill>
                  <a:srgbClr val="FFFFFF"/>
                </a:solidFill>
                <a:latin typeface="Garamond"/>
                <a:ea typeface="Garamond"/>
                <a:cs typeface="Garamond"/>
              </a:rPr>
              <a:t>7</a:t>
            </a:r>
          </a:p>
        </p:txBody>
      </p:sp>
      <p:sp>
        <p:nvSpPr>
          <p:cNvPr id="16" name="TextBox 15"/>
          <p:cNvSpPr txBox="1"/>
          <p:nvPr/>
        </p:nvSpPr>
        <p:spPr>
          <a:xfrm>
            <a:off x="1627632" y="5824728"/>
            <a:ext cx="9601200" cy="493776"/>
          </a:xfrm>
          <a:prstGeom prst="rect">
            <a:avLst/>
          </a:prstGeom>
          <a:noFill/>
        </p:spPr>
        <p:txBody>
          <a:bodyPr wrap="square" tIns="0" bIns="0" anchor="ctr">
            <a:noAutofit/>
          </a:bodyPr>
          <a:lstStyle/>
          <a:p>
            <a:pPr marL="0" indent="0">
              <a:buNone/>
            </a:pPr>
            <a:r>
              <a:rPr sz="2600" b="1" u="none" cap="small">
                <a:solidFill>
                  <a:srgbClr val="3F3F3F"/>
                </a:solidFill>
                <a:latin typeface="Garamond"/>
                <a:ea typeface="Garamond"/>
                <a:cs typeface="Garamond"/>
              </a:rPr>
              <a:t>Appendix</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The Debate: Bear vs. Bull</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Consensus Baseline &amp; Scorecard</a:t>
            </a:r>
          </a:p>
        </p:txBody>
      </p:sp>
      <p:sp>
        <p:nvSpPr>
          <p:cNvPr id="3" name="Header: Consensus Baseline"/>
          <p:cNvSpPr/>
          <p:nvPr/>
        </p:nvSpPr>
        <p:spPr>
          <a:xfrm>
            <a:off x="270662" y="914400"/>
            <a:ext cx="6000810"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Consensus Baseline</a:t>
            </a:r>
          </a:p>
        </p:txBody>
      </p:sp>
      <p:sp>
        <p:nvSpPr>
          <p:cNvPr id="4" name="Bullets"/>
          <p:cNvSpPr txBox="1"/>
          <p:nvPr/>
        </p:nvSpPr>
        <p:spPr>
          <a:xfrm>
            <a:off x="270662" y="1353312"/>
            <a:ext cx="6000810" cy="334365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sng">
                <a:solidFill>
                  <a:srgbClr val="000000"/>
                </a:solidFill>
                <a:latin typeface="Garamond"/>
                <a:ea typeface="Garamond"/>
                <a:cs typeface="Garamond"/>
              </a:rPr>
              <a:t>Business:</a:t>
            </a:r>
            <a:r>
              <a:rPr sz="1700" b="0" u="none">
                <a:solidFill>
                  <a:srgbClr val="000000"/>
                </a:solidFill>
                <a:latin typeface="Garamond"/>
                <a:ea typeface="Garamond"/>
                <a:cs typeface="Garamond"/>
              </a:rPr>
              <a:t> the largest US sporting goods retailer (</a:t>
            </a:r>
            <a:r>
              <a:rPr sz="1700" b="1" u="none">
                <a:solidFill>
                  <a:srgbClr val="000000"/>
                </a:solidFill>
                <a:latin typeface="Garamond"/>
                <a:ea typeface="Garamond"/>
                <a:cs typeface="Garamond"/>
              </a:rPr>
              <a:t>66%</a:t>
            </a:r>
            <a:r>
              <a:rPr sz="1700" b="0" u="none">
                <a:solidFill>
                  <a:srgbClr val="000000"/>
                </a:solidFill>
                <a:latin typeface="Garamond"/>
                <a:ea typeface="Garamond"/>
                <a:cs typeface="Garamond"/>
              </a:rPr>
              <a:t> of FY26 sales) plus Foot Locker (</a:t>
            </a:r>
            <a:r>
              <a:rPr sz="1700" b="1" u="none">
                <a:solidFill>
                  <a:srgbClr val="000000"/>
                </a:solidFill>
                <a:latin typeface="Garamond"/>
                <a:ea typeface="Garamond"/>
                <a:cs typeface="Garamond"/>
              </a:rPr>
              <a:t>34%</a:t>
            </a:r>
            <a:r>
              <a:rPr sz="1700" b="0" u="none">
                <a:solidFill>
                  <a:srgbClr val="000000"/>
                </a:solidFill>
                <a:latin typeface="Garamond"/>
                <a:ea typeface="Garamond"/>
                <a:cs typeface="Garamond"/>
              </a:rPr>
              <a:t>), bought in Sept 2025</a:t>
            </a:r>
          </a:p>
          <a:p>
            <a:pPr marL="457200" indent="-336499">
              <a:buClr>
                <a:srgbClr val="000000"/>
              </a:buClr>
              <a:buSzPts val="1700"/>
              <a:buFont typeface="Garamond"/>
              <a:buChar char="●"/>
            </a:pPr>
            <a:r>
              <a:rPr sz="1700" b="1" u="sng">
                <a:solidFill>
                  <a:srgbClr val="000000"/>
                </a:solidFill>
                <a:latin typeface="Garamond"/>
                <a:ea typeface="Garamond"/>
                <a:cs typeface="Garamond"/>
              </a:rPr>
              <a:t>Narrative:</a:t>
            </a:r>
            <a:r>
              <a:rPr sz="1700" b="0" u="none">
                <a:solidFill>
                  <a:srgbClr val="000000"/>
                </a:solidFill>
                <a:latin typeface="Garamond"/>
                <a:ea typeface="Garamond"/>
                <a:cs typeface="Garamond"/>
              </a:rPr>
              <a:t> a share-gaining leader whose Foot Locker bet broke in 2026</a:t>
            </a:r>
          </a:p>
          <a:p>
            <a:pPr marL="457200" indent="-336499">
              <a:buClr>
                <a:srgbClr val="000000"/>
              </a:buClr>
              <a:buSzPts val="1700"/>
              <a:buFont typeface="Garamond"/>
              <a:buChar char="●"/>
            </a:pPr>
            <a:r>
              <a:rPr sz="1700" b="1" u="sng">
                <a:solidFill>
                  <a:srgbClr val="000000"/>
                </a:solidFill>
                <a:latin typeface="Garamond"/>
                <a:ea typeface="Garamond"/>
                <a:cs typeface="Garamond"/>
              </a:rPr>
              <a:t>Street:</a:t>
            </a:r>
            <a:r>
              <a:rPr sz="1700" b="0" u="none">
                <a:solidFill>
                  <a:srgbClr val="000000"/>
                </a:solidFill>
                <a:latin typeface="Garamond"/>
                <a:ea typeface="Garamond"/>
                <a:cs typeface="Garamond"/>
              </a:rPr>
              <a:t> mean target </a:t>
            </a:r>
            <a:r>
              <a:rPr sz="1700" b="1" u="none">
                <a:solidFill>
                  <a:srgbClr val="000000"/>
                </a:solidFill>
                <a:latin typeface="Garamond"/>
                <a:ea typeface="Garamond"/>
                <a:cs typeface="Garamond"/>
              </a:rPr>
              <a:t>$166</a:t>
            </a:r>
            <a:r>
              <a:rPr sz="1700" b="0" u="none">
                <a:solidFill>
                  <a:srgbClr val="000000"/>
                </a:solidFill>
                <a:latin typeface="Garamond"/>
                <a:ea typeface="Garamond"/>
                <a:cs typeface="Garamond"/>
              </a:rPr>
              <a:t> (26 analysts, Buy); post-Q2 targets </a:t>
            </a:r>
            <a:r>
              <a:rPr sz="1700" b="1" u="none">
                <a:solidFill>
                  <a:srgbClr val="000000"/>
                </a:solidFill>
                <a:latin typeface="Garamond"/>
                <a:ea typeface="Garamond"/>
                <a:cs typeface="Garamond"/>
              </a:rPr>
              <a:t>$99</a:t>
            </a:r>
            <a:r>
              <a:rPr sz="1700" b="0" u="none">
                <a:solidFill>
                  <a:srgbClr val="000000"/>
                </a:solidFill>
                <a:latin typeface="Garamond"/>
                <a:ea typeface="Garamond"/>
                <a:cs typeface="Garamond"/>
              </a:rPr>
              <a:t> to </a:t>
            </a:r>
            <a:r>
              <a:rPr sz="1700" b="1" u="none">
                <a:solidFill>
                  <a:srgbClr val="000000"/>
                </a:solidFill>
                <a:latin typeface="Garamond"/>
                <a:ea typeface="Garamond"/>
                <a:cs typeface="Garamond"/>
              </a:rPr>
              <a:t>$205</a:t>
            </a:r>
          </a:p>
          <a:p>
            <a:pPr marL="457200" indent="-336499">
              <a:buClr>
                <a:srgbClr val="000000"/>
              </a:buClr>
              <a:buSzPts val="1700"/>
              <a:buFont typeface="Garamond"/>
              <a:buChar char="●"/>
            </a:pPr>
            <a:r>
              <a:rPr sz="1700" b="1" u="sng">
                <a:solidFill>
                  <a:srgbClr val="000000"/>
                </a:solidFill>
                <a:latin typeface="Garamond"/>
                <a:ea typeface="Garamond"/>
                <a:cs typeface="Garamond"/>
              </a:rPr>
              <a:t>Positioning:</a:t>
            </a:r>
            <a:r>
              <a:rPr sz="1700" b="0" u="none">
                <a:solidFill>
                  <a:srgbClr val="000000"/>
                </a:solidFill>
                <a:latin typeface="Garamond"/>
                <a:ea typeface="Garamond"/>
                <a:cs typeface="Garamond"/>
              </a:rPr>
              <a:t> short interest </a:t>
            </a:r>
            <a:r>
              <a:rPr sz="1700" b="1" u="none">
                <a:solidFill>
                  <a:srgbClr val="000000"/>
                </a:solidFill>
                <a:latin typeface="Garamond"/>
                <a:ea typeface="Garamond"/>
                <a:cs typeface="Garamond"/>
              </a:rPr>
              <a:t>13.7%</a:t>
            </a:r>
            <a:r>
              <a:rPr sz="1700" b="0" u="none">
                <a:solidFill>
                  <a:srgbClr val="000000"/>
                </a:solidFill>
                <a:latin typeface="Garamond"/>
                <a:ea typeface="Garamond"/>
                <a:cs typeface="Garamond"/>
              </a:rPr>
              <a:t>; stock </a:t>
            </a:r>
            <a:r>
              <a:rPr sz="1700" b="1" u="none">
                <a:solidFill>
                  <a:srgbClr val="000000"/>
                </a:solidFill>
                <a:latin typeface="Garamond"/>
                <a:ea typeface="Garamond"/>
                <a:cs typeface="Garamond"/>
              </a:rPr>
              <a:t>-31%</a:t>
            </a:r>
            <a:r>
              <a:rPr sz="1700" b="0" u="none">
                <a:solidFill>
                  <a:srgbClr val="000000"/>
                </a:solidFill>
                <a:latin typeface="Garamond"/>
                <a:ea typeface="Garamond"/>
                <a:cs typeface="Garamond"/>
              </a:rPr>
              <a:t> on Aug 25; insiders buying</a:t>
            </a:r>
          </a:p>
          <a:p>
            <a:pPr marL="457200" indent="-336499">
              <a:buClr>
                <a:srgbClr val="000000"/>
              </a:buClr>
              <a:buSzPts val="1700"/>
              <a:buFont typeface="Garamond"/>
              <a:buChar char="●"/>
            </a:pPr>
            <a:r>
              <a:rPr sz="1700" b="1" u="sng">
                <a:solidFill>
                  <a:srgbClr val="000000"/>
                </a:solidFill>
                <a:latin typeface="Garamond"/>
                <a:ea typeface="Garamond"/>
                <a:cs typeface="Garamond"/>
              </a:rPr>
              <a:t>Price implies:</a:t>
            </a:r>
            <a:r>
              <a:rPr sz="1700" b="0" u="none">
                <a:solidFill>
                  <a:srgbClr val="000000"/>
                </a:solidFill>
                <a:latin typeface="Garamond"/>
                <a:ea typeface="Garamond"/>
                <a:cs typeface="Garamond"/>
              </a:rPr>
              <a:t> Foot Locker at zero and a </a:t>
            </a:r>
            <a:r>
              <a:rPr sz="1700" b="1" u="none">
                <a:solidFill>
                  <a:srgbClr val="000000"/>
                </a:solidFill>
                <a:latin typeface="Garamond"/>
                <a:ea typeface="Garamond"/>
                <a:cs typeface="Garamond"/>
              </a:rPr>
              <a:t>10.2%</a:t>
            </a:r>
            <a:r>
              <a:rPr sz="1700" b="0" u="none">
                <a:solidFill>
                  <a:srgbClr val="000000"/>
                </a:solidFill>
                <a:latin typeface="Garamond"/>
                <a:ea typeface="Garamond"/>
                <a:cs typeface="Garamond"/>
              </a:rPr>
              <a:t> DICK'S margin (11.2% guided)</a:t>
            </a:r>
          </a:p>
          <a:p>
            <a:pPr marL="457200" indent="-336499">
              <a:buClr>
                <a:srgbClr val="000000"/>
              </a:buClr>
              <a:buSzPts val="1700"/>
              <a:buFont typeface="Garamond"/>
              <a:buChar char="●"/>
            </a:pPr>
            <a:r>
              <a:rPr sz="1700" b="1" u="sng">
                <a:solidFill>
                  <a:srgbClr val="000000"/>
                </a:solidFill>
                <a:latin typeface="Garamond"/>
                <a:ea typeface="Garamond"/>
                <a:cs typeface="Garamond"/>
              </a:rPr>
              <a:t>Live debate:</a:t>
            </a:r>
            <a:r>
              <a:rPr sz="1700" b="0" u="none">
                <a:solidFill>
                  <a:srgbClr val="000000"/>
                </a:solidFill>
                <a:latin typeface="Garamond"/>
                <a:ea typeface="Garamond"/>
                <a:cs typeface="Garamond"/>
              </a:rPr>
              <a:t> a one-season clearance, or a margin reset as Nike floods wholesale again?</a:t>
            </a:r>
          </a:p>
        </p:txBody>
      </p:sp>
      <p:sp>
        <p:nvSpPr>
          <p:cNvPr id="5" name="Header: Average Thesis Score by Dimension (1-5)"/>
          <p:cNvSpPr/>
          <p:nvPr/>
        </p:nvSpPr>
        <p:spPr>
          <a:xfrm>
            <a:off x="6545792" y="914400"/>
            <a:ext cx="535786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Average Thesis Score by Dimension (1-5)</a:t>
            </a:r>
          </a:p>
        </p:txBody>
      </p:sp>
      <p:graphicFrame>
        <p:nvGraphicFramePr>
          <p:cNvPr id="6" name="Chart 5" descr="Column chart. Bear (12.2 / 20): Edge 2.7; Materiality 2.2; Testability 4.2; Evidence 3.1. Bull (11.4 / 20): Edge 2.3; Materiality 2.1; Testability 4.3; Evidence 2.7."/>
          <p:cNvGraphicFramePr>
            <a:graphicFrameLocks noGrp="1"/>
          </p:cNvGraphicFramePr>
          <p:nvPr/>
        </p:nvGraphicFramePr>
        <p:xfrm>
          <a:off x="6545792" y="1353312"/>
          <a:ext cx="5357866" cy="4173321"/>
        </p:xfrm>
        <a:graphic>
          <a:graphicData uri="http://schemas.openxmlformats.org/drawingml/2006/chart">
            <c:chart xmlns:c="http://schemas.openxmlformats.org/drawingml/2006/chart" r:id="rId2"/>
          </a:graphicData>
        </a:graphic>
      </p:graphicFrame>
      <p:sp>
        <p:nvSpPr>
          <p:cNvPr id="7" name="Stat Callout"/>
          <p:cNvSpPr/>
          <p:nvPr/>
        </p:nvSpPr>
        <p:spPr>
          <a:xfrm>
            <a:off x="6545792" y="5691225"/>
            <a:ext cx="2564633"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Edge to the bear:</a:t>
            </a:r>
            <a:r>
              <a:rPr sz="1300" b="0" u="none">
                <a:solidFill>
                  <a:srgbClr val="FFFFFF"/>
                </a:solidFill>
                <a:latin typeface="Garamond"/>
                <a:ea typeface="Garamond"/>
                <a:cs typeface="Garamond"/>
              </a:rPr>
              <a:t> its best claim is in the Q2 numbers</a:t>
            </a:r>
          </a:p>
        </p:txBody>
      </p:sp>
      <p:sp>
        <p:nvSpPr>
          <p:cNvPr id="8" name="Stat Callout"/>
          <p:cNvSpPr/>
          <p:nvPr/>
        </p:nvSpPr>
        <p:spPr>
          <a:xfrm>
            <a:off x="9339025" y="5691225"/>
            <a:ext cx="2564633"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Deciding variable:</a:t>
            </a:r>
            <a:r>
              <a:rPr sz="1300" b="0" u="none">
                <a:solidFill>
                  <a:srgbClr val="FFFFFF"/>
                </a:solidFill>
                <a:latin typeface="Garamond"/>
                <a:ea typeface="Garamond"/>
                <a:cs typeface="Garamond"/>
              </a:rPr>
              <a:t> the DICK'S margin without refunds</a:t>
            </a:r>
          </a:p>
        </p:txBody>
      </p:sp>
      <p:sp>
        <p:nvSpPr>
          <p:cNvPr id="9"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0"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1"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2"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3"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4"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5"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Bear Case: 10 Theses, Ranked</a:t>
            </a:r>
          </a:p>
        </p:txBody>
      </p:sp>
      <p:sp>
        <p:nvSpPr>
          <p:cNvPr id="3" name="Header: Argued as a short-seller would  |  Scored on Edge, Materiality, Testability, Evidence (max 20)"/>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Argued as a short-seller would  |  Scored on Edge, Materiality, Testability, Evidence (max 20)</a:t>
            </a:r>
          </a:p>
        </p:txBody>
      </p:sp>
      <p:graphicFrame>
        <p:nvGraphicFramePr>
          <p:cNvPr id="4" name="Table 3"/>
          <p:cNvGraphicFramePr>
            <a:graphicFrameLocks noGrp="1"/>
          </p:cNvGraphicFramePr>
          <p:nvPr/>
        </p:nvGraphicFramePr>
        <p:xfrm>
          <a:off x="270662" y="1353312"/>
          <a:ext cx="11632995" cy="3450590"/>
        </p:xfrm>
        <a:graphic>
          <a:graphicData uri="http://schemas.openxmlformats.org/drawingml/2006/table">
            <a:tbl>
              <a:tblPr firstRow="0" bandRow="0">
                <a:tableStyleId>{2D5ABB26-0587-4C30-8999-92F81FD0307C}</a:tableStyleId>
              </a:tblPr>
              <a:tblGrid>
                <a:gridCol w="415464"/>
                <a:gridCol w="507789"/>
                <a:gridCol w="1615694"/>
                <a:gridCol w="5862661"/>
                <a:gridCol w="2538947"/>
                <a:gridCol w="692440"/>
              </a:tblGrid>
              <a:tr h="313690">
                <a:tc>
                  <a:txBody>
                    <a:bodyPr/>
                    <a:lstStyle/>
                    <a:p>
                      <a:pPr algn="ctr"/>
                      <a:r>
                        <a:rPr sz="1300" b="1" u="none">
                          <a:solidFill>
                            <a:srgbClr val="FFFFFF"/>
                          </a:solidFill>
                          <a:latin typeface="Garamond"/>
                          <a:ea typeface="Garamond"/>
                          <a:cs typeface="Garamond"/>
                        </a:rPr>
                        <a:t>#</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ID</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Lens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Thesis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Consensus → Ours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Score</a:t>
                      </a:r>
                    </a:p>
                  </a:txBody>
                  <a:tcPr marL="54864" marR="54864" marT="18288" marB="18288" anchor="ctr">
                    <a:lnL w="0">
                      <a:noFill/>
                    </a:lnL>
                    <a:lnR w="0">
                      <a:noFill/>
                    </a:lnR>
                    <a:lnT w="0">
                      <a:noFill/>
                    </a:lnT>
                    <a:lnB w="0">
                      <a:noFill/>
                    </a:lnB>
                    <a:solidFill>
                      <a:srgbClr val="002060"/>
                    </a:solidFill>
                  </a:tcPr>
                </a:tc>
              </a:tr>
              <a:tr h="313690">
                <a:tc>
                  <a:txBody>
                    <a:bodyPr/>
                    <a:lstStyle/>
                    <a:p>
                      <a:pPr algn="ctr"/>
                      <a:r>
                        <a:rPr sz="1300" b="0" u="none">
                          <a:solidFill>
                            <a:srgbClr val="000000"/>
                          </a:solidFill>
                          <a:latin typeface="Garamond"/>
                          <a:ea typeface="Garamond"/>
                          <a:cs typeface="Garamond"/>
                        </a:rPr>
                        <a:t>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S1</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Profit engine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DICK'S margin settles near 10.3% once the tariff refund rolls off</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11.0-11.4% → 10.3%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16</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2</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Expectations gap</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FY27 EPS lands near $12.5; estimates still have to come down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$15.31 (stale) → $12.5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3</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S3</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Capital allocation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Dividends and buybacks exceed FCF; net debt roughly doubles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Self-funding → $0.3-0.5B gap</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S2</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Industry structure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Foot Locker earns 0% or less through FY28 in a discounted channel</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 → 0%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S5</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Macro / policy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Section 301 tariffs cost 50-80bp of FY27 gross margin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Neutral → -50 to -80bp</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6</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Revenue: volume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DICK'S comps slow to +1% or less as transactions turn negative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+2.5-4.0% → +1%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7</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S10</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Capital allocation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Group ROIC stays near 10% on ~$1.4B a year of capex</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~14% → 10%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S9</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Revenue: price / mix</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Ticket growth halves as DKS matches brand promotions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~+5% → +2%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S4</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Moat trajectory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Comp premium over Academy shrinks as Nike reopens wholesale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4pp+ → 2pp or less</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S7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Governance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Foot Locker charges exceed the $500-750M plan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$500-750M → $850M+</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Stat Callout"/>
          <p:cNvSpPr/>
          <p:nvPr/>
        </p:nvSpPr>
        <p:spPr>
          <a:xfrm>
            <a:off x="270662"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Strongest:</a:t>
            </a:r>
            <a:r>
              <a:rPr sz="1300" b="0" u="none">
                <a:solidFill>
                  <a:srgbClr val="FFFFFF"/>
                </a:solidFill>
                <a:latin typeface="Garamond"/>
                <a:ea typeface="Garamond"/>
                <a:cs typeface="Garamond"/>
              </a:rPr>
              <a:t> S1: a $59M refund hides a ~190bp core margin slide</a:t>
            </a:r>
          </a:p>
        </p:txBody>
      </p:sp>
      <p:sp>
        <p:nvSpPr>
          <p:cNvPr id="6" name="Stat Callout"/>
          <p:cNvSpPr/>
          <p:nvPr/>
        </p:nvSpPr>
        <p:spPr>
          <a:xfrm>
            <a:off x="6201460"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Already priced:</a:t>
            </a:r>
            <a:r>
              <a:rPr sz="1300" b="0" u="none">
                <a:solidFill>
                  <a:srgbClr val="FFFFFF"/>
                </a:solidFill>
                <a:latin typeface="Garamond"/>
                <a:ea typeface="Garamond"/>
                <a:cs typeface="Garamond"/>
              </a:rPr>
              <a:t> the price implies a 10.2% DICK'S margin</a:t>
            </a:r>
          </a:p>
        </p:txBody>
      </p:sp>
      <p:sp>
        <p:nvSpPr>
          <p:cNvPr id="7"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Bull Case: 10 Theses, Ranked</a:t>
            </a:r>
          </a:p>
        </p:txBody>
      </p:sp>
      <p:sp>
        <p:nvSpPr>
          <p:cNvPr id="3" name="Header: Argued as a long PM would  |  Same scoring; L1 shares the Street's view, so it is labeled Consensus"/>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Argued as a long PM would  |  Same scoring; L1 shares the Street's view, so it is labeled Consensus</a:t>
            </a:r>
          </a:p>
        </p:txBody>
      </p:sp>
      <p:graphicFrame>
        <p:nvGraphicFramePr>
          <p:cNvPr id="4" name="Table 3"/>
          <p:cNvGraphicFramePr>
            <a:graphicFrameLocks noGrp="1"/>
          </p:cNvGraphicFramePr>
          <p:nvPr/>
        </p:nvGraphicFramePr>
        <p:xfrm>
          <a:off x="270662" y="1353312"/>
          <a:ext cx="11632995" cy="3450590"/>
        </p:xfrm>
        <a:graphic>
          <a:graphicData uri="http://schemas.openxmlformats.org/drawingml/2006/table">
            <a:tbl>
              <a:tblPr firstRow="0" bandRow="0">
                <a:tableStyleId>{2D5ABB26-0587-4C30-8999-92F81FD0307C}</a:tableStyleId>
              </a:tblPr>
              <a:tblGrid>
                <a:gridCol w="415464"/>
                <a:gridCol w="507789"/>
                <a:gridCol w="1615694"/>
                <a:gridCol w="5862661"/>
                <a:gridCol w="2538947"/>
                <a:gridCol w="692440"/>
              </a:tblGrid>
              <a:tr h="313690">
                <a:tc>
                  <a:txBody>
                    <a:bodyPr/>
                    <a:lstStyle/>
                    <a:p>
                      <a:pPr algn="ctr"/>
                      <a:r>
                        <a:rPr sz="1300" b="1" u="none">
                          <a:solidFill>
                            <a:srgbClr val="FFFFFF"/>
                          </a:solidFill>
                          <a:latin typeface="Garamond"/>
                          <a:ea typeface="Garamond"/>
                          <a:cs typeface="Garamond"/>
                        </a:rPr>
                        <a:t>#</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ID</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Lens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Thesis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Consensus → Ours</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Score</a:t>
                      </a:r>
                    </a:p>
                  </a:txBody>
                  <a:tcPr marL="54864" marR="54864" marT="18288" marB="18288" anchor="ctr">
                    <a:lnL w="0">
                      <a:noFill/>
                    </a:lnL>
                    <a:lnR w="0">
                      <a:noFill/>
                    </a:lnR>
                    <a:lnT w="0">
                      <a:noFill/>
                    </a:lnT>
                    <a:lnB w="0">
                      <a:noFill/>
                    </a:lnB>
                    <a:solidFill>
                      <a:srgbClr val="002060"/>
                    </a:solidFill>
                  </a:tcPr>
                </a:tc>
              </a:tr>
              <a:tr h="313690">
                <a:tc>
                  <a:txBody>
                    <a:bodyPr/>
                    <a:lstStyle/>
                    <a:p>
                      <a:pPr algn="ctr"/>
                      <a:r>
                        <a:rPr sz="1300" b="0" u="none">
                          <a:solidFill>
                            <a:srgbClr val="000000"/>
                          </a:solidFill>
                          <a:latin typeface="Garamond"/>
                          <a:ea typeface="Garamond"/>
                          <a:cs typeface="Garamond"/>
                        </a:rPr>
                        <a:t>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L2</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Profit engine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Foot Locker reaches a 3%+ margin by FY28 on synergies and remodels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-1.2% (price) → 3%+</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2</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L3</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Revenue: volume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DICK'S comps run +4% or more as weaker rivals cede share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+2.5-4.0% → +4%+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3</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L4</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Moat trajectory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DICK'S holds 11%+ without refunds: the scale premium survives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10.2% (price) → 11%+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L9</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Industry structure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Nike North America wholesale grows 8%+, feeding both banners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~+4% → +8%+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Market structure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Short interest falls below 8% of float as estimates trough</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13.7% → below 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6</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L1</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Expectations gap</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Consensus view: the Street's $166 is right; base value ~$163</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-0.3% g (price) → +2.0%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7</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L10</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Revenue: price / mix</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Ticket holds +4% as House of Sport and premium mix offset promotions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~+3% → +4%+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11</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Macro / policy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IEEPA refunds reach $150M+ and fund the Foot Locker reset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$59M → $150M+</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Optionality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Retail media and GameChanger add 50bp+ to the DICK'S margin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Not modeled → +0.5pp</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r>
              <a:tr h="313690">
                <a:tc>
                  <a:txBody>
                    <a:bodyPr/>
                    <a:lstStyle/>
                    <a:p>
                      <a:pPr algn="ctr"/>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L5</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Capital allocation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Buybacks at ~12x earnings cut shares to 86M or fewer by FY28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~90M → 86M or fewer</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Stat Callout"/>
          <p:cNvSpPr/>
          <p:nvPr/>
        </p:nvSpPr>
        <p:spPr>
          <a:xfrm>
            <a:off x="270662"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Strongest:</a:t>
            </a:r>
            <a:r>
              <a:rPr sz="1300" b="0" u="none">
                <a:solidFill>
                  <a:srgbClr val="FFFFFF"/>
                </a:solidFill>
                <a:latin typeface="Garamond"/>
                <a:ea typeface="Garamond"/>
                <a:cs typeface="Garamond"/>
              </a:rPr>
              <a:t> L2, because synergies alone add 1.3-1.7pp</a:t>
            </a:r>
          </a:p>
        </p:txBody>
      </p:sp>
      <p:sp>
        <p:nvSpPr>
          <p:cNvPr id="6" name="Stat Callout"/>
          <p:cNvSpPr/>
          <p:nvPr/>
        </p:nvSpPr>
        <p:spPr>
          <a:xfrm>
            <a:off x="6201460" y="499262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Hard data:</a:t>
            </a:r>
            <a:r>
              <a:rPr sz="1300" b="0" u="none">
                <a:solidFill>
                  <a:srgbClr val="FFFFFF"/>
                </a:solidFill>
                <a:latin typeface="Garamond"/>
                <a:ea typeface="Garamond"/>
                <a:cs typeface="Garamond"/>
              </a:rPr>
              <a:t> comps +6.0% and +4.9% while Academy was negative (L3)</a:t>
            </a:r>
          </a:p>
        </p:txBody>
      </p:sp>
      <p:sp>
        <p:nvSpPr>
          <p:cNvPr id="7"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Theses, Catalysts &amp; Falsifiers</a:t>
            </a:r>
          </a:p>
        </p:txBody>
      </p:sp>
      <p:sp>
        <p:nvSpPr>
          <p:cNvPr id="3" name="Header: Three Strongest per Side, Each With a Dated Test"/>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Three Strongest per Side, Each With a Dated Test</a:t>
            </a:r>
          </a:p>
        </p:txBody>
      </p:sp>
      <p:graphicFrame>
        <p:nvGraphicFramePr>
          <p:cNvPr id="4" name="Table 3"/>
          <p:cNvGraphicFramePr>
            <a:graphicFrameLocks noGrp="1"/>
          </p:cNvGraphicFramePr>
          <p:nvPr/>
        </p:nvGraphicFramePr>
        <p:xfrm>
          <a:off x="270662" y="1353312"/>
          <a:ext cx="11632995" cy="2606040"/>
        </p:xfrm>
        <a:graphic>
          <a:graphicData uri="http://schemas.openxmlformats.org/drawingml/2006/table">
            <a:tbl>
              <a:tblPr firstRow="0" bandRow="0">
                <a:tableStyleId>{2D5ABB26-0587-4C30-8999-92F81FD0307C}</a:tableStyleId>
              </a:tblPr>
              <a:tblGrid>
                <a:gridCol w="513907"/>
                <a:gridCol w="3223601"/>
                <a:gridCol w="2476099"/>
                <a:gridCol w="4064541"/>
                <a:gridCol w="1354847"/>
              </a:tblGrid>
              <a:tr h="289560">
                <a:tc>
                  <a:txBody>
                    <a:bodyPr/>
                    <a:lstStyle/>
                    <a:p>
                      <a:pPr algn="ctr"/>
                      <a:r>
                        <a:rPr sz="1200" b="1" u="none">
                          <a:solidFill>
                            <a:srgbClr val="FFFFFF"/>
                          </a:solidFill>
                          <a:latin typeface="Garamond"/>
                          <a:ea typeface="Garamond"/>
                          <a:cs typeface="Garamond"/>
                        </a:rPr>
                        <a:t>ID</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Thesis</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Catalyst &amp; timing</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Falsifier (dated)</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Value if right</a:t>
                      </a:r>
                    </a:p>
                  </a:txBody>
                  <a:tcPr marL="54864" marR="54864" marT="18288" marB="18288" anchor="ctr">
                    <a:lnL w="0">
                      <a:noFill/>
                    </a:lnL>
                    <a:lnR w="0">
                      <a:noFill/>
                    </a:lnR>
                    <a:lnT w="0">
                      <a:noFill/>
                    </a:lnT>
                    <a:lnB w="0">
                      <a:noFill/>
                    </a:lnB>
                    <a:solidFill>
                      <a:srgbClr val="002060"/>
                    </a:solidFill>
                  </a:tcPr>
                </a:tc>
              </a:tr>
              <a:tr h="289560">
                <a:tc>
                  <a:txBody>
                    <a:bodyPr/>
                    <a:lstStyle/>
                    <a:p>
                      <a:pPr algn="ct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Bear</a:t>
                      </a:r>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r"/>
                    </a:p>
                  </a:txBody>
                  <a:tcPr marL="54864" marR="54864" marT="18288" marB="18288" anchor="ctr">
                    <a:lnL w="0">
                      <a:noFill/>
                    </a:lnL>
                    <a:lnR w="0">
                      <a:noFill/>
                    </a:lnR>
                    <a:lnT w="0">
                      <a:noFill/>
                    </a:lnT>
                    <a:lnB w="0">
                      <a:noFill/>
                    </a:lnB>
                    <a:solidFill>
                      <a:srgbClr val="002060"/>
                    </a:solidFill>
                  </a:tcPr>
                </a:tc>
              </a:tr>
              <a:tr h="289560">
                <a:tc>
                  <a:txBody>
                    <a:bodyPr/>
                    <a:lstStyle/>
                    <a:p>
                      <a:pPr algn="ctr"/>
                      <a:r>
                        <a:rPr sz="1200" b="0" u="none">
                          <a:solidFill>
                            <a:srgbClr val="000000"/>
                          </a:solidFill>
                          <a:latin typeface="Garamond"/>
                          <a:ea typeface="Garamond"/>
                          <a:cs typeface="Garamond"/>
                        </a:rPr>
                        <a:t>S1</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DICK'S margin near 10.3% in FY27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Q3 FY26 (late Nov 2026); FY27 guide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guide of 11.0%+ without refunds by 3/31/27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-$12/sh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S8</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EPS near $12.5</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guide (~Mar 2027)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EPS guide midpoint of $14+ by 3/31/27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-$18/sh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S3</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Capital returns exceed FCF</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capex and buyback guide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FCF of $700M+ by 3/31/28</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-$5/sh</a:t>
                      </a:r>
                    </a:p>
                  </a:txBody>
                  <a:tcPr marL="54864" marR="54864" marT="18288" marB="18288" anchor="ctr">
                    <a:lnL w="0">
                      <a:noFill/>
                    </a:lnL>
                    <a:lnR w="0">
                      <a:noFill/>
                    </a:lnR>
                    <a:lnT w="0">
                      <a:noFill/>
                    </a:lnT>
                    <a:lnB w="6350">
                      <a:solidFill>
                        <a:srgbClr val="D9D9D9"/>
                      </a:solidFill>
                    </a:lnB>
                    <a:noFill/>
                  </a:tcPr>
                </a:tc>
              </a:tr>
              <a:tr h="289560">
                <a:tc>
                  <a:txBody>
                    <a:bodyPr/>
                    <a:lstStyle/>
                    <a:p>
                      <a:pPr algn="ct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Bull</a:t>
                      </a:r>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r"/>
                    </a:p>
                  </a:txBody>
                  <a:tcPr marL="54864" marR="54864" marT="18288" marB="18288" anchor="ctr">
                    <a:lnL w="0">
                      <a:noFill/>
                    </a:lnL>
                    <a:lnR w="0">
                      <a:noFill/>
                    </a:lnR>
                    <a:lnT w="0">
                      <a:noFill/>
                    </a:lnT>
                    <a:lnB w="0">
                      <a:noFill/>
                    </a:lnB>
                    <a:solidFill>
                      <a:srgbClr val="002060"/>
                    </a:solidFill>
                  </a:tcPr>
                </a:tc>
              </a:tr>
              <a:tr h="289560">
                <a:tc>
                  <a:txBody>
                    <a:bodyPr/>
                    <a:lstStyle/>
                    <a:p>
                      <a:pPr algn="ctr"/>
                      <a:r>
                        <a:rPr sz="1200" b="0" u="none">
                          <a:solidFill>
                            <a:srgbClr val="000000"/>
                          </a:solidFill>
                          <a:latin typeface="Garamond"/>
                          <a:ea typeface="Garamond"/>
                          <a:cs typeface="Garamond"/>
                        </a:rPr>
                        <a:t>L2</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Foot Locker margin 3%+ by FY28</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Q4 FY26 (~Mar 2027)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Foot Locker guide below $100M by 3/31/27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+$29/sh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L3</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DICK'S comps +4%+ in FY27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Q3 and Q4 FY26 results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Q4 FY26 DICK'S comp below +2% by 3/31/27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+$5/sh</a:t>
                      </a:r>
                    </a:p>
                  </a:txBody>
                  <a:tcPr marL="54864" marR="54864" marT="18288" marB="18288" anchor="ctr">
                    <a:lnL w="0">
                      <a:noFill/>
                    </a:lnL>
                    <a:lnR w="0">
                      <a:noFill/>
                    </a:lnR>
                    <a:lnT w="0">
                      <a:noFill/>
                    </a:lnT>
                    <a:lnB w="6350">
                      <a:solidFill>
                        <a:srgbClr val="D9D9D9"/>
                      </a:solidFill>
                    </a:lnB>
                    <a:noFill/>
                  </a:tcPr>
                </a:tc>
              </a:tr>
              <a:tr h="289560">
                <a:tc>
                  <a:txBody>
                    <a:bodyPr/>
                    <a:lstStyle/>
                    <a:p>
                      <a:pPr algn="ctr"/>
                      <a:r>
                        <a:rPr sz="1200" b="0" u="none">
                          <a:solidFill>
                            <a:srgbClr val="000000"/>
                          </a:solidFill>
                          <a:latin typeface="Garamond"/>
                          <a:ea typeface="Garamond"/>
                          <a:cs typeface="Garamond"/>
                        </a:rPr>
                        <a:t>L4</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DICK'S margin 11%+ without refunds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guide (~Mar 2027)</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FY27 guide below 10.5% ex-refunds by 3/31/27</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+$14/sh</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Header: Dependency Check"/>
          <p:cNvSpPr/>
          <p:nvPr/>
        </p:nvSpPr>
        <p:spPr>
          <a:xfrm>
            <a:off x="270662" y="4169664"/>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Dependency Check</a:t>
            </a:r>
          </a:p>
        </p:txBody>
      </p:sp>
      <p:sp>
        <p:nvSpPr>
          <p:cNvPr id="6" name="Bullets"/>
          <p:cNvSpPr txBox="1"/>
          <p:nvPr/>
        </p:nvSpPr>
        <p:spPr>
          <a:xfrm>
            <a:off x="270662" y="4608576"/>
            <a:ext cx="11632996"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S1, S5, S8 and S9 are largely </a:t>
            </a:r>
            <a:r>
              <a:rPr sz="1700" b="1" u="none">
                <a:solidFill>
                  <a:srgbClr val="000000"/>
                </a:solidFill>
                <a:latin typeface="Garamond"/>
                <a:ea typeface="Garamond"/>
                <a:cs typeface="Garamond"/>
              </a:rPr>
              <a:t>one bet on promotions</a:t>
            </a:r>
            <a:r>
              <a:rPr sz="1700" b="0" u="none">
                <a:solidFill>
                  <a:srgbClr val="000000"/>
                </a:solidFill>
                <a:latin typeface="Garamond"/>
                <a:ea typeface="Garamond"/>
                <a:cs typeface="Garamond"/>
              </a:rPr>
              <a:t>; S8's EPS gap is mostly S1 plus S2</a:t>
            </a:r>
          </a:p>
          <a:p>
            <a:pPr marL="457200" indent="-336499">
              <a:buClr>
                <a:srgbClr val="000000"/>
              </a:buClr>
              <a:buSzPts val="1700"/>
              <a:buFont typeface="Garamond"/>
              <a:buChar char="●"/>
            </a:pPr>
            <a:r>
              <a:rPr sz="1700" b="0" u="none">
                <a:solidFill>
                  <a:srgbClr val="000000"/>
                </a:solidFill>
                <a:latin typeface="Garamond"/>
                <a:ea typeface="Garamond"/>
                <a:cs typeface="Garamond"/>
              </a:rPr>
              <a:t>L2, L3 and L9 share one upstream driver: </a:t>
            </a:r>
            <a:r>
              <a:rPr sz="1700" b="1" u="none">
                <a:solidFill>
                  <a:srgbClr val="000000"/>
                </a:solidFill>
                <a:latin typeface="Garamond"/>
                <a:ea typeface="Garamond"/>
                <a:cs typeface="Garamond"/>
              </a:rPr>
              <a:t>Nike's wholesale push</a:t>
            </a:r>
            <a:r>
              <a:rPr sz="1700" b="0" u="none">
                <a:solidFill>
                  <a:srgbClr val="000000"/>
                </a:solidFill>
                <a:latin typeface="Garamond"/>
                <a:ea typeface="Garamond"/>
                <a:cs typeface="Garamond"/>
              </a:rPr>
              <a:t> into both banners</a:t>
            </a:r>
          </a:p>
        </p:txBody>
      </p:sp>
      <p:sp>
        <p:nvSpPr>
          <p:cNvPr id="7"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Debate Map: Where the Two Cases Collide</a:t>
            </a:r>
          </a:p>
        </p:txBody>
      </p:sp>
      <p:sp>
        <p:nvSpPr>
          <p:cNvPr id="3" name="Header: Five Variables Decide the Debate"/>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Five Variables Decide the Debate</a:t>
            </a:r>
          </a:p>
        </p:txBody>
      </p:sp>
      <p:graphicFrame>
        <p:nvGraphicFramePr>
          <p:cNvPr id="4" name="Table 3"/>
          <p:cNvGraphicFramePr>
            <a:graphicFrameLocks noGrp="1"/>
          </p:cNvGraphicFramePr>
          <p:nvPr/>
        </p:nvGraphicFramePr>
        <p:xfrm>
          <a:off x="270662" y="1353312"/>
          <a:ext cx="11632994" cy="1809750"/>
        </p:xfrm>
        <a:graphic>
          <a:graphicData uri="http://schemas.openxmlformats.org/drawingml/2006/table">
            <a:tbl>
              <a:tblPr firstRow="0" bandRow="0">
                <a:tableStyleId>{2D5ABB26-0587-4C30-8999-92F81FD0307C}</a:tableStyleId>
              </a:tblPr>
              <a:tblGrid>
                <a:gridCol w="1969365"/>
                <a:gridCol w="1969365"/>
                <a:gridCol w="2106763"/>
                <a:gridCol w="1694570"/>
                <a:gridCol w="1419775"/>
                <a:gridCol w="2473156"/>
              </a:tblGrid>
              <a:tr h="301625">
                <a:tc>
                  <a:txBody>
                    <a:bodyPr/>
                    <a:lstStyle/>
                    <a:p>
                      <a:pPr algn="l"/>
                      <a:r>
                        <a:rPr sz="1250" b="1" u="none">
                          <a:solidFill>
                            <a:srgbClr val="FFFFFF"/>
                          </a:solidFill>
                          <a:latin typeface="Garamond"/>
                          <a:ea typeface="Garamond"/>
                          <a:cs typeface="Garamond"/>
                        </a:rPr>
                        <a:t>Variable</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Bull view</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Bear view</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Consensus</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Price implies</a:t>
                      </a:r>
                    </a:p>
                  </a:txBody>
                  <a:tcPr marL="54864" marR="54864" marT="18288" marB="18288" anchor="ctr">
                    <a:lnL w="0">
                      <a:noFill/>
                    </a:lnL>
                    <a:lnR w="0">
                      <a:noFill/>
                    </a:lnR>
                    <a:lnT w="0">
                      <a:noFill/>
                    </a:lnT>
                    <a:lnB w="0">
                      <a:noFill/>
                    </a:lnB>
                    <a:solidFill>
                      <a:srgbClr val="002060"/>
                    </a:solidFill>
                  </a:tcPr>
                </a:tc>
                <a:tc>
                  <a:txBody>
                    <a:bodyPr/>
                    <a:lstStyle/>
                    <a:p>
                      <a:pPr algn="l"/>
                      <a:r>
                        <a:rPr sz="1250" b="1" u="none">
                          <a:solidFill>
                            <a:srgbClr val="FFFFFF"/>
                          </a:solidFill>
                          <a:latin typeface="Garamond"/>
                          <a:ea typeface="Garamond"/>
                          <a:cs typeface="Garamond"/>
                        </a:rPr>
                        <a:t>Resolves (when)</a:t>
                      </a:r>
                    </a:p>
                  </a:txBody>
                  <a:tcPr marL="54864" marR="54864" marT="18288" marB="18288" anchor="ctr">
                    <a:lnL w="0">
                      <a:noFill/>
                    </a:lnL>
                    <a:lnR w="0">
                      <a:noFill/>
                    </a:lnR>
                    <a:lnT w="0">
                      <a:noFill/>
                    </a:lnT>
                    <a:lnB w="0">
                      <a:noFill/>
                    </a:lnB>
                    <a:solidFill>
                      <a:srgbClr val="002060"/>
                    </a:solidFill>
                  </a:tcPr>
                </a:tc>
              </a:tr>
              <a:tr h="301625">
                <a:tc>
                  <a:txBody>
                    <a:bodyPr/>
                    <a:lstStyle/>
                    <a:p>
                      <a:pPr algn="l"/>
                      <a:r>
                        <a:rPr sz="1250" b="0" u="none">
                          <a:solidFill>
                            <a:srgbClr val="000000"/>
                          </a:solidFill>
                          <a:latin typeface="Garamond"/>
                          <a:ea typeface="Garamond"/>
                          <a:cs typeface="Garamond"/>
                        </a:rPr>
                        <a:t>DICK'S margin ex-refunds</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11%+ in FY27 (L4)</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10.3% or less (S1)</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11.0-11.4% (guide)</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10.2% (FL at 0%)</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FY27 guide (~Mar 2027)</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Foot Locker margin, FY28</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3%+ (L2)</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0% or less (S2)</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 (Street)</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Q4 FY26 and FY27 guide</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DICK'S comps, FY27</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+4%+ (L3)</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+1% or less (S6)</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+2.5-4.0%</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~0% long-run</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Q4 FY26 (~Mar 2027)</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DICK'S average ticket</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+4%+ (L10)</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+2% or less (S9)</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~+5% (Q1)</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Q4 FY26 comp detail</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Capital returns vs. FCF</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86M shares or fewer (L5)</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$0.3-0.5B gap (S3)</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Self-funding</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l"/>
                      <a:r>
                        <a:rPr sz="1250" b="0" u="none">
                          <a:solidFill>
                            <a:srgbClr val="000000"/>
                          </a:solidFill>
                          <a:latin typeface="Garamond"/>
                          <a:ea typeface="Garamond"/>
                          <a:cs typeface="Garamond"/>
                        </a:rPr>
                        <a:t>FY27 guide (~Mar 2027)</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Header: Where the Case Stands"/>
          <p:cNvSpPr/>
          <p:nvPr/>
        </p:nvSpPr>
        <p:spPr>
          <a:xfrm>
            <a:off x="270662" y="3346704"/>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Where the Case Stands</a:t>
            </a:r>
          </a:p>
        </p:txBody>
      </p:sp>
      <p:sp>
        <p:nvSpPr>
          <p:cNvPr id="6" name="Bullets"/>
          <p:cNvSpPr txBox="1"/>
          <p:nvPr/>
        </p:nvSpPr>
        <p:spPr>
          <a:xfrm>
            <a:off x="270662" y="3785616"/>
            <a:ext cx="11632996"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The bear side is modestly stronger (</a:t>
            </a:r>
            <a:r>
              <a:rPr sz="1700" b="1" u="none">
                <a:solidFill>
                  <a:srgbClr val="000000"/>
                </a:solidFill>
                <a:latin typeface="Garamond"/>
                <a:ea typeface="Garamond"/>
                <a:cs typeface="Garamond"/>
              </a:rPr>
              <a:t>12.2 vs. 11.4</a:t>
            </a:r>
            <a:r>
              <a:rPr sz="1700" b="0" u="none">
                <a:solidFill>
                  <a:srgbClr val="000000"/>
                </a:solidFill>
                <a:latin typeface="Garamond"/>
                <a:ea typeface="Garamond"/>
                <a:cs typeface="Garamond"/>
              </a:rPr>
              <a:t> of 20) because its best claim is in the Q2 numbers</a:t>
            </a:r>
          </a:p>
          <a:p>
            <a:pPr marL="457200" indent="-336499">
              <a:buClr>
                <a:srgbClr val="000000"/>
              </a:buClr>
              <a:buSzPts val="1700"/>
              <a:buFont typeface="Garamond"/>
              <a:buChar char="●"/>
            </a:pPr>
            <a:r>
              <a:rPr sz="1700" b="0" u="none">
                <a:solidFill>
                  <a:srgbClr val="000000"/>
                </a:solidFill>
                <a:latin typeface="Garamond"/>
                <a:ea typeface="Garamond"/>
                <a:cs typeface="Garamond"/>
              </a:rPr>
              <a:t>The decider is the </a:t>
            </a:r>
            <a:r>
              <a:rPr sz="1700" b="1" u="none">
                <a:solidFill>
                  <a:srgbClr val="000000"/>
                </a:solidFill>
                <a:latin typeface="Garamond"/>
                <a:ea typeface="Garamond"/>
                <a:cs typeface="Garamond"/>
              </a:rPr>
              <a:t>DICK'S margin without refunds</a:t>
            </a:r>
            <a:r>
              <a:rPr sz="1700" b="0" u="none">
                <a:solidFill>
                  <a:srgbClr val="000000"/>
                </a:solidFill>
                <a:latin typeface="Garamond"/>
                <a:ea typeface="Garamond"/>
                <a:cs typeface="Garamond"/>
              </a:rPr>
              <a:t>: 10.2% implied vs. 11.0-11.4% guided</a:t>
            </a:r>
          </a:p>
          <a:p>
            <a:pPr marL="457200" indent="-336499">
              <a:buClr>
                <a:srgbClr val="000000"/>
              </a:buClr>
              <a:buSzPts val="1700"/>
              <a:buFont typeface="Garamond"/>
              <a:buChar char="●"/>
            </a:pPr>
            <a:r>
              <a:rPr sz="1700" b="0" u="none">
                <a:solidFill>
                  <a:srgbClr val="000000"/>
                </a:solidFill>
                <a:latin typeface="Garamond"/>
                <a:ea typeface="Garamond"/>
                <a:cs typeface="Garamond"/>
              </a:rPr>
              <a:t>Flip to bull: an FY27 guide with the DICK'S margin at </a:t>
            </a:r>
            <a:r>
              <a:rPr sz="1700" b="1" u="none">
                <a:solidFill>
                  <a:srgbClr val="000000"/>
                </a:solidFill>
                <a:latin typeface="Garamond"/>
                <a:ea typeface="Garamond"/>
                <a:cs typeface="Garamond"/>
              </a:rPr>
              <a:t>11%+</a:t>
            </a:r>
            <a:r>
              <a:rPr sz="1700" b="0" u="none">
                <a:solidFill>
                  <a:srgbClr val="000000"/>
                </a:solidFill>
                <a:latin typeface="Garamond"/>
                <a:ea typeface="Garamond"/>
                <a:cs typeface="Garamond"/>
              </a:rPr>
              <a:t> ex-refunds and a profitable Foot Locker</a:t>
            </a:r>
          </a:p>
        </p:txBody>
      </p:sp>
      <p:sp>
        <p:nvSpPr>
          <p:cNvPr id="7" name="Stat Callout"/>
          <p:cNvSpPr/>
          <p:nvPr/>
        </p:nvSpPr>
        <p:spPr>
          <a:xfrm>
            <a:off x="270662" y="4923282"/>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Next test:</a:t>
            </a:r>
            <a:r>
              <a:rPr sz="1300" b="0" u="none">
                <a:solidFill>
                  <a:srgbClr val="FFFFFF"/>
                </a:solidFill>
                <a:latin typeface="Garamond"/>
                <a:ea typeface="Garamond"/>
                <a:cs typeface="Garamond"/>
              </a:rPr>
              <a:t> Q3 FY26 results (late Nov 2026)</a:t>
            </a:r>
          </a:p>
        </p:txBody>
      </p:sp>
      <p:sp>
        <p:nvSpPr>
          <p:cNvPr id="8" name="Stat Callout"/>
          <p:cNvSpPr/>
          <p:nvPr/>
        </p:nvSpPr>
        <p:spPr>
          <a:xfrm>
            <a:off x="6201460" y="4923282"/>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Decisive test:</a:t>
            </a:r>
            <a:r>
              <a:rPr sz="1300" b="0" u="none">
                <a:solidFill>
                  <a:srgbClr val="FFFFFF"/>
                </a:solidFill>
                <a:latin typeface="Garamond"/>
                <a:ea typeface="Garamond"/>
                <a:cs typeface="Garamond"/>
              </a:rPr>
              <a:t> Q4 FY26 and the FY27 guide (~Mar 2027)</a:t>
            </a:r>
          </a:p>
        </p:txBody>
      </p:sp>
      <p:sp>
        <p:nvSpPr>
          <p:cNvPr id="9" name="Tracker: Debate (active)"/>
          <p:cNvSpPr/>
          <p:nvPr/>
        </p:nvSpPr>
        <p:spPr>
          <a:xfrm>
            <a:off x="114482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0"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1"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2"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3"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4"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5"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	Company Overview</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Company Overview</a:t>
            </a:r>
          </a:p>
        </p:txBody>
      </p:sp>
      <p:sp>
        <p:nvSpPr>
          <p:cNvPr id="3" name="Header: Background"/>
          <p:cNvSpPr/>
          <p:nvPr/>
        </p:nvSpPr>
        <p:spPr>
          <a:xfrm>
            <a:off x="270662" y="914400"/>
            <a:ext cx="369478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Background</a:t>
            </a:r>
          </a:p>
        </p:txBody>
      </p:sp>
      <p:sp>
        <p:nvSpPr>
          <p:cNvPr id="4" name="Bullets"/>
          <p:cNvSpPr txBox="1"/>
          <p:nvPr/>
        </p:nvSpPr>
        <p:spPr>
          <a:xfrm>
            <a:off x="270662" y="1353312"/>
            <a:ext cx="3694785" cy="4133849"/>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DICK'S Sporting Goods (NYSE: DKS); CEO </a:t>
            </a:r>
            <a:r>
              <a:rPr sz="1700" b="1" u="none">
                <a:solidFill>
                  <a:srgbClr val="000000"/>
                </a:solidFill>
                <a:latin typeface="Garamond"/>
                <a:ea typeface="Garamond"/>
                <a:cs typeface="Garamond"/>
              </a:rPr>
              <a:t>Lauren Hobart</a:t>
            </a:r>
            <a:r>
              <a:rPr sz="1700" b="0" u="none">
                <a:solidFill>
                  <a:srgbClr val="000000"/>
                </a:solidFill>
                <a:latin typeface="Garamond"/>
                <a:ea typeface="Garamond"/>
                <a:cs typeface="Garamond"/>
              </a:rPr>
              <a:t>; Exec. Chairman </a:t>
            </a:r>
            <a:r>
              <a:rPr sz="1700" b="1" u="none">
                <a:solidFill>
                  <a:srgbClr val="000000"/>
                </a:solidFill>
                <a:latin typeface="Garamond"/>
                <a:ea typeface="Garamond"/>
                <a:cs typeface="Garamond"/>
              </a:rPr>
              <a:t>Ed Stack</a:t>
            </a:r>
            <a:r>
              <a:rPr sz="1700" b="0" u="none">
                <a:solidFill>
                  <a:srgbClr val="000000"/>
                </a:solidFill>
                <a:latin typeface="Garamond"/>
                <a:ea typeface="Garamond"/>
                <a:cs typeface="Garamond"/>
              </a:rPr>
              <a:t> runs Foot Locker</a:t>
            </a:r>
          </a:p>
          <a:p>
            <a:pPr marL="457200" indent="-336499">
              <a:buClr>
                <a:srgbClr val="000000"/>
              </a:buClr>
              <a:buSzPts val="1700"/>
              <a:buFont typeface="Garamond"/>
              <a:buChar char="●"/>
            </a:pPr>
            <a:r>
              <a:rPr sz="1700" b="0" u="none">
                <a:solidFill>
                  <a:srgbClr val="000000"/>
                </a:solidFill>
                <a:latin typeface="Garamond"/>
                <a:ea typeface="Garamond"/>
                <a:cs typeface="Garamond"/>
              </a:rPr>
              <a:t>Largest US sporting goods retailer: ~</a:t>
            </a:r>
            <a:r>
              <a:rPr sz="1700" b="1" u="none">
                <a:solidFill>
                  <a:srgbClr val="000000"/>
                </a:solidFill>
                <a:latin typeface="Garamond"/>
                <a:ea typeface="Garamond"/>
                <a:cs typeface="Garamond"/>
              </a:rPr>
              <a:t>9%</a:t>
            </a:r>
            <a:r>
              <a:rPr sz="1700" b="0" u="none">
                <a:solidFill>
                  <a:srgbClr val="000000"/>
                </a:solidFill>
                <a:latin typeface="Garamond"/>
                <a:ea typeface="Garamond"/>
                <a:cs typeface="Garamond"/>
              </a:rPr>
              <a:t> share; FY25 sales </a:t>
            </a:r>
            <a:r>
              <a:rPr sz="1700" b="1" u="none">
                <a:solidFill>
                  <a:srgbClr val="000000"/>
                </a:solidFill>
                <a:latin typeface="Garamond"/>
                <a:ea typeface="Garamond"/>
                <a:cs typeface="Garamond"/>
              </a:rPr>
              <a:t>$17.2B</a:t>
            </a:r>
          </a:p>
          <a:p>
            <a:pPr marL="457200" indent="-336499">
              <a:buClr>
                <a:srgbClr val="000000"/>
              </a:buClr>
              <a:buSzPts val="1700"/>
              <a:buFont typeface="Garamond"/>
              <a:buChar char="●"/>
            </a:pPr>
            <a:r>
              <a:rPr sz="1700" b="1" u="none">
                <a:solidFill>
                  <a:srgbClr val="000000"/>
                </a:solidFill>
                <a:latin typeface="Garamond"/>
                <a:ea typeface="Garamond"/>
                <a:cs typeface="Garamond"/>
              </a:rPr>
              <a:t>House of Sport</a:t>
            </a:r>
            <a:r>
              <a:rPr sz="1700" b="0" u="none">
                <a:solidFill>
                  <a:srgbClr val="000000"/>
                </a:solidFill>
                <a:latin typeface="Garamond"/>
                <a:ea typeface="Garamond"/>
                <a:cs typeface="Garamond"/>
              </a:rPr>
              <a:t>: 41 open (Aug 2026); 75-100 targeted</a:t>
            </a:r>
          </a:p>
          <a:p>
            <a:pPr marL="457200" indent="-336499">
              <a:buClr>
                <a:srgbClr val="000000"/>
              </a:buClr>
              <a:buSzPts val="1700"/>
              <a:buFont typeface="Garamond"/>
              <a:buChar char="●"/>
            </a:pPr>
            <a:r>
              <a:rPr sz="1700" b="0" u="none">
                <a:solidFill>
                  <a:srgbClr val="000000"/>
                </a:solidFill>
                <a:latin typeface="Garamond"/>
                <a:ea typeface="Garamond"/>
                <a:cs typeface="Garamond"/>
              </a:rPr>
              <a:t>Bought </a:t>
            </a:r>
            <a:r>
              <a:rPr sz="1700" b="1" u="none">
                <a:solidFill>
                  <a:srgbClr val="000000"/>
                </a:solidFill>
                <a:latin typeface="Garamond"/>
                <a:ea typeface="Garamond"/>
                <a:cs typeface="Garamond"/>
              </a:rPr>
              <a:t>Foot Locker</a:t>
            </a:r>
            <a:r>
              <a:rPr sz="1700" b="0" u="none">
                <a:solidFill>
                  <a:srgbClr val="000000"/>
                </a:solidFill>
                <a:latin typeface="Garamond"/>
                <a:ea typeface="Garamond"/>
                <a:cs typeface="Garamond"/>
              </a:rPr>
              <a:t> (Sept 2025) for </a:t>
            </a:r>
            <a:r>
              <a:rPr sz="1700" b="1" u="none">
                <a:solidFill>
                  <a:srgbClr val="000000"/>
                </a:solidFill>
                <a:latin typeface="Garamond"/>
                <a:ea typeface="Garamond"/>
                <a:cs typeface="Garamond"/>
              </a:rPr>
              <a:t>$2.5B</a:t>
            </a:r>
            <a:r>
              <a:rPr sz="1700" b="0" u="none">
                <a:solidFill>
                  <a:srgbClr val="000000"/>
                </a:solidFill>
                <a:latin typeface="Garamond"/>
                <a:ea typeface="Garamond"/>
                <a:cs typeface="Garamond"/>
              </a:rPr>
              <a:t>, mostly in stock (9.6M shares)</a:t>
            </a:r>
          </a:p>
          <a:p>
            <a:pPr marL="457200" indent="-336499">
              <a:buClr>
                <a:srgbClr val="000000"/>
              </a:buClr>
              <a:buSzPts val="1700"/>
              <a:buFont typeface="Garamond"/>
              <a:buChar char="●"/>
            </a:pPr>
            <a:r>
              <a:rPr sz="1700" b="0" u="none">
                <a:solidFill>
                  <a:srgbClr val="000000"/>
                </a:solidFill>
                <a:latin typeface="Garamond"/>
                <a:ea typeface="Garamond"/>
                <a:cs typeface="Garamond"/>
              </a:rPr>
              <a:t>Fiscal years end in late January; FY26 = Feb 2026 to Jan 2027</a:t>
            </a:r>
          </a:p>
        </p:txBody>
      </p:sp>
      <p:sp>
        <p:nvSpPr>
          <p:cNvPr id="5" name="Header: FY26 Sales Guide by Business ($M)"/>
          <p:cNvSpPr/>
          <p:nvPr/>
        </p:nvSpPr>
        <p:spPr>
          <a:xfrm>
            <a:off x="4239768" y="914400"/>
            <a:ext cx="369478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FY26 Sales Guide by Business ($M)</a:t>
            </a:r>
          </a:p>
        </p:txBody>
      </p:sp>
      <p:graphicFrame>
        <p:nvGraphicFramePr>
          <p:cNvPr id="6" name="Chart 5" descr="Doughnut chart. FY26 sales guide: DICK'S Business 14,600; Foot Locker Business 7,450."/>
          <p:cNvGraphicFramePr>
            <a:graphicFrameLocks noGrp="1"/>
          </p:cNvGraphicFramePr>
          <p:nvPr/>
        </p:nvGraphicFramePr>
        <p:xfrm>
          <a:off x="4239768" y="1353312"/>
          <a:ext cx="3694785" cy="3154680"/>
        </p:xfrm>
        <a:graphic>
          <a:graphicData uri="http://schemas.openxmlformats.org/drawingml/2006/chart">
            <c:chart xmlns:c="http://schemas.openxmlformats.org/drawingml/2006/chart" r:id="rId2"/>
          </a:graphicData>
        </a:graphic>
      </p:graphicFrame>
      <p:sp>
        <p:nvSpPr>
          <p:cNvPr id="7" name="TextBox 6"/>
          <p:cNvSpPr txBox="1"/>
          <p:nvPr/>
        </p:nvSpPr>
        <p:spPr>
          <a:xfrm>
            <a:off x="4239768" y="4507992"/>
            <a:ext cx="3694785"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Q2 FY26 release and segment guides (midpoints)</a:t>
            </a:r>
          </a:p>
        </p:txBody>
      </p:sp>
      <p:sp>
        <p:nvSpPr>
          <p:cNvPr id="8" name="Bullets"/>
          <p:cNvSpPr txBox="1"/>
          <p:nvPr/>
        </p:nvSpPr>
        <p:spPr>
          <a:xfrm>
            <a:off x="4239768" y="4901184"/>
            <a:ext cx="3694785"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Operating income guide: DICK'S </a:t>
            </a:r>
            <a:r>
              <a:rPr sz="1700" b="1" u="none">
                <a:solidFill>
                  <a:srgbClr val="000000"/>
                </a:solidFill>
                <a:latin typeface="Garamond"/>
                <a:ea typeface="Garamond"/>
                <a:cs typeface="Garamond"/>
              </a:rPr>
              <a:t>$1.64B</a:t>
            </a:r>
            <a:r>
              <a:rPr sz="1700" b="0" u="none">
                <a:solidFill>
                  <a:srgbClr val="000000"/>
                </a:solidFill>
                <a:latin typeface="Garamond"/>
                <a:ea typeface="Garamond"/>
                <a:cs typeface="Garamond"/>
              </a:rPr>
              <a:t>; Foot Locker </a:t>
            </a:r>
            <a:r>
              <a:rPr sz="1700" b="1" u="none">
                <a:solidFill>
                  <a:srgbClr val="000000"/>
                </a:solidFill>
                <a:latin typeface="Garamond"/>
                <a:ea typeface="Garamond"/>
                <a:cs typeface="Garamond"/>
              </a:rPr>
              <a:t>-$60M</a:t>
            </a:r>
          </a:p>
        </p:txBody>
      </p:sp>
      <p:sp>
        <p:nvSpPr>
          <p:cNvPr id="9" name="Header: Business Lines"/>
          <p:cNvSpPr/>
          <p:nvPr/>
        </p:nvSpPr>
        <p:spPr>
          <a:xfrm>
            <a:off x="8208873" y="914400"/>
            <a:ext cx="369478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Business Lines</a:t>
            </a:r>
          </a:p>
        </p:txBody>
      </p:sp>
      <p:sp>
        <p:nvSpPr>
          <p:cNvPr id="10" name="Bullets"/>
          <p:cNvSpPr txBox="1"/>
          <p:nvPr/>
        </p:nvSpPr>
        <p:spPr>
          <a:xfrm>
            <a:off x="8208873" y="1353312"/>
            <a:ext cx="3694785" cy="334365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sng">
                <a:solidFill>
                  <a:srgbClr val="000000"/>
                </a:solidFill>
                <a:latin typeface="Garamond"/>
                <a:ea typeface="Garamond"/>
                <a:cs typeface="Garamond"/>
              </a:rPr>
              <a:t>DICK'S Business:</a:t>
            </a:r>
            <a:r>
              <a:rPr sz="1700" b="0" u="none">
                <a:solidFill>
                  <a:srgbClr val="000000"/>
                </a:solidFill>
                <a:latin typeface="Garamond"/>
                <a:ea typeface="Garamond"/>
                <a:cs typeface="Garamond"/>
              </a:rPr>
              <a:t> DICK'S, House of Sport, Golf Galaxy, Field House; Q2 comps </a:t>
            </a:r>
            <a:r>
              <a:rPr sz="1700" b="1" u="none">
                <a:solidFill>
                  <a:srgbClr val="000000"/>
                </a:solidFill>
                <a:latin typeface="Garamond"/>
                <a:ea typeface="Garamond"/>
                <a:cs typeface="Garamond"/>
              </a:rPr>
              <a:t>+4.9%</a:t>
            </a:r>
          </a:p>
          <a:p>
            <a:pPr marL="457200" indent="-336499">
              <a:buClr>
                <a:srgbClr val="000000"/>
              </a:buClr>
              <a:buSzPts val="1700"/>
              <a:buFont typeface="Garamond"/>
              <a:buChar char="●"/>
            </a:pPr>
            <a:r>
              <a:rPr sz="1700" b="1" u="sng">
                <a:solidFill>
                  <a:srgbClr val="000000"/>
                </a:solidFill>
                <a:latin typeface="Garamond"/>
                <a:ea typeface="Garamond"/>
                <a:cs typeface="Garamond"/>
              </a:rPr>
              <a:t>Foot Locker Business:</a:t>
            </a:r>
            <a:r>
              <a:rPr sz="1700" b="0" u="none">
                <a:solidFill>
                  <a:srgbClr val="000000"/>
                </a:solidFill>
                <a:latin typeface="Garamond"/>
                <a:ea typeface="Garamond"/>
                <a:cs typeface="Garamond"/>
              </a:rPr>
              <a:t> Foot Locker, Kids Foot Locker, Champs, WSS, atmos; Q2 comps </a:t>
            </a:r>
            <a:r>
              <a:rPr sz="1700" b="1" u="none">
                <a:solidFill>
                  <a:srgbClr val="000000"/>
                </a:solidFill>
                <a:latin typeface="Garamond"/>
                <a:ea typeface="Garamond"/>
                <a:cs typeface="Garamond"/>
              </a:rPr>
              <a:t>-3.6%</a:t>
            </a:r>
          </a:p>
          <a:p>
            <a:pPr marL="457200" indent="-336499">
              <a:buClr>
                <a:srgbClr val="000000"/>
              </a:buClr>
              <a:buSzPts val="1700"/>
              <a:buFont typeface="Garamond"/>
              <a:buChar char="●"/>
            </a:pPr>
            <a:r>
              <a:rPr sz="1700" b="1" u="sng">
                <a:solidFill>
                  <a:srgbClr val="000000"/>
                </a:solidFill>
                <a:latin typeface="Garamond"/>
                <a:ea typeface="Garamond"/>
                <a:cs typeface="Garamond"/>
              </a:rPr>
              <a:t>Digital:</a:t>
            </a:r>
            <a:r>
              <a:rPr sz="1700" b="0" u="none">
                <a:solidFill>
                  <a:srgbClr val="000000"/>
                </a:solidFill>
                <a:latin typeface="Garamond"/>
                <a:ea typeface="Garamond"/>
                <a:cs typeface="Garamond"/>
              </a:rPr>
              <a:t> GameChanger (youth sports app) and DICK'S Media Network (retail media)</a:t>
            </a:r>
          </a:p>
          <a:p>
            <a:pPr marL="457200" indent="-336499">
              <a:buClr>
                <a:srgbClr val="000000"/>
              </a:buClr>
              <a:buSzPts val="1700"/>
              <a:buFont typeface="Garamond"/>
              <a:buChar char="●"/>
            </a:pPr>
            <a:r>
              <a:rPr sz="1700" b="1" u="sng">
                <a:solidFill>
                  <a:srgbClr val="000000"/>
                </a:solidFill>
                <a:latin typeface="Garamond"/>
                <a:ea typeface="Garamond"/>
                <a:cs typeface="Garamond"/>
              </a:rPr>
              <a:t>FY26 guide:</a:t>
            </a:r>
            <a:r>
              <a:rPr sz="1700" b="0" u="none">
                <a:solidFill>
                  <a:srgbClr val="000000"/>
                </a:solidFill>
                <a:latin typeface="Garamond"/>
                <a:ea typeface="Garamond"/>
                <a:cs typeface="Garamond"/>
              </a:rPr>
              <a:t> non-GAAP EPS </a:t>
            </a:r>
            <a:r>
              <a:rPr sz="1700" b="1" u="none">
                <a:solidFill>
                  <a:srgbClr val="000000"/>
                </a:solidFill>
                <a:latin typeface="Garamond"/>
                <a:ea typeface="Garamond"/>
                <a:cs typeface="Garamond"/>
              </a:rPr>
              <a:t>$11-12</a:t>
            </a:r>
            <a:r>
              <a:rPr sz="1700" b="0" u="none">
                <a:solidFill>
                  <a:srgbClr val="000000"/>
                </a:solidFill>
                <a:latin typeface="Garamond"/>
                <a:ea typeface="Garamond"/>
                <a:cs typeface="Garamond"/>
              </a:rPr>
              <a:t>, cut from $13.50-14.50</a:t>
            </a:r>
          </a:p>
        </p:txBody>
      </p:sp>
      <p:sp>
        <p:nvSpPr>
          <p:cNvPr id="11"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2"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3"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4"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5"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6"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Snapshot</a:t>
            </a:r>
          </a:p>
        </p:txBody>
      </p:sp>
      <p:sp>
        <p:nvSpPr>
          <p:cNvPr id="3" name="Header: Key Metrics (10/2/26)"/>
          <p:cNvSpPr/>
          <p:nvPr/>
        </p:nvSpPr>
        <p:spPr>
          <a:xfrm>
            <a:off x="270662" y="914400"/>
            <a:ext cx="5283105"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Key Metrics (10/2/26)</a:t>
            </a:r>
          </a:p>
        </p:txBody>
      </p:sp>
      <p:graphicFrame>
        <p:nvGraphicFramePr>
          <p:cNvPr id="4" name="Table 3"/>
          <p:cNvGraphicFramePr>
            <a:graphicFrameLocks noGrp="1"/>
          </p:cNvGraphicFramePr>
          <p:nvPr/>
        </p:nvGraphicFramePr>
        <p:xfrm>
          <a:off x="270662" y="1353312"/>
          <a:ext cx="5283105" cy="3764280"/>
        </p:xfrm>
        <a:graphic>
          <a:graphicData uri="http://schemas.openxmlformats.org/drawingml/2006/table">
            <a:tbl>
              <a:tblPr firstRow="0" bandRow="0">
                <a:tableStyleId>{2D5ABB26-0587-4C30-8999-92F81FD0307C}</a:tableStyleId>
              </a:tblPr>
              <a:tblGrid>
                <a:gridCol w="2817656"/>
                <a:gridCol w="2465449"/>
              </a:tblGrid>
              <a:tr h="313690">
                <a:tc>
                  <a:txBody>
                    <a:bodyPr/>
                    <a:lstStyle/>
                    <a:p>
                      <a:pPr algn="l"/>
                      <a:r>
                        <a:rPr sz="1300" b="0" u="none">
                          <a:solidFill>
                            <a:srgbClr val="000000"/>
                          </a:solidFill>
                          <a:latin typeface="Garamond"/>
                          <a:ea typeface="Garamond"/>
                          <a:cs typeface="Garamond"/>
                        </a:rPr>
                        <a:t>Share price; 52-week low</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$136.08; ~$120 (9/21/26)</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Market cap / EV (ex-leases)</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$12.2B / $13.3B</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Net debt / FY26E EBITDA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$1.0B / 0.5x</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TTM revenue</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~$21.2B (incl. Foot Locker)</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FY26 guide: sales</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$21.9-22.2B</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FY26 guide: operating income</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$1.46-1.56B</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FY25 FCF</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$400M (capex $1.14B)</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SBC</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0.7% of FY25 sales</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Diluted shares</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~97M (FY22) to ~90M (FY26)</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Dividend / yield</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$1.25/qtr; 3.7%</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1" u="none">
                          <a:solidFill>
                            <a:srgbClr val="000000"/>
                          </a:solidFill>
                          <a:latin typeface="Garamond"/>
                          <a:ea typeface="Garamond"/>
                          <a:cs typeface="Garamond"/>
                        </a:rPr>
                        <a:t>EV / FY26E EBITDA</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6.2x</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1" u="none">
                          <a:solidFill>
                            <a:srgbClr val="000000"/>
                          </a:solidFill>
                          <a:latin typeface="Garamond"/>
                          <a:ea typeface="Garamond"/>
                          <a:cs typeface="Garamond"/>
                        </a:rPr>
                        <a:t>P/E on FY26 EPS guide ($11.50)</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11.8x</a:t>
                      </a:r>
                    </a:p>
                  </a:txBody>
                  <a:tcPr marL="54864" marR="54864" marT="18288" marB="18288" anchor="ctr">
                    <a:lnL w="0">
                      <a:noFill/>
                    </a:lnL>
                    <a:lnR w="0">
                      <a:noFill/>
                    </a:lnR>
                    <a:lnT w="0">
                      <a:noFill/>
                    </a:lnT>
                    <a:lnB w="6350">
                      <a:solidFill>
                        <a:srgbClr val="D9D9D9"/>
                      </a:solidFill>
                    </a:lnB>
                    <a:solidFill>
                      <a:srgbClr val="FFF2CC"/>
                    </a:solidFill>
                  </a:tcPr>
                </a:tc>
              </a:tr>
            </a:tbl>
          </a:graphicData>
        </a:graphic>
      </p:graphicFrame>
      <p:sp>
        <p:nvSpPr>
          <p:cNvPr id="5" name="Stat Callout"/>
          <p:cNvSpPr/>
          <p:nvPr/>
        </p:nvSpPr>
        <p:spPr>
          <a:xfrm>
            <a:off x="270662" y="5312664"/>
            <a:ext cx="2527252"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FY26 EPS guide</a:t>
            </a:r>
            <a:r>
              <a:rPr sz="1300" b="0" u="none">
                <a:solidFill>
                  <a:srgbClr val="FFFFFF"/>
                </a:solidFill>
                <a:latin typeface="Garamond"/>
                <a:ea typeface="Garamond"/>
                <a:cs typeface="Garamond"/>
              </a:rPr>
              <a:t> cut 18% on Aug 25, 2026</a:t>
            </a:r>
          </a:p>
        </p:txBody>
      </p:sp>
      <p:sp>
        <p:nvSpPr>
          <p:cNvPr id="6" name="Stat Callout"/>
          <p:cNvSpPr/>
          <p:nvPr/>
        </p:nvSpPr>
        <p:spPr>
          <a:xfrm>
            <a:off x="3026515" y="5312664"/>
            <a:ext cx="2527252"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Capex 2.2x D&amp;A:</a:t>
            </a:r>
            <a:r>
              <a:rPr sz="1300" b="0" u="none">
                <a:solidFill>
                  <a:srgbClr val="FFFFFF"/>
                </a:solidFill>
                <a:latin typeface="Garamond"/>
                <a:ea typeface="Garamond"/>
                <a:cs typeface="Garamond"/>
              </a:rPr>
              <a:t> ~$1.4B in FY26</a:t>
            </a:r>
          </a:p>
        </p:txBody>
      </p:sp>
      <p:sp>
        <p:nvSpPr>
          <p:cNvPr id="7" name="Header: Non-GAAP Operating Income by Business ($M)"/>
          <p:cNvSpPr/>
          <p:nvPr/>
        </p:nvSpPr>
        <p:spPr>
          <a:xfrm>
            <a:off x="5828087" y="914400"/>
            <a:ext cx="6075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Non-GAAP Operating Income by Business ($M)</a:t>
            </a:r>
          </a:p>
        </p:txBody>
      </p:sp>
      <p:graphicFrame>
        <p:nvGraphicFramePr>
          <p:cNvPr id="8" name="Chart 7" descr="Column chart. DICK'S Business: FY24 1,497; FY25 1,570; FY26 Guide 1,640. Foot Locker Business: FY25 -52; FY26 Guide -60."/>
          <p:cNvGraphicFramePr>
            <a:graphicFrameLocks noGrp="1"/>
          </p:cNvGraphicFramePr>
          <p:nvPr/>
        </p:nvGraphicFramePr>
        <p:xfrm>
          <a:off x="5828087" y="1353312"/>
          <a:ext cx="6075571" cy="4754879"/>
        </p:xfrm>
        <a:graphic>
          <a:graphicData uri="http://schemas.openxmlformats.org/drawingml/2006/chart">
            <c:chart xmlns:c="http://schemas.openxmlformats.org/drawingml/2006/chart" r:id="rId2"/>
          </a:graphicData>
        </a:graphic>
      </p:graphicFrame>
      <p:sp>
        <p:nvSpPr>
          <p:cNvPr id="9" name="TextBox 8"/>
          <p:cNvSpPr txBox="1"/>
          <p:nvPr/>
        </p:nvSpPr>
        <p:spPr>
          <a:xfrm>
            <a:off x="5828087" y="6108192"/>
            <a:ext cx="6075571"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DKS releases; FY24 is DKS alone (11.14% of $13.44B); FY26 at guidance midpoints</a:t>
            </a:r>
          </a:p>
        </p:txBody>
      </p:sp>
      <p:sp>
        <p:nvSpPr>
          <p:cNvPr id="10"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1"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2"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3"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4"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5"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6"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Engine: Comps Up, Margin Down</a:t>
            </a:r>
          </a:p>
        </p:txBody>
      </p:sp>
      <p:sp>
        <p:nvSpPr>
          <p:cNvPr id="3" name="Header: DICK'S Business Comparable Sales (%)"/>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DICK'S Business Comparable Sales (%)</a:t>
            </a:r>
          </a:p>
        </p:txBody>
      </p:sp>
      <p:graphicFrame>
        <p:nvGraphicFramePr>
          <p:cNvPr id="4" name="Chart 3" descr="Column chart. Comparable sales: FY23 2.4; FY24 5.2; FY25 4.5; Q1 FY26 6; Q2 FY26 4.9."/>
          <p:cNvGraphicFramePr>
            <a:graphicFrameLocks noGrp="1"/>
          </p:cNvGraphicFramePr>
          <p:nvPr/>
        </p:nvGraphicFramePr>
        <p:xfrm>
          <a:off x="270662" y="1353312"/>
          <a:ext cx="5679338" cy="3944721"/>
        </p:xfrm>
        <a:graphic>
          <a:graphicData uri="http://schemas.openxmlformats.org/drawingml/2006/chart">
            <c:chart xmlns:c="http://schemas.openxmlformats.org/drawingml/2006/chart" r:id="rId2"/>
          </a:graphicData>
        </a:graphic>
      </p:graphicFrame>
      <p:sp>
        <p:nvSpPr>
          <p:cNvPr id="5" name="TextBox 4"/>
          <p:cNvSpPr txBox="1"/>
          <p:nvPr/>
        </p:nvSpPr>
        <p:spPr>
          <a:xfrm>
            <a:off x="270662" y="5298033"/>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DKS releases (FY23 single source)</a:t>
            </a:r>
          </a:p>
        </p:txBody>
      </p:sp>
      <p:sp>
        <p:nvSpPr>
          <p:cNvPr id="6" name="Stat Callout"/>
          <p:cNvSpPr/>
          <p:nvPr/>
        </p:nvSpPr>
        <p:spPr>
          <a:xfrm>
            <a:off x="270662"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Q1 comp +6.0%:</a:t>
            </a:r>
            <a:r>
              <a:rPr sz="1300" b="0" u="none">
                <a:solidFill>
                  <a:srgbClr val="FFFFFF"/>
                </a:solidFill>
                <a:latin typeface="Garamond"/>
                <a:ea typeface="Garamond"/>
                <a:cs typeface="Garamond"/>
              </a:rPr>
              <a:t> ticket +5.5%, transactions +0.5%</a:t>
            </a:r>
          </a:p>
        </p:txBody>
      </p:sp>
      <p:sp>
        <p:nvSpPr>
          <p:cNvPr id="7" name="Stat Callout"/>
          <p:cNvSpPr/>
          <p:nvPr/>
        </p:nvSpPr>
        <p:spPr>
          <a:xfrm>
            <a:off x="3224631"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Academy Q2:</a:t>
            </a:r>
            <a:r>
              <a:rPr sz="1300" b="0" u="none">
                <a:solidFill>
                  <a:srgbClr val="FFFFFF"/>
                </a:solidFill>
                <a:latin typeface="Garamond"/>
                <a:ea typeface="Garamond"/>
                <a:cs typeface="Garamond"/>
              </a:rPr>
              <a:t> transactions -5.3%, comps -0.4%</a:t>
            </a:r>
          </a:p>
        </p:txBody>
      </p:sp>
      <p:sp>
        <p:nvSpPr>
          <p:cNvPr id="8" name="Header: DICK'S Business Q2 Operating Margin (%)"/>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DICK'S Business Q2 Operating Margin (%)</a:t>
            </a:r>
          </a:p>
        </p:txBody>
      </p:sp>
      <p:graphicFrame>
        <p:nvGraphicFramePr>
          <p:cNvPr id="9" name="Chart 8" descr="Line chart. Operating margin: Q2 FY25 13; Q2 FY26 12.6; Q2 FY26 ex-refund 11.1."/>
          <p:cNvGraphicFramePr>
            <a:graphicFrameLocks noGrp="1"/>
          </p:cNvGraphicFramePr>
          <p:nvPr/>
        </p:nvGraphicFramePr>
        <p:xfrm>
          <a:off x="6224320" y="1353312"/>
          <a:ext cx="5679338" cy="3944721"/>
        </p:xfrm>
        <a:graphic>
          <a:graphicData uri="http://schemas.openxmlformats.org/drawingml/2006/chart">
            <c:chart xmlns:c="http://schemas.openxmlformats.org/drawingml/2006/chart" r:id="rId3"/>
          </a:graphicData>
        </a:graphic>
      </p:graphicFrame>
      <p:sp>
        <p:nvSpPr>
          <p:cNvPr id="10" name="TextBox 9"/>
          <p:cNvSpPr txBox="1"/>
          <p:nvPr/>
        </p:nvSpPr>
        <p:spPr>
          <a:xfrm>
            <a:off x="6224320" y="5298033"/>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Q2 FY26 release and 10-Q; refund booking in the segment assumed</a:t>
            </a:r>
          </a:p>
        </p:txBody>
      </p:sp>
      <p:sp>
        <p:nvSpPr>
          <p:cNvPr id="11" name="Stat Callout"/>
          <p:cNvSpPr/>
          <p:nvPr/>
        </p:nvSpPr>
        <p:spPr>
          <a:xfrm>
            <a:off x="6224320"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~190bp slide</a:t>
            </a:r>
            <a:r>
              <a:rPr sz="1300" b="0" u="none">
                <a:solidFill>
                  <a:srgbClr val="FFFFFF"/>
                </a:solidFill>
                <a:latin typeface="Garamond"/>
                <a:ea typeface="Garamond"/>
                <a:cs typeface="Garamond"/>
              </a:rPr>
              <a:t> once the $59M refund is removed</a:t>
            </a:r>
          </a:p>
        </p:txBody>
      </p:sp>
      <p:sp>
        <p:nvSpPr>
          <p:cNvPr id="12" name="Stat Callout"/>
          <p:cNvSpPr/>
          <p:nvPr/>
        </p:nvSpPr>
        <p:spPr>
          <a:xfrm>
            <a:off x="9178290"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FY26 guide 11.0-11.4%</a:t>
            </a:r>
            <a:r>
              <a:rPr sz="1300" b="0" u="none">
                <a:solidFill>
                  <a:srgbClr val="FFFFFF"/>
                </a:solidFill>
                <a:latin typeface="Garamond"/>
                <a:ea typeface="Garamond"/>
                <a:cs typeface="Garamond"/>
              </a:rPr>
              <a:t> includes the refund</a:t>
            </a:r>
          </a:p>
        </p:txBody>
      </p:sp>
      <p:sp>
        <p:nvSpPr>
          <p:cNvPr id="13"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4"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5"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6"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7"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8"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9"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&amp; Product: Why Families Buy</a:t>
            </a:r>
          </a:p>
        </p:txBody>
      </p:sp>
      <p:sp>
        <p:nvSpPr>
          <p:cNvPr id="3" name="Header: The Job"/>
          <p:cNvSpPr/>
          <p:nvPr/>
        </p:nvSpPr>
        <p:spPr>
          <a:xfrm>
            <a:off x="270662" y="914400"/>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Job</a:t>
            </a:r>
          </a:p>
        </p:txBody>
      </p:sp>
      <p:sp>
        <p:nvSpPr>
          <p:cNvPr id="4" name="Bullets"/>
          <p:cNvSpPr txBox="1"/>
          <p:nvPr/>
        </p:nvSpPr>
        <p:spPr>
          <a:xfrm>
            <a:off x="270662" y="1353312"/>
            <a:ext cx="3410571" cy="2290064"/>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One trip for equipment, footwear and apparel across </a:t>
            </a:r>
            <a:r>
              <a:rPr sz="1700" b="1" u="none">
                <a:solidFill>
                  <a:srgbClr val="000000"/>
                </a:solidFill>
                <a:latin typeface="Garamond"/>
                <a:ea typeface="Garamond"/>
                <a:cs typeface="Garamond"/>
              </a:rPr>
              <a:t>every sport</a:t>
            </a:r>
          </a:p>
          <a:p>
            <a:pPr marL="457200" indent="-336499">
              <a:buClr>
                <a:srgbClr val="000000"/>
              </a:buClr>
              <a:buSzPts val="1700"/>
              <a:buFont typeface="Garamond"/>
              <a:buChar char="●"/>
            </a:pPr>
            <a:r>
              <a:rPr sz="1700" b="0" u="none">
                <a:solidFill>
                  <a:srgbClr val="000000"/>
                </a:solidFill>
                <a:latin typeface="Garamond"/>
                <a:ea typeface="Garamond"/>
                <a:cs typeface="Garamond"/>
              </a:rPr>
              <a:t>House of Sport: turf, climbing walls and cages make the store a </a:t>
            </a:r>
            <a:r>
              <a:rPr sz="1700" b="1" u="none">
                <a:solidFill>
                  <a:srgbClr val="000000"/>
                </a:solidFill>
                <a:latin typeface="Garamond"/>
                <a:ea typeface="Garamond"/>
                <a:cs typeface="Garamond"/>
              </a:rPr>
              <a:t>destination</a:t>
            </a:r>
          </a:p>
          <a:p>
            <a:pPr marL="457200" indent="-336499">
              <a:buClr>
                <a:srgbClr val="000000"/>
              </a:buClr>
              <a:buSzPts val="1700"/>
              <a:buFont typeface="Garamond"/>
              <a:buChar char="●"/>
            </a:pPr>
            <a:r>
              <a:rPr sz="1700" b="0" u="none">
                <a:solidFill>
                  <a:srgbClr val="000000"/>
                </a:solidFill>
                <a:latin typeface="Garamond"/>
                <a:ea typeface="Garamond"/>
                <a:cs typeface="Garamond"/>
              </a:rPr>
              <a:t>Launch access to premium footwear (Nike, On, HOKA)</a:t>
            </a:r>
          </a:p>
        </p:txBody>
      </p:sp>
      <p:sp>
        <p:nvSpPr>
          <p:cNvPr id="5" name="Header: What Customers Use Instead"/>
          <p:cNvSpPr/>
          <p:nvPr/>
        </p:nvSpPr>
        <p:spPr>
          <a:xfrm>
            <a:off x="270662" y="3807968"/>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What Customers Use Instead</a:t>
            </a:r>
          </a:p>
        </p:txBody>
      </p:sp>
      <p:sp>
        <p:nvSpPr>
          <p:cNvPr id="6" name="Bullets"/>
          <p:cNvSpPr txBox="1"/>
          <p:nvPr/>
        </p:nvSpPr>
        <p:spPr>
          <a:xfrm>
            <a:off x="270662" y="4246880"/>
            <a:ext cx="3410571" cy="1763267"/>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Brand websites: Nike Direct fell </a:t>
            </a:r>
            <a:r>
              <a:rPr sz="1700" b="1" u="none">
                <a:solidFill>
                  <a:srgbClr val="000000"/>
                </a:solidFill>
                <a:latin typeface="Garamond"/>
                <a:ea typeface="Garamond"/>
                <a:cs typeface="Garamond"/>
              </a:rPr>
              <a:t>8%</a:t>
            </a:r>
            <a:r>
              <a:rPr sz="1700" b="0" u="none">
                <a:solidFill>
                  <a:srgbClr val="000000"/>
                </a:solidFill>
                <a:latin typeface="Garamond"/>
                <a:ea typeface="Garamond"/>
                <a:cs typeface="Garamond"/>
              </a:rPr>
              <a:t> amid promotions</a:t>
            </a:r>
          </a:p>
          <a:p>
            <a:pPr marL="457200" indent="-336499">
              <a:buClr>
                <a:srgbClr val="000000"/>
              </a:buClr>
              <a:buSzPts val="1700"/>
              <a:buFont typeface="Garamond"/>
              <a:buChar char="●"/>
            </a:pPr>
            <a:r>
              <a:rPr sz="1700" b="0" u="none">
                <a:solidFill>
                  <a:srgbClr val="000000"/>
                </a:solidFill>
                <a:latin typeface="Garamond"/>
                <a:ea typeface="Garamond"/>
                <a:cs typeface="Garamond"/>
              </a:rPr>
              <a:t>Amazon, Walmart, Target; Academy (value, </a:t>
            </a:r>
            <a:r>
              <a:rPr sz="1700" b="1" u="none">
                <a:solidFill>
                  <a:srgbClr val="000000"/>
                </a:solidFill>
                <a:latin typeface="Garamond"/>
                <a:ea typeface="Garamond"/>
                <a:cs typeface="Garamond"/>
              </a:rPr>
              <a:t>$6.1B</a:t>
            </a:r>
            <a:r>
              <a:rPr sz="1700" b="0" u="none">
                <a:solidFill>
                  <a:srgbClr val="000000"/>
                </a:solidFill>
                <a:latin typeface="Garamond"/>
                <a:ea typeface="Garamond"/>
                <a:cs typeface="Garamond"/>
              </a:rPr>
              <a:t>)</a:t>
            </a:r>
          </a:p>
          <a:p>
            <a:pPr marL="457200" indent="-336499">
              <a:buClr>
                <a:srgbClr val="000000"/>
              </a:buClr>
              <a:buSzPts val="1700"/>
              <a:buFont typeface="Garamond"/>
              <a:buChar char="●"/>
            </a:pPr>
            <a:r>
              <a:rPr sz="1700" b="0" u="none">
                <a:solidFill>
                  <a:srgbClr val="000000"/>
                </a:solidFill>
                <a:latin typeface="Garamond"/>
                <a:ea typeface="Garamond"/>
                <a:cs typeface="Garamond"/>
              </a:rPr>
              <a:t>Sneaker chains: JD's Finish Line and Hibbett</a:t>
            </a:r>
          </a:p>
        </p:txBody>
      </p:sp>
      <p:sp>
        <p:nvSpPr>
          <p:cNvPr id="7" name="Header: DICK'S vs. the Alternatives"/>
          <p:cNvSpPr/>
          <p:nvPr/>
        </p:nvSpPr>
        <p:spPr>
          <a:xfrm>
            <a:off x="3955553" y="914400"/>
            <a:ext cx="426321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DICK'S vs. the Alternatives</a:t>
            </a:r>
          </a:p>
        </p:txBody>
      </p:sp>
      <p:graphicFrame>
        <p:nvGraphicFramePr>
          <p:cNvPr id="8" name="Table 7"/>
          <p:cNvGraphicFramePr>
            <a:graphicFrameLocks noGrp="1"/>
          </p:cNvGraphicFramePr>
          <p:nvPr/>
        </p:nvGraphicFramePr>
        <p:xfrm>
          <a:off x="3955553" y="1353312"/>
          <a:ext cx="4263212" cy="1568450"/>
        </p:xfrm>
        <a:graphic>
          <a:graphicData uri="http://schemas.openxmlformats.org/drawingml/2006/table">
            <a:tbl>
              <a:tblPr firstRow="0" bandRow="0">
                <a:tableStyleId>{2D5ABB26-0587-4C30-8999-92F81FD0307C}</a:tableStyleId>
              </a:tblPr>
              <a:tblGrid>
                <a:gridCol w="1446447"/>
                <a:gridCol w="1446447"/>
                <a:gridCol w="1370318"/>
              </a:tblGrid>
              <a:tr h="313690">
                <a:tc>
                  <a:txBody>
                    <a:bodyPr/>
                    <a:lstStyle/>
                    <a:p>
                      <a:pPr algn="l"/>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DICK'S</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Brand site</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0" u="none">
                          <a:solidFill>
                            <a:srgbClr val="000000"/>
                          </a:solidFill>
                          <a:latin typeface="Garamond"/>
                          <a:ea typeface="Garamond"/>
                          <a:cs typeface="Garamond"/>
                        </a:rPr>
                        <a:t>Assortment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Every brand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One brand</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Service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Fitting, team gear</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Online returns</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Price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Price-matched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First to discount</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Youth teams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GameChanger</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None</a:t>
                      </a:r>
                    </a:p>
                  </a:txBody>
                  <a:tcPr marL="54864" marR="54864" marT="18288" marB="18288" anchor="ctr">
                    <a:lnL w="0">
                      <a:noFill/>
                    </a:lnL>
                    <a:lnR w="0">
                      <a:noFill/>
                    </a:lnR>
                    <a:lnT w="0">
                      <a:noFill/>
                    </a:lnT>
                    <a:lnB w="6350">
                      <a:solidFill>
                        <a:srgbClr val="D9D9D9"/>
                      </a:solidFill>
                    </a:lnB>
                    <a:noFill/>
                  </a:tcPr>
                </a:tc>
              </a:tr>
            </a:tbl>
          </a:graphicData>
        </a:graphic>
      </p:graphicFrame>
      <p:sp>
        <p:nvSpPr>
          <p:cNvPr id="9" name="Stat Callout"/>
          <p:cNvSpPr/>
          <p:nvPr/>
        </p:nvSpPr>
        <p:spPr>
          <a:xfrm>
            <a:off x="3955553" y="3118104"/>
            <a:ext cx="2017307"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58% of kids</a:t>
            </a:r>
            <a:r>
              <a:rPr sz="1300" b="0" u="none">
                <a:solidFill>
                  <a:srgbClr val="FFFFFF"/>
                </a:solidFill>
                <a:latin typeface="Garamond"/>
                <a:ea typeface="Garamond"/>
                <a:cs typeface="Garamond"/>
              </a:rPr>
              <a:t> play organized sport (2024)</a:t>
            </a:r>
          </a:p>
        </p:txBody>
      </p:sp>
      <p:sp>
        <p:nvSpPr>
          <p:cNvPr id="10" name="Stat Callout"/>
          <p:cNvSpPr/>
          <p:nvPr/>
        </p:nvSpPr>
        <p:spPr>
          <a:xfrm>
            <a:off x="6201460" y="3118104"/>
            <a:ext cx="2017307"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+46% per child:</a:t>
            </a:r>
            <a:r>
              <a:rPr sz="1300" b="0" u="none">
                <a:solidFill>
                  <a:srgbClr val="FFFFFF"/>
                </a:solidFill>
                <a:latin typeface="Garamond"/>
                <a:ea typeface="Garamond"/>
                <a:cs typeface="Garamond"/>
              </a:rPr>
              <a:t> cost since 2019</a:t>
            </a:r>
          </a:p>
        </p:txBody>
      </p:sp>
      <p:sp>
        <p:nvSpPr>
          <p:cNvPr id="11" name="Header: Value Chain Position"/>
          <p:cNvSpPr/>
          <p:nvPr/>
        </p:nvSpPr>
        <p:spPr>
          <a:xfrm>
            <a:off x="3955553" y="3928262"/>
            <a:ext cx="426321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Value Chain Position</a:t>
            </a:r>
          </a:p>
        </p:txBody>
      </p:sp>
      <p:sp>
        <p:nvSpPr>
          <p:cNvPr id="12" name="Bullets"/>
          <p:cNvSpPr txBox="1"/>
          <p:nvPr/>
        </p:nvSpPr>
        <p:spPr>
          <a:xfrm>
            <a:off x="3955553" y="4367174"/>
            <a:ext cx="4263214"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Between </a:t>
            </a:r>
            <a:r>
              <a:rPr sz="1700" b="1" u="none">
                <a:solidFill>
                  <a:srgbClr val="000000"/>
                </a:solidFill>
                <a:latin typeface="Garamond"/>
                <a:ea typeface="Garamond"/>
                <a:cs typeface="Garamond"/>
              </a:rPr>
              <a:t>Nike</a:t>
            </a:r>
            <a:r>
              <a:rPr sz="1700" b="0" u="none">
                <a:solidFill>
                  <a:srgbClr val="000000"/>
                </a:solidFill>
                <a:latin typeface="Garamond"/>
                <a:ea typeface="Garamond"/>
                <a:cs typeface="Garamond"/>
              </a:rPr>
              <a:t> (allocation, launches) and </a:t>
            </a:r>
            <a:r>
              <a:rPr sz="1700" b="1" u="none">
                <a:solidFill>
                  <a:srgbClr val="000000"/>
                </a:solidFill>
                <a:latin typeface="Garamond"/>
                <a:ea typeface="Garamond"/>
                <a:cs typeface="Garamond"/>
              </a:rPr>
              <a:t>households</a:t>
            </a:r>
            <a:r>
              <a:rPr sz="1700" b="0" u="none">
                <a:solidFill>
                  <a:srgbClr val="000000"/>
                </a:solidFill>
                <a:latin typeface="Garamond"/>
                <a:ea typeface="Garamond"/>
                <a:cs typeface="Garamond"/>
              </a:rPr>
              <a:t>; brands' own promotions spilled into the market in Q2</a:t>
            </a:r>
          </a:p>
        </p:txBody>
      </p:sp>
      <p:sp>
        <p:nvSpPr>
          <p:cNvPr id="13" name="Header: Who Pays &amp; Decides"/>
          <p:cNvSpPr/>
          <p:nvPr/>
        </p:nvSpPr>
        <p:spPr>
          <a:xfrm>
            <a:off x="8493087" y="914400"/>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Who Pays &amp; Decides</a:t>
            </a:r>
          </a:p>
        </p:txBody>
      </p:sp>
      <p:sp>
        <p:nvSpPr>
          <p:cNvPr id="14" name="Bullets"/>
          <p:cNvSpPr txBox="1"/>
          <p:nvPr/>
        </p:nvSpPr>
        <p:spPr>
          <a:xfrm>
            <a:off x="8493087" y="1353312"/>
            <a:ext cx="3410571" cy="2553461"/>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Families and athletes pay; parents decide for </a:t>
            </a:r>
            <a:r>
              <a:rPr sz="1700" b="1" u="none">
                <a:solidFill>
                  <a:srgbClr val="000000"/>
                </a:solidFill>
                <a:latin typeface="Garamond"/>
                <a:ea typeface="Garamond"/>
                <a:cs typeface="Garamond"/>
              </a:rPr>
              <a:t>youth sport</a:t>
            </a:r>
          </a:p>
          <a:p>
            <a:pPr marL="457200" indent="-336499">
              <a:buClr>
                <a:srgbClr val="000000"/>
              </a:buClr>
              <a:buSzPts val="1700"/>
              <a:buFont typeface="Garamond"/>
              <a:buChar char="●"/>
            </a:pPr>
            <a:r>
              <a:rPr sz="1700" b="0" u="none">
                <a:solidFill>
                  <a:srgbClr val="000000"/>
                </a:solidFill>
                <a:latin typeface="Garamond"/>
                <a:ea typeface="Garamond"/>
                <a:cs typeface="Garamond"/>
              </a:rPr>
              <a:t>Brands decide what reaches the shelf</a:t>
            </a:r>
          </a:p>
          <a:p>
            <a:pPr marL="457200" indent="-336499">
              <a:buClr>
                <a:srgbClr val="000000"/>
              </a:buClr>
              <a:buSzPts val="1700"/>
              <a:buFont typeface="Garamond"/>
              <a:buChar char="●"/>
            </a:pPr>
            <a:r>
              <a:rPr sz="1700" b="0" u="none">
                <a:solidFill>
                  <a:srgbClr val="000000"/>
                </a:solidFill>
                <a:latin typeface="Garamond"/>
                <a:ea typeface="Garamond"/>
                <a:cs typeface="Garamond"/>
              </a:rPr>
              <a:t>DKS + Foot Locker buy ~</a:t>
            </a:r>
            <a:r>
              <a:rPr sz="1700" b="1" u="none">
                <a:solidFill>
                  <a:srgbClr val="000000"/>
                </a:solidFill>
                <a:latin typeface="Garamond"/>
                <a:ea typeface="Garamond"/>
                <a:cs typeface="Garamond"/>
              </a:rPr>
              <a:t>$5B</a:t>
            </a:r>
            <a:r>
              <a:rPr sz="1700" b="0" u="none">
                <a:solidFill>
                  <a:srgbClr val="000000"/>
                </a:solidFill>
                <a:latin typeface="Garamond"/>
                <a:ea typeface="Garamond"/>
                <a:cs typeface="Garamond"/>
              </a:rPr>
              <a:t> from Nike (~10% of Nike)</a:t>
            </a:r>
          </a:p>
          <a:p>
            <a:pPr marL="457200" indent="-336499">
              <a:buClr>
                <a:srgbClr val="000000"/>
              </a:buClr>
              <a:buSzPts val="1700"/>
              <a:buFont typeface="Garamond"/>
              <a:buChar char="●"/>
            </a:pPr>
            <a:r>
              <a:rPr sz="1700" b="0" u="none">
                <a:solidFill>
                  <a:srgbClr val="000000"/>
                </a:solidFill>
                <a:latin typeface="Garamond"/>
                <a:ea typeface="Garamond"/>
                <a:cs typeface="Garamond"/>
              </a:rPr>
              <a:t>Foot Locker shopper: younger, sneaker-led, mall-based</a:t>
            </a:r>
          </a:p>
        </p:txBody>
      </p:sp>
      <p:sp>
        <p:nvSpPr>
          <p:cNvPr id="15" name="Header: Switching Costs"/>
          <p:cNvSpPr/>
          <p:nvPr/>
        </p:nvSpPr>
        <p:spPr>
          <a:xfrm>
            <a:off x="8493087" y="4071365"/>
            <a:ext cx="341057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Switching Costs</a:t>
            </a:r>
          </a:p>
        </p:txBody>
      </p:sp>
      <p:sp>
        <p:nvSpPr>
          <p:cNvPr id="16" name="Bullets"/>
          <p:cNvSpPr txBox="1"/>
          <p:nvPr/>
        </p:nvSpPr>
        <p:spPr>
          <a:xfrm>
            <a:off x="8493087" y="4510278"/>
            <a:ext cx="3410571" cy="1236471"/>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~Zero: loyalty is assortment-driven</a:t>
            </a:r>
          </a:p>
          <a:p>
            <a:pPr marL="457200" indent="-336499">
              <a:buClr>
                <a:srgbClr val="000000"/>
              </a:buClr>
              <a:buSzPts val="1700"/>
              <a:buFont typeface="Garamond"/>
              <a:buChar char="●"/>
            </a:pPr>
            <a:r>
              <a:rPr sz="1700" b="0" u="none">
                <a:solidFill>
                  <a:srgbClr val="000000"/>
                </a:solidFill>
                <a:latin typeface="Garamond"/>
                <a:ea typeface="Garamond"/>
                <a:cs typeface="Garamond"/>
              </a:rPr>
              <a:t>GameChanger ties families to DKS </a:t>
            </a:r>
            <a:r>
              <a:rPr sz="1700" b="1" u="none">
                <a:solidFill>
                  <a:srgbClr val="000000"/>
                </a:solidFill>
                <a:latin typeface="Garamond"/>
                <a:ea typeface="Garamond"/>
                <a:cs typeface="Garamond"/>
              </a:rPr>
              <a:t>between purchases</a:t>
            </a:r>
          </a:p>
        </p:txBody>
      </p:sp>
      <p:sp>
        <p:nvSpPr>
          <p:cNvPr id="17"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8"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2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2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22"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2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Capital Allocation &amp; Governance</a:t>
            </a:r>
          </a:p>
        </p:txBody>
      </p:sp>
      <p:sp>
        <p:nvSpPr>
          <p:cNvPr id="3" name="Header: Capital Allocation"/>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Capital Allocation</a:t>
            </a:r>
          </a:p>
        </p:txBody>
      </p:sp>
      <p:sp>
        <p:nvSpPr>
          <p:cNvPr id="4" name="Bullets"/>
          <p:cNvSpPr txBox="1"/>
          <p:nvPr/>
        </p:nvSpPr>
        <p:spPr>
          <a:xfrm>
            <a:off x="270662" y="1353312"/>
            <a:ext cx="5679338"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Dividend </a:t>
            </a:r>
            <a:r>
              <a:rPr sz="1700" b="1" u="none">
                <a:solidFill>
                  <a:srgbClr val="000000"/>
                </a:solidFill>
                <a:latin typeface="Garamond"/>
                <a:ea typeface="Garamond"/>
                <a:cs typeface="Garamond"/>
              </a:rPr>
              <a:t>$1.25</a:t>
            </a:r>
            <a:r>
              <a:rPr sz="1700" b="0" u="none">
                <a:solidFill>
                  <a:srgbClr val="000000"/>
                </a:solidFill>
                <a:latin typeface="Garamond"/>
                <a:ea typeface="Garamond"/>
                <a:cs typeface="Garamond"/>
              </a:rPr>
              <a:t>/qtr (~$450M/yr; 3.7% yield)</a:t>
            </a:r>
          </a:p>
          <a:p>
            <a:pPr marL="457200" indent="-336499">
              <a:buClr>
                <a:srgbClr val="000000"/>
              </a:buClr>
              <a:buSzPts val="1700"/>
              <a:buFont typeface="Garamond"/>
              <a:buChar char="●"/>
            </a:pPr>
            <a:r>
              <a:rPr sz="1700" b="0" u="none">
                <a:solidFill>
                  <a:srgbClr val="000000"/>
                </a:solidFill>
                <a:latin typeface="Garamond"/>
                <a:ea typeface="Garamond"/>
                <a:cs typeface="Garamond"/>
              </a:rPr>
              <a:t>H1 FY26: buybacks </a:t>
            </a:r>
            <a:r>
              <a:rPr sz="1700" b="1" u="none">
                <a:solidFill>
                  <a:srgbClr val="000000"/>
                </a:solidFill>
                <a:latin typeface="Garamond"/>
                <a:ea typeface="Garamond"/>
                <a:cs typeface="Garamond"/>
              </a:rPr>
              <a:t>$141M</a:t>
            </a:r>
            <a:r>
              <a:rPr sz="1700" b="0" u="none">
                <a:solidFill>
                  <a:srgbClr val="000000"/>
                </a:solidFill>
                <a:latin typeface="Garamond"/>
                <a:ea typeface="Garamond"/>
                <a:cs typeface="Garamond"/>
              </a:rPr>
              <a:t>; dividends </a:t>
            </a:r>
            <a:r>
              <a:rPr sz="1700" b="1" u="none">
                <a:solidFill>
                  <a:srgbClr val="000000"/>
                </a:solidFill>
                <a:latin typeface="Garamond"/>
                <a:ea typeface="Garamond"/>
                <a:cs typeface="Garamond"/>
              </a:rPr>
              <a:t>$225M</a:t>
            </a:r>
          </a:p>
          <a:p>
            <a:pPr marL="457200" indent="-336499">
              <a:buClr>
                <a:srgbClr val="000000"/>
              </a:buClr>
              <a:buSzPts val="1700"/>
              <a:buFont typeface="Garamond"/>
              <a:buChar char="●"/>
            </a:pPr>
            <a:r>
              <a:rPr sz="1700" b="1" u="none">
                <a:solidFill>
                  <a:srgbClr val="000000"/>
                </a:solidFill>
                <a:latin typeface="Garamond"/>
                <a:ea typeface="Garamond"/>
                <a:cs typeface="Garamond"/>
              </a:rPr>
              <a:t>$1.0B</a:t>
            </a:r>
            <a:r>
              <a:rPr sz="1700" b="0" u="none">
                <a:solidFill>
                  <a:srgbClr val="000000"/>
                </a:solidFill>
                <a:latin typeface="Garamond"/>
                <a:ea typeface="Garamond"/>
                <a:cs typeface="Garamond"/>
              </a:rPr>
              <a:t> of new notes (Sept 2026) at 6.2% (2036) and 6.9% (2056)</a:t>
            </a:r>
          </a:p>
          <a:p>
            <a:pPr marL="457200" indent="-336499">
              <a:buClr>
                <a:srgbClr val="000000"/>
              </a:buClr>
              <a:buSzPts val="1700"/>
              <a:buFont typeface="Garamond"/>
              <a:buChar char="●"/>
            </a:pPr>
            <a:r>
              <a:rPr sz="1700" b="0" u="none">
                <a:solidFill>
                  <a:srgbClr val="000000"/>
                </a:solidFill>
                <a:latin typeface="Garamond"/>
                <a:ea typeface="Garamond"/>
                <a:cs typeface="Garamond"/>
              </a:rPr>
              <a:t>Capex </a:t>
            </a:r>
            <a:r>
              <a:rPr sz="1700" b="1" u="none">
                <a:solidFill>
                  <a:srgbClr val="000000"/>
                </a:solidFill>
                <a:latin typeface="Garamond"/>
                <a:ea typeface="Garamond"/>
                <a:cs typeface="Garamond"/>
              </a:rPr>
              <a:t>~$1.4B</a:t>
            </a:r>
            <a:r>
              <a:rPr sz="1700" b="0" u="none">
                <a:solidFill>
                  <a:srgbClr val="000000"/>
                </a:solidFill>
                <a:latin typeface="Garamond"/>
                <a:ea typeface="Garamond"/>
                <a:cs typeface="Garamond"/>
              </a:rPr>
              <a:t> in FY26, 2.2x D&amp;A</a:t>
            </a:r>
          </a:p>
          <a:p>
            <a:pPr marL="457200" indent="-336499">
              <a:buClr>
                <a:srgbClr val="000000"/>
              </a:buClr>
              <a:buSzPts val="1700"/>
              <a:buFont typeface="Garamond"/>
              <a:buChar char="●"/>
            </a:pPr>
            <a:r>
              <a:rPr sz="1700" b="0" u="none">
                <a:solidFill>
                  <a:srgbClr val="000000"/>
                </a:solidFill>
                <a:latin typeface="Garamond"/>
                <a:ea typeface="Garamond"/>
                <a:cs typeface="Garamond"/>
              </a:rPr>
              <a:t>Foot Locker: </a:t>
            </a:r>
            <a:r>
              <a:rPr sz="1700" b="1" u="none">
                <a:solidFill>
                  <a:srgbClr val="000000"/>
                </a:solidFill>
                <a:latin typeface="Garamond"/>
                <a:ea typeface="Garamond"/>
                <a:cs typeface="Garamond"/>
              </a:rPr>
              <a:t>$2.5B</a:t>
            </a:r>
            <a:r>
              <a:rPr sz="1700" b="0" u="none">
                <a:solidFill>
                  <a:srgbClr val="000000"/>
                </a:solidFill>
                <a:latin typeface="Garamond"/>
                <a:ea typeface="Garamond"/>
                <a:cs typeface="Garamond"/>
              </a:rPr>
              <a:t> (9.6M shares + cash); $500-750M of charges planned</a:t>
            </a:r>
          </a:p>
        </p:txBody>
      </p:sp>
      <p:graphicFrame>
        <p:nvGraphicFramePr>
          <p:cNvPr id="5" name="Chart 4" descr="Column chart: FY26 Cash Uses vs. Free Cash Flow ($M). $M: FY25 FCF 400; FY26E FCF 307; FY26 dividends 450; FY26 capex 1,400."/>
          <p:cNvGraphicFramePr>
            <a:graphicFrameLocks noGrp="1"/>
          </p:cNvGraphicFramePr>
          <p:nvPr/>
        </p:nvGraphicFramePr>
        <p:xfrm>
          <a:off x="270662" y="3544570"/>
          <a:ext cx="5679338" cy="2563622"/>
        </p:xfrm>
        <a:graphic>
          <a:graphicData uri="http://schemas.openxmlformats.org/drawingml/2006/chart">
            <c:chart xmlns:c="http://schemas.openxmlformats.org/drawingml/2006/chart" r:id="rId2"/>
          </a:graphicData>
        </a:graphic>
      </p:graphicFrame>
      <p:sp>
        <p:nvSpPr>
          <p:cNvPr id="6" name="TextBox 5"/>
          <p:cNvSpPr txBox="1"/>
          <p:nvPr/>
        </p:nvSpPr>
        <p:spPr>
          <a:xfrm>
            <a:off x="270662" y="6108192"/>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10-K, 10-Q; FY26E FCF from the model (App. A)</a:t>
            </a:r>
          </a:p>
        </p:txBody>
      </p:sp>
      <p:sp>
        <p:nvSpPr>
          <p:cNvPr id="7" name="Header: Governance &amp; Accounting"/>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Governance &amp; Accounting</a:t>
            </a:r>
          </a:p>
        </p:txBody>
      </p:sp>
      <p:sp>
        <p:nvSpPr>
          <p:cNvPr id="8" name="Bullets"/>
          <p:cNvSpPr txBox="1"/>
          <p:nvPr/>
        </p:nvSpPr>
        <p:spPr>
          <a:xfrm>
            <a:off x="6224320" y="1353312"/>
            <a:ext cx="5679338"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Class B high-vote shares (</a:t>
            </a:r>
            <a:r>
              <a:rPr sz="1700" b="1" u="none">
                <a:solidFill>
                  <a:srgbClr val="000000"/>
                </a:solidFill>
                <a:latin typeface="Garamond"/>
                <a:ea typeface="Garamond"/>
                <a:cs typeface="Garamond"/>
              </a:rPr>
              <a:t>23.6M</a:t>
            </a:r>
            <a:r>
              <a:rPr sz="1700" b="0" u="none">
                <a:solidFill>
                  <a:srgbClr val="000000"/>
                </a:solidFill>
                <a:latin typeface="Garamond"/>
                <a:ea typeface="Garamond"/>
                <a:cs typeface="Garamond"/>
              </a:rPr>
              <a:t>) give the Stack family control</a:t>
            </a:r>
          </a:p>
          <a:p>
            <a:pPr marL="457200" indent="-336499">
              <a:buClr>
                <a:srgbClr val="000000"/>
              </a:buClr>
              <a:buSzPts val="1700"/>
              <a:buFont typeface="Garamond"/>
              <a:buChar char="●"/>
            </a:pPr>
            <a:r>
              <a:rPr sz="1700" b="0" u="none">
                <a:solidFill>
                  <a:srgbClr val="000000"/>
                </a:solidFill>
                <a:latin typeface="Garamond"/>
                <a:ea typeface="Garamond"/>
                <a:cs typeface="Garamond"/>
              </a:rPr>
              <a:t>Exec. Chairman Ed Stack runs Foot Locker directly</a:t>
            </a:r>
          </a:p>
          <a:p>
            <a:pPr marL="457200" indent="-336499">
              <a:buClr>
                <a:srgbClr val="000000"/>
              </a:buClr>
              <a:buSzPts val="1700"/>
              <a:buFont typeface="Garamond"/>
              <a:buChar char="●"/>
            </a:pPr>
            <a:r>
              <a:rPr sz="1700" b="0" u="none">
                <a:solidFill>
                  <a:srgbClr val="000000"/>
                </a:solidFill>
                <a:latin typeface="Garamond"/>
                <a:ea typeface="Garamond"/>
                <a:cs typeface="Garamond"/>
              </a:rPr>
              <a:t>Non-GAAP excludes </a:t>
            </a:r>
            <a:r>
              <a:rPr sz="1700" b="1" u="none">
                <a:solidFill>
                  <a:srgbClr val="000000"/>
                </a:solidFill>
                <a:latin typeface="Garamond"/>
                <a:ea typeface="Garamond"/>
                <a:cs typeface="Garamond"/>
              </a:rPr>
              <a:t>$390M</a:t>
            </a:r>
            <a:r>
              <a:rPr sz="1700" b="0" u="none">
                <a:solidFill>
                  <a:srgbClr val="000000"/>
                </a:solidFill>
                <a:latin typeface="Garamond"/>
                <a:ea typeface="Garamond"/>
                <a:cs typeface="Garamond"/>
              </a:rPr>
              <a:t> of FY25 charges yet keeps Q2's </a:t>
            </a:r>
            <a:r>
              <a:rPr sz="1700" b="1" u="none">
                <a:solidFill>
                  <a:srgbClr val="000000"/>
                </a:solidFill>
                <a:latin typeface="Garamond"/>
                <a:ea typeface="Garamond"/>
                <a:cs typeface="Garamond"/>
              </a:rPr>
              <a:t>$59M</a:t>
            </a:r>
            <a:r>
              <a:rPr sz="1700" b="0" u="none">
                <a:solidFill>
                  <a:srgbClr val="000000"/>
                </a:solidFill>
                <a:latin typeface="Garamond"/>
                <a:ea typeface="Garamond"/>
                <a:cs typeface="Garamond"/>
              </a:rPr>
              <a:t> refund</a:t>
            </a:r>
          </a:p>
          <a:p>
            <a:pPr marL="457200" indent="-336499">
              <a:buClr>
                <a:srgbClr val="000000"/>
              </a:buClr>
              <a:buSzPts val="1700"/>
              <a:buFont typeface="Garamond"/>
              <a:buChar char="●"/>
            </a:pPr>
            <a:r>
              <a:rPr sz="1700" b="0" u="none">
                <a:solidFill>
                  <a:srgbClr val="000000"/>
                </a:solidFill>
                <a:latin typeface="Garamond"/>
                <a:ea typeface="Garamond"/>
                <a:cs typeface="Garamond"/>
              </a:rPr>
              <a:t>Plaintiff-firm investigation notice after Aug 25; no suit confirmed</a:t>
            </a:r>
          </a:p>
        </p:txBody>
      </p:sp>
      <p:sp>
        <p:nvSpPr>
          <p:cNvPr id="9" name="Header: Open-Market Insider Trades"/>
          <p:cNvSpPr/>
          <p:nvPr/>
        </p:nvSpPr>
        <p:spPr>
          <a:xfrm>
            <a:off x="6224320" y="354457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Open-Market Insider Trades</a:t>
            </a:r>
          </a:p>
        </p:txBody>
      </p:sp>
      <p:graphicFrame>
        <p:nvGraphicFramePr>
          <p:cNvPr id="10" name="Table 9"/>
          <p:cNvGraphicFramePr>
            <a:graphicFrameLocks noGrp="1"/>
          </p:cNvGraphicFramePr>
          <p:nvPr/>
        </p:nvGraphicFramePr>
        <p:xfrm>
          <a:off x="6224320" y="3983482"/>
          <a:ext cx="5679337" cy="1447800"/>
        </p:xfrm>
        <a:graphic>
          <a:graphicData uri="http://schemas.openxmlformats.org/drawingml/2006/table">
            <a:tbl>
              <a:tblPr firstRow="0" bandRow="0">
                <a:tableStyleId>{2D5ABB26-0587-4C30-8999-92F81FD0307C}</a:tableStyleId>
              </a:tblPr>
              <a:tblGrid>
                <a:gridCol w="901482"/>
                <a:gridCol w="1802964"/>
                <a:gridCol w="2163557"/>
                <a:gridCol w="811334"/>
              </a:tblGrid>
              <a:tr h="289560">
                <a:tc>
                  <a:txBody>
                    <a:bodyPr/>
                    <a:lstStyle/>
                    <a:p>
                      <a:pPr algn="l"/>
                      <a:r>
                        <a:rPr sz="1200" b="1" u="none">
                          <a:solidFill>
                            <a:srgbClr val="FFFFFF"/>
                          </a:solidFill>
                          <a:latin typeface="Garamond"/>
                          <a:ea typeface="Garamond"/>
                          <a:cs typeface="Garamond"/>
                        </a:rPr>
                        <a:t>Date</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Insider</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Trade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Value</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Sep 2026</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CFO N. Gupta</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Bought 7,707 shares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~$1.0M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Sep 2026</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Dir. L. Fitzgerald Jr.</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Bought 1,860 shares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$0.24M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Aug 2026</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Dir. W. Colombo</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Bought 6,100 shares at ~$129</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$0.79M</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Prior 12 mo.</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CFO N. Gupta</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Sold shares at ~$222</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~$2.9M</a:t>
                      </a:r>
                    </a:p>
                  </a:txBody>
                  <a:tcPr marL="54864" marR="54864" marT="18288" marB="18288" anchor="ctr">
                    <a:lnL w="0">
                      <a:noFill/>
                    </a:lnL>
                    <a:lnR w="0">
                      <a:noFill/>
                    </a:lnR>
                    <a:lnT w="0">
                      <a:noFill/>
                    </a:lnT>
                    <a:lnB w="6350">
                      <a:solidFill>
                        <a:srgbClr val="D9D9D9"/>
                      </a:solidFill>
                    </a:lnB>
                    <a:noFill/>
                  </a:tcPr>
                </a:tc>
              </a:tr>
            </a:tbl>
          </a:graphicData>
        </a:graphic>
      </p:graphicFrame>
      <p:sp>
        <p:nvSpPr>
          <p:cNvPr id="11"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2" name="Tracker: Company (active)"/>
          <p:cNvSpPr/>
          <p:nvPr/>
        </p:nvSpPr>
        <p:spPr>
          <a:xfrm>
            <a:off x="2663952"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3"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4"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5"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6"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III.	Industry &amp; Competition</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Sporting Goods: Slow Growth, Deep Discounts</a:t>
            </a:r>
          </a:p>
        </p:txBody>
      </p:sp>
      <p:sp>
        <p:nvSpPr>
          <p:cNvPr id="3" name="Header: Market Dynamics"/>
          <p:cNvSpPr/>
          <p:nvPr/>
        </p:nvSpPr>
        <p:spPr>
          <a:xfrm>
            <a:off x="270662" y="91440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Market Dynamics</a:t>
            </a:r>
          </a:p>
        </p:txBody>
      </p:sp>
      <p:sp>
        <p:nvSpPr>
          <p:cNvPr id="4" name="Bullets"/>
          <p:cNvSpPr txBox="1"/>
          <p:nvPr/>
        </p:nvSpPr>
        <p:spPr>
          <a:xfrm>
            <a:off x="270662" y="1353312"/>
            <a:ext cx="5949783"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US sporting goods wholesale </a:t>
            </a:r>
            <a:r>
              <a:rPr sz="1700" b="1" u="none">
                <a:solidFill>
                  <a:srgbClr val="000000"/>
                </a:solidFill>
                <a:latin typeface="Garamond"/>
                <a:ea typeface="Garamond"/>
                <a:cs typeface="Garamond"/>
              </a:rPr>
              <a:t>$130B</a:t>
            </a:r>
            <a:r>
              <a:rPr sz="1700" b="0" u="none">
                <a:solidFill>
                  <a:srgbClr val="000000"/>
                </a:solidFill>
                <a:latin typeface="Garamond"/>
                <a:ea typeface="Garamond"/>
                <a:cs typeface="Garamond"/>
              </a:rPr>
              <a:t> in 2025 (+3.7%); +34.7% since 2020</a:t>
            </a:r>
          </a:p>
          <a:p>
            <a:pPr marL="457200" indent="-336499">
              <a:buClr>
                <a:srgbClr val="000000"/>
              </a:buClr>
              <a:buSzPts val="1700"/>
              <a:buFont typeface="Garamond"/>
              <a:buChar char="●"/>
            </a:pPr>
            <a:r>
              <a:rPr sz="1700" b="0" u="none">
                <a:solidFill>
                  <a:srgbClr val="000000"/>
                </a:solidFill>
                <a:latin typeface="Garamond"/>
                <a:ea typeface="Garamond"/>
                <a:cs typeface="Garamond"/>
              </a:rPr>
              <a:t>Athletic footwear wholesale </a:t>
            </a:r>
            <a:r>
              <a:rPr sz="1700" b="1" u="none">
                <a:solidFill>
                  <a:srgbClr val="000000"/>
                </a:solidFill>
                <a:latin typeface="Garamond"/>
                <a:ea typeface="Garamond"/>
                <a:cs typeface="Garamond"/>
              </a:rPr>
              <a:t>$24.1B</a:t>
            </a:r>
            <a:r>
              <a:rPr sz="1700" b="0" u="none">
                <a:solidFill>
                  <a:srgbClr val="000000"/>
                </a:solidFill>
                <a:latin typeface="Garamond"/>
                <a:ea typeface="Garamond"/>
                <a:cs typeface="Garamond"/>
              </a:rPr>
              <a:t> (+7.4%)</a:t>
            </a:r>
          </a:p>
          <a:p>
            <a:pPr marL="457200" indent="-336499">
              <a:buClr>
                <a:srgbClr val="000000"/>
              </a:buClr>
              <a:buSzPts val="1700"/>
              <a:buFont typeface="Garamond"/>
              <a:buChar char="●"/>
            </a:pPr>
            <a:r>
              <a:rPr sz="1700" b="0" u="none">
                <a:solidFill>
                  <a:srgbClr val="000000"/>
                </a:solidFill>
                <a:latin typeface="Garamond"/>
                <a:ea typeface="Garamond"/>
                <a:cs typeface="Garamond"/>
              </a:rPr>
              <a:t>DICK'S holds ~</a:t>
            </a:r>
            <a:r>
              <a:rPr sz="1700" b="1" u="none">
                <a:solidFill>
                  <a:srgbClr val="000000"/>
                </a:solidFill>
                <a:latin typeface="Garamond"/>
                <a:ea typeface="Garamond"/>
                <a:cs typeface="Garamond"/>
              </a:rPr>
              <a:t>9%</a:t>
            </a:r>
            <a:r>
              <a:rPr sz="1700" b="0" u="none">
                <a:solidFill>
                  <a:srgbClr val="000000"/>
                </a:solidFill>
                <a:latin typeface="Garamond"/>
                <a:ea typeface="Garamond"/>
                <a:cs typeface="Garamond"/>
              </a:rPr>
              <a:t> of US sporting goods sales (Telsey, 2024)</a:t>
            </a:r>
          </a:p>
          <a:p>
            <a:pPr marL="457200" indent="-336499">
              <a:buClr>
                <a:srgbClr val="000000"/>
              </a:buClr>
              <a:buSzPts val="1700"/>
              <a:buFont typeface="Garamond"/>
              <a:buChar char="●"/>
            </a:pPr>
            <a:r>
              <a:rPr sz="1700" b="0" u="none">
                <a:solidFill>
                  <a:srgbClr val="000000"/>
                </a:solidFill>
                <a:latin typeface="Garamond"/>
                <a:ea typeface="Garamond"/>
                <a:cs typeface="Garamond"/>
              </a:rPr>
              <a:t>Nike reopening wholesale: North America </a:t>
            </a:r>
            <a:r>
              <a:rPr sz="1700" b="1" u="none">
                <a:solidFill>
                  <a:srgbClr val="000000"/>
                </a:solidFill>
                <a:latin typeface="Garamond"/>
                <a:ea typeface="Garamond"/>
                <a:cs typeface="Garamond"/>
              </a:rPr>
              <a:t>~+9%</a:t>
            </a:r>
            <a:r>
              <a:rPr sz="1700" b="0" u="none">
                <a:solidFill>
                  <a:srgbClr val="000000"/>
                </a:solidFill>
                <a:latin typeface="Garamond"/>
                <a:ea typeface="Garamond"/>
                <a:cs typeface="Garamond"/>
              </a:rPr>
              <a:t>, Nike Direct down </a:t>
            </a:r>
            <a:r>
              <a:rPr sz="1700" b="1" u="none">
                <a:solidFill>
                  <a:srgbClr val="000000"/>
                </a:solidFill>
                <a:latin typeface="Garamond"/>
                <a:ea typeface="Garamond"/>
                <a:cs typeface="Garamond"/>
              </a:rPr>
              <a:t>8%</a:t>
            </a:r>
          </a:p>
        </p:txBody>
      </p:sp>
      <p:sp>
        <p:nvSpPr>
          <p:cNvPr id="5" name="Header: Macro Overlay"/>
          <p:cNvSpPr/>
          <p:nvPr/>
        </p:nvSpPr>
        <p:spPr>
          <a:xfrm>
            <a:off x="270662" y="354457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Macro Overlay</a:t>
            </a:r>
          </a:p>
        </p:txBody>
      </p:sp>
      <p:sp>
        <p:nvSpPr>
          <p:cNvPr id="6" name="Bullets"/>
          <p:cNvSpPr txBox="1"/>
          <p:nvPr/>
        </p:nvSpPr>
        <p:spPr>
          <a:xfrm>
            <a:off x="270662" y="3983482"/>
            <a:ext cx="5949783"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IEEPA tariffs voided (2/20/26); Section 301 at </a:t>
            </a:r>
            <a:r>
              <a:rPr sz="1700" b="1" u="none">
                <a:solidFill>
                  <a:srgbClr val="000000"/>
                </a:solidFill>
                <a:latin typeface="Garamond"/>
                <a:ea typeface="Garamond"/>
                <a:cs typeface="Garamond"/>
              </a:rPr>
              <a:t>12.5%</a:t>
            </a:r>
            <a:r>
              <a:rPr sz="1700" b="0" u="none">
                <a:solidFill>
                  <a:srgbClr val="000000"/>
                </a:solidFill>
                <a:latin typeface="Garamond"/>
                <a:ea typeface="Garamond"/>
                <a:cs typeface="Garamond"/>
              </a:rPr>
              <a:t> on China and Vietnam since 7/24/26</a:t>
            </a:r>
          </a:p>
          <a:p>
            <a:pPr marL="457200" indent="-336499">
              <a:buClr>
                <a:srgbClr val="000000"/>
              </a:buClr>
              <a:buSzPts val="1700"/>
              <a:buFont typeface="Garamond"/>
              <a:buChar char="●"/>
            </a:pPr>
            <a:r>
              <a:rPr sz="1700" b="0" u="none">
                <a:solidFill>
                  <a:srgbClr val="000000"/>
                </a:solidFill>
                <a:latin typeface="Garamond"/>
                <a:ea typeface="Garamond"/>
                <a:cs typeface="Garamond"/>
              </a:rPr>
              <a:t>10-year </a:t>
            </a:r>
            <a:r>
              <a:rPr sz="1700" b="1" u="none">
                <a:solidFill>
                  <a:srgbClr val="000000"/>
                </a:solidFill>
                <a:latin typeface="Garamond"/>
                <a:ea typeface="Garamond"/>
                <a:cs typeface="Garamond"/>
              </a:rPr>
              <a:t>5.24%</a:t>
            </a:r>
            <a:r>
              <a:rPr sz="1700" b="0" u="none">
                <a:solidFill>
                  <a:srgbClr val="000000"/>
                </a:solidFill>
                <a:latin typeface="Garamond"/>
                <a:ea typeface="Garamond"/>
                <a:cs typeface="Garamond"/>
              </a:rPr>
              <a:t> (10/1/26); Fed at 3.75-4.00%</a:t>
            </a:r>
          </a:p>
        </p:txBody>
      </p:sp>
      <p:sp>
        <p:nvSpPr>
          <p:cNvPr id="7" name="Header: Comparable Sales, Latest Quarter (%)"/>
          <p:cNvSpPr/>
          <p:nvPr/>
        </p:nvSpPr>
        <p:spPr>
          <a:xfrm>
            <a:off x="6494765" y="914400"/>
            <a:ext cx="540889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Comparable Sales, Latest Quarter (%)</a:t>
            </a:r>
          </a:p>
        </p:txBody>
      </p:sp>
      <p:graphicFrame>
        <p:nvGraphicFramePr>
          <p:cNvPr id="8" name="Chart 7" descr="Column chart. Comparable sales: DICK'S 4.9; Academy -0.4; Foot Locker -3.6; JD North America -6.8."/>
          <p:cNvGraphicFramePr>
            <a:graphicFrameLocks noGrp="1"/>
          </p:cNvGraphicFramePr>
          <p:nvPr/>
        </p:nvGraphicFramePr>
        <p:xfrm>
          <a:off x="6494765" y="1353312"/>
          <a:ext cx="5408893" cy="3944721"/>
        </p:xfrm>
        <a:graphic>
          <a:graphicData uri="http://schemas.openxmlformats.org/drawingml/2006/chart">
            <c:chart xmlns:c="http://schemas.openxmlformats.org/drawingml/2006/chart" r:id="rId2"/>
          </a:graphicData>
        </a:graphic>
      </p:graphicFrame>
      <p:sp>
        <p:nvSpPr>
          <p:cNvPr id="9" name="TextBox 8"/>
          <p:cNvSpPr txBox="1"/>
          <p:nvPr/>
        </p:nvSpPr>
        <p:spPr>
          <a:xfrm>
            <a:off x="6494765" y="5298033"/>
            <a:ext cx="5408893"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Q2 releases (Academy and DKS, FY26); JD via AJ Bell (single source)</a:t>
            </a:r>
          </a:p>
        </p:txBody>
      </p:sp>
      <p:sp>
        <p:nvSpPr>
          <p:cNvPr id="10" name="Stat Callout"/>
          <p:cNvSpPr/>
          <p:nvPr/>
        </p:nvSpPr>
        <p:spPr>
          <a:xfrm>
            <a:off x="6494765"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Bull read (L3):</a:t>
            </a:r>
            <a:r>
              <a:rPr sz="1300" b="0" u="none">
                <a:solidFill>
                  <a:srgbClr val="FFFFFF"/>
                </a:solidFill>
                <a:latin typeface="Garamond"/>
                <a:ea typeface="Garamond"/>
                <a:cs typeface="Garamond"/>
              </a:rPr>
              <a:t> DICK'S takes share from weaker rivals</a:t>
            </a:r>
          </a:p>
        </p:txBody>
      </p:sp>
      <p:sp>
        <p:nvSpPr>
          <p:cNvPr id="11" name="Stat Callout"/>
          <p:cNvSpPr/>
          <p:nvPr/>
        </p:nvSpPr>
        <p:spPr>
          <a:xfrm>
            <a:off x="9313512"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Bear read (S6):</a:t>
            </a:r>
            <a:r>
              <a:rPr sz="1300" b="0" u="none">
                <a:solidFill>
                  <a:srgbClr val="FFFFFF"/>
                </a:solidFill>
                <a:latin typeface="Garamond"/>
                <a:ea typeface="Garamond"/>
                <a:cs typeface="Garamond"/>
              </a:rPr>
              <a:t> the whole channel is slowing</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active)"/>
          <p:cNvSpPr/>
          <p:nvPr/>
        </p:nvSpPr>
        <p:spPr>
          <a:xfrm>
            <a:off x="4183075"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Competitive Landscape &amp; Moat</a:t>
            </a:r>
          </a:p>
        </p:txBody>
      </p:sp>
      <p:sp>
        <p:nvSpPr>
          <p:cNvPr id="3" name="Header: Who Else Sells Athletic Gear"/>
          <p:cNvSpPr/>
          <p:nvPr/>
        </p:nvSpPr>
        <p:spPr>
          <a:xfrm>
            <a:off x="270662" y="914400"/>
            <a:ext cx="619564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Who Else Sells Athletic Gear</a:t>
            </a:r>
          </a:p>
        </p:txBody>
      </p:sp>
      <p:graphicFrame>
        <p:nvGraphicFramePr>
          <p:cNvPr id="4" name="Table 3"/>
          <p:cNvGraphicFramePr>
            <a:graphicFrameLocks noGrp="1"/>
          </p:cNvGraphicFramePr>
          <p:nvPr/>
        </p:nvGraphicFramePr>
        <p:xfrm>
          <a:off x="270662" y="1353312"/>
          <a:ext cx="6195639" cy="1737360"/>
        </p:xfrm>
        <a:graphic>
          <a:graphicData uri="http://schemas.openxmlformats.org/drawingml/2006/table">
            <a:tbl>
              <a:tblPr firstRow="0" bandRow="0">
                <a:tableStyleId>{2D5ABB26-0587-4C30-8999-92F81FD0307C}</a:tableStyleId>
              </a:tblPr>
              <a:tblGrid>
                <a:gridCol w="1376809"/>
                <a:gridCol w="1591935"/>
                <a:gridCol w="731429"/>
                <a:gridCol w="903531"/>
                <a:gridCol w="1591935"/>
              </a:tblGrid>
              <a:tr h="289560">
                <a:tc>
                  <a:txBody>
                    <a:bodyPr/>
                    <a:lstStyle/>
                    <a:p>
                      <a:pPr algn="l"/>
                      <a:r>
                        <a:rPr sz="1200" b="1" u="none">
                          <a:solidFill>
                            <a:srgbClr val="FFFFFF"/>
                          </a:solidFill>
                          <a:latin typeface="Garamond"/>
                          <a:ea typeface="Garamond"/>
                          <a:cs typeface="Garamond"/>
                        </a:rPr>
                        <a:t>Company</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Model</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Revenue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Op. margin</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Threat</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Academy Sports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Value sporting goods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$6.05B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8.5%</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Price, Sun Belt</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JD North America</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Sneaker chains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£4.78B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7.4%</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Finish Line, Hibbett</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Nike (all channels)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Brand + direct</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$46.4B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8.3%</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Promotions, allocation</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Amazon / Walmart</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Mass and online</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Price, convenience</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DICK'S Business</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l"/>
                      <a:r>
                        <a:rPr sz="1200" b="1" u="none">
                          <a:solidFill>
                            <a:srgbClr val="000000"/>
                          </a:solidFill>
                          <a:latin typeface="Garamond"/>
                          <a:ea typeface="Garamond"/>
                          <a:cs typeface="Garamond"/>
                        </a:rPr>
                        <a:t>Category leader</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~$14.1B</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11.1%</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l"/>
                      <a:r>
                        <a:rPr sz="1200" b="1" u="none">
                          <a:solidFill>
                            <a:srgbClr val="000000"/>
                          </a:solidFill>
                          <a:latin typeface="Garamond"/>
                          <a:ea typeface="Garamond"/>
                          <a:cs typeface="Garamond"/>
                        </a:rPr>
                        <a:t>-</a:t>
                      </a:r>
                    </a:p>
                  </a:txBody>
                  <a:tcPr marL="54864" marR="54864" marT="18288" marB="18288" anchor="ctr">
                    <a:lnL w="0">
                      <a:noFill/>
                    </a:lnL>
                    <a:lnR w="0">
                      <a:noFill/>
                    </a:lnR>
                    <a:lnT w="0">
                      <a:noFill/>
                    </a:lnT>
                    <a:lnB w="6350">
                      <a:solidFill>
                        <a:srgbClr val="D9D9D9"/>
                      </a:solidFill>
                    </a:lnB>
                    <a:solidFill>
                      <a:srgbClr val="FFF2CC"/>
                    </a:solidFill>
                  </a:tcPr>
                </a:tc>
              </a:tr>
            </a:tbl>
          </a:graphicData>
        </a:graphic>
      </p:graphicFrame>
      <p:sp>
        <p:nvSpPr>
          <p:cNvPr id="5" name="Header: Operating Margin, Latest Fiscal Year (%)"/>
          <p:cNvSpPr/>
          <p:nvPr/>
        </p:nvSpPr>
        <p:spPr>
          <a:xfrm>
            <a:off x="270662" y="3300984"/>
            <a:ext cx="6195641"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Operating Margin, Latest Fiscal Year (%)</a:t>
            </a:r>
          </a:p>
        </p:txBody>
      </p:sp>
      <p:graphicFrame>
        <p:nvGraphicFramePr>
          <p:cNvPr id="6" name="Chart 5" descr="Column chart. Operating margin: DICK'S Business 11.1; Academy 8.5; Hibbett (FY24) 7.9; JD North America 7.4; Foot Locker (FY24) 1.3."/>
          <p:cNvGraphicFramePr>
            <a:graphicFrameLocks noGrp="1"/>
          </p:cNvGraphicFramePr>
          <p:nvPr/>
        </p:nvGraphicFramePr>
        <p:xfrm>
          <a:off x="270662" y="3739896"/>
          <a:ext cx="6195641" cy="2368296"/>
        </p:xfrm>
        <a:graphic>
          <a:graphicData uri="http://schemas.openxmlformats.org/drawingml/2006/chart">
            <c:chart xmlns:c="http://schemas.openxmlformats.org/drawingml/2006/chart" r:id="rId2"/>
          </a:graphicData>
        </a:graphic>
      </p:graphicFrame>
      <p:sp>
        <p:nvSpPr>
          <p:cNvPr id="7" name="TextBox 6"/>
          <p:cNvSpPr txBox="1"/>
          <p:nvPr/>
        </p:nvSpPr>
        <p:spPr>
          <a:xfrm>
            <a:off x="270662" y="6108192"/>
            <a:ext cx="6195641"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Company releases (FY25 unless noted; JD single source)</a:t>
            </a:r>
          </a:p>
        </p:txBody>
      </p:sp>
      <p:sp>
        <p:nvSpPr>
          <p:cNvPr id="8" name="Header: Helmer's Powers: Scale Only"/>
          <p:cNvSpPr/>
          <p:nvPr/>
        </p:nvSpPr>
        <p:spPr>
          <a:xfrm>
            <a:off x="6740624" y="914400"/>
            <a:ext cx="516303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Helmer's Powers: Scale Only</a:t>
            </a:r>
          </a:p>
        </p:txBody>
      </p:sp>
      <p:graphicFrame>
        <p:nvGraphicFramePr>
          <p:cNvPr id="9" name="Table 8"/>
          <p:cNvGraphicFramePr>
            <a:graphicFrameLocks noGrp="1"/>
          </p:cNvGraphicFramePr>
          <p:nvPr/>
        </p:nvGraphicFramePr>
        <p:xfrm>
          <a:off x="6740624" y="1353312"/>
          <a:ext cx="5163033" cy="1737360"/>
        </p:xfrm>
        <a:graphic>
          <a:graphicData uri="http://schemas.openxmlformats.org/drawingml/2006/table">
            <a:tbl>
              <a:tblPr firstRow="0" bandRow="0">
                <a:tableStyleId>{2D5ABB26-0587-4C30-8999-92F81FD0307C}</a:tableStyleId>
              </a:tblPr>
              <a:tblGrid>
                <a:gridCol w="1529788"/>
                <a:gridCol w="2772740"/>
                <a:gridCol w="860505"/>
              </a:tblGrid>
              <a:tr h="289560">
                <a:tc>
                  <a:txBody>
                    <a:bodyPr/>
                    <a:lstStyle/>
                    <a:p>
                      <a:pPr algn="l"/>
                      <a:r>
                        <a:rPr sz="1200" b="1" u="none">
                          <a:solidFill>
                            <a:srgbClr val="FFFFFF"/>
                          </a:solidFill>
                          <a:latin typeface="Garamond"/>
                          <a:ea typeface="Garamond"/>
                          <a:cs typeface="Garamond"/>
                        </a:rPr>
                        <a:t>Power</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Evidence</a:t>
                      </a:r>
                    </a:p>
                  </a:txBody>
                  <a:tcPr marL="54864" marR="54864" marT="18288" marB="18288" anchor="ctr">
                    <a:lnL w="0">
                      <a:noFill/>
                    </a:lnL>
                    <a:lnR w="0">
                      <a:noFill/>
                    </a:lnR>
                    <a:lnT w="0">
                      <a:noFill/>
                    </a:lnT>
                    <a:lnB w="0">
                      <a:noFill/>
                    </a:lnB>
                    <a:solidFill>
                      <a:srgbClr val="002060"/>
                    </a:solidFill>
                  </a:tcPr>
                </a:tc>
                <a:tc>
                  <a:txBody>
                    <a:bodyPr/>
                    <a:lstStyle/>
                    <a:p>
                      <a:pPr algn="l"/>
                      <a:r>
                        <a:rPr sz="1200" b="1" u="none">
                          <a:solidFill>
                            <a:srgbClr val="FFFFFF"/>
                          </a:solidFill>
                          <a:latin typeface="Garamond"/>
                          <a:ea typeface="Garamond"/>
                          <a:cs typeface="Garamond"/>
                        </a:rPr>
                        <a:t>Trend</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Scale economies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11.1% margin vs. peers' 7-8.5%</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Stable</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Cornered resource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Launch allocation, at Nike's discretion</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Thinning</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Network economies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GameChanger teams; no figures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Unproven</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Switching costs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~Zero; assortment-driven</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Weak</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Other powers</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Brand, process, counter-positioning: none</a:t>
                      </a:r>
                    </a:p>
                  </a:txBody>
                  <a:tcPr marL="54864" marR="54864" marT="18288" marB="18288" anchor="ctr">
                    <a:lnL w="0">
                      <a:noFill/>
                    </a:lnL>
                    <a:lnR w="0">
                      <a:noFill/>
                    </a:lnR>
                    <a:lnT w="0">
                      <a:noFill/>
                    </a:lnT>
                    <a:lnB w="6350">
                      <a:solidFill>
                        <a:srgbClr val="D9D9D9"/>
                      </a:solidFill>
                    </a:lnB>
                    <a:noFill/>
                  </a:tcPr>
                </a:tc>
                <a:tc>
                  <a:txBody>
                    <a:bodyPr/>
                    <a:lstStyle/>
                    <a:p>
                      <a:pPr algn="l"/>
                      <a:r>
                        <a:rPr sz="1200" b="0" u="none">
                          <a:solidFill>
                            <a:srgbClr val="000000"/>
                          </a:solidFill>
                          <a:latin typeface="Garamond"/>
                          <a:ea typeface="Garamond"/>
                          <a:cs typeface="Garamond"/>
                        </a:rPr>
                        <a:t>-</a:t>
                      </a:r>
                    </a:p>
                  </a:txBody>
                  <a:tcPr marL="54864" marR="54864" marT="18288" marB="18288" anchor="ctr">
                    <a:lnL w="0">
                      <a:noFill/>
                    </a:lnL>
                    <a:lnR w="0">
                      <a:noFill/>
                    </a:lnR>
                    <a:lnT w="0">
                      <a:noFill/>
                    </a:lnT>
                    <a:lnB w="6350">
                      <a:solidFill>
                        <a:srgbClr val="D9D9D9"/>
                      </a:solidFill>
                    </a:lnB>
                    <a:noFill/>
                  </a:tcPr>
                </a:tc>
              </a:tr>
            </a:tbl>
          </a:graphicData>
        </a:graphic>
      </p:graphicFrame>
      <p:sp>
        <p:nvSpPr>
          <p:cNvPr id="10" name="Header: Evidence Tests"/>
          <p:cNvSpPr/>
          <p:nvPr/>
        </p:nvSpPr>
        <p:spPr>
          <a:xfrm>
            <a:off x="6740624" y="3300984"/>
            <a:ext cx="5163034"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Evidence Tests</a:t>
            </a:r>
          </a:p>
        </p:txBody>
      </p:sp>
      <p:sp>
        <p:nvSpPr>
          <p:cNvPr id="11" name="Bullets"/>
          <p:cNvSpPr txBox="1"/>
          <p:nvPr/>
        </p:nvSpPr>
        <p:spPr>
          <a:xfrm>
            <a:off x="6740624" y="3739896"/>
            <a:ext cx="5163034" cy="1763267"/>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Excess ROIC: </a:t>
            </a:r>
            <a:r>
              <a:rPr sz="1700" b="1" u="none">
                <a:solidFill>
                  <a:srgbClr val="000000"/>
                </a:solidFill>
                <a:latin typeface="Garamond"/>
                <a:ea typeface="Garamond"/>
                <a:cs typeface="Garamond"/>
              </a:rPr>
              <a:t>14.4%</a:t>
            </a:r>
            <a:r>
              <a:rPr sz="1700" b="0" u="none">
                <a:solidFill>
                  <a:srgbClr val="000000"/>
                </a:solidFill>
                <a:latin typeface="Garamond"/>
                <a:ea typeface="Garamond"/>
                <a:cs typeface="Garamond"/>
              </a:rPr>
              <a:t> vs. ~9% WACC (FY23-24); ~10% after the deal</a:t>
            </a:r>
          </a:p>
          <a:p>
            <a:pPr marL="457200" indent="-336499">
              <a:buClr>
                <a:srgbClr val="000000"/>
              </a:buClr>
              <a:buSzPts val="1700"/>
              <a:buFont typeface="Garamond"/>
              <a:buChar char="●"/>
            </a:pPr>
            <a:r>
              <a:rPr sz="1700" b="0" u="none">
                <a:solidFill>
                  <a:srgbClr val="000000"/>
                </a:solidFill>
                <a:latin typeface="Garamond"/>
                <a:ea typeface="Garamond"/>
                <a:cs typeface="Garamond"/>
              </a:rPr>
              <a:t>Price held until Q2: ticket </a:t>
            </a:r>
            <a:r>
              <a:rPr sz="1700" b="1" u="none">
                <a:solidFill>
                  <a:srgbClr val="000000"/>
                </a:solidFill>
                <a:latin typeface="Garamond"/>
                <a:ea typeface="Garamond"/>
                <a:cs typeface="Garamond"/>
              </a:rPr>
              <a:t>+5.5%</a:t>
            </a:r>
            <a:r>
              <a:rPr sz="1700" b="0" u="none">
                <a:solidFill>
                  <a:srgbClr val="000000"/>
                </a:solidFill>
                <a:latin typeface="Garamond"/>
                <a:ea typeface="Garamond"/>
                <a:cs typeface="Garamond"/>
              </a:rPr>
              <a:t> in Q1, then promotions</a:t>
            </a:r>
          </a:p>
          <a:p>
            <a:pPr marL="457200" indent="-336499">
              <a:buClr>
                <a:srgbClr val="000000"/>
              </a:buClr>
              <a:buSzPts val="1700"/>
              <a:buFont typeface="Garamond"/>
              <a:buChar char="●"/>
            </a:pPr>
            <a:r>
              <a:rPr sz="1700" b="0" u="none">
                <a:solidFill>
                  <a:srgbClr val="000000"/>
                </a:solidFill>
                <a:latin typeface="Garamond"/>
                <a:ea typeface="Garamond"/>
                <a:cs typeface="Garamond"/>
              </a:rPr>
              <a:t>Comps stayed positive through 2023-26 while Academy's turned negative</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active)"/>
          <p:cNvSpPr/>
          <p:nvPr/>
        </p:nvSpPr>
        <p:spPr>
          <a:xfrm>
            <a:off x="4183075"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IV.	Growth Legs: Foot Locker &amp; House of Sport</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Foot Locker: Turnaround or Value Trap?</a:t>
            </a:r>
          </a:p>
        </p:txBody>
      </p:sp>
      <p:sp>
        <p:nvSpPr>
          <p:cNvPr id="3" name="Header: The Opportunity"/>
          <p:cNvSpPr/>
          <p:nvPr/>
        </p:nvSpPr>
        <p:spPr>
          <a:xfrm>
            <a:off x="270662" y="91440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Opportunity</a:t>
            </a:r>
          </a:p>
        </p:txBody>
      </p:sp>
      <p:sp>
        <p:nvSpPr>
          <p:cNvPr id="4" name="Bullets"/>
          <p:cNvSpPr txBox="1"/>
          <p:nvPr/>
        </p:nvSpPr>
        <p:spPr>
          <a:xfrm>
            <a:off x="270662" y="1353312"/>
            <a:ext cx="5949783" cy="202666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none">
                <a:solidFill>
                  <a:srgbClr val="000000"/>
                </a:solidFill>
                <a:latin typeface="Garamond"/>
                <a:ea typeface="Garamond"/>
                <a:cs typeface="Garamond"/>
              </a:rPr>
              <a:t>$7.45B</a:t>
            </a:r>
            <a:r>
              <a:rPr sz="1700" b="0" u="none">
                <a:solidFill>
                  <a:srgbClr val="000000"/>
                </a:solidFill>
                <a:latin typeface="Garamond"/>
                <a:ea typeface="Garamond"/>
                <a:cs typeface="Garamond"/>
              </a:rPr>
              <a:t> of FY26 sales; 24% gross margin vs. 36% at DICK'S</a:t>
            </a:r>
          </a:p>
          <a:p>
            <a:pPr marL="457200" indent="-336499">
              <a:buClr>
                <a:srgbClr val="000000"/>
              </a:buClr>
              <a:buSzPts val="1700"/>
              <a:buFont typeface="Garamond"/>
              <a:buChar char="●"/>
            </a:pPr>
            <a:r>
              <a:rPr sz="1700" b="0" u="none">
                <a:solidFill>
                  <a:srgbClr val="000000"/>
                </a:solidFill>
                <a:latin typeface="Garamond"/>
                <a:ea typeface="Garamond"/>
                <a:cs typeface="Garamond"/>
              </a:rPr>
              <a:t>Synergies </a:t>
            </a:r>
            <a:r>
              <a:rPr sz="1700" b="1" u="none">
                <a:solidFill>
                  <a:srgbClr val="000000"/>
                </a:solidFill>
                <a:latin typeface="Garamond"/>
                <a:ea typeface="Garamond"/>
                <a:cs typeface="Garamond"/>
              </a:rPr>
              <a:t>$100-125M</a:t>
            </a:r>
            <a:r>
              <a:rPr sz="1700" b="0" u="none">
                <a:solidFill>
                  <a:srgbClr val="000000"/>
                </a:solidFill>
                <a:latin typeface="Garamond"/>
                <a:ea typeface="Garamond"/>
                <a:cs typeface="Garamond"/>
              </a:rPr>
              <a:t> (procurement, direct sourcing) = 1.3-1.7pp of sales</a:t>
            </a:r>
          </a:p>
          <a:p>
            <a:pPr marL="457200" indent="-336499">
              <a:buClr>
                <a:srgbClr val="000000"/>
              </a:buClr>
              <a:buSzPts val="1700"/>
              <a:buFont typeface="Garamond"/>
              <a:buChar char="●"/>
            </a:pPr>
            <a:r>
              <a:rPr sz="1700" b="1" u="none">
                <a:solidFill>
                  <a:srgbClr val="000000"/>
                </a:solidFill>
                <a:latin typeface="Garamond"/>
                <a:ea typeface="Garamond"/>
                <a:cs typeface="Garamond"/>
              </a:rPr>
              <a:t>Fast Break</a:t>
            </a:r>
            <a:r>
              <a:rPr sz="1700" b="0" u="none">
                <a:solidFill>
                  <a:srgbClr val="000000"/>
                </a:solidFill>
                <a:latin typeface="Garamond"/>
                <a:ea typeface="Garamond"/>
                <a:cs typeface="Garamond"/>
              </a:rPr>
              <a:t> remodels: ~250 stores by back-to-school 2026; double-digit pilot comps</a:t>
            </a:r>
          </a:p>
          <a:p>
            <a:pPr marL="457200" indent="-336499">
              <a:buClr>
                <a:srgbClr val="000000"/>
              </a:buClr>
              <a:buSzPts val="1700"/>
              <a:buFont typeface="Garamond"/>
              <a:buChar char="●"/>
            </a:pPr>
            <a:r>
              <a:rPr sz="1700" b="0" u="none">
                <a:solidFill>
                  <a:srgbClr val="000000"/>
                </a:solidFill>
                <a:latin typeface="Garamond"/>
                <a:ea typeface="Garamond"/>
                <a:cs typeface="Garamond"/>
              </a:rPr>
              <a:t>New leaders: Ann Freeman (ex-Nike, North America); Matthew Barnes (International)</a:t>
            </a:r>
          </a:p>
        </p:txBody>
      </p:sp>
      <p:sp>
        <p:nvSpPr>
          <p:cNvPr id="5" name="Header: The Risk (S2)"/>
          <p:cNvSpPr/>
          <p:nvPr/>
        </p:nvSpPr>
        <p:spPr>
          <a:xfrm>
            <a:off x="270662" y="354457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Risk (S2)</a:t>
            </a:r>
          </a:p>
        </p:txBody>
      </p:sp>
      <p:sp>
        <p:nvSpPr>
          <p:cNvPr id="6" name="Bullets"/>
          <p:cNvSpPr txBox="1"/>
          <p:nvPr/>
        </p:nvSpPr>
        <p:spPr>
          <a:xfrm>
            <a:off x="270662" y="3983482"/>
            <a:ext cx="5949783"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FY26 guide swung from </a:t>
            </a:r>
            <a:r>
              <a:rPr sz="1700" b="1" u="none">
                <a:solidFill>
                  <a:srgbClr val="000000"/>
                </a:solidFill>
                <a:latin typeface="Garamond"/>
                <a:ea typeface="Garamond"/>
                <a:cs typeface="Garamond"/>
              </a:rPr>
              <a:t>+$110-150M</a:t>
            </a:r>
            <a:r>
              <a:rPr sz="1700" b="0" u="none">
                <a:solidFill>
                  <a:srgbClr val="000000"/>
                </a:solidFill>
                <a:latin typeface="Garamond"/>
                <a:ea typeface="Garamond"/>
                <a:cs typeface="Garamond"/>
              </a:rPr>
              <a:t> to </a:t>
            </a:r>
            <a:r>
              <a:rPr sz="1700" b="1" u="none">
                <a:solidFill>
                  <a:srgbClr val="000000"/>
                </a:solidFill>
                <a:latin typeface="Garamond"/>
                <a:ea typeface="Garamond"/>
                <a:cs typeface="Garamond"/>
              </a:rPr>
              <a:t>-$40-80M</a:t>
            </a:r>
            <a:r>
              <a:rPr sz="1700" b="0" u="none">
                <a:solidFill>
                  <a:srgbClr val="000000"/>
                </a:solidFill>
                <a:latin typeface="Garamond"/>
                <a:ea typeface="Garamond"/>
                <a:cs typeface="Garamond"/>
              </a:rPr>
              <a:t>; Q2 comps fell 3.6%</a:t>
            </a:r>
          </a:p>
          <a:p>
            <a:pPr marL="457200" indent="-336499">
              <a:buClr>
                <a:srgbClr val="000000"/>
              </a:buClr>
              <a:buSzPts val="1700"/>
              <a:buFont typeface="Garamond"/>
              <a:buChar char="●"/>
            </a:pPr>
            <a:r>
              <a:rPr sz="1700" b="0" u="none">
                <a:solidFill>
                  <a:srgbClr val="000000"/>
                </a:solidFill>
                <a:latin typeface="Garamond"/>
                <a:ea typeface="Garamond"/>
                <a:cs typeface="Garamond"/>
              </a:rPr>
              <a:t>Charges of $500-750M planned; $390M booked in FY25</a:t>
            </a:r>
          </a:p>
        </p:txBody>
      </p:sp>
      <p:sp>
        <p:nvSpPr>
          <p:cNvPr id="7" name="Header: Foot Locker Operating Income by Quarter ($M)"/>
          <p:cNvSpPr/>
          <p:nvPr/>
        </p:nvSpPr>
        <p:spPr>
          <a:xfrm>
            <a:off x="6494765" y="914400"/>
            <a:ext cx="540889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Foot Locker Operating Income by Quarter ($M)</a:t>
            </a:r>
          </a:p>
        </p:txBody>
      </p:sp>
      <p:graphicFrame>
        <p:nvGraphicFramePr>
          <p:cNvPr id="8" name="Chart 7" descr="Column chart. Operating income: Q3 FY25 -46.3; Q4 FY25 -5.9; Q1 FY26 17.5; Q2 FY26 -31.9."/>
          <p:cNvGraphicFramePr>
            <a:graphicFrameLocks noGrp="1"/>
          </p:cNvGraphicFramePr>
          <p:nvPr/>
        </p:nvGraphicFramePr>
        <p:xfrm>
          <a:off x="6494765" y="1353312"/>
          <a:ext cx="5408893" cy="3675887"/>
        </p:xfrm>
        <a:graphic>
          <a:graphicData uri="http://schemas.openxmlformats.org/drawingml/2006/chart">
            <c:chart xmlns:c="http://schemas.openxmlformats.org/drawingml/2006/chart" r:id="rId2"/>
          </a:graphicData>
        </a:graphic>
      </p:graphicFrame>
      <p:sp>
        <p:nvSpPr>
          <p:cNvPr id="9" name="TextBox 8"/>
          <p:cNvSpPr txBox="1"/>
          <p:nvPr/>
        </p:nvSpPr>
        <p:spPr>
          <a:xfrm>
            <a:off x="6494765" y="5029200"/>
            <a:ext cx="5408893"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DKS releases via SGI Europe and SGB (several single source)</a:t>
            </a:r>
          </a:p>
        </p:txBody>
      </p:sp>
      <p:sp>
        <p:nvSpPr>
          <p:cNvPr id="10" name="Metric Tile"/>
          <p:cNvSpPr/>
          <p:nvPr/>
        </p:nvSpPr>
        <p:spPr>
          <a:xfrm>
            <a:off x="6494765" y="5422392"/>
            <a:ext cx="2649582"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Sales: $7.45B</a:t>
            </a:r>
          </a:p>
        </p:txBody>
      </p:sp>
      <p:sp>
        <p:nvSpPr>
          <p:cNvPr id="11" name="Metric Tile"/>
          <p:cNvSpPr/>
          <p:nvPr/>
        </p:nvSpPr>
        <p:spPr>
          <a:xfrm>
            <a:off x="9254076" y="5422392"/>
            <a:ext cx="2649582"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Remodels: ~250</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active)"/>
          <p:cNvSpPr/>
          <p:nvPr/>
        </p:nvSpPr>
        <p:spPr>
          <a:xfrm>
            <a:off x="570219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 of Sport, GameChanger &amp; Media</a:t>
            </a:r>
          </a:p>
        </p:txBody>
      </p:sp>
      <p:sp>
        <p:nvSpPr>
          <p:cNvPr id="3" name="Header: How It Works"/>
          <p:cNvSpPr/>
          <p:nvPr/>
        </p:nvSpPr>
        <p:spPr>
          <a:xfrm>
            <a:off x="270662" y="914400"/>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How It Works</a:t>
            </a:r>
          </a:p>
        </p:txBody>
      </p:sp>
      <p:sp>
        <p:nvSpPr>
          <p:cNvPr id="4" name="Bullets"/>
          <p:cNvSpPr txBox="1"/>
          <p:nvPr/>
        </p:nvSpPr>
        <p:spPr>
          <a:xfrm>
            <a:off x="270662" y="1353312"/>
            <a:ext cx="5949783" cy="1499869"/>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House of Sport: </a:t>
            </a:r>
            <a:r>
              <a:rPr sz="1700" b="1" u="none">
                <a:solidFill>
                  <a:srgbClr val="000000"/>
                </a:solidFill>
                <a:latin typeface="Garamond"/>
                <a:ea typeface="Garamond"/>
                <a:cs typeface="Garamond"/>
              </a:rPr>
              <a:t>41</a:t>
            </a:r>
            <a:r>
              <a:rPr sz="1700" b="0" u="none">
                <a:solidFill>
                  <a:srgbClr val="000000"/>
                </a:solidFill>
                <a:latin typeface="Garamond"/>
                <a:ea typeface="Garamond"/>
                <a:cs typeface="Garamond"/>
              </a:rPr>
              <a:t> open (Aug 2026); 75-100 targeted</a:t>
            </a:r>
          </a:p>
          <a:p>
            <a:pPr marL="457200" indent="-336499">
              <a:buClr>
                <a:srgbClr val="000000"/>
              </a:buClr>
              <a:buSzPts val="1700"/>
              <a:buFont typeface="Garamond"/>
              <a:buChar char="●"/>
            </a:pPr>
            <a:r>
              <a:rPr sz="1700" b="0" u="none">
                <a:solidFill>
                  <a:srgbClr val="000000"/>
                </a:solidFill>
                <a:latin typeface="Garamond"/>
                <a:ea typeface="Garamond"/>
                <a:cs typeface="Garamond"/>
              </a:rPr>
              <a:t>FY25: </a:t>
            </a:r>
            <a:r>
              <a:rPr sz="1700" b="1" u="none">
                <a:solidFill>
                  <a:srgbClr val="000000"/>
                </a:solidFill>
                <a:latin typeface="Garamond"/>
                <a:ea typeface="Garamond"/>
                <a:cs typeface="Garamond"/>
              </a:rPr>
              <a:t>16</a:t>
            </a:r>
            <a:r>
              <a:rPr sz="1700" b="0" u="none">
                <a:solidFill>
                  <a:srgbClr val="000000"/>
                </a:solidFill>
                <a:latin typeface="Garamond"/>
                <a:ea typeface="Garamond"/>
                <a:cs typeface="Garamond"/>
              </a:rPr>
              <a:t> House of Sport and </a:t>
            </a:r>
            <a:r>
              <a:rPr sz="1700" b="1" u="none">
                <a:solidFill>
                  <a:srgbClr val="000000"/>
                </a:solidFill>
                <a:latin typeface="Garamond"/>
                <a:ea typeface="Garamond"/>
                <a:cs typeface="Garamond"/>
              </a:rPr>
              <a:t>15</a:t>
            </a:r>
            <a:r>
              <a:rPr sz="1700" b="0" u="none">
                <a:solidFill>
                  <a:srgbClr val="000000"/>
                </a:solidFill>
                <a:latin typeface="Garamond"/>
                <a:ea typeface="Garamond"/>
                <a:cs typeface="Garamond"/>
              </a:rPr>
              <a:t> Field House openings</a:t>
            </a:r>
          </a:p>
          <a:p>
            <a:pPr marL="457200" indent="-336499">
              <a:buClr>
                <a:srgbClr val="000000"/>
              </a:buClr>
              <a:buSzPts val="1700"/>
              <a:buFont typeface="Garamond"/>
              <a:buChar char="●"/>
            </a:pPr>
            <a:r>
              <a:rPr sz="1700" b="0" u="none">
                <a:solidFill>
                  <a:srgbClr val="000000"/>
                </a:solidFill>
                <a:latin typeface="Garamond"/>
                <a:ea typeface="Garamond"/>
                <a:cs typeface="Garamond"/>
              </a:rPr>
              <a:t>~</a:t>
            </a:r>
            <a:r>
              <a:rPr sz="1700" b="1" u="none">
                <a:solidFill>
                  <a:srgbClr val="000000"/>
                </a:solidFill>
                <a:latin typeface="Garamond"/>
                <a:ea typeface="Garamond"/>
                <a:cs typeface="Garamond"/>
              </a:rPr>
              <a:t>75%</a:t>
            </a:r>
            <a:r>
              <a:rPr sz="1700" b="0" u="none">
                <a:solidFill>
                  <a:srgbClr val="000000"/>
                </a:solidFill>
                <a:latin typeface="Garamond"/>
                <a:ea typeface="Garamond"/>
                <a:cs typeface="Garamond"/>
              </a:rPr>
              <a:t> of FY26 DICK'S openings are relocations or remodels</a:t>
            </a:r>
          </a:p>
          <a:p>
            <a:pPr marL="457200" indent="-336499">
              <a:buClr>
                <a:srgbClr val="000000"/>
              </a:buClr>
              <a:buSzPts val="1700"/>
              <a:buFont typeface="Garamond"/>
              <a:buChar char="●"/>
            </a:pPr>
            <a:r>
              <a:rPr sz="1700" b="0" u="none">
                <a:solidFill>
                  <a:srgbClr val="000000"/>
                </a:solidFill>
                <a:latin typeface="Garamond"/>
                <a:ea typeface="Garamond"/>
                <a:cs typeface="Garamond"/>
              </a:rPr>
              <a:t>GameChanger and DICK'S Media Network lifted Q2 gross margin (no figures)</a:t>
            </a:r>
          </a:p>
        </p:txBody>
      </p:sp>
      <p:sp>
        <p:nvSpPr>
          <p:cNvPr id="5" name="Header: The Catch"/>
          <p:cNvSpPr/>
          <p:nvPr/>
        </p:nvSpPr>
        <p:spPr>
          <a:xfrm>
            <a:off x="270662" y="3017774"/>
            <a:ext cx="594978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Catch</a:t>
            </a:r>
          </a:p>
        </p:txBody>
      </p:sp>
      <p:sp>
        <p:nvSpPr>
          <p:cNvPr id="6" name="Bullets"/>
          <p:cNvSpPr txBox="1"/>
          <p:nvPr/>
        </p:nvSpPr>
        <p:spPr>
          <a:xfrm>
            <a:off x="270662" y="3456686"/>
            <a:ext cx="5949783" cy="973073"/>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Capex </a:t>
            </a:r>
            <a:r>
              <a:rPr sz="1700" b="1" u="none">
                <a:solidFill>
                  <a:srgbClr val="000000"/>
                </a:solidFill>
                <a:latin typeface="Garamond"/>
                <a:ea typeface="Garamond"/>
                <a:cs typeface="Garamond"/>
              </a:rPr>
              <a:t>~$1.4B</a:t>
            </a:r>
            <a:r>
              <a:rPr sz="1700" b="0" u="none">
                <a:solidFill>
                  <a:srgbClr val="000000"/>
                </a:solidFill>
                <a:latin typeface="Garamond"/>
                <a:ea typeface="Garamond"/>
                <a:cs typeface="Garamond"/>
              </a:rPr>
              <a:t> (2.2x D&amp;A) while ROIC falls to ~10%</a:t>
            </a:r>
          </a:p>
          <a:p>
            <a:pPr marL="457200" indent="-336499">
              <a:buClr>
                <a:srgbClr val="000000"/>
              </a:buClr>
              <a:buSzPts val="1700"/>
              <a:buFont typeface="Garamond"/>
              <a:buChar char="●"/>
            </a:pPr>
            <a:r>
              <a:rPr sz="1700" b="0" u="none">
                <a:solidFill>
                  <a:srgbClr val="000000"/>
                </a:solidFill>
                <a:latin typeface="Garamond"/>
                <a:ea typeface="Garamond"/>
                <a:cs typeface="Garamond"/>
              </a:rPr>
              <a:t>No disclosed sales per store or payback for House of Sport</a:t>
            </a:r>
          </a:p>
        </p:txBody>
      </p:sp>
      <p:sp>
        <p:nvSpPr>
          <p:cNvPr id="7" name="Header: FY26 Store Openings Plan (count)"/>
          <p:cNvSpPr/>
          <p:nvPr/>
        </p:nvSpPr>
        <p:spPr>
          <a:xfrm>
            <a:off x="6494765" y="914400"/>
            <a:ext cx="5408893"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FY26 Store Openings Plan (count)</a:t>
            </a:r>
          </a:p>
        </p:txBody>
      </p:sp>
      <p:graphicFrame>
        <p:nvGraphicFramePr>
          <p:cNvPr id="8" name="Chart 7" descr="Doughnut chart. FY26 openings: House of Sport 14; Field House 20; Golf Galaxy Perf. Centers 15."/>
          <p:cNvGraphicFramePr>
            <a:graphicFrameLocks noGrp="1"/>
          </p:cNvGraphicFramePr>
          <p:nvPr/>
        </p:nvGraphicFramePr>
        <p:xfrm>
          <a:off x="6494765" y="1353312"/>
          <a:ext cx="5408893" cy="3944721"/>
        </p:xfrm>
        <a:graphic>
          <a:graphicData uri="http://schemas.openxmlformats.org/drawingml/2006/chart">
            <c:chart xmlns:c="http://schemas.openxmlformats.org/drawingml/2006/chart" r:id="rId2"/>
          </a:graphicData>
        </a:graphic>
      </p:graphicFrame>
      <p:sp>
        <p:nvSpPr>
          <p:cNvPr id="9" name="TextBox 8"/>
          <p:cNvSpPr txBox="1"/>
          <p:nvPr/>
        </p:nvSpPr>
        <p:spPr>
          <a:xfrm>
            <a:off x="6494765" y="5298033"/>
            <a:ext cx="5408893"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FY25 10-K and Q2 FY26 10-Q</a:t>
            </a:r>
          </a:p>
        </p:txBody>
      </p:sp>
      <p:sp>
        <p:nvSpPr>
          <p:cNvPr id="10" name="Stat Callout"/>
          <p:cNvSpPr/>
          <p:nvPr/>
        </p:nvSpPr>
        <p:spPr>
          <a:xfrm>
            <a:off x="6494765"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Bull (L6):</a:t>
            </a:r>
            <a:r>
              <a:rPr sz="1300" b="0" u="none">
                <a:solidFill>
                  <a:srgbClr val="FFFFFF"/>
                </a:solidFill>
                <a:latin typeface="Garamond"/>
                <a:ea typeface="Garamond"/>
                <a:cs typeface="Garamond"/>
              </a:rPr>
              <a:t> high-margin lines no model breaks out</a:t>
            </a:r>
          </a:p>
        </p:txBody>
      </p:sp>
      <p:sp>
        <p:nvSpPr>
          <p:cNvPr id="11" name="Stat Callout"/>
          <p:cNvSpPr/>
          <p:nvPr/>
        </p:nvSpPr>
        <p:spPr>
          <a:xfrm>
            <a:off x="9313512" y="5691225"/>
            <a:ext cx="2590146"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Bear (S10):</a:t>
            </a:r>
            <a:r>
              <a:rPr sz="1300" b="0" u="none">
                <a:solidFill>
                  <a:srgbClr val="FFFFFF"/>
                </a:solidFill>
                <a:latin typeface="Garamond"/>
                <a:ea typeface="Garamond"/>
                <a:cs typeface="Garamond"/>
              </a:rPr>
              <a:t> capex earns about its cost</a:t>
            </a:r>
          </a:p>
        </p:txBody>
      </p:sp>
      <p:sp>
        <p:nvSpPr>
          <p:cNvPr id="12"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3"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4"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5" name="Tracker: Growth Legs (active)"/>
          <p:cNvSpPr/>
          <p:nvPr/>
        </p:nvSpPr>
        <p:spPr>
          <a:xfrm>
            <a:off x="5702198"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6"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7"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8"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	Valuation</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Price Implies: Reverse DCF</a:t>
            </a:r>
          </a:p>
        </p:txBody>
      </p:sp>
      <p:sp>
        <p:nvSpPr>
          <p:cNvPr id="3" name="Header: Perpetual Growth After FY27 Implied by Each Valuation (%)"/>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Perpetual Growth After FY27 Implied by Each Valuation (%)</a:t>
            </a:r>
          </a:p>
        </p:txBody>
      </p:sp>
      <p:graphicFrame>
        <p:nvGraphicFramePr>
          <p:cNvPr id="4" name="Chart 3" descr="Stacked column chart. Implied by $136 price: WACC 8% -2.6; WACC 9% (base) -0.3; WACC 10% 2.2; WACC 11% 4.9. Implied by $166 mean target (9% WACC): Street target 2.9."/>
          <p:cNvGraphicFramePr>
            <a:graphicFrameLocks noGrp="1"/>
          </p:cNvGraphicFramePr>
          <p:nvPr/>
        </p:nvGraphicFramePr>
        <p:xfrm>
          <a:off x="270662" y="1353312"/>
          <a:ext cx="5679338" cy="3944721"/>
        </p:xfrm>
        <a:graphic>
          <a:graphicData uri="http://schemas.openxmlformats.org/drawingml/2006/chart">
            <c:chart xmlns:c="http://schemas.openxmlformats.org/drawingml/2006/chart" r:id="rId2"/>
          </a:graphicData>
        </a:graphic>
      </p:graphicFrame>
      <p:sp>
        <p:nvSpPr>
          <p:cNvPr id="5" name="TextBox 4"/>
          <p:cNvSpPr txBox="1"/>
          <p:nvPr/>
        </p:nvSpPr>
        <p:spPr>
          <a:xfrm>
            <a:off x="270662" y="5298033"/>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Reverse DCF from an FY27 EBIT anchor of $1.66B</a:t>
            </a:r>
          </a:p>
        </p:txBody>
      </p:sp>
      <p:sp>
        <p:nvSpPr>
          <p:cNvPr id="6" name="Stat Callout"/>
          <p:cNvSpPr/>
          <p:nvPr/>
        </p:nvSpPr>
        <p:spPr>
          <a:xfrm>
            <a:off x="270662"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Price =</a:t>
            </a:r>
            <a:r>
              <a:rPr sz="1300" b="0" u="none">
                <a:solidFill>
                  <a:srgbClr val="FFFFFF"/>
                </a:solidFill>
                <a:latin typeface="Garamond"/>
                <a:ea typeface="Garamond"/>
                <a:cs typeface="Garamond"/>
              </a:rPr>
              <a:t> the FY27 anchor, then ~0%/yr forever at 9%</a:t>
            </a:r>
          </a:p>
        </p:txBody>
      </p:sp>
      <p:sp>
        <p:nvSpPr>
          <p:cNvPr id="7" name="Stat Callout"/>
          <p:cNvSpPr/>
          <p:nvPr/>
        </p:nvSpPr>
        <p:spPr>
          <a:xfrm>
            <a:off x="3224631"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Equivalently:</a:t>
            </a:r>
            <a:r>
              <a:rPr sz="1300" b="0" u="none">
                <a:solidFill>
                  <a:srgbClr val="FFFFFF"/>
                </a:solidFill>
                <a:latin typeface="Garamond"/>
                <a:ea typeface="Garamond"/>
                <a:cs typeface="Garamond"/>
              </a:rPr>
              <a:t> Foot Locker at zero, DICK'S margin 10.2%</a:t>
            </a:r>
          </a:p>
        </p:txBody>
      </p:sp>
      <p:sp>
        <p:nvSpPr>
          <p:cNvPr id="8" name="Header: Multiples at $136.08"/>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Multiples at $136.08</a:t>
            </a:r>
          </a:p>
        </p:txBody>
      </p:sp>
      <p:graphicFrame>
        <p:nvGraphicFramePr>
          <p:cNvPr id="9" name="Table 8"/>
          <p:cNvGraphicFramePr>
            <a:graphicFrameLocks noGrp="1"/>
          </p:cNvGraphicFramePr>
          <p:nvPr/>
        </p:nvGraphicFramePr>
        <p:xfrm>
          <a:off x="6224320" y="1353312"/>
          <a:ext cx="5679337" cy="3016250"/>
        </p:xfrm>
        <a:graphic>
          <a:graphicData uri="http://schemas.openxmlformats.org/drawingml/2006/table">
            <a:tbl>
              <a:tblPr firstRow="0" bandRow="0">
                <a:tableStyleId>{2D5ABB26-0587-4C30-8999-92F81FD0307C}</a:tableStyleId>
              </a:tblPr>
              <a:tblGrid>
                <a:gridCol w="4022864"/>
                <a:gridCol w="1656473"/>
              </a:tblGrid>
              <a:tr h="301625">
                <a:tc>
                  <a:txBody>
                    <a:bodyPr/>
                    <a:lstStyle/>
                    <a:p>
                      <a:pPr algn="l"/>
                      <a:r>
                        <a:rPr sz="1250" b="1" u="none">
                          <a:solidFill>
                            <a:srgbClr val="FFFFFF"/>
                          </a:solidFill>
                          <a:latin typeface="Garamond"/>
                          <a:ea typeface="Garamond"/>
                          <a:cs typeface="Garamond"/>
                        </a:rPr>
                        <a:t>Metric</a:t>
                      </a:r>
                    </a:p>
                  </a:txBody>
                  <a:tcPr marL="54864" marR="54864" marT="18288" marB="18288" anchor="ctr">
                    <a:lnL w="0">
                      <a:noFill/>
                    </a:lnL>
                    <a:lnR w="0">
                      <a:noFill/>
                    </a:lnR>
                    <a:lnT w="0">
                      <a:noFill/>
                    </a:lnT>
                    <a:lnB w="0">
                      <a:noFill/>
                    </a:lnB>
                    <a:solidFill>
                      <a:srgbClr val="002060"/>
                    </a:solidFill>
                  </a:tcPr>
                </a:tc>
                <a:tc>
                  <a:txBody>
                    <a:bodyPr/>
                    <a:lstStyle/>
                    <a:p>
                      <a:pPr algn="r"/>
                      <a:r>
                        <a:rPr sz="1250" b="1" u="none">
                          <a:solidFill>
                            <a:srgbClr val="FFFFFF"/>
                          </a:solidFill>
                          <a:latin typeface="Garamond"/>
                          <a:ea typeface="Garamond"/>
                          <a:cs typeface="Garamond"/>
                        </a:rPr>
                        <a:t>Multiple</a:t>
                      </a:r>
                    </a:p>
                  </a:txBody>
                  <a:tcPr marL="54864" marR="54864" marT="18288" marB="18288" anchor="ctr">
                    <a:lnL w="0">
                      <a:noFill/>
                    </a:lnL>
                    <a:lnR w="0">
                      <a:noFill/>
                    </a:lnR>
                    <a:lnT w="0">
                      <a:noFill/>
                    </a:lnT>
                    <a:lnB w="0">
                      <a:noFill/>
                    </a:lnB>
                    <a:solidFill>
                      <a:srgbClr val="002060"/>
                    </a:solidFill>
                  </a:tcPr>
                </a:tc>
              </a:tr>
              <a:tr h="301625">
                <a:tc>
                  <a:txBody>
                    <a:bodyPr/>
                    <a:lstStyle/>
                    <a:p>
                      <a:pPr algn="l"/>
                      <a:r>
                        <a:rPr sz="1250" b="0" u="none">
                          <a:solidFill>
                            <a:srgbClr val="000000"/>
                          </a:solidFill>
                          <a:latin typeface="Garamond"/>
                          <a:ea typeface="Garamond"/>
                          <a:cs typeface="Garamond"/>
                        </a:rPr>
                        <a:t>EV / FY26E EBITDA</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6.2x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EV / FY26E EBIT</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8.8x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1" u="none">
                          <a:solidFill>
                            <a:srgbClr val="000000"/>
                          </a:solidFill>
                          <a:latin typeface="Garamond"/>
                          <a:ea typeface="Garamond"/>
                          <a:cs typeface="Garamond"/>
                        </a:rPr>
                        <a:t>P/E on FY26 EPS guide ($11.50)</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50" b="1" u="none">
                          <a:solidFill>
                            <a:srgbClr val="000000"/>
                          </a:solidFill>
                          <a:latin typeface="Garamond"/>
                          <a:ea typeface="Garamond"/>
                          <a:cs typeface="Garamond"/>
                        </a:rPr>
                        <a:t>11.8x</a:t>
                      </a:r>
                    </a:p>
                  </a:txBody>
                  <a:tcPr marL="54864" marR="54864" marT="18288" marB="18288" anchor="ctr">
                    <a:lnL w="0">
                      <a:noFill/>
                    </a:lnL>
                    <a:lnR w="0">
                      <a:noFill/>
                    </a:lnR>
                    <a:lnT w="0">
                      <a:noFill/>
                    </a:lnT>
                    <a:lnB w="6350">
                      <a:solidFill>
                        <a:srgbClr val="D9D9D9"/>
                      </a:solidFill>
                    </a:lnB>
                    <a:solidFill>
                      <a:srgbClr val="FFF2CC"/>
                    </a:solidFill>
                  </a:tcPr>
                </a:tc>
              </a:tr>
              <a:tr h="301625">
                <a:tc>
                  <a:txBody>
                    <a:bodyPr/>
                    <a:lstStyle/>
                    <a:p>
                      <a:pPr algn="l"/>
                      <a:r>
                        <a:rPr sz="1250" b="0" u="none">
                          <a:solidFill>
                            <a:srgbClr val="000000"/>
                          </a:solidFill>
                          <a:latin typeface="Garamond"/>
                          <a:ea typeface="Garamond"/>
                          <a:cs typeface="Garamond"/>
                        </a:rPr>
                        <a:t>P/E on FY27 anchor (~$13.19)</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10.3x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Street mean target / FY26 EPS</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14.4x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i="1">
                          <a:solidFill>
                            <a:srgbClr val="000000"/>
                          </a:solidFill>
                          <a:latin typeface="Garamond"/>
                          <a:ea typeface="Garamond"/>
                          <a:cs typeface="Garamond"/>
                        </a:rPr>
                        <a:t>Context</a:t>
                      </a:r>
                    </a:p>
                  </a:txBody>
                  <a:tcPr marL="54864" marR="54864" marT="18288" marB="18288" anchor="ctr">
                    <a:lnL w="0">
                      <a:noFill/>
                    </a:lnL>
                    <a:lnR w="0">
                      <a:noFill/>
                    </a:lnR>
                    <a:lnT w="0">
                      <a:noFill/>
                    </a:lnT>
                    <a:lnB w="6350">
                      <a:solidFill>
                        <a:srgbClr val="D9D9D9"/>
                      </a:solidFill>
                    </a:lnB>
                    <a:noFill/>
                  </a:tcPr>
                </a:tc>
                <a:tc>
                  <a:txBody>
                    <a:bodyPr/>
                    <a:lstStyle/>
                    <a:p>
                      <a:pPr algn="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    Academy (trailing P/E)</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~8.1x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    DKS at its Jan 2025 high (P/E)</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~17.8x</a:t>
                      </a:r>
                    </a:p>
                  </a:txBody>
                  <a:tcPr marL="54864" marR="54864" marT="18288" marB="18288" anchor="ctr">
                    <a:lnL w="0">
                      <a:noFill/>
                    </a:lnL>
                    <a:lnR w="0">
                      <a:noFill/>
                    </a:lnR>
                    <a:lnT w="0">
                      <a:noFill/>
                    </a:lnT>
                    <a:lnB w="6350">
                      <a:solidFill>
                        <a:srgbClr val="D9D9D9"/>
                      </a:solidFill>
                    </a:lnB>
                    <a:noFill/>
                  </a:tcPr>
                </a:tc>
              </a:tr>
              <a:tr h="301625">
                <a:tc>
                  <a:txBody>
                    <a:bodyPr/>
                    <a:lstStyle/>
                    <a:p>
                      <a:pPr algn="l"/>
                      <a:r>
                        <a:rPr sz="1250" b="0" u="none">
                          <a:solidFill>
                            <a:srgbClr val="000000"/>
                          </a:solidFill>
                          <a:latin typeface="Garamond"/>
                          <a:ea typeface="Garamond"/>
                          <a:cs typeface="Garamond"/>
                        </a:rPr>
                        <a:t>    Dividend yield</a:t>
                      </a:r>
                    </a:p>
                  </a:txBody>
                  <a:tcPr marL="54864" marR="54864" marT="18288" marB="18288" anchor="ctr">
                    <a:lnL w="0">
                      <a:noFill/>
                    </a:lnL>
                    <a:lnR w="0">
                      <a:noFill/>
                    </a:lnR>
                    <a:lnT w="0">
                      <a:noFill/>
                    </a:lnT>
                    <a:lnB w="6350">
                      <a:solidFill>
                        <a:srgbClr val="D9D9D9"/>
                      </a:solidFill>
                    </a:lnB>
                    <a:noFill/>
                  </a:tcPr>
                </a:tc>
                <a:tc>
                  <a:txBody>
                    <a:bodyPr/>
                    <a:lstStyle/>
                    <a:p>
                      <a:pPr algn="r"/>
                      <a:r>
                        <a:rPr sz="1250" b="0" u="none">
                          <a:solidFill>
                            <a:srgbClr val="000000"/>
                          </a:solidFill>
                          <a:latin typeface="Garamond"/>
                          <a:ea typeface="Garamond"/>
                          <a:cs typeface="Garamond"/>
                        </a:rPr>
                        <a:t>3.7%</a:t>
                      </a:r>
                    </a:p>
                  </a:txBody>
                  <a:tcPr marL="54864" marR="54864" marT="18288" marB="18288" anchor="ctr">
                    <a:lnL w="0">
                      <a:noFill/>
                    </a:lnL>
                    <a:lnR w="0">
                      <a:noFill/>
                    </a:lnR>
                    <a:lnT w="0">
                      <a:noFill/>
                    </a:lnT>
                    <a:lnB w="6350">
                      <a:solidFill>
                        <a:srgbClr val="D9D9D9"/>
                      </a:solidFill>
                    </a:lnB>
                    <a:noFill/>
                  </a:tcPr>
                </a:tc>
              </a:tr>
            </a:tbl>
          </a:graphicData>
        </a:graphic>
      </p:graphicFrame>
      <p:sp>
        <p:nvSpPr>
          <p:cNvPr id="10" name="Bullets"/>
          <p:cNvSpPr txBox="1"/>
          <p:nvPr/>
        </p:nvSpPr>
        <p:spPr>
          <a:xfrm>
            <a:off x="6224320" y="4581144"/>
            <a:ext cx="5679338"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The stock de-rated from </a:t>
            </a:r>
            <a:r>
              <a:rPr sz="1700" b="1" u="none">
                <a:solidFill>
                  <a:srgbClr val="000000"/>
                </a:solidFill>
                <a:latin typeface="Garamond"/>
                <a:ea typeface="Garamond"/>
                <a:cs typeface="Garamond"/>
              </a:rPr>
              <a:t>~18x to ~12x</a:t>
            </a:r>
            <a:r>
              <a:rPr sz="1700" b="0" u="none">
                <a:solidFill>
                  <a:srgbClr val="000000"/>
                </a:solidFill>
                <a:latin typeface="Garamond"/>
                <a:ea typeface="Garamond"/>
                <a:cs typeface="Garamond"/>
              </a:rPr>
              <a:t> earnings; the price treats Foot Locker as a liability</a:t>
            </a:r>
          </a:p>
        </p:txBody>
      </p:sp>
      <p:sp>
        <p:nvSpPr>
          <p:cNvPr id="11"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2"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3"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4"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5" name="Tracker: Valuation (active)"/>
          <p:cNvSpPr/>
          <p:nvPr/>
        </p:nvSpPr>
        <p:spPr>
          <a:xfrm>
            <a:off x="7221321"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6"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Market-Implied Assumptions vs. Our Base</a:t>
            </a:r>
          </a:p>
        </p:txBody>
      </p:sp>
      <p:sp>
        <p:nvSpPr>
          <p:cNvPr id="3" name="Header: The Load-Bearing Variables Are the Two Margins"/>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The Load-Bearing Variables Are the Two Margins</a:t>
            </a:r>
          </a:p>
        </p:txBody>
      </p:sp>
      <p:graphicFrame>
        <p:nvGraphicFramePr>
          <p:cNvPr id="4" name="Table 3"/>
          <p:cNvGraphicFramePr>
            <a:graphicFrameLocks noGrp="1"/>
          </p:cNvGraphicFramePr>
          <p:nvPr/>
        </p:nvGraphicFramePr>
        <p:xfrm>
          <a:off x="270662" y="1444752"/>
          <a:ext cx="11632993" cy="2195830"/>
        </p:xfrm>
        <a:graphic>
          <a:graphicData uri="http://schemas.openxmlformats.org/drawingml/2006/table">
            <a:tbl>
              <a:tblPr firstRow="0" bandRow="0">
                <a:tableStyleId>{2D5ABB26-0587-4C30-8999-92F81FD0307C}</a:tableStyleId>
              </a:tblPr>
              <a:tblGrid>
                <a:gridCol w="2607395"/>
                <a:gridCol w="1704835"/>
                <a:gridCol w="1905404"/>
                <a:gridCol w="1504266"/>
                <a:gridCol w="1604551"/>
                <a:gridCol w="2306542"/>
              </a:tblGrid>
              <a:tr h="313690">
                <a:tc>
                  <a:txBody>
                    <a:bodyPr/>
                    <a:lstStyle/>
                    <a:p>
                      <a:pPr algn="l"/>
                      <a:r>
                        <a:rPr sz="1300" b="1" u="none">
                          <a:solidFill>
                            <a:srgbClr val="FFFFFF"/>
                          </a:solidFill>
                          <a:latin typeface="Garamond"/>
                          <a:ea typeface="Garamond"/>
                          <a:cs typeface="Garamond"/>
                        </a:rPr>
                        <a:t>Variable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Implied by price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Consensus</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Our base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Range</a:t>
                      </a:r>
                    </a:p>
                  </a:txBody>
                  <a:tcPr marL="54864" marR="54864" marT="18288" marB="18288" anchor="ctr">
                    <a:lnL w="0">
                      <a:noFill/>
                    </a:lnL>
                    <a:lnR w="0">
                      <a:noFill/>
                    </a:lnR>
                    <a:lnT w="0">
                      <a:noFill/>
                    </a:lnT>
                    <a:lnB w="0">
                      <a:noFill/>
                    </a:lnB>
                    <a:solidFill>
                      <a:srgbClr val="002060"/>
                    </a:solidFill>
                  </a:tcPr>
                </a:tc>
                <a:tc>
                  <a:txBody>
                    <a:bodyPr/>
                    <a:lstStyle/>
                    <a:p>
                      <a:pPr algn="r"/>
                      <a:r>
                        <a:rPr sz="1300" b="1" u="none">
                          <a:solidFill>
                            <a:srgbClr val="FFFFFF"/>
                          </a:solidFill>
                          <a:latin typeface="Garamond"/>
                          <a:ea typeface="Garamond"/>
                          <a:cs typeface="Garamond"/>
                        </a:rPr>
                        <a:t>Sensitivity ($/sh)</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1" u="none">
                          <a:solidFill>
                            <a:srgbClr val="000000"/>
                          </a:solidFill>
                          <a:latin typeface="Garamond"/>
                          <a:ea typeface="Garamond"/>
                          <a:cs typeface="Garamond"/>
                        </a:rPr>
                        <a:t>DICK'S margin (FY27+)</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10.2% (FL 0%)</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11.0-11.4%</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10.8%</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9.0-11.8%</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+/-1pp = +/-$17</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1" u="none">
                          <a:solidFill>
                            <a:srgbClr val="000000"/>
                          </a:solidFill>
                          <a:latin typeface="Garamond"/>
                          <a:ea typeface="Garamond"/>
                          <a:cs typeface="Garamond"/>
                        </a:rPr>
                        <a:t>Foot Locker margin (FY28+)</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-1.2%</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~2%</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2.0-2.5%</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-0.5% to 4.5%</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300" b="1" u="none">
                          <a:solidFill>
                            <a:srgbClr val="000000"/>
                          </a:solidFill>
                          <a:latin typeface="Garamond"/>
                          <a:ea typeface="Garamond"/>
                          <a:cs typeface="Garamond"/>
                        </a:rPr>
                        <a:t>+/-2pp = +/-$14</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0" u="none">
                          <a:solidFill>
                            <a:srgbClr val="000000"/>
                          </a:solidFill>
                          <a:latin typeface="Garamond"/>
                          <a:ea typeface="Garamond"/>
                          <a:cs typeface="Garamond"/>
                        </a:rPr>
                        <a:t>Perpetual growth after FY27</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-0.3%</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+2.9% (Street)</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+2.0%</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0.5-2.5%</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-$9 / +$11 per 1pp</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DICK'S sales growth</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+2.5-4.0% comps</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+3.5%</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1.5-4.5%</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-$8 / +$5</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DICK'S capex (% of sales)</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~$1.4B in FY26</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6.5% to 4.5%</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+/-1pp</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+/-$6</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WACC</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n/a</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9%</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8-11%</a:t>
                      </a:r>
                    </a:p>
                  </a:txBody>
                  <a:tcPr marL="54864" marR="54864" marT="18288" marB="18288" anchor="ctr">
                    <a:lnL w="0">
                      <a:noFill/>
                    </a:lnL>
                    <a:lnR w="0">
                      <a:noFill/>
                    </a:lnR>
                    <a:lnT w="0">
                      <a:noFill/>
                    </a:lnT>
                    <a:lnB w="6350">
                      <a:solidFill>
                        <a:srgbClr val="D9D9D9"/>
                      </a:solidFill>
                    </a:lnB>
                    <a:noFill/>
                  </a:tcPr>
                </a:tc>
                <a:tc>
                  <a:txBody>
                    <a:bodyPr/>
                    <a:lstStyle/>
                    <a:p>
                      <a:pPr algn="r"/>
                      <a:r>
                        <a:rPr sz="1300" b="0" u="none">
                          <a:solidFill>
                            <a:srgbClr val="000000"/>
                          </a:solidFill>
                          <a:latin typeface="Garamond"/>
                          <a:ea typeface="Garamond"/>
                          <a:cs typeface="Garamond"/>
                        </a:rPr>
                        <a:t>-$23 / +$30 per 1pp</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Header: Value at Stake per One-Step Change ($/share)"/>
          <p:cNvSpPr/>
          <p:nvPr/>
        </p:nvSpPr>
        <p:spPr>
          <a:xfrm>
            <a:off x="270662" y="3849624"/>
            <a:ext cx="6525197"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Value at Stake per One-Step Change ($/share)</a:t>
            </a:r>
          </a:p>
        </p:txBody>
      </p:sp>
      <p:graphicFrame>
        <p:nvGraphicFramePr>
          <p:cNvPr id="6" name="Chart 5" descr="Bar chart. Value per share: Capex +/-1pp 6; Sales growth 7; Terminal growth +/-1pp 10; Foot Locker margin +/-2pp 14; DICK'S margin +/-1pp 17; WACC +/-1pp 27."/>
          <p:cNvGraphicFramePr>
            <a:graphicFrameLocks noGrp="1"/>
          </p:cNvGraphicFramePr>
          <p:nvPr/>
        </p:nvGraphicFramePr>
        <p:xfrm>
          <a:off x="270662" y="4288536"/>
          <a:ext cx="6525197" cy="2048255"/>
        </p:xfrm>
        <a:graphic>
          <a:graphicData uri="http://schemas.openxmlformats.org/drawingml/2006/chart">
            <c:chart xmlns:c="http://schemas.openxmlformats.org/drawingml/2006/chart" r:id="rId2"/>
          </a:graphicData>
        </a:graphic>
      </p:graphicFrame>
      <p:sp>
        <p:nvSpPr>
          <p:cNvPr id="7" name="Header: Base Rates"/>
          <p:cNvSpPr/>
          <p:nvPr/>
        </p:nvSpPr>
        <p:spPr>
          <a:xfrm>
            <a:off x="7070179" y="3849624"/>
            <a:ext cx="4833479"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Base Rates</a:t>
            </a:r>
          </a:p>
        </p:txBody>
      </p:sp>
      <p:sp>
        <p:nvSpPr>
          <p:cNvPr id="8" name="Stat Callout"/>
          <p:cNvSpPr/>
          <p:nvPr/>
        </p:nvSpPr>
        <p:spPr>
          <a:xfrm>
            <a:off x="7070179" y="4288536"/>
            <a:ext cx="483347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Margin:</a:t>
            </a:r>
            <a:r>
              <a:rPr sz="1300" b="0" u="none">
                <a:solidFill>
                  <a:srgbClr val="FFFFFF"/>
                </a:solidFill>
                <a:latin typeface="Garamond"/>
                <a:ea typeface="Garamond"/>
                <a:cs typeface="Garamond"/>
              </a:rPr>
              <a:t> peers earn 7.4-8.5%; DICK'S 11.1% is the outlier</a:t>
            </a:r>
          </a:p>
        </p:txBody>
      </p:sp>
      <p:sp>
        <p:nvSpPr>
          <p:cNvPr id="9" name="Stat Callout"/>
          <p:cNvSpPr/>
          <p:nvPr/>
        </p:nvSpPr>
        <p:spPr>
          <a:xfrm>
            <a:off x="7070179" y="5025542"/>
            <a:ext cx="483347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Growth:</a:t>
            </a:r>
            <a:r>
              <a:rPr sz="1300" b="0" u="none">
                <a:solidFill>
                  <a:srgbClr val="FFFFFF"/>
                </a:solidFill>
                <a:latin typeface="Garamond"/>
                <a:ea typeface="Garamond"/>
                <a:cs typeface="Garamond"/>
              </a:rPr>
              <a:t> industry +3.7% in 2025; ~6%/yr since 2020</a:t>
            </a:r>
          </a:p>
        </p:txBody>
      </p:sp>
      <p:sp>
        <p:nvSpPr>
          <p:cNvPr id="10"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1"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2"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3"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4" name="Tracker: Valuation (active)"/>
          <p:cNvSpPr/>
          <p:nvPr/>
        </p:nvSpPr>
        <p:spPr>
          <a:xfrm>
            <a:off x="7221321"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5"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6"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Scenarios: 24-Month Value vs. Intrinsic DCF</a:t>
            </a:r>
          </a:p>
        </p:txBody>
      </p:sp>
      <p:sp>
        <p:nvSpPr>
          <p:cNvPr id="3" name="Header: 24-Month Scenarios ($/share)"/>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24-Month Scenarios ($/share)</a:t>
            </a:r>
          </a:p>
        </p:txBody>
      </p:sp>
      <p:graphicFrame>
        <p:nvGraphicFramePr>
          <p:cNvPr id="4" name="Chart 3" descr="Stacked column chart. Scenario value: Bear (30%) 95; Base (45%) 170; Bull (25%) 270. Probability-weighted: Weighted 172. Price today: Price today 136."/>
          <p:cNvGraphicFramePr>
            <a:graphicFrameLocks noGrp="1"/>
          </p:cNvGraphicFramePr>
          <p:nvPr/>
        </p:nvGraphicFramePr>
        <p:xfrm>
          <a:off x="270662" y="1353312"/>
          <a:ext cx="5679338" cy="3207715"/>
        </p:xfrm>
        <a:graphic>
          <a:graphicData uri="http://schemas.openxmlformats.org/drawingml/2006/chart">
            <c:chart xmlns:c="http://schemas.openxmlformats.org/drawingml/2006/chart" r:id="rId2"/>
          </a:graphicData>
        </a:graphic>
      </p:graphicFrame>
      <p:sp>
        <p:nvSpPr>
          <p:cNvPr id="5" name="TextBox 4"/>
          <p:cNvSpPr txBox="1"/>
          <p:nvPr/>
        </p:nvSpPr>
        <p:spPr>
          <a:xfrm>
            <a:off x="270662" y="4561027"/>
            <a:ext cx="5679338" cy="228600"/>
          </a:xfrm>
          <a:prstGeom prst="rect">
            <a:avLst/>
          </a:prstGeom>
          <a:noFill/>
        </p:spPr>
        <p:txBody>
          <a:bodyPr wrap="square" tIns="0" bIns="0" anchor="t">
            <a:noAutofit/>
          </a:bodyPr>
          <a:lstStyle/>
          <a:p>
            <a:r>
              <a:rPr sz="900" b="0" u="none">
                <a:solidFill>
                  <a:srgbClr val="888888"/>
                </a:solidFill>
                <a:latin typeface="Garamond"/>
                <a:ea typeface="Garamond"/>
                <a:cs typeface="Garamond"/>
              </a:rPr>
              <a:t>Source: Model, App. A: exit at ~Oct 2028 on FY29E EBITDA, incl. $10 of dividends</a:t>
            </a:r>
          </a:p>
        </p:txBody>
      </p:sp>
      <p:sp>
        <p:nvSpPr>
          <p:cNvPr id="6" name="Stat Callout"/>
          <p:cNvSpPr/>
          <p:nvPr/>
        </p:nvSpPr>
        <p:spPr>
          <a:xfrm>
            <a:off x="270662" y="4954219"/>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+27% in 24 months</a:t>
            </a:r>
            <a:r>
              <a:rPr sz="1300" b="0" u="none">
                <a:solidFill>
                  <a:srgbClr val="FFFFFF"/>
                </a:solidFill>
                <a:latin typeface="Garamond"/>
                <a:ea typeface="Garamond"/>
                <a:cs typeface="Garamond"/>
              </a:rPr>
              <a:t> (~12.5%/yr) vs. a ~10% hurdle</a:t>
            </a:r>
          </a:p>
        </p:txBody>
      </p:sp>
      <p:sp>
        <p:nvSpPr>
          <p:cNvPr id="7" name="Stat Callout"/>
          <p:cNvSpPr/>
          <p:nvPr/>
        </p:nvSpPr>
        <p:spPr>
          <a:xfrm>
            <a:off x="3224631" y="4954219"/>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Skew:</a:t>
            </a:r>
            <a:r>
              <a:rPr sz="1300" b="0" u="none">
                <a:solidFill>
                  <a:srgbClr val="FFFFFF"/>
                </a:solidFill>
                <a:latin typeface="Garamond"/>
                <a:ea typeface="Garamond"/>
                <a:cs typeface="Garamond"/>
              </a:rPr>
              <a:t> +98% bull vs. -30% bear</a:t>
            </a:r>
          </a:p>
        </p:txBody>
      </p:sp>
      <p:sp>
        <p:nvSpPr>
          <p:cNvPr id="8" name="Stat Callout"/>
          <p:cNvSpPr/>
          <p:nvPr/>
        </p:nvSpPr>
        <p:spPr>
          <a:xfrm>
            <a:off x="270662"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Weighted DCF (30/45/25):</a:t>
            </a:r>
            <a:r>
              <a:rPr sz="1300" b="0" u="none">
                <a:solidFill>
                  <a:srgbClr val="FFFFFF"/>
                </a:solidFill>
                <a:latin typeface="Garamond"/>
                <a:ea typeface="Garamond"/>
                <a:cs typeface="Garamond"/>
              </a:rPr>
              <a:t> $156 a share (+15%)</a:t>
            </a:r>
          </a:p>
        </p:txBody>
      </p:sp>
      <p:sp>
        <p:nvSpPr>
          <p:cNvPr id="9" name="Stat Callout"/>
          <p:cNvSpPr/>
          <p:nvPr/>
        </p:nvSpPr>
        <p:spPr>
          <a:xfrm>
            <a:off x="3224631" y="5691225"/>
            <a:ext cx="2725369"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Fragile:</a:t>
            </a:r>
            <a:r>
              <a:rPr sz="1300" b="0" u="none">
                <a:solidFill>
                  <a:srgbClr val="FFFFFF"/>
                </a:solidFill>
                <a:latin typeface="Garamond"/>
                <a:ea typeface="Garamond"/>
                <a:cs typeface="Garamond"/>
              </a:rPr>
              <a:t> 5 points of odds from bull to bear erase the excess</a:t>
            </a:r>
          </a:p>
        </p:txBody>
      </p:sp>
      <p:sp>
        <p:nvSpPr>
          <p:cNvPr id="10" name="Header: Intrinsic SOTP DCF at 9% WACC ($M)"/>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Intrinsic SOTP DCF at 9% WACC ($M)</a:t>
            </a:r>
          </a:p>
        </p:txBody>
      </p:sp>
      <p:graphicFrame>
        <p:nvGraphicFramePr>
          <p:cNvPr id="11" name="Table 10"/>
          <p:cNvGraphicFramePr>
            <a:graphicFrameLocks noGrp="1"/>
          </p:cNvGraphicFramePr>
          <p:nvPr/>
        </p:nvGraphicFramePr>
        <p:xfrm>
          <a:off x="6224320" y="1353312"/>
          <a:ext cx="5679336" cy="2026920"/>
        </p:xfrm>
        <a:graphic>
          <a:graphicData uri="http://schemas.openxmlformats.org/drawingml/2006/table">
            <a:tbl>
              <a:tblPr firstRow="0" bandRow="0">
                <a:tableStyleId>{2D5ABB26-0587-4C30-8999-92F81FD0307C}</a:tableStyleId>
              </a:tblPr>
              <a:tblGrid>
                <a:gridCol w="2271735"/>
                <a:gridCol w="1135867"/>
                <a:gridCol w="1135867"/>
                <a:gridCol w="1135867"/>
              </a:tblGrid>
              <a:tr h="289560">
                <a:tc>
                  <a:txBody>
                    <a:bodyPr/>
                    <a:lstStyle/>
                    <a:p>
                      <a:pPr algn="l"/>
                      <a:r>
                        <a:rPr sz="1200" b="1" u="none">
                          <a:solidFill>
                            <a:srgbClr val="FFFFFF"/>
                          </a:solidFill>
                          <a:latin typeface="Garamond"/>
                          <a:ea typeface="Garamond"/>
                          <a:cs typeface="Garamond"/>
                        </a:rPr>
                        <a:t>Block</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Bear</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Base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Bull</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DICK'S Business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10,778</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15,069</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17,920</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Foot Locker Business</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(233)</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1,308</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2,962</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Unallocated cost</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(614)</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(661)</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(691)</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Enterprise value</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9,931</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15,716</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20,190</a:t>
                      </a:r>
                    </a:p>
                  </a:txBody>
                  <a:tcPr marL="54864" marR="54864" marT="18288" marB="18288" anchor="ctr">
                    <a:lnL w="0">
                      <a:noFill/>
                    </a:lnL>
                    <a:lnR w="0">
                      <a:noFill/>
                    </a:lnR>
                    <a:lnT w="12700">
                      <a:solidFill>
                        <a:srgbClr val="002060"/>
                      </a:solid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Less net debt</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(1,020)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(1,020)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(1,020)</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Value per share</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$99</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$163</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r"/>
                      <a:r>
                        <a:rPr sz="1200" b="1" u="none">
                          <a:solidFill>
                            <a:srgbClr val="000000"/>
                          </a:solidFill>
                          <a:latin typeface="Garamond"/>
                          <a:ea typeface="Garamond"/>
                          <a:cs typeface="Garamond"/>
                        </a:rPr>
                        <a:t>$213</a:t>
                      </a:r>
                    </a:p>
                  </a:txBody>
                  <a:tcPr marL="54864" marR="54864" marT="18288" marB="18288" anchor="ctr">
                    <a:lnL w="0">
                      <a:noFill/>
                    </a:lnL>
                    <a:lnR w="0">
                      <a:noFill/>
                    </a:lnR>
                    <a:lnT w="0">
                      <a:noFill/>
                    </a:lnT>
                    <a:lnB w="6350">
                      <a:solidFill>
                        <a:srgbClr val="D9D9D9"/>
                      </a:solidFill>
                    </a:lnB>
                    <a:solidFill>
                      <a:srgbClr val="FFF2CC"/>
                    </a:solidFill>
                  </a:tcPr>
                </a:tc>
              </a:tr>
            </a:tbl>
          </a:graphicData>
        </a:graphic>
      </p:graphicFrame>
      <p:sp>
        <p:nvSpPr>
          <p:cNvPr id="12" name="Header: 24-Month Scenario Math"/>
          <p:cNvSpPr/>
          <p:nvPr/>
        </p:nvSpPr>
        <p:spPr>
          <a:xfrm>
            <a:off x="6224320" y="3575304"/>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24-Month Scenario Math</a:t>
            </a:r>
          </a:p>
        </p:txBody>
      </p:sp>
      <p:graphicFrame>
        <p:nvGraphicFramePr>
          <p:cNvPr id="13" name="Table 12"/>
          <p:cNvGraphicFramePr>
            <a:graphicFrameLocks noGrp="1"/>
          </p:cNvGraphicFramePr>
          <p:nvPr/>
        </p:nvGraphicFramePr>
        <p:xfrm>
          <a:off x="6224320" y="4014216"/>
          <a:ext cx="5679336" cy="1447800"/>
        </p:xfrm>
        <a:graphic>
          <a:graphicData uri="http://schemas.openxmlformats.org/drawingml/2006/table">
            <a:tbl>
              <a:tblPr firstRow="0" bandRow="0">
                <a:tableStyleId>{2D5ABB26-0587-4C30-8999-92F81FD0307C}</a:tableStyleId>
              </a:tblPr>
              <a:tblGrid>
                <a:gridCol w="1652171"/>
                <a:gridCol w="1445649"/>
                <a:gridCol w="1445649"/>
                <a:gridCol w="1135867"/>
              </a:tblGrid>
              <a:tr h="289560">
                <a:tc>
                  <a:txBody>
                    <a:bodyPr/>
                    <a:lstStyle/>
                    <a:p>
                      <a:pPr algn="l"/>
                      <a:r>
                        <a:rPr sz="1200" b="1" u="none">
                          <a:solidFill>
                            <a:srgbClr val="FFFFFF"/>
                          </a:solidFill>
                          <a:latin typeface="Garamond"/>
                          <a:ea typeface="Garamond"/>
                          <a:cs typeface="Garamond"/>
                        </a:rPr>
                        <a:t>Scenario</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FY29E EBITDA</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Exit multiple</a:t>
                      </a:r>
                    </a:p>
                  </a:txBody>
                  <a:tcPr marL="54864" marR="54864" marT="18288" marB="18288" anchor="ctr">
                    <a:lnL w="0">
                      <a:noFill/>
                    </a:lnL>
                    <a:lnR w="0">
                      <a:noFill/>
                    </a:lnR>
                    <a:lnT w="0">
                      <a:noFill/>
                    </a:lnT>
                    <a:lnB w="0">
                      <a:noFill/>
                    </a:lnB>
                    <a:solidFill>
                      <a:srgbClr val="002060"/>
                    </a:solidFill>
                  </a:tcPr>
                </a:tc>
                <a:tc>
                  <a:txBody>
                    <a:bodyPr/>
                    <a:lstStyle/>
                    <a:p>
                      <a:pPr algn="r"/>
                      <a:r>
                        <a:rPr sz="1200" b="1" u="none">
                          <a:solidFill>
                            <a:srgbClr val="FFFFFF"/>
                          </a:solidFill>
                          <a:latin typeface="Garamond"/>
                          <a:ea typeface="Garamond"/>
                          <a:cs typeface="Garamond"/>
                        </a:rPr>
                        <a:t>Value</a:t>
                      </a:r>
                    </a:p>
                  </a:txBody>
                  <a:tcPr marL="54864" marR="54864" marT="18288" marB="18288" anchor="ctr">
                    <a:lnL w="0">
                      <a:noFill/>
                    </a:lnL>
                    <a:lnR w="0">
                      <a:noFill/>
                    </a:lnR>
                    <a:lnT w="0">
                      <a:noFill/>
                    </a:lnT>
                    <a:lnB w="0">
                      <a:noFill/>
                    </a:lnB>
                    <a:solidFill>
                      <a:srgbClr val="002060"/>
                    </a:solidFill>
                  </a:tcPr>
                </a:tc>
              </a:tr>
              <a:tr h="289560">
                <a:tc>
                  <a:txBody>
                    <a:bodyPr/>
                    <a:lstStyle/>
                    <a:p>
                      <a:pPr algn="l"/>
                      <a:r>
                        <a:rPr sz="1200" b="0" u="none">
                          <a:solidFill>
                            <a:srgbClr val="000000"/>
                          </a:solidFill>
                          <a:latin typeface="Garamond"/>
                          <a:ea typeface="Garamond"/>
                          <a:cs typeface="Garamond"/>
                        </a:rPr>
                        <a:t>Bear (30%)</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$1.93B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4.5x</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$95</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Base (45%)</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$2.51B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6.0x</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$170</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0" u="none">
                          <a:solidFill>
                            <a:srgbClr val="000000"/>
                          </a:solidFill>
                          <a:latin typeface="Garamond"/>
                          <a:ea typeface="Garamond"/>
                          <a:cs typeface="Garamond"/>
                        </a:rPr>
                        <a:t>Bull (25%)</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$2.93B</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8.0x</a:t>
                      </a:r>
                    </a:p>
                  </a:txBody>
                  <a:tcPr marL="54864" marR="54864" marT="18288" marB="18288" anchor="ctr">
                    <a:lnL w="0">
                      <a:noFill/>
                    </a:lnL>
                    <a:lnR w="0">
                      <a:noFill/>
                    </a:lnR>
                    <a:lnT w="0">
                      <a:noFill/>
                    </a:lnT>
                    <a:lnB w="6350">
                      <a:solidFill>
                        <a:srgbClr val="D9D9D9"/>
                      </a:solidFill>
                    </a:lnB>
                    <a:noFill/>
                  </a:tcPr>
                </a:tc>
                <a:tc>
                  <a:txBody>
                    <a:bodyPr/>
                    <a:lstStyle/>
                    <a:p>
                      <a:pPr algn="r"/>
                      <a:r>
                        <a:rPr sz="1200" b="0" u="none">
                          <a:solidFill>
                            <a:srgbClr val="000000"/>
                          </a:solidFill>
                          <a:latin typeface="Garamond"/>
                          <a:ea typeface="Garamond"/>
                          <a:cs typeface="Garamond"/>
                        </a:rPr>
                        <a:t>$270</a:t>
                      </a:r>
                    </a:p>
                  </a:txBody>
                  <a:tcPr marL="54864" marR="54864" marT="18288" marB="18288" anchor="ctr">
                    <a:lnL w="0">
                      <a:noFill/>
                    </a:lnL>
                    <a:lnR w="0">
                      <a:noFill/>
                    </a:lnR>
                    <a:lnT w="0">
                      <a:noFill/>
                    </a:lnT>
                    <a:lnB w="6350">
                      <a:solidFill>
                        <a:srgbClr val="D9D9D9"/>
                      </a:solidFill>
                    </a:lnB>
                    <a:noFill/>
                  </a:tcPr>
                </a:tc>
              </a:tr>
              <a:tr h="289560">
                <a:tc>
                  <a:txBody>
                    <a:bodyPr/>
                    <a:lstStyle/>
                    <a:p>
                      <a:pPr algn="l"/>
                      <a:r>
                        <a:rPr sz="1200" b="1" u="none">
                          <a:solidFill>
                            <a:srgbClr val="000000"/>
                          </a:solidFill>
                          <a:latin typeface="Garamond"/>
                          <a:ea typeface="Garamond"/>
                          <a:cs typeface="Garamond"/>
                        </a:rPr>
                        <a:t>Probability-weighted</a:t>
                      </a: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p>
                  </a:txBody>
                  <a:tcPr marL="54864" marR="54864" marT="18288" marB="18288" anchor="ctr">
                    <a:lnL w="0">
                      <a:noFill/>
                    </a:lnL>
                    <a:lnR w="0">
                      <a:noFill/>
                    </a:lnR>
                    <a:lnT w="12700">
                      <a:solidFill>
                        <a:srgbClr val="002060"/>
                      </a:solidFill>
                    </a:lnT>
                    <a:lnB w="6350">
                      <a:solidFill>
                        <a:srgbClr val="D9D9D9"/>
                      </a:solidFill>
                    </a:lnB>
                    <a:noFill/>
                  </a:tcPr>
                </a:tc>
                <a:tc>
                  <a:txBody>
                    <a:bodyPr/>
                    <a:lstStyle/>
                    <a:p>
                      <a:pPr algn="r"/>
                      <a:r>
                        <a:rPr sz="1200" b="1" u="none">
                          <a:solidFill>
                            <a:srgbClr val="000000"/>
                          </a:solidFill>
                          <a:latin typeface="Garamond"/>
                          <a:ea typeface="Garamond"/>
                          <a:cs typeface="Garamond"/>
                        </a:rPr>
                        <a:t>$172</a:t>
                      </a:r>
                    </a:p>
                  </a:txBody>
                  <a:tcPr marL="54864" marR="54864" marT="18288" marB="18288" anchor="ctr">
                    <a:lnL w="0">
                      <a:noFill/>
                    </a:lnL>
                    <a:lnR w="0">
                      <a:noFill/>
                    </a:lnR>
                    <a:lnT w="12700">
                      <a:solidFill>
                        <a:srgbClr val="002060"/>
                      </a:solidFill>
                    </a:lnT>
                    <a:lnB w="6350">
                      <a:solidFill>
                        <a:srgbClr val="D9D9D9"/>
                      </a:solidFill>
                    </a:lnB>
                    <a:noFill/>
                  </a:tcPr>
                </a:tc>
              </a:tr>
            </a:tbl>
          </a:graphicData>
        </a:graphic>
      </p:graphicFrame>
      <p:sp>
        <p:nvSpPr>
          <p:cNvPr id="14"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15"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16"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7"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8" name="Tracker: Valuation (active)"/>
          <p:cNvSpPr/>
          <p:nvPr/>
        </p:nvSpPr>
        <p:spPr>
          <a:xfrm>
            <a:off x="7221321"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9" name="Tracker: Risks"/>
          <p:cNvSpPr/>
          <p:nvPr/>
        </p:nvSpPr>
        <p:spPr>
          <a:xfrm>
            <a:off x="8740444"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20"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	Risks, Catalysts &amp; Recommendation</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to Owning DKS</a:t>
            </a:r>
          </a:p>
        </p:txBody>
      </p:sp>
      <p:sp>
        <p:nvSpPr>
          <p:cNvPr id="3" name="Risk 1"/>
          <p:cNvSpPr/>
          <p:nvPr/>
        </p:nvSpPr>
        <p:spPr>
          <a:xfrm>
            <a:off x="75895" y="1164031"/>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Promotions pull the DICK'S margin toward peers' 7-8.5%</a:t>
            </a:r>
          </a:p>
        </p:txBody>
      </p:sp>
      <p:sp>
        <p:nvSpPr>
          <p:cNvPr id="4" name="Rectangle 3"/>
          <p:cNvSpPr/>
          <p:nvPr/>
        </p:nvSpPr>
        <p:spPr>
          <a:xfrm>
            <a:off x="3641140" y="868680"/>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5" name="Rectangle 4"/>
          <p:cNvSpPr/>
          <p:nvPr/>
        </p:nvSpPr>
        <p:spPr>
          <a:xfrm>
            <a:off x="3641140" y="1164031"/>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High</a:t>
            </a:r>
          </a:p>
        </p:txBody>
      </p:sp>
      <p:sp>
        <p:nvSpPr>
          <p:cNvPr id="6" name="Rectangle 5"/>
          <p:cNvSpPr/>
          <p:nvPr/>
        </p:nvSpPr>
        <p:spPr>
          <a:xfrm>
            <a:off x="6095390" y="868680"/>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7" name="Rectangle 6"/>
          <p:cNvSpPr/>
          <p:nvPr/>
        </p:nvSpPr>
        <p:spPr>
          <a:xfrm>
            <a:off x="6095390" y="1164031"/>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Retail media, GameChanger and premium mix could hold ~11%. This risk is falsified by an FY27 guide at 11%+ without tariff refunds (~Mar 2027).</a:t>
            </a:r>
          </a:p>
        </p:txBody>
      </p:sp>
      <p:cxnSp>
        <p:nvCxnSpPr>
          <p:cNvPr id="8" name="Connector 7"/>
          <p:cNvCxnSpPr/>
          <p:nvPr/>
        </p:nvCxnSpPr>
        <p:spPr>
          <a:xfrm>
            <a:off x="5702198" y="1580997"/>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592677" y="2116836"/>
            <a:ext cx="8310982"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
        <p:nvSpPr>
          <p:cNvPr id="10" name="Risk 2"/>
          <p:cNvSpPr/>
          <p:nvPr/>
        </p:nvSpPr>
        <p:spPr>
          <a:xfrm>
            <a:off x="75895" y="2531059"/>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Foot Locker stays loss-making as the sneaker channel discounts</a:t>
            </a:r>
          </a:p>
        </p:txBody>
      </p:sp>
      <p:sp>
        <p:nvSpPr>
          <p:cNvPr id="11" name="Rectangle 10"/>
          <p:cNvSpPr/>
          <p:nvPr/>
        </p:nvSpPr>
        <p:spPr>
          <a:xfrm>
            <a:off x="3641140" y="2235708"/>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12" name="Rectangle 11"/>
          <p:cNvSpPr/>
          <p:nvPr/>
        </p:nvSpPr>
        <p:spPr>
          <a:xfrm>
            <a:off x="3641140" y="2531059"/>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High</a:t>
            </a:r>
          </a:p>
        </p:txBody>
      </p:sp>
      <p:sp>
        <p:nvSpPr>
          <p:cNvPr id="13" name="Rectangle 12"/>
          <p:cNvSpPr/>
          <p:nvPr/>
        </p:nvSpPr>
        <p:spPr>
          <a:xfrm>
            <a:off x="6095390" y="2235708"/>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14" name="Rectangle 13"/>
          <p:cNvSpPr/>
          <p:nvPr/>
        </p:nvSpPr>
        <p:spPr>
          <a:xfrm>
            <a:off x="6095390" y="2531059"/>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$100-125M of synergies and ~250 Fast Break remodels could lift it to 2-3%. Watch the Q4 FY26 segment result and the FY27 Foot Locker guide.</a:t>
            </a:r>
          </a:p>
        </p:txBody>
      </p:sp>
      <p:cxnSp>
        <p:nvCxnSpPr>
          <p:cNvPr id="15" name="Connector 14"/>
          <p:cNvCxnSpPr/>
          <p:nvPr/>
        </p:nvCxnSpPr>
        <p:spPr>
          <a:xfrm>
            <a:off x="5702198" y="2948025"/>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592677" y="3483863"/>
            <a:ext cx="8310982"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
        <p:nvSpPr>
          <p:cNvPr id="17" name="Risk 3"/>
          <p:cNvSpPr/>
          <p:nvPr/>
        </p:nvSpPr>
        <p:spPr>
          <a:xfrm>
            <a:off x="75895" y="3898087"/>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Capital returns outrun FCF; leverage rises on 6-7% debt</a:t>
            </a:r>
          </a:p>
        </p:txBody>
      </p:sp>
      <p:sp>
        <p:nvSpPr>
          <p:cNvPr id="18" name="Rectangle 17"/>
          <p:cNvSpPr/>
          <p:nvPr/>
        </p:nvSpPr>
        <p:spPr>
          <a:xfrm>
            <a:off x="3641140" y="3602735"/>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19" name="Rectangle 18"/>
          <p:cNvSpPr/>
          <p:nvPr/>
        </p:nvSpPr>
        <p:spPr>
          <a:xfrm>
            <a:off x="3641140" y="3898087"/>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Medium</a:t>
            </a:r>
          </a:p>
        </p:txBody>
      </p:sp>
      <p:sp>
        <p:nvSpPr>
          <p:cNvPr id="20" name="Rectangle 19"/>
          <p:cNvSpPr/>
          <p:nvPr/>
        </p:nvSpPr>
        <p:spPr>
          <a:xfrm>
            <a:off x="6095390" y="3602735"/>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21" name="Rectangle 20"/>
          <p:cNvSpPr/>
          <p:nvPr/>
        </p:nvSpPr>
        <p:spPr>
          <a:xfrm>
            <a:off x="6095390" y="3898087"/>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Capex should peak near $1.4B in FY26, and BBB / Baa2 ratings leave room. FY27 FCF of $700M+ would ease it.</a:t>
            </a:r>
          </a:p>
        </p:txBody>
      </p:sp>
      <p:cxnSp>
        <p:nvCxnSpPr>
          <p:cNvPr id="22" name="Connector 21"/>
          <p:cNvCxnSpPr/>
          <p:nvPr/>
        </p:nvCxnSpPr>
        <p:spPr>
          <a:xfrm>
            <a:off x="5702198" y="4315053"/>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92677" y="4850892"/>
            <a:ext cx="8310982" cy="0"/>
          </a:xfrm>
          <a:prstGeom prst="line">
            <a:avLst/>
          </a:prstGeom>
          <a:ln w="9525">
            <a:solidFill>
              <a:srgbClr val="001746"/>
            </a:solidFill>
          </a:ln>
        </p:spPr>
        <p:style>
          <a:lnRef idx="2">
            <a:schemeClr val="accent1"/>
          </a:lnRef>
          <a:fillRef idx="0">
            <a:schemeClr val="accent1"/>
          </a:fillRef>
          <a:effectRef idx="1">
            <a:schemeClr val="accent1"/>
          </a:effectRef>
          <a:fontRef idx="minor">
            <a:schemeClr val="tx1"/>
          </a:fontRef>
        </p:style>
      </p:cxnSp>
      <p:sp>
        <p:nvSpPr>
          <p:cNvPr id="24" name="Risk 4"/>
          <p:cNvSpPr/>
          <p:nvPr/>
        </p:nvSpPr>
        <p:spPr>
          <a:xfrm>
            <a:off x="75895" y="5265115"/>
            <a:ext cx="3395167" cy="833932"/>
          </a:xfrm>
          <a:prstGeom prst="homePlate">
            <a:avLst/>
          </a:prstGeom>
          <a:solidFill>
            <a:srgbClr val="FFFFFF"/>
          </a:solidFill>
          <a:ln w="28575">
            <a:solidFill>
              <a:srgbClr val="002060"/>
            </a:solidFill>
          </a:ln>
        </p:spPr>
        <p:txBody>
          <a:bodyPr rtlCol="0" anchor="ctr" tIns="91440" bIns="91440" wrap="square">
            <a:noAutofit/>
          </a:bodyPr>
          <a:lstStyle/>
          <a:p>
            <a:pPr algn="ctr" marL="0" indent="0">
              <a:buNone/>
            </a:pPr>
            <a:r>
              <a:rPr sz="1400" b="0" u="none">
                <a:solidFill>
                  <a:srgbClr val="000000"/>
                </a:solidFill>
                <a:latin typeface="Garamond"/>
                <a:ea typeface="Garamond"/>
                <a:cs typeface="Garamond"/>
              </a:rPr>
              <a:t>Tariffs return through Section 301 after one-time refunds</a:t>
            </a:r>
          </a:p>
        </p:txBody>
      </p:sp>
      <p:sp>
        <p:nvSpPr>
          <p:cNvPr id="25" name="Rectangle 24"/>
          <p:cNvSpPr/>
          <p:nvPr/>
        </p:nvSpPr>
        <p:spPr>
          <a:xfrm>
            <a:off x="3641140" y="4969764"/>
            <a:ext cx="2061057"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Level of Risk</a:t>
            </a:r>
          </a:p>
        </p:txBody>
      </p:sp>
      <p:sp>
        <p:nvSpPr>
          <p:cNvPr id="26" name="Rectangle 25"/>
          <p:cNvSpPr/>
          <p:nvPr/>
        </p:nvSpPr>
        <p:spPr>
          <a:xfrm>
            <a:off x="3641140" y="5265115"/>
            <a:ext cx="2061057" cy="833932"/>
          </a:xfrm>
          <a:prstGeom prst="rect">
            <a:avLst/>
          </a:prstGeom>
          <a:solidFill>
            <a:srgbClr val="002060"/>
          </a:solidFill>
          <a:ln w="12700">
            <a:solidFill>
              <a:srgbClr val="E4E9F0"/>
            </a:solidFill>
          </a:ln>
        </p:spPr>
        <p:txBody>
          <a:bodyPr rtlCol="0" anchor="ctr" wrap="square">
            <a:noAutofit/>
          </a:bodyPr>
          <a:lstStyle/>
          <a:p>
            <a:pPr algn="ctr" marL="0" indent="0">
              <a:buNone/>
            </a:pPr>
            <a:r>
              <a:rPr sz="2000" b="1" u="none">
                <a:solidFill>
                  <a:srgbClr val="FFFFFF"/>
                </a:solidFill>
                <a:latin typeface="Garamond"/>
                <a:ea typeface="Garamond"/>
                <a:cs typeface="Garamond"/>
              </a:rPr>
              <a:t>Medium</a:t>
            </a:r>
          </a:p>
        </p:txBody>
      </p:sp>
      <p:sp>
        <p:nvSpPr>
          <p:cNvPr id="27" name="Rectangle 26"/>
          <p:cNvSpPr/>
          <p:nvPr/>
        </p:nvSpPr>
        <p:spPr>
          <a:xfrm>
            <a:off x="6095390" y="4969764"/>
            <a:ext cx="5691225" cy="205740"/>
          </a:xfrm>
          <a:prstGeom prst="rect">
            <a:avLst/>
          </a:prstGeom>
          <a:solidFill>
            <a:srgbClr val="001746"/>
          </a:solidFill>
          <a:ln w="12700">
            <a:solidFill>
              <a:srgbClr val="001746"/>
            </a:solidFill>
          </a:ln>
        </p:spPr>
        <p:txBody>
          <a:bodyPr rtlCol="0" anchor="ctr" wrap="square">
            <a:noAutofit/>
          </a:bodyPr>
          <a:lstStyle/>
          <a:p>
            <a:pPr algn="ctr" marL="0" indent="0">
              <a:buNone/>
            </a:pPr>
            <a:r>
              <a:rPr sz="1200" b="0" u="none">
                <a:solidFill>
                  <a:srgbClr val="FFFFFF"/>
                </a:solidFill>
                <a:latin typeface="Garamond"/>
                <a:ea typeface="Garamond"/>
                <a:cs typeface="Garamond"/>
              </a:rPr>
              <a:t>Mitigation:</a:t>
            </a:r>
          </a:p>
        </p:txBody>
      </p:sp>
      <p:sp>
        <p:nvSpPr>
          <p:cNvPr id="28" name="Rectangle 27"/>
          <p:cNvSpPr/>
          <p:nvPr/>
        </p:nvSpPr>
        <p:spPr>
          <a:xfrm>
            <a:off x="6095390" y="5265115"/>
            <a:ext cx="5691225" cy="833932"/>
          </a:xfrm>
          <a:prstGeom prst="rect">
            <a:avLst/>
          </a:prstGeom>
          <a:solidFill>
            <a:srgbClr val="E4E9F0"/>
          </a:solidFill>
          <a:ln w="12700">
            <a:solidFill>
              <a:srgbClr val="E4E9F0"/>
            </a:solidFill>
          </a:ln>
        </p:spPr>
        <p:txBody>
          <a:bodyPr rtlCol="0" anchor="ctr" wrap="square">
            <a:noAutofit/>
          </a:bodyPr>
          <a:lstStyle/>
          <a:p>
            <a:pPr algn="ctr" marL="0" indent="0">
              <a:buNone/>
            </a:pPr>
            <a:r>
              <a:rPr sz="1200" b="0" u="none">
                <a:solidFill>
                  <a:srgbClr val="001746"/>
                </a:solidFill>
                <a:latin typeface="Garamond"/>
                <a:ea typeface="Garamond"/>
                <a:cs typeface="Garamond"/>
              </a:rPr>
              <a:t>Direct sourcing and vendor cost-sharing offset part of it. Disclosure of FY27 tariff costs in the guide would size it.</a:t>
            </a:r>
          </a:p>
        </p:txBody>
      </p:sp>
      <p:cxnSp>
        <p:nvCxnSpPr>
          <p:cNvPr id="29" name="Connector 28"/>
          <p:cNvCxnSpPr/>
          <p:nvPr/>
        </p:nvCxnSpPr>
        <p:spPr>
          <a:xfrm>
            <a:off x="5702198" y="5682081"/>
            <a:ext cx="393192" cy="0"/>
          </a:xfrm>
          <a:prstGeom prst="line">
            <a:avLst/>
          </a:prstGeom>
          <a:ln w="38100">
            <a:solidFill>
              <a:srgbClr val="E4E9F0"/>
            </a:solidFill>
          </a:ln>
        </p:spPr>
        <p:style>
          <a:lnRef idx="2">
            <a:schemeClr val="accent1"/>
          </a:lnRef>
          <a:fillRef idx="0">
            <a:schemeClr val="accent1"/>
          </a:fillRef>
          <a:effectRef idx="1">
            <a:schemeClr val="accent1"/>
          </a:effectRef>
          <a:fontRef idx="minor">
            <a:schemeClr val="tx1"/>
          </a:fontRef>
        </p:style>
      </p:cxnSp>
      <p:sp>
        <p:nvSpPr>
          <p:cNvPr id="30"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31"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32"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33"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34"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35" name="Tracker: Risks (active)"/>
          <p:cNvSpPr/>
          <p:nvPr/>
        </p:nvSpPr>
        <p:spPr>
          <a:xfrm>
            <a:off x="8740444"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36"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Catalysts &amp; Signposts: What to Watch</a:t>
            </a:r>
          </a:p>
        </p:txBody>
      </p:sp>
      <p:sp>
        <p:nvSpPr>
          <p:cNvPr id="3" name="Header: Dated Tests Over the Next 18 Months"/>
          <p:cNvSpPr/>
          <p:nvPr/>
        </p:nvSpPr>
        <p:spPr>
          <a:xfrm>
            <a:off x="270662" y="914400"/>
            <a:ext cx="11632996"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Dated Tests Over the Next 18 Months</a:t>
            </a:r>
          </a:p>
        </p:txBody>
      </p:sp>
      <p:graphicFrame>
        <p:nvGraphicFramePr>
          <p:cNvPr id="4" name="Table 3"/>
          <p:cNvGraphicFramePr>
            <a:graphicFrameLocks noGrp="1"/>
          </p:cNvGraphicFramePr>
          <p:nvPr/>
        </p:nvGraphicFramePr>
        <p:xfrm>
          <a:off x="270662" y="1353312"/>
          <a:ext cx="11632995" cy="2823210"/>
        </p:xfrm>
        <a:graphic>
          <a:graphicData uri="http://schemas.openxmlformats.org/drawingml/2006/table">
            <a:tbl>
              <a:tblPr firstRow="0" bandRow="0">
                <a:tableStyleId>{2D5ABB26-0587-4C30-8999-92F81FD0307C}</a:tableStyleId>
              </a:tblPr>
              <a:tblGrid>
                <a:gridCol w="1196810"/>
                <a:gridCol w="2489365"/>
                <a:gridCol w="5744689"/>
                <a:gridCol w="2202131"/>
              </a:tblGrid>
              <a:tr h="313690">
                <a:tc>
                  <a:txBody>
                    <a:bodyPr/>
                    <a:lstStyle/>
                    <a:p>
                      <a:pPr algn="l"/>
                      <a:r>
                        <a:rPr sz="1300" b="1" u="none">
                          <a:solidFill>
                            <a:srgbClr val="FFFFFF"/>
                          </a:solidFill>
                          <a:latin typeface="Garamond"/>
                          <a:ea typeface="Garamond"/>
                          <a:cs typeface="Garamond"/>
                        </a:rPr>
                        <a:t>Date</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Event</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Watch for</a:t>
                      </a:r>
                    </a:p>
                  </a:txBody>
                  <a:tcPr marL="54864" marR="54864" marT="18288" marB="18288" anchor="ctr">
                    <a:lnL w="0">
                      <a:noFill/>
                    </a:lnL>
                    <a:lnR w="0">
                      <a:noFill/>
                    </a:lnR>
                    <a:lnT w="0">
                      <a:noFill/>
                    </a:lnT>
                    <a:lnB w="0">
                      <a:noFill/>
                    </a:lnB>
                    <a:solidFill>
                      <a:srgbClr val="002060"/>
                    </a:solidFill>
                  </a:tcPr>
                </a:tc>
                <a:tc>
                  <a:txBody>
                    <a:bodyPr/>
                    <a:lstStyle/>
                    <a:p>
                      <a:pPr algn="l"/>
                      <a:r>
                        <a:rPr sz="1300" b="1" u="none">
                          <a:solidFill>
                            <a:srgbClr val="FFFFFF"/>
                          </a:solidFill>
                          <a:latin typeface="Garamond"/>
                          <a:ea typeface="Garamond"/>
                          <a:cs typeface="Garamond"/>
                        </a:rPr>
                        <a:t>Tests</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0" u="none">
                          <a:solidFill>
                            <a:srgbClr val="000000"/>
                          </a:solidFill>
                          <a:latin typeface="Garamond"/>
                          <a:ea typeface="Garamond"/>
                          <a:cs typeface="Garamond"/>
                        </a:rPr>
                        <a:t>Late Nov 2026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Q3 FY26 results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DICK'S comp +2.5%+; DICK'S margin vs. last year without refunds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S1, L3, L4</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Holiday 2026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Promotional season</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Brand-site and channel discounting; Nike inventory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S9, L10</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Dec 2026</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Nike Q2 FY27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North America wholesale +8%+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L9, S4</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~Mar 2027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Q4 FY26 and FY27 guide</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DICK'S margin 11%+ ex-refunds; Foot Locker profit; EPS $14+</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S1, S8, L2, L4</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~Mar 2027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FY27 capex and buybacks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Net capex $1.3B or less; FCF covers the dividend</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S3, L5</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Quarterly</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Tariff refunds and Section 301</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Cumulative refunds $150M+; gross-margin impact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L7, S5</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Jun 2027</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Short interest</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Below 8% (bull) vs. 12%+ (bear)</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L8</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0" u="none">
                          <a:solidFill>
                            <a:srgbClr val="000000"/>
                          </a:solidFill>
                          <a:latin typeface="Garamond"/>
                          <a:ea typeface="Garamond"/>
                          <a:cs typeface="Garamond"/>
                        </a:rPr>
                        <a:t>~Mar 2028</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FY27 10-K</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ROIC 12%+; FCF $700M+; charges $750M or less</a:t>
                      </a:r>
                    </a:p>
                  </a:txBody>
                  <a:tcPr marL="54864" marR="54864" marT="18288" marB="18288" anchor="ctr">
                    <a:lnL w="0">
                      <a:noFill/>
                    </a:lnL>
                    <a:lnR w="0">
                      <a:noFill/>
                    </a:lnR>
                    <a:lnT w="0">
                      <a:noFill/>
                    </a:lnT>
                    <a:lnB w="6350">
                      <a:solidFill>
                        <a:srgbClr val="D9D9D9"/>
                      </a:solidFill>
                    </a:lnB>
                    <a:noFill/>
                  </a:tcPr>
                </a:tc>
                <a:tc>
                  <a:txBody>
                    <a:bodyPr/>
                    <a:lstStyle/>
                    <a:p>
                      <a:pPr algn="l"/>
                      <a:r>
                        <a:rPr sz="1300" b="0" u="none">
                          <a:solidFill>
                            <a:srgbClr val="000000"/>
                          </a:solidFill>
                          <a:latin typeface="Garamond"/>
                          <a:ea typeface="Garamond"/>
                          <a:cs typeface="Garamond"/>
                        </a:rPr>
                        <a:t>S10, S3, S7</a:t>
                      </a:r>
                    </a:p>
                  </a:txBody>
                  <a:tcPr marL="54864" marR="54864" marT="18288" marB="18288" anchor="ctr">
                    <a:lnL w="0">
                      <a:noFill/>
                    </a:lnL>
                    <a:lnR w="0">
                      <a:noFill/>
                    </a:lnR>
                    <a:lnT w="0">
                      <a:noFill/>
                    </a:lnT>
                    <a:lnB w="6350">
                      <a:solidFill>
                        <a:srgbClr val="D9D9D9"/>
                      </a:solidFill>
                    </a:lnB>
                    <a:noFill/>
                  </a:tcPr>
                </a:tc>
              </a:tr>
            </a:tbl>
          </a:graphicData>
        </a:graphic>
      </p:graphicFrame>
      <p:sp>
        <p:nvSpPr>
          <p:cNvPr id="5" name="Stat Callout"/>
          <p:cNvSpPr/>
          <p:nvPr/>
        </p:nvSpPr>
        <p:spPr>
          <a:xfrm>
            <a:off x="270662" y="435254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Exit any long:</a:t>
            </a:r>
            <a:r>
              <a:rPr sz="1300" b="0" u="none">
                <a:solidFill>
                  <a:srgbClr val="FFFFFF"/>
                </a:solidFill>
                <a:latin typeface="Garamond"/>
                <a:ea typeface="Garamond"/>
                <a:cs typeface="Garamond"/>
              </a:rPr>
              <a:t> an FY27 DICK'S margin guide below 10% ex-refunds</a:t>
            </a:r>
          </a:p>
        </p:txBody>
      </p:sp>
      <p:sp>
        <p:nvSpPr>
          <p:cNvPr id="6" name="Stat Callout"/>
          <p:cNvSpPr/>
          <p:nvPr/>
        </p:nvSpPr>
        <p:spPr>
          <a:xfrm>
            <a:off x="6201460" y="4352544"/>
            <a:ext cx="5702198" cy="645566"/>
          </a:xfrm>
          <a:prstGeom prst="rect">
            <a:avLst/>
          </a:prstGeom>
          <a:solidFill>
            <a:srgbClr val="041E41"/>
          </a:solidFill>
          <a:ln>
            <a:noFill/>
          </a:ln>
        </p:spPr>
        <p:txBody>
          <a:bodyPr rtlCol="0" anchor="ctr" tIns="91440" bIns="91440" wrap="square">
            <a:noAutofit/>
          </a:bodyPr>
          <a:lstStyle/>
          <a:p>
            <a:pPr algn="ctr" marL="0" indent="0">
              <a:buNone/>
            </a:pPr>
            <a:r>
              <a:rPr sz="1300" b="1" u="sng">
                <a:solidFill>
                  <a:srgbClr val="FFFFFF"/>
                </a:solidFill>
                <a:latin typeface="Garamond"/>
                <a:ea typeface="Garamond"/>
                <a:cs typeface="Garamond"/>
              </a:rPr>
              <a:t>Turn long:</a:t>
            </a:r>
            <a:r>
              <a:rPr sz="1300" b="0" u="none">
                <a:solidFill>
                  <a:srgbClr val="FFFFFF"/>
                </a:solidFill>
                <a:latin typeface="Garamond"/>
                <a:ea typeface="Garamond"/>
                <a:cs typeface="Garamond"/>
              </a:rPr>
              <a:t> below ~$123, or an 11%+ margin guide plus a profitable Foot Locker</a:t>
            </a:r>
          </a:p>
        </p:txBody>
      </p:sp>
      <p:sp>
        <p:nvSpPr>
          <p:cNvPr id="7" name="Tracker: Debate"/>
          <p:cNvSpPr/>
          <p:nvPr/>
        </p:nvSpPr>
        <p:spPr>
          <a:xfrm>
            <a:off x="114482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Debate</a:t>
            </a:r>
          </a:p>
        </p:txBody>
      </p:sp>
      <p:sp>
        <p:nvSpPr>
          <p:cNvPr id="8" name="Tracker: Company"/>
          <p:cNvSpPr/>
          <p:nvPr/>
        </p:nvSpPr>
        <p:spPr>
          <a:xfrm>
            <a:off x="2663952"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Company</a:t>
            </a:r>
          </a:p>
        </p:txBody>
      </p:sp>
      <p:sp>
        <p:nvSpPr>
          <p:cNvPr id="9" name="Tracker: Industry"/>
          <p:cNvSpPr/>
          <p:nvPr/>
        </p:nvSpPr>
        <p:spPr>
          <a:xfrm>
            <a:off x="4183075"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Industry</a:t>
            </a:r>
          </a:p>
        </p:txBody>
      </p:sp>
      <p:sp>
        <p:nvSpPr>
          <p:cNvPr id="10" name="Tracker: Growth Legs"/>
          <p:cNvSpPr/>
          <p:nvPr/>
        </p:nvSpPr>
        <p:spPr>
          <a:xfrm>
            <a:off x="5702198"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Growth Legs</a:t>
            </a:r>
          </a:p>
        </p:txBody>
      </p:sp>
      <p:sp>
        <p:nvSpPr>
          <p:cNvPr id="11" name="Tracker: Valuation"/>
          <p:cNvSpPr/>
          <p:nvPr/>
        </p:nvSpPr>
        <p:spPr>
          <a:xfrm>
            <a:off x="7221321" y="6485839"/>
            <a:ext cx="1270406" cy="281635"/>
          </a:xfrm>
          <a:prstGeom prst="rect">
            <a:avLst/>
          </a:prstGeom>
          <a:solidFill>
            <a:srgbClr val="A5A5A5"/>
          </a:solidFill>
          <a:ln w="12700">
            <a:solidFill>
              <a:srgbClr val="A5A5A5"/>
            </a:solidFill>
          </a:ln>
        </p:spPr>
        <p:txBody>
          <a:bodyPr rtlCol="0" anchor="ctr" wrap="square">
            <a:noAutofit/>
          </a:bodyPr>
          <a:lstStyle/>
          <a:p>
            <a:pPr algn="ctr" marL="0" indent="0">
              <a:buNone/>
            </a:pPr>
            <a:r>
              <a:rPr sz="1400" b="0" u="none">
                <a:solidFill>
                  <a:srgbClr val="FFFFFF"/>
                </a:solidFill>
                <a:latin typeface="Garamond"/>
                <a:ea typeface="Garamond"/>
                <a:cs typeface="Garamond"/>
              </a:rPr>
              <a:t>Valuation</a:t>
            </a:r>
          </a:p>
        </p:txBody>
      </p:sp>
      <p:sp>
        <p:nvSpPr>
          <p:cNvPr id="12" name="Tracker: Risks (active)"/>
          <p:cNvSpPr/>
          <p:nvPr/>
        </p:nvSpPr>
        <p:spPr>
          <a:xfrm>
            <a:off x="8740444" y="6485839"/>
            <a:ext cx="1270406" cy="281635"/>
          </a:xfrm>
          <a:prstGeom prst="rect">
            <a:avLst/>
          </a:prstGeom>
          <a:solidFill>
            <a:srgbClr val="041E41"/>
          </a:solidFill>
          <a:ln w="12700">
            <a:solidFill>
              <a:srgbClr val="041E41"/>
            </a:solidFill>
          </a:ln>
        </p:spPr>
        <p:txBody>
          <a:bodyPr rtlCol="0" anchor="ctr" wrap="square">
            <a:noAutofit/>
          </a:bodyPr>
          <a:lstStyle/>
          <a:p>
            <a:pPr algn="ctr" marL="0" indent="0">
              <a:buNone/>
            </a:pPr>
            <a:r>
              <a:rPr sz="1400" b="0" u="none">
                <a:solidFill>
                  <a:srgbClr val="FFFFFF"/>
                </a:solidFill>
                <a:latin typeface="Garamond"/>
                <a:ea typeface="Garamond"/>
                <a:cs typeface="Garamond"/>
              </a:rPr>
              <a:t>Risks</a:t>
            </a:r>
          </a:p>
        </p:txBody>
      </p:sp>
      <p:sp>
        <p:nvSpPr>
          <p:cNvPr id="1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Recommendation: Pass</a:t>
            </a:r>
          </a:p>
        </p:txBody>
      </p:sp>
      <p:sp>
        <p:nvSpPr>
          <p:cNvPr id="3" name="Header: Base-Case Value Sensitivity ($/share)"/>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Base-Case Value Sensitivity ($/share)</a:t>
            </a:r>
          </a:p>
        </p:txBody>
      </p:sp>
      <p:sp>
        <p:nvSpPr>
          <p:cNvPr id="4" name="Text"/>
          <p:cNvSpPr txBox="1"/>
          <p:nvPr/>
        </p:nvSpPr>
        <p:spPr>
          <a:xfrm>
            <a:off x="270662" y="1353312"/>
            <a:ext cx="5679338" cy="492760"/>
          </a:xfrm>
          <a:prstGeom prst="rect">
            <a:avLst/>
          </a:prstGeom>
          <a:noFill/>
        </p:spPr>
        <p:txBody>
          <a:bodyPr wrap="square" tIns="91440" bIns="91440" anchor="t">
            <a:noAutofit/>
          </a:bodyPr>
          <a:lstStyle/>
          <a:p>
            <a:pPr algn="ctr" marL="0" indent="0">
              <a:buNone/>
            </a:pPr>
            <a:r>
              <a:rPr sz="2000" b="1" u="none" cap="small">
                <a:solidFill>
                  <a:srgbClr val="000000"/>
                </a:solidFill>
                <a:latin typeface="Garamond"/>
                <a:ea typeface="Garamond"/>
                <a:cs typeface="Garamond"/>
              </a:rPr>
              <a:t>Above $136 at 9%; mixed at 10%</a:t>
            </a:r>
          </a:p>
        </p:txBody>
      </p:sp>
      <p:graphicFrame>
        <p:nvGraphicFramePr>
          <p:cNvPr id="5" name="Table 4"/>
          <p:cNvGraphicFramePr>
            <a:graphicFrameLocks noGrp="1"/>
          </p:cNvGraphicFramePr>
          <p:nvPr/>
        </p:nvGraphicFramePr>
        <p:xfrm>
          <a:off x="270662" y="2010664"/>
          <a:ext cx="5679335" cy="1254760"/>
        </p:xfrm>
        <a:graphic>
          <a:graphicData uri="http://schemas.openxmlformats.org/drawingml/2006/table">
            <a:tbl>
              <a:tblPr firstRow="0" bandRow="0">
                <a:tableStyleId>{2D5ABB26-0587-4C30-8999-92F81FD0307C}</a:tableStyleId>
              </a:tblPr>
              <a:tblGrid>
                <a:gridCol w="2129751"/>
                <a:gridCol w="887396"/>
                <a:gridCol w="887396"/>
                <a:gridCol w="887396"/>
                <a:gridCol w="887396"/>
              </a:tblGrid>
              <a:tr h="313690">
                <a:tc>
                  <a:txBody>
                    <a:bodyPr/>
                    <a:lstStyle/>
                    <a:p>
                      <a:pPr algn="l"/>
                      <a:r>
                        <a:rPr sz="1300" b="1" u="none">
                          <a:solidFill>
                            <a:srgbClr val="FFFFFF"/>
                          </a:solidFill>
                          <a:latin typeface="Garamond"/>
                          <a:ea typeface="Garamond"/>
                          <a:cs typeface="Garamond"/>
                        </a:rPr>
                        <a:t>WACC  \  Foot Locker margin</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0%</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1.5%</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2.5%</a:t>
                      </a:r>
                    </a:p>
                  </a:txBody>
                  <a:tcPr marL="54864" marR="54864" marT="18288" marB="18288" anchor="ctr">
                    <a:lnL w="0">
                      <a:noFill/>
                    </a:lnL>
                    <a:lnR w="0">
                      <a:noFill/>
                    </a:lnR>
                    <a:lnT w="0">
                      <a:noFill/>
                    </a:lnT>
                    <a:lnB w="0">
                      <a:noFill/>
                    </a:lnB>
                    <a:solidFill>
                      <a:srgbClr val="002060"/>
                    </a:solidFill>
                  </a:tcPr>
                </a:tc>
                <a:tc>
                  <a:txBody>
                    <a:bodyPr/>
                    <a:lstStyle/>
                    <a:p>
                      <a:pPr algn="ctr"/>
                      <a:r>
                        <a:rPr sz="1300" b="1" u="none">
                          <a:solidFill>
                            <a:srgbClr val="FFFFFF"/>
                          </a:solidFill>
                          <a:latin typeface="Garamond"/>
                          <a:ea typeface="Garamond"/>
                          <a:cs typeface="Garamond"/>
                        </a:rPr>
                        <a:t>4.0%</a:t>
                      </a:r>
                    </a:p>
                  </a:txBody>
                  <a:tcPr marL="54864" marR="54864" marT="18288" marB="18288" anchor="ctr">
                    <a:lnL w="0">
                      <a:noFill/>
                    </a:lnL>
                    <a:lnR w="0">
                      <a:noFill/>
                    </a:lnR>
                    <a:lnT w="0">
                      <a:noFill/>
                    </a:lnT>
                    <a:lnB w="0">
                      <a:noFill/>
                    </a:lnB>
                    <a:solidFill>
                      <a:srgbClr val="002060"/>
                    </a:solidFill>
                  </a:tcPr>
                </a:tc>
              </a:tr>
              <a:tr h="313690">
                <a:tc>
                  <a:txBody>
                    <a:bodyPr/>
                    <a:lstStyle/>
                    <a:p>
                      <a:pPr algn="l"/>
                      <a:r>
                        <a:rPr sz="1300" b="0" u="none">
                          <a:solidFill>
                            <a:srgbClr val="000000"/>
                          </a:solidFill>
                          <a:latin typeface="Garamond"/>
                          <a:ea typeface="Garamond"/>
                          <a:cs typeface="Garamond"/>
                        </a:rPr>
                        <a:t>8%</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$174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$186</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$194</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$206</a:t>
                      </a:r>
                    </a:p>
                  </a:txBody>
                  <a:tcPr marL="54864" marR="54864" marT="18288" marB="18288" anchor="ctr">
                    <a:lnL w="0">
                      <a:noFill/>
                    </a:lnL>
                    <a:lnR w="0">
                      <a:noFill/>
                    </a:lnR>
                    <a:lnT w="0">
                      <a:noFill/>
                    </a:lnT>
                    <a:lnB w="6350">
                      <a:solidFill>
                        <a:srgbClr val="D9D9D9"/>
                      </a:solidFill>
                    </a:lnB>
                    <a:noFill/>
                  </a:tcPr>
                </a:tc>
              </a:tr>
              <a:tr h="313690">
                <a:tc>
                  <a:txBody>
                    <a:bodyPr/>
                    <a:lstStyle/>
                    <a:p>
                      <a:pPr algn="l"/>
                      <a:r>
                        <a:rPr sz="1300" b="1" u="none">
                          <a:solidFill>
                            <a:srgbClr val="000000"/>
                          </a:solidFill>
                          <a:latin typeface="Garamond"/>
                          <a:ea typeface="Garamond"/>
                          <a:cs typeface="Garamond"/>
                        </a:rPr>
                        <a:t>9% (base)</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$147</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$157</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$164</a:t>
                      </a:r>
                    </a:p>
                  </a:txBody>
                  <a:tcPr marL="54864" marR="54864" marT="18288" marB="18288" anchor="ctr">
                    <a:lnL w="0">
                      <a:noFill/>
                    </a:lnL>
                    <a:lnR w="0">
                      <a:noFill/>
                    </a:lnR>
                    <a:lnT w="0">
                      <a:noFill/>
                    </a:lnT>
                    <a:lnB w="6350">
                      <a:solidFill>
                        <a:srgbClr val="D9D9D9"/>
                      </a:solidFill>
                    </a:lnB>
                    <a:solidFill>
                      <a:srgbClr val="FFF2CC"/>
                    </a:solidFill>
                  </a:tcPr>
                </a:tc>
                <a:tc>
                  <a:txBody>
                    <a:bodyPr/>
                    <a:lstStyle/>
                    <a:p>
                      <a:pPr algn="ctr"/>
                      <a:r>
                        <a:rPr sz="1300" b="1" u="none">
                          <a:solidFill>
                            <a:srgbClr val="000000"/>
                          </a:solidFill>
                          <a:latin typeface="Garamond"/>
                          <a:ea typeface="Garamond"/>
                          <a:cs typeface="Garamond"/>
                        </a:rPr>
                        <a:t>$174</a:t>
                      </a:r>
                    </a:p>
                  </a:txBody>
                  <a:tcPr marL="54864" marR="54864" marT="18288" marB="18288" anchor="ctr">
                    <a:lnL w="0">
                      <a:noFill/>
                    </a:lnL>
                    <a:lnR w="0">
                      <a:noFill/>
                    </a:lnR>
                    <a:lnT w="0">
                      <a:noFill/>
                    </a:lnT>
                    <a:lnB w="6350">
                      <a:solidFill>
                        <a:srgbClr val="D9D9D9"/>
                      </a:solidFill>
                    </a:lnB>
                    <a:solidFill>
                      <a:srgbClr val="FFF2CC"/>
                    </a:solidFill>
                  </a:tcPr>
                </a:tc>
              </a:tr>
              <a:tr h="313690">
                <a:tc>
                  <a:txBody>
                    <a:bodyPr/>
                    <a:lstStyle/>
                    <a:p>
                      <a:pPr algn="l"/>
                      <a:r>
                        <a:rPr sz="1300" b="0" u="none">
                          <a:solidFill>
                            <a:srgbClr val="000000"/>
                          </a:solidFill>
                          <a:latin typeface="Garamond"/>
                          <a:ea typeface="Garamond"/>
                          <a:cs typeface="Garamond"/>
                        </a:rPr>
                        <a:t>10%</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$126</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$135</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$141</a:t>
                      </a:r>
                    </a:p>
                  </a:txBody>
                  <a:tcPr marL="54864" marR="54864" marT="18288" marB="18288" anchor="ctr">
                    <a:lnL w="0">
                      <a:noFill/>
                    </a:lnL>
                    <a:lnR w="0">
                      <a:noFill/>
                    </a:lnR>
                    <a:lnT w="0">
                      <a:noFill/>
                    </a:lnT>
                    <a:lnB w="6350">
                      <a:solidFill>
                        <a:srgbClr val="D9D9D9"/>
                      </a:solidFill>
                    </a:lnB>
                    <a:noFill/>
                  </a:tcPr>
                </a:tc>
                <a:tc>
                  <a:txBody>
                    <a:bodyPr/>
                    <a:lstStyle/>
                    <a:p>
                      <a:pPr algn="ctr"/>
                      <a:r>
                        <a:rPr sz="1300" b="0" u="none">
                          <a:solidFill>
                            <a:srgbClr val="000000"/>
                          </a:solidFill>
                          <a:latin typeface="Garamond"/>
                          <a:ea typeface="Garamond"/>
                          <a:cs typeface="Garamond"/>
                        </a:rPr>
                        <a:t>$149</a:t>
                      </a:r>
                    </a:p>
                  </a:txBody>
                  <a:tcPr marL="54864" marR="54864" marT="18288" marB="18288" anchor="ctr">
                    <a:lnL w="0">
                      <a:noFill/>
                    </a:lnL>
                    <a:lnR w="0">
                      <a:noFill/>
                    </a:lnR>
                    <a:lnT w="0">
                      <a:noFill/>
                    </a:lnT>
                    <a:lnB w="6350">
                      <a:solidFill>
                        <a:srgbClr val="D9D9D9"/>
                      </a:solidFill>
                    </a:lnB>
                    <a:noFill/>
                  </a:tcPr>
                </a:tc>
              </a:tr>
            </a:tbl>
          </a:graphicData>
        </a:graphic>
      </p:graphicFrame>
      <p:sp>
        <p:nvSpPr>
          <p:cNvPr id="6" name="Header: Key Metrics"/>
          <p:cNvSpPr/>
          <p:nvPr/>
        </p:nvSpPr>
        <p:spPr>
          <a:xfrm>
            <a:off x="270662" y="3455416"/>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Key Metrics</a:t>
            </a:r>
          </a:p>
        </p:txBody>
      </p:sp>
      <p:sp>
        <p:nvSpPr>
          <p:cNvPr id="7" name="Metric Tile"/>
          <p:cNvSpPr/>
          <p:nvPr/>
        </p:nvSpPr>
        <p:spPr>
          <a:xfrm>
            <a:off x="270662" y="3894328"/>
            <a:ext cx="2784805"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24-Mo. Value: $172</a:t>
            </a:r>
          </a:p>
        </p:txBody>
      </p:sp>
      <p:sp>
        <p:nvSpPr>
          <p:cNvPr id="8" name="Metric Tile"/>
          <p:cNvSpPr/>
          <p:nvPr/>
        </p:nvSpPr>
        <p:spPr>
          <a:xfrm>
            <a:off x="3165195" y="3894328"/>
            <a:ext cx="2784805" cy="914400"/>
          </a:xfrm>
          <a:prstGeom prst="rect">
            <a:avLst/>
          </a:prstGeom>
          <a:solidFill>
            <a:srgbClr val="E4E9F0"/>
          </a:solidFill>
          <a:ln w="12700">
            <a:solidFill>
              <a:srgbClr val="203764"/>
            </a:solidFill>
          </a:ln>
        </p:spPr>
        <p:txBody>
          <a:bodyPr rtlCol="0" anchor="ctr" wrap="square">
            <a:noAutofit/>
          </a:bodyPr>
          <a:lstStyle/>
          <a:p>
            <a:pPr algn="ctr" marL="0" indent="0">
              <a:buNone/>
            </a:pPr>
            <a:r>
              <a:rPr sz="2600" b="1" u="none" cap="small">
                <a:solidFill>
                  <a:srgbClr val="000000"/>
                </a:solidFill>
                <a:latin typeface="Garamond"/>
                <a:ea typeface="Garamond"/>
                <a:cs typeface="Garamond"/>
              </a:rPr>
              <a:t>DCF Value: $156</a:t>
            </a:r>
          </a:p>
        </p:txBody>
      </p:sp>
      <p:sp>
        <p:nvSpPr>
          <p:cNvPr id="9" name="Header: Why Not Long"/>
          <p:cNvSpPr/>
          <p:nvPr/>
        </p:nvSpPr>
        <p:spPr>
          <a:xfrm>
            <a:off x="270662" y="497332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Why Not Long</a:t>
            </a:r>
          </a:p>
        </p:txBody>
      </p:sp>
      <p:sp>
        <p:nvSpPr>
          <p:cNvPr id="10" name="Bullets"/>
          <p:cNvSpPr txBox="1"/>
          <p:nvPr/>
        </p:nvSpPr>
        <p:spPr>
          <a:xfrm>
            <a:off x="270662" y="5412232"/>
            <a:ext cx="5679338" cy="709675"/>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Expected </a:t>
            </a:r>
            <a:r>
              <a:rPr sz="1700" b="1" u="none">
                <a:solidFill>
                  <a:srgbClr val="000000"/>
                </a:solidFill>
                <a:latin typeface="Garamond"/>
                <a:ea typeface="Garamond"/>
                <a:cs typeface="Garamond"/>
              </a:rPr>
              <a:t>~12.5%/yr</a:t>
            </a:r>
            <a:r>
              <a:rPr sz="1700" b="0" u="none">
                <a:solidFill>
                  <a:srgbClr val="000000"/>
                </a:solidFill>
                <a:latin typeface="Garamond"/>
                <a:ea typeface="Garamond"/>
                <a:cs typeface="Garamond"/>
              </a:rPr>
              <a:t> beats a ~10% hurdle by only </a:t>
            </a:r>
            <a:r>
              <a:rPr sz="1700" b="1" u="none">
                <a:solidFill>
                  <a:srgbClr val="000000"/>
                </a:solidFill>
                <a:latin typeface="Garamond"/>
                <a:ea typeface="Garamond"/>
                <a:cs typeface="Garamond"/>
              </a:rPr>
              <a:t>~2.5pp</a:t>
            </a:r>
            <a:r>
              <a:rPr sz="1700" b="0" u="none">
                <a:solidFill>
                  <a:srgbClr val="000000"/>
                </a:solidFill>
                <a:latin typeface="Garamond"/>
                <a:ea typeface="Garamond"/>
                <a:cs typeface="Garamond"/>
              </a:rPr>
              <a:t>; a shift of 5 points in the odds erases it</a:t>
            </a:r>
          </a:p>
        </p:txBody>
      </p:sp>
      <p:sp>
        <p:nvSpPr>
          <p:cNvPr id="11" name="Header: Carry-Forward Theses &amp; Diligence"/>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Carry-Forward Theses &amp; Diligence</a:t>
            </a:r>
          </a:p>
        </p:txBody>
      </p:sp>
      <p:sp>
        <p:nvSpPr>
          <p:cNvPr id="12" name="Rectangle 11"/>
          <p:cNvSpPr/>
          <p:nvPr/>
        </p:nvSpPr>
        <p:spPr>
          <a:xfrm>
            <a:off x="6224320" y="1353312"/>
            <a:ext cx="580644" cy="346557"/>
          </a:xfrm>
          <a:prstGeom prst="rect">
            <a:avLst/>
          </a:prstGeom>
          <a:solidFill>
            <a:srgbClr val="001746"/>
          </a:solidFill>
          <a:ln w="12700">
            <a:solidFill>
              <a:srgbClr val="001746"/>
            </a:solidFill>
          </a:ln>
        </p:spPr>
        <p:txBody>
          <a:bodyPr rtlCol="0" anchor="ctr" wrap="square">
            <a:noAutofit/>
          </a:bodyPr>
          <a:lstStyle/>
          <a:p>
            <a:pPr algn="ctr" marL="0" indent="0">
              <a:buNone/>
            </a:pPr>
            <a:r>
              <a:rPr sz="1800" b="0" u="none">
                <a:solidFill>
                  <a:srgbClr val="FFFFFF"/>
                </a:solidFill>
                <a:latin typeface="Garamond"/>
                <a:ea typeface="Garamond"/>
                <a:cs typeface="Garamond"/>
              </a:rPr>
              <a:t>1</a:t>
            </a:r>
          </a:p>
        </p:txBody>
      </p:sp>
      <p:sp>
        <p:nvSpPr>
          <p:cNvPr id="13" name="Rectangle 12"/>
          <p:cNvSpPr/>
          <p:nvPr/>
        </p:nvSpPr>
        <p:spPr>
          <a:xfrm>
            <a:off x="6819595" y="1353312"/>
            <a:ext cx="5084064" cy="346557"/>
          </a:xfrm>
          <a:prstGeom prst="rect">
            <a:avLst/>
          </a:prstGeom>
          <a:solidFill>
            <a:srgbClr val="E4E9F0"/>
          </a:solidFill>
          <a:ln w="12700">
            <a:solidFill>
              <a:srgbClr val="E4E9F0"/>
            </a:solidFill>
          </a:ln>
        </p:spPr>
        <p:txBody>
          <a:bodyPr rtlCol="0" anchor="ctr" wrap="square">
            <a:noAutofit/>
          </a:bodyPr>
          <a:lstStyle/>
          <a:p>
            <a:pPr algn="ctr" marL="0" indent="0">
              <a:buNone/>
            </a:pPr>
            <a:r>
              <a:rPr sz="1800" b="1" u="none">
                <a:solidFill>
                  <a:srgbClr val="001746"/>
                </a:solidFill>
                <a:latin typeface="Garamond"/>
                <a:ea typeface="Garamond"/>
                <a:cs typeface="Garamond"/>
              </a:rPr>
              <a:t>S1: DICK'S margin near 10.3%</a:t>
            </a:r>
          </a:p>
        </p:txBody>
      </p:sp>
      <p:sp>
        <p:nvSpPr>
          <p:cNvPr id="14" name="TextBox 13"/>
          <p:cNvSpPr txBox="1"/>
          <p:nvPr/>
        </p:nvSpPr>
        <p:spPr>
          <a:xfrm>
            <a:off x="6224320" y="1754733"/>
            <a:ext cx="5679338" cy="339343"/>
          </a:xfrm>
          <a:prstGeom prst="rect">
            <a:avLst/>
          </a:prstGeom>
          <a:noFill/>
        </p:spPr>
        <p:txBody>
          <a:bodyPr wrap="square" anchor="t">
            <a:noAutofit/>
          </a:bodyPr>
          <a:lstStyle/>
          <a:p>
            <a:pPr marL="0" indent="0">
              <a:buNone/>
            </a:pPr>
            <a:r>
              <a:rPr sz="1600" b="0" u="none">
                <a:solidFill>
                  <a:srgbClr val="1E1E1E"/>
                </a:solidFill>
                <a:latin typeface="Garamond"/>
                <a:ea typeface="Garamond"/>
                <a:cs typeface="Garamond"/>
              </a:rPr>
              <a:t>Which segment booked the $59M tariff refund?</a:t>
            </a:r>
          </a:p>
        </p:txBody>
      </p:sp>
      <p:sp>
        <p:nvSpPr>
          <p:cNvPr id="15" name="Rectangle 14"/>
          <p:cNvSpPr/>
          <p:nvPr/>
        </p:nvSpPr>
        <p:spPr>
          <a:xfrm>
            <a:off x="6224320" y="2203805"/>
            <a:ext cx="580644" cy="346557"/>
          </a:xfrm>
          <a:prstGeom prst="rect">
            <a:avLst/>
          </a:prstGeom>
          <a:solidFill>
            <a:srgbClr val="001746"/>
          </a:solidFill>
          <a:ln w="12700">
            <a:solidFill>
              <a:srgbClr val="001746"/>
            </a:solidFill>
          </a:ln>
        </p:spPr>
        <p:txBody>
          <a:bodyPr rtlCol="0" anchor="ctr" wrap="square">
            <a:noAutofit/>
          </a:bodyPr>
          <a:lstStyle/>
          <a:p>
            <a:pPr algn="ctr" marL="0" indent="0">
              <a:buNone/>
            </a:pPr>
            <a:r>
              <a:rPr sz="1800" b="0" u="none">
                <a:solidFill>
                  <a:srgbClr val="FFFFFF"/>
                </a:solidFill>
                <a:latin typeface="Garamond"/>
                <a:ea typeface="Garamond"/>
                <a:cs typeface="Garamond"/>
              </a:rPr>
              <a:t>2</a:t>
            </a:r>
          </a:p>
        </p:txBody>
      </p:sp>
      <p:sp>
        <p:nvSpPr>
          <p:cNvPr id="16" name="Rectangle 15"/>
          <p:cNvSpPr/>
          <p:nvPr/>
        </p:nvSpPr>
        <p:spPr>
          <a:xfrm>
            <a:off x="6819595" y="2203805"/>
            <a:ext cx="5084064" cy="346557"/>
          </a:xfrm>
          <a:prstGeom prst="rect">
            <a:avLst/>
          </a:prstGeom>
          <a:solidFill>
            <a:srgbClr val="E4E9F0"/>
          </a:solidFill>
          <a:ln w="12700">
            <a:solidFill>
              <a:srgbClr val="E4E9F0"/>
            </a:solidFill>
          </a:ln>
        </p:spPr>
        <p:txBody>
          <a:bodyPr rtlCol="0" anchor="ctr" wrap="square">
            <a:noAutofit/>
          </a:bodyPr>
          <a:lstStyle/>
          <a:p>
            <a:pPr algn="ctr" marL="0" indent="0">
              <a:buNone/>
            </a:pPr>
            <a:r>
              <a:rPr sz="1800" b="1" u="none">
                <a:solidFill>
                  <a:srgbClr val="001746"/>
                </a:solidFill>
                <a:latin typeface="Garamond"/>
                <a:ea typeface="Garamond"/>
                <a:cs typeface="Garamond"/>
              </a:rPr>
              <a:t>L2: Foot Locker margin 3%+</a:t>
            </a:r>
          </a:p>
        </p:txBody>
      </p:sp>
      <p:sp>
        <p:nvSpPr>
          <p:cNvPr id="17" name="TextBox 16"/>
          <p:cNvSpPr txBox="1"/>
          <p:nvPr/>
        </p:nvSpPr>
        <p:spPr>
          <a:xfrm>
            <a:off x="6224320" y="2605227"/>
            <a:ext cx="5679338" cy="339343"/>
          </a:xfrm>
          <a:prstGeom prst="rect">
            <a:avLst/>
          </a:prstGeom>
          <a:noFill/>
        </p:spPr>
        <p:txBody>
          <a:bodyPr wrap="square" anchor="t">
            <a:noAutofit/>
          </a:bodyPr>
          <a:lstStyle/>
          <a:p>
            <a:pPr marL="0" indent="0">
              <a:buNone/>
            </a:pPr>
            <a:r>
              <a:rPr sz="1600" b="0" u="none">
                <a:solidFill>
                  <a:srgbClr val="1E1E1E"/>
                </a:solidFill>
                <a:latin typeface="Garamond"/>
                <a:ea typeface="Garamond"/>
                <a:cs typeface="Garamond"/>
              </a:rPr>
              <a:t>Fast Break year-two comps and synergy timing?</a:t>
            </a:r>
          </a:p>
        </p:txBody>
      </p:sp>
      <p:sp>
        <p:nvSpPr>
          <p:cNvPr id="18" name="Rectangle 17"/>
          <p:cNvSpPr/>
          <p:nvPr/>
        </p:nvSpPr>
        <p:spPr>
          <a:xfrm>
            <a:off x="6224320" y="3054299"/>
            <a:ext cx="580644" cy="346557"/>
          </a:xfrm>
          <a:prstGeom prst="rect">
            <a:avLst/>
          </a:prstGeom>
          <a:solidFill>
            <a:srgbClr val="001746"/>
          </a:solidFill>
          <a:ln w="12700">
            <a:solidFill>
              <a:srgbClr val="001746"/>
            </a:solidFill>
          </a:ln>
        </p:spPr>
        <p:txBody>
          <a:bodyPr rtlCol="0" anchor="ctr" wrap="square">
            <a:noAutofit/>
          </a:bodyPr>
          <a:lstStyle/>
          <a:p>
            <a:pPr algn="ctr" marL="0" indent="0">
              <a:buNone/>
            </a:pPr>
            <a:r>
              <a:rPr sz="1800" b="0" u="none">
                <a:solidFill>
                  <a:srgbClr val="FFFFFF"/>
                </a:solidFill>
                <a:latin typeface="Garamond"/>
                <a:ea typeface="Garamond"/>
                <a:cs typeface="Garamond"/>
              </a:rPr>
              <a:t>3</a:t>
            </a:r>
          </a:p>
        </p:txBody>
      </p:sp>
      <p:sp>
        <p:nvSpPr>
          <p:cNvPr id="19" name="Rectangle 18"/>
          <p:cNvSpPr/>
          <p:nvPr/>
        </p:nvSpPr>
        <p:spPr>
          <a:xfrm>
            <a:off x="6819595" y="3054299"/>
            <a:ext cx="5084064" cy="346557"/>
          </a:xfrm>
          <a:prstGeom prst="rect">
            <a:avLst/>
          </a:prstGeom>
          <a:solidFill>
            <a:srgbClr val="E4E9F0"/>
          </a:solidFill>
          <a:ln w="12700">
            <a:solidFill>
              <a:srgbClr val="E4E9F0"/>
            </a:solidFill>
          </a:ln>
        </p:spPr>
        <p:txBody>
          <a:bodyPr rtlCol="0" anchor="ctr" wrap="square">
            <a:noAutofit/>
          </a:bodyPr>
          <a:lstStyle/>
          <a:p>
            <a:pPr algn="ctr" marL="0" indent="0">
              <a:buNone/>
            </a:pPr>
            <a:r>
              <a:rPr sz="1800" b="1" u="none">
                <a:solidFill>
                  <a:srgbClr val="001746"/>
                </a:solidFill>
                <a:latin typeface="Garamond"/>
                <a:ea typeface="Garamond"/>
                <a:cs typeface="Garamond"/>
              </a:rPr>
              <a:t>S3: returns exceed FCF</a:t>
            </a:r>
          </a:p>
        </p:txBody>
      </p:sp>
      <p:sp>
        <p:nvSpPr>
          <p:cNvPr id="20" name="TextBox 19"/>
          <p:cNvSpPr txBox="1"/>
          <p:nvPr/>
        </p:nvSpPr>
        <p:spPr>
          <a:xfrm>
            <a:off x="6224320" y="3455720"/>
            <a:ext cx="5679338" cy="339343"/>
          </a:xfrm>
          <a:prstGeom prst="rect">
            <a:avLst/>
          </a:prstGeom>
          <a:noFill/>
        </p:spPr>
        <p:txBody>
          <a:bodyPr wrap="square" anchor="t">
            <a:noAutofit/>
          </a:bodyPr>
          <a:lstStyle/>
          <a:p>
            <a:pPr marL="0" indent="0">
              <a:buNone/>
            </a:pPr>
            <a:r>
              <a:rPr sz="1600" b="0" u="none">
                <a:solidFill>
                  <a:srgbClr val="1E1E1E"/>
                </a:solidFill>
                <a:latin typeface="Garamond"/>
                <a:ea typeface="Garamond"/>
                <a:cs typeface="Garamond"/>
              </a:rPr>
              <a:t>What did the $1.0B of September notes fund?</a:t>
            </a:r>
          </a:p>
        </p:txBody>
      </p:sp>
      <p:sp>
        <p:nvSpPr>
          <p:cNvPr id="21" name="Header: What Would Change Our Mind"/>
          <p:cNvSpPr/>
          <p:nvPr/>
        </p:nvSpPr>
        <p:spPr>
          <a:xfrm>
            <a:off x="6224320" y="4069384"/>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What Would Change Our Mind</a:t>
            </a:r>
          </a:p>
        </p:txBody>
      </p:sp>
      <p:sp>
        <p:nvSpPr>
          <p:cNvPr id="22" name="Bullets"/>
          <p:cNvSpPr txBox="1"/>
          <p:nvPr/>
        </p:nvSpPr>
        <p:spPr>
          <a:xfrm>
            <a:off x="6224320" y="4508296"/>
            <a:ext cx="5679338" cy="1236471"/>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1" u="none">
                <a:solidFill>
                  <a:srgbClr val="000000"/>
                </a:solidFill>
                <a:latin typeface="Garamond"/>
                <a:ea typeface="Garamond"/>
                <a:cs typeface="Garamond"/>
              </a:rPr>
              <a:t>Buy</a:t>
            </a:r>
            <a:r>
              <a:rPr sz="1700" b="0" u="none">
                <a:solidFill>
                  <a:srgbClr val="000000"/>
                </a:solidFill>
                <a:latin typeface="Garamond"/>
                <a:ea typeface="Garamond"/>
                <a:cs typeface="Garamond"/>
              </a:rPr>
              <a:t> below ~$123, or on an FY27 guide with the DICK'S margin 11%+ ex-refunds and a profitable Foot Locker</a:t>
            </a:r>
          </a:p>
          <a:p>
            <a:pPr marL="457200" indent="-336499">
              <a:buClr>
                <a:srgbClr val="000000"/>
              </a:buClr>
              <a:buSzPts val="1700"/>
              <a:buFont typeface="Garamond"/>
              <a:buChar char="●"/>
            </a:pPr>
            <a:r>
              <a:rPr sz="1700" b="1" u="none">
                <a:solidFill>
                  <a:srgbClr val="000000"/>
                </a:solidFill>
                <a:latin typeface="Garamond"/>
                <a:ea typeface="Garamond"/>
                <a:cs typeface="Garamond"/>
              </a:rPr>
              <a:t>Short</a:t>
            </a:r>
            <a:r>
              <a:rPr sz="1700" b="0" u="none">
                <a:solidFill>
                  <a:srgbClr val="000000"/>
                </a:solidFill>
                <a:latin typeface="Garamond"/>
                <a:ea typeface="Garamond"/>
                <a:cs typeface="Garamond"/>
              </a:rPr>
              <a:t> if the FY27 guide puts the DICK'S margin below 10% with the stock above $150</a:t>
            </a:r>
          </a:p>
        </p:txBody>
      </p:sp>
      <p:sp>
        <p:nvSpPr>
          <p:cNvPr id="2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VII.	Appendix</a:t>
            </a:r>
          </a:p>
        </p:txBody>
      </p:sp>
      <p:sp>
        <p:nvSpPr>
          <p:cNvPr id="3"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 &amp; Sources</a:t>
            </a:r>
          </a:p>
        </p:txBody>
      </p:sp>
      <p:sp>
        <p:nvSpPr>
          <p:cNvPr id="3" name="Header: Methodology"/>
          <p:cNvSpPr/>
          <p:nvPr/>
        </p:nvSpPr>
        <p:spPr>
          <a:xfrm>
            <a:off x="270662"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Methodology</a:t>
            </a:r>
          </a:p>
        </p:txBody>
      </p:sp>
      <p:sp>
        <p:nvSpPr>
          <p:cNvPr id="4" name="Bullets"/>
          <p:cNvSpPr txBox="1"/>
          <p:nvPr/>
        </p:nvSpPr>
        <p:spPr>
          <a:xfrm>
            <a:off x="270662" y="1353312"/>
            <a:ext cx="5679338" cy="2553461"/>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Data as of the </a:t>
            </a:r>
            <a:r>
              <a:rPr sz="1700" b="1" u="none">
                <a:solidFill>
                  <a:srgbClr val="000000"/>
                </a:solidFill>
                <a:latin typeface="Garamond"/>
                <a:ea typeface="Garamond"/>
                <a:cs typeface="Garamond"/>
              </a:rPr>
              <a:t>10/2/26</a:t>
            </a:r>
            <a:r>
              <a:rPr sz="1700" b="0" u="none">
                <a:solidFill>
                  <a:srgbClr val="000000"/>
                </a:solidFill>
                <a:latin typeface="Garamond"/>
                <a:ea typeface="Garamond"/>
                <a:cs typeface="Garamond"/>
              </a:rPr>
              <a:t> close; filings through Q2 FY26</a:t>
            </a:r>
          </a:p>
          <a:p>
            <a:pPr marL="457200" indent="-336499">
              <a:buClr>
                <a:srgbClr val="000000"/>
              </a:buClr>
              <a:buSzPts val="1700"/>
              <a:buFont typeface="Garamond"/>
              <a:buChar char="●"/>
            </a:pPr>
            <a:r>
              <a:rPr sz="1700" b="0" u="none">
                <a:solidFill>
                  <a:srgbClr val="000000"/>
                </a:solidFill>
                <a:latin typeface="Garamond"/>
                <a:ea typeface="Garamond"/>
                <a:cs typeface="Garamond"/>
              </a:rPr>
              <a:t>Reverse DCF: </a:t>
            </a:r>
            <a:r>
              <a:rPr sz="1700" b="1" u="none">
                <a:solidFill>
                  <a:srgbClr val="000000"/>
                </a:solidFill>
                <a:latin typeface="Garamond"/>
                <a:ea typeface="Garamond"/>
                <a:cs typeface="Garamond"/>
              </a:rPr>
              <a:t>9%</a:t>
            </a:r>
            <a:r>
              <a:rPr sz="1700" b="0" u="none">
                <a:solidFill>
                  <a:srgbClr val="000000"/>
                </a:solidFill>
                <a:latin typeface="Garamond"/>
                <a:ea typeface="Garamond"/>
                <a:cs typeface="Garamond"/>
              </a:rPr>
              <a:t> WACC, RONIC 14%, </a:t>
            </a:r>
            <a:r>
              <a:rPr sz="1700" b="1" u="none">
                <a:solidFill>
                  <a:srgbClr val="000000"/>
                </a:solidFill>
                <a:latin typeface="Garamond"/>
                <a:ea typeface="Garamond"/>
                <a:cs typeface="Garamond"/>
              </a:rPr>
              <a:t>$13.3B</a:t>
            </a:r>
            <a:r>
              <a:rPr sz="1700" b="0" u="none">
                <a:solidFill>
                  <a:srgbClr val="000000"/>
                </a:solidFill>
                <a:latin typeface="Garamond"/>
                <a:ea typeface="Garamond"/>
                <a:cs typeface="Garamond"/>
              </a:rPr>
              <a:t> EV excluding leases</a:t>
            </a:r>
          </a:p>
          <a:p>
            <a:pPr marL="457200" indent="-336499">
              <a:buClr>
                <a:srgbClr val="000000"/>
              </a:buClr>
              <a:buSzPts val="1700"/>
              <a:buFont typeface="Garamond"/>
              <a:buChar char="●"/>
            </a:pPr>
            <a:r>
              <a:rPr sz="1700" b="0" u="none">
                <a:solidFill>
                  <a:srgbClr val="000000"/>
                </a:solidFill>
                <a:latin typeface="Garamond"/>
                <a:ea typeface="Garamond"/>
                <a:cs typeface="Garamond"/>
              </a:rPr>
              <a:t>SOTP: DICK'S and Foot Locker DCFs; unallocated cost capitalized</a:t>
            </a:r>
          </a:p>
          <a:p>
            <a:pPr marL="457200" indent="-336499">
              <a:buClr>
                <a:srgbClr val="000000"/>
              </a:buClr>
              <a:buSzPts val="1700"/>
              <a:buFont typeface="Garamond"/>
              <a:buChar char="●"/>
            </a:pPr>
            <a:r>
              <a:rPr sz="1700" b="0" u="none">
                <a:solidFill>
                  <a:srgbClr val="000000"/>
                </a:solidFill>
                <a:latin typeface="Garamond"/>
                <a:ea typeface="Garamond"/>
                <a:cs typeface="Garamond"/>
              </a:rPr>
              <a:t>Theses scored 1-5 on Edge, Materiality, Testability, Evidence</a:t>
            </a:r>
          </a:p>
          <a:p>
            <a:pPr marL="457200" indent="-336499">
              <a:buClr>
                <a:srgbClr val="000000"/>
              </a:buClr>
              <a:buSzPts val="1700"/>
              <a:buFont typeface="Garamond"/>
              <a:buChar char="●"/>
            </a:pPr>
            <a:r>
              <a:rPr sz="1700" b="0" u="none">
                <a:solidFill>
                  <a:srgbClr val="000000"/>
                </a:solidFill>
                <a:latin typeface="Garamond"/>
                <a:ea typeface="Garamond"/>
                <a:cs typeface="Garamond"/>
              </a:rPr>
              <a:t>Figures from search extracts of filings (SEC site blocked); single-source items flagged</a:t>
            </a:r>
          </a:p>
        </p:txBody>
      </p:sp>
      <p:sp>
        <p:nvSpPr>
          <p:cNvPr id="5" name="Header: Key Sources"/>
          <p:cNvSpPr/>
          <p:nvPr/>
        </p:nvSpPr>
        <p:spPr>
          <a:xfrm>
            <a:off x="6224320" y="914400"/>
            <a:ext cx="5679338" cy="365760"/>
          </a:xfrm>
          <a:prstGeom prst="rect">
            <a:avLst/>
          </a:prstGeom>
          <a:solidFill>
            <a:srgbClr val="002060"/>
          </a:solidFill>
          <a:ln w="9525">
            <a:solidFill>
              <a:srgbClr val="041E41"/>
            </a:solidFill>
          </a:ln>
        </p:spPr>
        <p:txBody>
          <a:bodyPr rtlCol="0" anchor="ctr" wrap="square">
            <a:noAutofit/>
          </a:bodyPr>
          <a:lstStyle/>
          <a:p>
            <a:pPr algn="ctr" marL="0" indent="0">
              <a:buNone/>
            </a:pPr>
            <a:r>
              <a:rPr sz="1600" b="1" u="none">
                <a:solidFill>
                  <a:srgbClr val="FFFFFF"/>
                </a:solidFill>
                <a:latin typeface="Garamond"/>
                <a:ea typeface="Garamond"/>
                <a:cs typeface="Garamond"/>
              </a:rPr>
              <a:t>Key Sources</a:t>
            </a:r>
          </a:p>
        </p:txBody>
      </p:sp>
      <p:sp>
        <p:nvSpPr>
          <p:cNvPr id="6" name="Bullets"/>
          <p:cNvSpPr txBox="1"/>
          <p:nvPr/>
        </p:nvSpPr>
        <p:spPr>
          <a:xfrm>
            <a:off x="6224320" y="1353312"/>
            <a:ext cx="5679338" cy="3080257"/>
          </a:xfrm>
          <a:prstGeom prst="rect">
            <a:avLst/>
          </a:prstGeom>
          <a:noFill/>
        </p:spPr>
        <p:txBody>
          <a:bodyPr wrap="square" tIns="91440" bIns="91440" anchor="t">
            <a:noAutofit/>
          </a:bodyPr>
          <a:lstStyle/>
          <a:p>
            <a:pPr marL="457200" indent="-336499">
              <a:buClr>
                <a:srgbClr val="000000"/>
              </a:buClr>
              <a:buSzPts val="1700"/>
              <a:buFont typeface="Garamond"/>
              <a:buChar char="●"/>
            </a:pPr>
            <a:r>
              <a:rPr sz="1700" b="0" u="none">
                <a:solidFill>
                  <a:srgbClr val="000000"/>
                </a:solidFill>
                <a:latin typeface="Garamond"/>
                <a:ea typeface="Garamond"/>
                <a:cs typeface="Garamond"/>
              </a:rPr>
              <a:t>DKS: Q2 FY26 release and 10-Q; FY25 10-K; Q4 FY25-Q2 FY26 calls; Sept 2026 notes</a:t>
            </a:r>
          </a:p>
          <a:p>
            <a:pPr marL="457200" indent="-336499">
              <a:buClr>
                <a:srgbClr val="000000"/>
              </a:buClr>
              <a:buSzPts val="1700"/>
              <a:buFont typeface="Garamond"/>
              <a:buChar char="●"/>
            </a:pPr>
            <a:r>
              <a:rPr sz="1700" b="0" u="none">
                <a:solidFill>
                  <a:srgbClr val="000000"/>
                </a:solidFill>
                <a:latin typeface="Garamond"/>
                <a:ea typeface="Garamond"/>
                <a:cs typeface="Garamond"/>
              </a:rPr>
              <a:t>Street: stockanalysis (26 analysts); firm notes via Stocktwits and MarketBeat; Zacks</a:t>
            </a:r>
          </a:p>
          <a:p>
            <a:pPr marL="457200" indent="-336499">
              <a:buClr>
                <a:srgbClr val="000000"/>
              </a:buClr>
              <a:buSzPts val="1700"/>
              <a:buFont typeface="Garamond"/>
              <a:buChar char="●"/>
            </a:pPr>
            <a:r>
              <a:rPr sz="1700" b="0" u="none">
                <a:solidFill>
                  <a:srgbClr val="000000"/>
                </a:solidFill>
                <a:latin typeface="Garamond"/>
                <a:ea typeface="Garamond"/>
                <a:cs typeface="Garamond"/>
              </a:rPr>
              <a:t>Industry: SFIA (2026); Aspen Project Play; Telsey via Benzinga</a:t>
            </a:r>
          </a:p>
          <a:p>
            <a:pPr marL="457200" indent="-336499">
              <a:buClr>
                <a:srgbClr val="000000"/>
              </a:buClr>
              <a:buSzPts val="1700"/>
              <a:buFont typeface="Garamond"/>
              <a:buChar char="●"/>
            </a:pPr>
            <a:r>
              <a:rPr sz="1700" b="0" u="none">
                <a:solidFill>
                  <a:srgbClr val="000000"/>
                </a:solidFill>
                <a:latin typeface="Garamond"/>
                <a:ea typeface="Garamond"/>
                <a:cs typeface="Garamond"/>
              </a:rPr>
              <a:t>Peers: Academy, JD Sports, Nike and Hibbett releases</a:t>
            </a:r>
          </a:p>
          <a:p>
            <a:pPr marL="457200" indent="-336499">
              <a:buClr>
                <a:srgbClr val="000000"/>
              </a:buClr>
              <a:buSzPts val="1700"/>
              <a:buFont typeface="Garamond"/>
              <a:buChar char="●"/>
            </a:pPr>
            <a:r>
              <a:rPr sz="1700" b="0" u="none">
                <a:solidFill>
                  <a:srgbClr val="000000"/>
                </a:solidFill>
                <a:latin typeface="Garamond"/>
                <a:ea typeface="Garamond"/>
                <a:cs typeface="Garamond"/>
              </a:rPr>
              <a:t>Policy: CRS (IEEPA ruling); Holland &amp; Knight (Section 301)</a:t>
            </a:r>
          </a:p>
          <a:p>
            <a:pPr marL="457200" indent="-336499">
              <a:buClr>
                <a:srgbClr val="000000"/>
              </a:buClr>
              <a:buSzPts val="1700"/>
              <a:buFont typeface="Garamond"/>
              <a:buChar char="●"/>
            </a:pPr>
            <a:r>
              <a:rPr sz="1700" b="0" u="none">
                <a:solidFill>
                  <a:srgbClr val="000000"/>
                </a:solidFill>
                <a:latin typeface="Garamond"/>
                <a:ea typeface="Garamond"/>
                <a:cs typeface="Garamond"/>
              </a:rPr>
              <a:t>Rates and returns: 10-year yield (10/1/26); Damodaran ERP; GuruFocus ROIC</a:t>
            </a:r>
          </a:p>
        </p:txBody>
      </p:sp>
      <p:sp>
        <p:nvSpPr>
          <p:cNvPr id="7" name="Page Number"/>
          <p:cNvSpPr txBox="1"/>
          <p:nvPr/>
        </p:nvSpPr>
        <p:spPr>
          <a:xfrm>
            <a:off x="11475720" y="6466636"/>
            <a:ext cx="685800" cy="322783"/>
          </a:xfrm>
          <a:prstGeom prst="rect">
            <a:avLst/>
          </a:prstGeom>
          <a:noFill/>
        </p:spPr>
        <p:txBody>
          <a:bodyPr wrap="none" anchor="ctr">
            <a:noAutofit/>
          </a:bodyPr>
          <a:lstStyle/>
          <a:p>
            <a:r>
              <a:rPr sz="1200" b="0" u="none">
                <a:solidFill>
                  <a:srgbClr val="888888"/>
                </a:solidFill>
                <a:latin typeface="Calibri"/>
                <a:ea typeface="Calibri"/>
                <a:cs typeface="Calibri"/>
              </a:rPr>
              <a:t>|  </a:t>
            </a:r>
            <a:fld id="{B6F15528-21DE-4FAA-801E-634DDDAF4B2B}" type="slidenum">
              <a:rPr lang="en-US" sz="1200">
                <a:solidFill>
                  <a:srgbClr val="888888"/>
                </a:solidFill>
                <a:latin typeface="Calibri"/>
              </a:rPr>
              <a:t>30</a:t>
            </a:fld>
          </a:p>
        </p:txBody>
      </p:sp>
    </p:spTree>
  </p:cSld>
  <p:clrMapOvr>
    <a:masterClrMapping/>
  </p:clrMapOvr>
</p:sld>
</file>

<file path=ppt/theme/theme1.xml><?xml version="1.0" encoding="utf-8"?>
<a:theme xmlns:a="http://schemas.openxmlformats.org/drawingml/2006/main" name="Pitch Navy">
  <a:themeElements>
    <a:clrScheme name="Pitch Navy">
      <a:dk1>
        <a:srgbClr val="000000"/>
      </a:dk1>
      <a:lt1>
        <a:srgbClr val="FFFFFF"/>
      </a:lt1>
      <a:dk2>
        <a:srgbClr val="002060"/>
      </a:dk2>
      <a:lt2>
        <a:srgbClr val="E4E9F0"/>
      </a:lt2>
      <a:accent1>
        <a:srgbClr val="002060"/>
      </a:accent1>
      <a:accent2>
        <a:srgbClr val="FFC000"/>
      </a:accent2>
      <a:accent3>
        <a:srgbClr val="A5A5A5"/>
      </a:accent3>
      <a:accent4>
        <a:srgbClr val="041E41"/>
      </a:accent4>
      <a:accent5>
        <a:srgbClr val="476779"/>
      </a:accent5>
      <a:accent6>
        <a:srgbClr val="8FA9C8"/>
      </a:accent6>
      <a:hlink>
        <a:srgbClr val="0563C1"/>
      </a:hlink>
      <a:folHlink>
        <a:srgbClr val="954F72"/>
      </a:folHlink>
    </a:clrScheme>
    <a:fontScheme name="Pitch Navy">
      <a:majorFont>
        <a:latin typeface="Garamon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DICK'S Sporting Goods - Bull/Bear Debate and Evaluation</dc:title>
  <dc:subject/>
  <dc:creator>Equity Research</dc:creator>
  <cp:keywords/>
  <dc:description/>
  <cp:lastModifiedBy>Equity Research</cp:lastModifiedBy>
  <cp:revision>1</cp:revision>
  <dcterms:created xsi:type="dcterms:W3CDTF">2026-10-05T19:10:47Z</dcterms:created>
  <dcterms:modified xsi:type="dcterms:W3CDTF">2026-10-05T19:10:47Z</dcterms:modified>
  <cp:category/>
</cp:coreProperties>
</file>